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2"/>
  </p:notesMasterIdLst>
  <p:sldIdLst>
    <p:sldId id="726" r:id="rId2"/>
    <p:sldId id="594" r:id="rId3"/>
    <p:sldId id="728" r:id="rId4"/>
    <p:sldId id="729" r:id="rId5"/>
    <p:sldId id="625" r:id="rId6"/>
    <p:sldId id="738" r:id="rId7"/>
    <p:sldId id="643" r:id="rId8"/>
    <p:sldId id="670" r:id="rId9"/>
    <p:sldId id="638" r:id="rId10"/>
    <p:sldId id="626" r:id="rId11"/>
    <p:sldId id="636" r:id="rId12"/>
    <p:sldId id="637" r:id="rId13"/>
    <p:sldId id="628" r:id="rId14"/>
    <p:sldId id="629" r:id="rId15"/>
    <p:sldId id="672" r:id="rId16"/>
    <p:sldId id="642" r:id="rId17"/>
    <p:sldId id="640" r:id="rId18"/>
    <p:sldId id="639" r:id="rId19"/>
    <p:sldId id="641" r:id="rId20"/>
    <p:sldId id="630" r:id="rId21"/>
    <p:sldId id="631" r:id="rId22"/>
    <p:sldId id="633" r:id="rId23"/>
    <p:sldId id="627" r:id="rId24"/>
    <p:sldId id="634" r:id="rId25"/>
    <p:sldId id="635" r:id="rId26"/>
    <p:sldId id="671" r:id="rId27"/>
    <p:sldId id="674" r:id="rId28"/>
    <p:sldId id="673" r:id="rId29"/>
    <p:sldId id="676" r:id="rId30"/>
    <p:sldId id="677" r:id="rId31"/>
    <p:sldId id="678" r:id="rId32"/>
    <p:sldId id="702" r:id="rId33"/>
    <p:sldId id="739" r:id="rId34"/>
    <p:sldId id="645" r:id="rId35"/>
    <p:sldId id="647" r:id="rId36"/>
    <p:sldId id="649" r:id="rId37"/>
    <p:sldId id="648" r:id="rId38"/>
    <p:sldId id="748" r:id="rId39"/>
    <p:sldId id="743" r:id="rId40"/>
    <p:sldId id="704" r:id="rId41"/>
    <p:sldId id="703" r:id="rId42"/>
    <p:sldId id="706" r:id="rId43"/>
    <p:sldId id="713" r:id="rId44"/>
    <p:sldId id="705" r:id="rId45"/>
    <p:sldId id="746" r:id="rId46"/>
    <p:sldId id="747" r:id="rId47"/>
    <p:sldId id="711" r:id="rId48"/>
    <p:sldId id="710" r:id="rId49"/>
    <p:sldId id="712" r:id="rId50"/>
    <p:sldId id="651" r:id="rId51"/>
    <p:sldId id="745" r:id="rId52"/>
    <p:sldId id="709" r:id="rId53"/>
    <p:sldId id="749" r:id="rId54"/>
    <p:sldId id="689" r:id="rId55"/>
    <p:sldId id="708" r:id="rId56"/>
    <p:sldId id="690" r:id="rId57"/>
    <p:sldId id="721" r:id="rId58"/>
    <p:sldId id="718" r:id="rId59"/>
    <p:sldId id="719" r:id="rId60"/>
    <p:sldId id="737"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7F7"/>
    <a:srgbClr val="0000FF"/>
    <a:srgbClr val="008001"/>
    <a:srgbClr val="30E845"/>
    <a:srgbClr val="FF750F"/>
    <a:srgbClr val="009D99"/>
    <a:srgbClr val="33B1FE"/>
    <a:srgbClr val="AA22FF"/>
    <a:srgbClr val="219125"/>
    <a:srgbClr val="CA25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55"/>
    <p:restoredTop sz="61019"/>
  </p:normalViewPr>
  <p:slideViewPr>
    <p:cSldViewPr snapToGrid="0" snapToObjects="1">
      <p:cViewPr varScale="1">
        <p:scale>
          <a:sx n="74" d="100"/>
          <a:sy n="74" d="100"/>
        </p:scale>
        <p:origin x="1824" y="176"/>
      </p:cViewPr>
      <p:guideLst/>
    </p:cSldViewPr>
  </p:slideViewPr>
  <p:outlineViewPr>
    <p:cViewPr>
      <p:scale>
        <a:sx n="33" d="100"/>
        <a:sy n="33" d="100"/>
      </p:scale>
      <p:origin x="0" y="0"/>
    </p:cViewPr>
  </p:outlineViewPr>
  <p:notesTextViewPr>
    <p:cViewPr>
      <p:scale>
        <a:sx n="185" d="100"/>
        <a:sy n="185" d="100"/>
      </p:scale>
      <p:origin x="0" y="-3888"/>
    </p:cViewPr>
  </p:notesTextViewPr>
  <p:sorterViewPr>
    <p:cViewPr>
      <p:scale>
        <a:sx n="66" d="100"/>
        <a:sy n="66" d="100"/>
      </p:scale>
      <p:origin x="0" y="0"/>
    </p:cViewPr>
  </p:sorterViewPr>
  <p:notesViewPr>
    <p:cSldViewPr snapToGrid="0" snapToObjects="1">
      <p:cViewPr varScale="1">
        <p:scale>
          <a:sx n="95" d="100"/>
          <a:sy n="95" d="100"/>
        </p:scale>
        <p:origin x="2272" y="20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CC5EC7-C9C2-614F-9425-448F30EDF4DA}" type="doc">
      <dgm:prSet loTypeId="urn:microsoft.com/office/officeart/2005/8/layout/vList6" loCatId="" qsTypeId="urn:microsoft.com/office/officeart/2005/8/quickstyle/simple1" qsCatId="simple" csTypeId="urn:microsoft.com/office/officeart/2005/8/colors/colorful3" csCatId="colorful" phldr="1"/>
      <dgm:spPr/>
      <dgm:t>
        <a:bodyPr/>
        <a:lstStyle/>
        <a:p>
          <a:endParaRPr lang="en-US"/>
        </a:p>
      </dgm:t>
    </dgm:pt>
    <dgm:pt modelId="{38EEA28F-66FF-6B4E-BCFB-25D60914889D}">
      <dgm:prSet phldrT="[Text]"/>
      <dgm:spPr/>
      <dgm:t>
        <a:bodyPr/>
        <a:lstStyle/>
        <a:p>
          <a:r>
            <a:rPr lang="en-US" b="0" dirty="0" err="1"/>
            <a:t>Qiskit</a:t>
          </a:r>
          <a:r>
            <a:rPr lang="en-US" b="0" dirty="0"/>
            <a:t> (IBM)</a:t>
          </a:r>
        </a:p>
      </dgm:t>
    </dgm:pt>
    <dgm:pt modelId="{A9AE1C01-8BC8-614C-92C8-DCF1611E2E08}" type="parTrans" cxnId="{F7B48B9B-590C-4442-B02F-A2A9EE2F43F1}">
      <dgm:prSet/>
      <dgm:spPr/>
      <dgm:t>
        <a:bodyPr/>
        <a:lstStyle/>
        <a:p>
          <a:endParaRPr lang="en-US" b="0"/>
        </a:p>
      </dgm:t>
    </dgm:pt>
    <dgm:pt modelId="{EC04E769-736F-3446-BA41-4B9915123BF0}" type="sibTrans" cxnId="{F7B48B9B-590C-4442-B02F-A2A9EE2F43F1}">
      <dgm:prSet/>
      <dgm:spPr/>
      <dgm:t>
        <a:bodyPr/>
        <a:lstStyle/>
        <a:p>
          <a:endParaRPr lang="en-US" b="0"/>
        </a:p>
      </dgm:t>
    </dgm:pt>
    <dgm:pt modelId="{235342AC-F248-1346-9A06-B159B9C0CFB7}">
      <dgm:prSet phldrT="[Text]"/>
      <dgm:spPr/>
      <dgm:t>
        <a:bodyPr anchor="ctr"/>
        <a:lstStyle/>
        <a:p>
          <a:pPr algn="ctr">
            <a:buNone/>
          </a:pPr>
          <a:r>
            <a:rPr lang="en-ZA" b="0" dirty="0"/>
            <a:t>Python-based quantum computing framework</a:t>
          </a:r>
          <a:endParaRPr lang="en-US" b="0" dirty="0"/>
        </a:p>
      </dgm:t>
    </dgm:pt>
    <dgm:pt modelId="{F16B3184-8F08-A14D-ACE6-15EA5E3A04A3}" type="parTrans" cxnId="{399AFBB3-352D-B541-9143-1C97E403F1B9}">
      <dgm:prSet/>
      <dgm:spPr/>
      <dgm:t>
        <a:bodyPr/>
        <a:lstStyle/>
        <a:p>
          <a:endParaRPr lang="en-US" b="0"/>
        </a:p>
      </dgm:t>
    </dgm:pt>
    <dgm:pt modelId="{80EF5221-EA49-574F-A83A-0CF1C371D364}" type="sibTrans" cxnId="{399AFBB3-352D-B541-9143-1C97E403F1B9}">
      <dgm:prSet/>
      <dgm:spPr/>
      <dgm:t>
        <a:bodyPr/>
        <a:lstStyle/>
        <a:p>
          <a:endParaRPr lang="en-US" b="0"/>
        </a:p>
      </dgm:t>
    </dgm:pt>
    <dgm:pt modelId="{C02D9388-75DF-5A46-9C9A-3D26ADBCEBA1}">
      <dgm:prSet phldrT="[Text]"/>
      <dgm:spPr/>
      <dgm:t>
        <a:bodyPr/>
        <a:lstStyle/>
        <a:p>
          <a:r>
            <a:rPr lang="en-US" b="0" dirty="0" err="1"/>
            <a:t>Cirq</a:t>
          </a:r>
          <a:r>
            <a:rPr lang="en-US" b="0" dirty="0"/>
            <a:t> (Google)</a:t>
          </a:r>
        </a:p>
      </dgm:t>
    </dgm:pt>
    <dgm:pt modelId="{4BDB1C9A-4150-5D4F-BEBE-404AD59A7288}" type="parTrans" cxnId="{E0EE119A-F74F-7341-9893-2BCBBCB0965A}">
      <dgm:prSet/>
      <dgm:spPr/>
      <dgm:t>
        <a:bodyPr/>
        <a:lstStyle/>
        <a:p>
          <a:endParaRPr lang="en-US" b="0"/>
        </a:p>
      </dgm:t>
    </dgm:pt>
    <dgm:pt modelId="{75BC6C30-A8D2-524F-99D6-353E7551B6A8}" type="sibTrans" cxnId="{E0EE119A-F74F-7341-9893-2BCBBCB0965A}">
      <dgm:prSet/>
      <dgm:spPr/>
      <dgm:t>
        <a:bodyPr/>
        <a:lstStyle/>
        <a:p>
          <a:endParaRPr lang="en-US" b="0"/>
        </a:p>
      </dgm:t>
    </dgm:pt>
    <dgm:pt modelId="{25BCAD0E-C6A9-4541-9ACD-AA53C31083F4}">
      <dgm:prSet phldrT="[Text]"/>
      <dgm:spPr/>
      <dgm:t>
        <a:bodyPr anchor="ctr"/>
        <a:lstStyle/>
        <a:p>
          <a:pPr algn="ctr">
            <a:buNone/>
          </a:pPr>
          <a:r>
            <a:rPr lang="en-ZA" b="0" dirty="0"/>
            <a:t>Python-based quantum computing framework</a:t>
          </a:r>
          <a:endParaRPr lang="en-US" b="0" dirty="0"/>
        </a:p>
      </dgm:t>
    </dgm:pt>
    <dgm:pt modelId="{F97E932A-2D5C-C74A-B546-BACD8D7FB747}" type="parTrans" cxnId="{90829747-E993-8744-8D18-D89D33DD4F29}">
      <dgm:prSet/>
      <dgm:spPr/>
      <dgm:t>
        <a:bodyPr/>
        <a:lstStyle/>
        <a:p>
          <a:endParaRPr lang="en-US" b="0"/>
        </a:p>
      </dgm:t>
    </dgm:pt>
    <dgm:pt modelId="{6F1E86CD-1A9A-6644-B4F7-9E7A94FEAB8E}" type="sibTrans" cxnId="{90829747-E993-8744-8D18-D89D33DD4F29}">
      <dgm:prSet/>
      <dgm:spPr/>
      <dgm:t>
        <a:bodyPr/>
        <a:lstStyle/>
        <a:p>
          <a:endParaRPr lang="en-US" b="0"/>
        </a:p>
      </dgm:t>
    </dgm:pt>
    <dgm:pt modelId="{966133DF-543B-6C40-8683-C345432ED185}">
      <dgm:prSet/>
      <dgm:spPr/>
      <dgm:t>
        <a:bodyPr/>
        <a:lstStyle/>
        <a:p>
          <a:r>
            <a:rPr lang="en-US" b="0" dirty="0" err="1"/>
            <a:t>OpenQASM</a:t>
          </a:r>
          <a:r>
            <a:rPr lang="en-US" b="0" dirty="0"/>
            <a:t> (IBM)</a:t>
          </a:r>
        </a:p>
      </dgm:t>
    </dgm:pt>
    <dgm:pt modelId="{0313833E-7FCC-874A-A792-AB7DF993D8D4}" type="parTrans" cxnId="{38ED219E-C90C-DE46-BFB7-9C005A63D76A}">
      <dgm:prSet/>
      <dgm:spPr/>
      <dgm:t>
        <a:bodyPr/>
        <a:lstStyle/>
        <a:p>
          <a:endParaRPr lang="en-US" b="0"/>
        </a:p>
      </dgm:t>
    </dgm:pt>
    <dgm:pt modelId="{64261E9A-6B40-1D48-A314-E02D2E0044F7}" type="sibTrans" cxnId="{38ED219E-C90C-DE46-BFB7-9C005A63D76A}">
      <dgm:prSet/>
      <dgm:spPr/>
      <dgm:t>
        <a:bodyPr/>
        <a:lstStyle/>
        <a:p>
          <a:endParaRPr lang="en-US" b="0"/>
        </a:p>
      </dgm:t>
    </dgm:pt>
    <dgm:pt modelId="{E6C34624-C02D-9C4E-8610-6139DF671BE1}">
      <dgm:prSet/>
      <dgm:spPr/>
      <dgm:t>
        <a:bodyPr anchor="ctr"/>
        <a:lstStyle/>
        <a:p>
          <a:pPr algn="ctr">
            <a:buNone/>
          </a:pPr>
          <a:r>
            <a:rPr lang="en-US" b="0" dirty="0"/>
            <a:t>A low-level quantum assembly language</a:t>
          </a:r>
        </a:p>
      </dgm:t>
    </dgm:pt>
    <dgm:pt modelId="{553CFAE6-F8B0-8649-B99A-E9E4E5ACB38D}" type="parTrans" cxnId="{D2A029A9-AA0C-1145-A2BA-022C37C82B3E}">
      <dgm:prSet/>
      <dgm:spPr/>
      <dgm:t>
        <a:bodyPr/>
        <a:lstStyle/>
        <a:p>
          <a:endParaRPr lang="en-US" b="0"/>
        </a:p>
      </dgm:t>
    </dgm:pt>
    <dgm:pt modelId="{ADD837EE-5F72-EB49-9DB7-7F4E414E5D47}" type="sibTrans" cxnId="{D2A029A9-AA0C-1145-A2BA-022C37C82B3E}">
      <dgm:prSet/>
      <dgm:spPr/>
      <dgm:t>
        <a:bodyPr/>
        <a:lstStyle/>
        <a:p>
          <a:endParaRPr lang="en-US" b="0"/>
        </a:p>
      </dgm:t>
    </dgm:pt>
    <dgm:pt modelId="{BAC00D8E-23D8-F547-AAB7-B8C15EEC3AEF}">
      <dgm:prSet phldrT="[Text]"/>
      <dgm:spPr/>
      <dgm:t>
        <a:bodyPr/>
        <a:lstStyle/>
        <a:p>
          <a:r>
            <a:rPr lang="en-US" b="0" dirty="0" err="1"/>
            <a:t>Quil</a:t>
          </a:r>
          <a:r>
            <a:rPr lang="en-US" b="0" dirty="0"/>
            <a:t> (</a:t>
          </a:r>
          <a:r>
            <a:rPr lang="en-US" b="0" dirty="0" err="1"/>
            <a:t>Rigetti</a:t>
          </a:r>
          <a:r>
            <a:rPr lang="en-US" b="0" dirty="0"/>
            <a:t>)</a:t>
          </a:r>
        </a:p>
      </dgm:t>
    </dgm:pt>
    <dgm:pt modelId="{DEFCFD47-720F-124F-9FA7-CC8CA2E00469}" type="parTrans" cxnId="{A16E8715-B65E-1A47-88AE-38343A30AA5B}">
      <dgm:prSet/>
      <dgm:spPr/>
      <dgm:t>
        <a:bodyPr/>
        <a:lstStyle/>
        <a:p>
          <a:endParaRPr lang="en-US" b="0"/>
        </a:p>
      </dgm:t>
    </dgm:pt>
    <dgm:pt modelId="{C112A7D1-8536-BF45-87DC-F6B69A7CA23D}" type="sibTrans" cxnId="{A16E8715-B65E-1A47-88AE-38343A30AA5B}">
      <dgm:prSet/>
      <dgm:spPr/>
      <dgm:t>
        <a:bodyPr/>
        <a:lstStyle/>
        <a:p>
          <a:endParaRPr lang="en-US" b="0"/>
        </a:p>
      </dgm:t>
    </dgm:pt>
    <dgm:pt modelId="{CE5B878B-075B-5A47-A09E-0DBD997386EB}">
      <dgm:prSet phldrT="[Text]"/>
      <dgm:spPr/>
      <dgm:t>
        <a:bodyPr anchor="ctr"/>
        <a:lstStyle/>
        <a:p>
          <a:pPr algn="ctr">
            <a:buFont typeface="Arial" panose="020B0604020202020204" pitchFamily="34" charset="0"/>
            <a:buNone/>
          </a:pPr>
          <a:r>
            <a:rPr lang="en-US" b="0" dirty="0"/>
            <a:t>A quantum instruction language</a:t>
          </a:r>
        </a:p>
      </dgm:t>
    </dgm:pt>
    <dgm:pt modelId="{C07E9BE0-18AE-0C43-AA64-3701216120C0}" type="parTrans" cxnId="{2359CE3C-5F4B-D744-8460-6664B5D89B55}">
      <dgm:prSet/>
      <dgm:spPr/>
      <dgm:t>
        <a:bodyPr/>
        <a:lstStyle/>
        <a:p>
          <a:endParaRPr lang="en-US" b="0"/>
        </a:p>
      </dgm:t>
    </dgm:pt>
    <dgm:pt modelId="{78F964C5-574F-594D-A51B-B40362435150}" type="sibTrans" cxnId="{2359CE3C-5F4B-D744-8460-6664B5D89B55}">
      <dgm:prSet/>
      <dgm:spPr/>
      <dgm:t>
        <a:bodyPr/>
        <a:lstStyle/>
        <a:p>
          <a:endParaRPr lang="en-US" b="0"/>
        </a:p>
      </dgm:t>
    </dgm:pt>
    <dgm:pt modelId="{7AA3B672-F5EB-E247-AFF7-344CBB5B7579}">
      <dgm:prSet phldrT="[Text]"/>
      <dgm:spPr/>
      <dgm:t>
        <a:bodyPr/>
        <a:lstStyle/>
        <a:p>
          <a:r>
            <a:rPr lang="en-ZA" b="0" dirty="0" err="1"/>
            <a:t>PyQuil</a:t>
          </a:r>
          <a:r>
            <a:rPr lang="en-ZA" b="0" dirty="0"/>
            <a:t> </a:t>
          </a:r>
          <a:r>
            <a:rPr lang="en-US" b="0" dirty="0"/>
            <a:t>(</a:t>
          </a:r>
          <a:r>
            <a:rPr lang="en-US" b="0" dirty="0" err="1"/>
            <a:t>Rigetti</a:t>
          </a:r>
          <a:r>
            <a:rPr lang="en-US" b="0" dirty="0"/>
            <a:t>)</a:t>
          </a:r>
        </a:p>
      </dgm:t>
    </dgm:pt>
    <dgm:pt modelId="{B999A0D9-3896-0E4E-AED1-3EE3C923F091}" type="parTrans" cxnId="{CB23A754-7EA2-8846-98A8-DF35978408F4}">
      <dgm:prSet/>
      <dgm:spPr/>
      <dgm:t>
        <a:bodyPr/>
        <a:lstStyle/>
        <a:p>
          <a:endParaRPr lang="en-US" b="0"/>
        </a:p>
      </dgm:t>
    </dgm:pt>
    <dgm:pt modelId="{C39A21E8-4872-EF4C-A1FF-5EF2C2419495}" type="sibTrans" cxnId="{CB23A754-7EA2-8846-98A8-DF35978408F4}">
      <dgm:prSet/>
      <dgm:spPr/>
      <dgm:t>
        <a:bodyPr/>
        <a:lstStyle/>
        <a:p>
          <a:endParaRPr lang="en-US" b="0"/>
        </a:p>
      </dgm:t>
    </dgm:pt>
    <dgm:pt modelId="{019DD3FA-D581-6845-8597-BE4CABF699F7}">
      <dgm:prSet/>
      <dgm:spPr/>
      <dgm:t>
        <a:bodyPr anchor="ctr"/>
        <a:lstStyle/>
        <a:p>
          <a:pPr algn="ctr">
            <a:buNone/>
          </a:pPr>
          <a:r>
            <a:rPr lang="en-ZA" b="0" dirty="0"/>
            <a:t>Python-based quantum computing framework</a:t>
          </a:r>
          <a:endParaRPr lang="en-US" b="0" dirty="0"/>
        </a:p>
      </dgm:t>
    </dgm:pt>
    <dgm:pt modelId="{3DC4AF67-E17B-2945-92FE-E6AEF961DBC5}" type="parTrans" cxnId="{53334880-163E-DA40-A239-357C49AC1932}">
      <dgm:prSet/>
      <dgm:spPr/>
      <dgm:t>
        <a:bodyPr/>
        <a:lstStyle/>
        <a:p>
          <a:endParaRPr lang="en-US" b="0"/>
        </a:p>
      </dgm:t>
    </dgm:pt>
    <dgm:pt modelId="{B7599BEB-DE88-5E44-81AE-0A54CD6F7962}" type="sibTrans" cxnId="{53334880-163E-DA40-A239-357C49AC1932}">
      <dgm:prSet/>
      <dgm:spPr/>
      <dgm:t>
        <a:bodyPr/>
        <a:lstStyle/>
        <a:p>
          <a:endParaRPr lang="en-US" b="0"/>
        </a:p>
      </dgm:t>
    </dgm:pt>
    <dgm:pt modelId="{229FA747-A6DF-D344-9413-294777B44F6E}">
      <dgm:prSet/>
      <dgm:spPr/>
      <dgm:t>
        <a:bodyPr/>
        <a:lstStyle/>
        <a:p>
          <a:r>
            <a:rPr lang="en-US" b="0" dirty="0"/>
            <a:t>Q# (Microsoft)</a:t>
          </a:r>
        </a:p>
      </dgm:t>
    </dgm:pt>
    <dgm:pt modelId="{FF4439A6-24E7-9149-A1A4-5E3D60CD57F5}" type="parTrans" cxnId="{E355ECCB-2CD3-3842-B650-E28D8A5B3238}">
      <dgm:prSet/>
      <dgm:spPr/>
      <dgm:t>
        <a:bodyPr/>
        <a:lstStyle/>
        <a:p>
          <a:endParaRPr lang="en-US" b="0"/>
        </a:p>
      </dgm:t>
    </dgm:pt>
    <dgm:pt modelId="{95C7F99F-EC02-FD4C-90C5-39CE042943B2}" type="sibTrans" cxnId="{E355ECCB-2CD3-3842-B650-E28D8A5B3238}">
      <dgm:prSet/>
      <dgm:spPr/>
      <dgm:t>
        <a:bodyPr/>
        <a:lstStyle/>
        <a:p>
          <a:endParaRPr lang="en-US" b="0"/>
        </a:p>
      </dgm:t>
    </dgm:pt>
    <dgm:pt modelId="{53BECCA1-3920-FF4E-A55B-7247DE53F1EE}">
      <dgm:prSet/>
      <dgm:spPr/>
      <dgm:t>
        <a:bodyPr anchor="ctr"/>
        <a:lstStyle/>
        <a:p>
          <a:pPr algn="ctr">
            <a:buNone/>
          </a:pPr>
          <a:r>
            <a:rPr lang="en-US" b="0" dirty="0"/>
            <a:t>Microsoft’s quantum computing language</a:t>
          </a:r>
        </a:p>
      </dgm:t>
    </dgm:pt>
    <dgm:pt modelId="{0EBAE3E0-FD50-994F-859F-B98F9230E123}" type="parTrans" cxnId="{5376EA64-5662-C74C-A478-18260FE09915}">
      <dgm:prSet/>
      <dgm:spPr/>
      <dgm:t>
        <a:bodyPr/>
        <a:lstStyle/>
        <a:p>
          <a:endParaRPr lang="en-US" b="0"/>
        </a:p>
      </dgm:t>
    </dgm:pt>
    <dgm:pt modelId="{87227F50-0BB3-4546-A14C-5B70DB72D3F4}" type="sibTrans" cxnId="{5376EA64-5662-C74C-A478-18260FE09915}">
      <dgm:prSet/>
      <dgm:spPr/>
      <dgm:t>
        <a:bodyPr/>
        <a:lstStyle/>
        <a:p>
          <a:endParaRPr lang="en-US" b="0"/>
        </a:p>
      </dgm:t>
    </dgm:pt>
    <dgm:pt modelId="{E3057C07-85DF-6847-8AD8-332E858ADB33}">
      <dgm:prSet/>
      <dgm:spPr/>
      <dgm:t>
        <a:bodyPr/>
        <a:lstStyle/>
        <a:p>
          <a:r>
            <a:rPr lang="en-ZA" dirty="0" err="1"/>
            <a:t>PennyLane</a:t>
          </a:r>
          <a:r>
            <a:rPr lang="en-ZA" dirty="0"/>
            <a:t> (</a:t>
          </a:r>
          <a:r>
            <a:rPr lang="en-ZA" b="0" dirty="0"/>
            <a:t>Xanadu</a:t>
          </a:r>
          <a:r>
            <a:rPr lang="en-ZA" dirty="0"/>
            <a:t>)</a:t>
          </a:r>
          <a:endParaRPr lang="en-US" b="0" dirty="0"/>
        </a:p>
      </dgm:t>
    </dgm:pt>
    <dgm:pt modelId="{58563A1E-DB98-E44F-9A7F-62211A661B07}" type="parTrans" cxnId="{A13384D5-4532-A440-A984-391E04184D11}">
      <dgm:prSet/>
      <dgm:spPr/>
      <dgm:t>
        <a:bodyPr/>
        <a:lstStyle/>
        <a:p>
          <a:endParaRPr lang="en-US"/>
        </a:p>
      </dgm:t>
    </dgm:pt>
    <dgm:pt modelId="{BE2826A7-079C-2D46-A956-477CAC67E584}" type="sibTrans" cxnId="{A13384D5-4532-A440-A984-391E04184D11}">
      <dgm:prSet/>
      <dgm:spPr/>
      <dgm:t>
        <a:bodyPr/>
        <a:lstStyle/>
        <a:p>
          <a:endParaRPr lang="en-US"/>
        </a:p>
      </dgm:t>
    </dgm:pt>
    <dgm:pt modelId="{2C4C25E7-F4EB-4243-9BAF-2FEA3798A97A}">
      <dgm:prSet/>
      <dgm:spPr/>
      <dgm:t>
        <a:bodyPr anchor="ctr"/>
        <a:lstStyle/>
        <a:p>
          <a:pPr>
            <a:buNone/>
          </a:pPr>
          <a:r>
            <a:rPr lang="en-ZA" dirty="0"/>
            <a:t>Python library for quantum machine learning and hybrid computing.</a:t>
          </a:r>
          <a:endParaRPr lang="en-US" b="0" dirty="0"/>
        </a:p>
      </dgm:t>
    </dgm:pt>
    <dgm:pt modelId="{DE50DF6A-9B22-FF43-8FDE-CE46F2CB89FE}" type="parTrans" cxnId="{CAA69853-EB14-7349-9BC7-76C93AB4EE3D}">
      <dgm:prSet/>
      <dgm:spPr/>
      <dgm:t>
        <a:bodyPr/>
        <a:lstStyle/>
        <a:p>
          <a:endParaRPr lang="en-US"/>
        </a:p>
      </dgm:t>
    </dgm:pt>
    <dgm:pt modelId="{F85D1B09-9135-B143-B6B6-B2F19C4E9AFC}" type="sibTrans" cxnId="{CAA69853-EB14-7349-9BC7-76C93AB4EE3D}">
      <dgm:prSet/>
      <dgm:spPr/>
      <dgm:t>
        <a:bodyPr/>
        <a:lstStyle/>
        <a:p>
          <a:endParaRPr lang="en-US"/>
        </a:p>
      </dgm:t>
    </dgm:pt>
    <dgm:pt modelId="{D61AE4F8-CBAF-9843-88AD-B7DFABEB0A49}" type="pres">
      <dgm:prSet presAssocID="{59CC5EC7-C9C2-614F-9425-448F30EDF4DA}" presName="Name0" presStyleCnt="0">
        <dgm:presLayoutVars>
          <dgm:dir/>
          <dgm:animLvl val="lvl"/>
          <dgm:resizeHandles/>
        </dgm:presLayoutVars>
      </dgm:prSet>
      <dgm:spPr/>
    </dgm:pt>
    <dgm:pt modelId="{D2AE7099-F434-CD4C-A162-3926E123DBF3}" type="pres">
      <dgm:prSet presAssocID="{966133DF-543B-6C40-8683-C345432ED185}" presName="linNode" presStyleCnt="0"/>
      <dgm:spPr/>
    </dgm:pt>
    <dgm:pt modelId="{54E95E5A-5492-F44D-B2CF-580100E9EE3D}" type="pres">
      <dgm:prSet presAssocID="{966133DF-543B-6C40-8683-C345432ED185}" presName="parentShp" presStyleLbl="node1" presStyleIdx="0" presStyleCnt="7" custScaleX="57421">
        <dgm:presLayoutVars>
          <dgm:bulletEnabled val="1"/>
        </dgm:presLayoutVars>
      </dgm:prSet>
      <dgm:spPr/>
    </dgm:pt>
    <dgm:pt modelId="{29A54BC5-6C40-F242-929F-FD97F33FCDBC}" type="pres">
      <dgm:prSet presAssocID="{966133DF-543B-6C40-8683-C345432ED185}" presName="childShp" presStyleLbl="bgAccFollowNode1" presStyleIdx="0" presStyleCnt="7" custScaleX="135383">
        <dgm:presLayoutVars>
          <dgm:bulletEnabled val="1"/>
        </dgm:presLayoutVars>
      </dgm:prSet>
      <dgm:spPr/>
    </dgm:pt>
    <dgm:pt modelId="{F9037A9B-5FC2-0C4E-B4B1-D6329EF87AFE}" type="pres">
      <dgm:prSet presAssocID="{64261E9A-6B40-1D48-A314-E02D2E0044F7}" presName="spacing" presStyleCnt="0"/>
      <dgm:spPr/>
    </dgm:pt>
    <dgm:pt modelId="{1E9B5721-BB3F-B347-89DC-0D2E7C25B564}" type="pres">
      <dgm:prSet presAssocID="{38EEA28F-66FF-6B4E-BCFB-25D60914889D}" presName="linNode" presStyleCnt="0"/>
      <dgm:spPr/>
    </dgm:pt>
    <dgm:pt modelId="{2D9C5F70-C01B-E847-839E-F6B0D05BDE96}" type="pres">
      <dgm:prSet presAssocID="{38EEA28F-66FF-6B4E-BCFB-25D60914889D}" presName="parentShp" presStyleLbl="node1" presStyleIdx="1" presStyleCnt="7" custScaleX="57421">
        <dgm:presLayoutVars>
          <dgm:bulletEnabled val="1"/>
        </dgm:presLayoutVars>
      </dgm:prSet>
      <dgm:spPr/>
    </dgm:pt>
    <dgm:pt modelId="{3358AE81-9047-D242-ACCE-F8135848A219}" type="pres">
      <dgm:prSet presAssocID="{38EEA28F-66FF-6B4E-BCFB-25D60914889D}" presName="childShp" presStyleLbl="bgAccFollowNode1" presStyleIdx="1" presStyleCnt="7" custScaleX="135383">
        <dgm:presLayoutVars>
          <dgm:bulletEnabled val="1"/>
        </dgm:presLayoutVars>
      </dgm:prSet>
      <dgm:spPr/>
    </dgm:pt>
    <dgm:pt modelId="{182327F6-7418-FC47-AF85-50B4162B1E17}" type="pres">
      <dgm:prSet presAssocID="{EC04E769-736F-3446-BA41-4B9915123BF0}" presName="spacing" presStyleCnt="0"/>
      <dgm:spPr/>
    </dgm:pt>
    <dgm:pt modelId="{E9B9C34E-F87F-0C4F-BF93-434506191999}" type="pres">
      <dgm:prSet presAssocID="{C02D9388-75DF-5A46-9C9A-3D26ADBCEBA1}" presName="linNode" presStyleCnt="0"/>
      <dgm:spPr/>
    </dgm:pt>
    <dgm:pt modelId="{752C0944-6BFF-464F-A02B-ABF25E4B0E4D}" type="pres">
      <dgm:prSet presAssocID="{C02D9388-75DF-5A46-9C9A-3D26ADBCEBA1}" presName="parentShp" presStyleLbl="node1" presStyleIdx="2" presStyleCnt="7" custScaleX="57421">
        <dgm:presLayoutVars>
          <dgm:bulletEnabled val="1"/>
        </dgm:presLayoutVars>
      </dgm:prSet>
      <dgm:spPr/>
    </dgm:pt>
    <dgm:pt modelId="{04CF34BF-2057-F143-A5D4-B88306284E21}" type="pres">
      <dgm:prSet presAssocID="{C02D9388-75DF-5A46-9C9A-3D26ADBCEBA1}" presName="childShp" presStyleLbl="bgAccFollowNode1" presStyleIdx="2" presStyleCnt="7" custScaleX="135383">
        <dgm:presLayoutVars>
          <dgm:bulletEnabled val="1"/>
        </dgm:presLayoutVars>
      </dgm:prSet>
      <dgm:spPr/>
    </dgm:pt>
    <dgm:pt modelId="{1122811B-CCCC-F442-8CA2-AAFB5D542E6C}" type="pres">
      <dgm:prSet presAssocID="{75BC6C30-A8D2-524F-99D6-353E7551B6A8}" presName="spacing" presStyleCnt="0"/>
      <dgm:spPr/>
    </dgm:pt>
    <dgm:pt modelId="{607CBCC2-17A7-1941-8A55-C5BD5AC9CB7A}" type="pres">
      <dgm:prSet presAssocID="{BAC00D8E-23D8-F547-AAB7-B8C15EEC3AEF}" presName="linNode" presStyleCnt="0"/>
      <dgm:spPr/>
    </dgm:pt>
    <dgm:pt modelId="{B6EEB12E-B15A-7040-A79F-1993848DA1F9}" type="pres">
      <dgm:prSet presAssocID="{BAC00D8E-23D8-F547-AAB7-B8C15EEC3AEF}" presName="parentShp" presStyleLbl="node1" presStyleIdx="3" presStyleCnt="7" custScaleX="57421">
        <dgm:presLayoutVars>
          <dgm:bulletEnabled val="1"/>
        </dgm:presLayoutVars>
      </dgm:prSet>
      <dgm:spPr/>
    </dgm:pt>
    <dgm:pt modelId="{A34B76AD-F17C-A343-ABF6-D148CDE431D7}" type="pres">
      <dgm:prSet presAssocID="{BAC00D8E-23D8-F547-AAB7-B8C15EEC3AEF}" presName="childShp" presStyleLbl="bgAccFollowNode1" presStyleIdx="3" presStyleCnt="7" custScaleX="135383">
        <dgm:presLayoutVars>
          <dgm:bulletEnabled val="1"/>
        </dgm:presLayoutVars>
      </dgm:prSet>
      <dgm:spPr/>
    </dgm:pt>
    <dgm:pt modelId="{70592F9C-45F6-3D4E-B66C-4754B35CF676}" type="pres">
      <dgm:prSet presAssocID="{C112A7D1-8536-BF45-87DC-F6B69A7CA23D}" presName="spacing" presStyleCnt="0"/>
      <dgm:spPr/>
    </dgm:pt>
    <dgm:pt modelId="{9B40AEDA-8CC6-F142-9934-24980652CBD5}" type="pres">
      <dgm:prSet presAssocID="{7AA3B672-F5EB-E247-AFF7-344CBB5B7579}" presName="linNode" presStyleCnt="0"/>
      <dgm:spPr/>
    </dgm:pt>
    <dgm:pt modelId="{EAC1B18F-A15D-504A-906C-B40CB04EE7B4}" type="pres">
      <dgm:prSet presAssocID="{7AA3B672-F5EB-E247-AFF7-344CBB5B7579}" presName="parentShp" presStyleLbl="node1" presStyleIdx="4" presStyleCnt="7" custScaleX="57421">
        <dgm:presLayoutVars>
          <dgm:bulletEnabled val="1"/>
        </dgm:presLayoutVars>
      </dgm:prSet>
      <dgm:spPr/>
    </dgm:pt>
    <dgm:pt modelId="{FE78F3E2-6B7A-7B42-9D83-989B6B15C790}" type="pres">
      <dgm:prSet presAssocID="{7AA3B672-F5EB-E247-AFF7-344CBB5B7579}" presName="childShp" presStyleLbl="bgAccFollowNode1" presStyleIdx="4" presStyleCnt="7" custScaleX="135383">
        <dgm:presLayoutVars>
          <dgm:bulletEnabled val="1"/>
        </dgm:presLayoutVars>
      </dgm:prSet>
      <dgm:spPr/>
    </dgm:pt>
    <dgm:pt modelId="{7676E84F-6B8B-BE4C-9D44-F4CA3E79781F}" type="pres">
      <dgm:prSet presAssocID="{C39A21E8-4872-EF4C-A1FF-5EF2C2419495}" presName="spacing" presStyleCnt="0"/>
      <dgm:spPr/>
    </dgm:pt>
    <dgm:pt modelId="{5B756A95-EDF3-1940-AE7F-25054D087918}" type="pres">
      <dgm:prSet presAssocID="{E3057C07-85DF-6847-8AD8-332E858ADB33}" presName="linNode" presStyleCnt="0"/>
      <dgm:spPr/>
    </dgm:pt>
    <dgm:pt modelId="{56AFB9FF-8EB4-9A49-BA42-A313DA01E2C9}" type="pres">
      <dgm:prSet presAssocID="{E3057C07-85DF-6847-8AD8-332E858ADB33}" presName="parentShp" presStyleLbl="node1" presStyleIdx="5" presStyleCnt="7" custScaleX="58876">
        <dgm:presLayoutVars>
          <dgm:bulletEnabled val="1"/>
        </dgm:presLayoutVars>
      </dgm:prSet>
      <dgm:spPr/>
    </dgm:pt>
    <dgm:pt modelId="{04CC14D3-3D3E-554B-9496-C9EBC38012BF}" type="pres">
      <dgm:prSet presAssocID="{E3057C07-85DF-6847-8AD8-332E858ADB33}" presName="childShp" presStyleLbl="bgAccFollowNode1" presStyleIdx="5" presStyleCnt="7" custScaleX="135383">
        <dgm:presLayoutVars>
          <dgm:bulletEnabled val="1"/>
        </dgm:presLayoutVars>
      </dgm:prSet>
      <dgm:spPr/>
    </dgm:pt>
    <dgm:pt modelId="{3E42CE2D-CB69-DF44-BE92-6DDE1DC86A48}" type="pres">
      <dgm:prSet presAssocID="{BE2826A7-079C-2D46-A956-477CAC67E584}" presName="spacing" presStyleCnt="0"/>
      <dgm:spPr/>
    </dgm:pt>
    <dgm:pt modelId="{D5D2DF98-E3C3-7A40-BE96-5EB1DC9550A8}" type="pres">
      <dgm:prSet presAssocID="{229FA747-A6DF-D344-9413-294777B44F6E}" presName="linNode" presStyleCnt="0"/>
      <dgm:spPr/>
    </dgm:pt>
    <dgm:pt modelId="{D5850257-F985-3D44-B34A-F1289F6178B8}" type="pres">
      <dgm:prSet presAssocID="{229FA747-A6DF-D344-9413-294777B44F6E}" presName="parentShp" presStyleLbl="node1" presStyleIdx="6" presStyleCnt="7" custScaleX="57421">
        <dgm:presLayoutVars>
          <dgm:bulletEnabled val="1"/>
        </dgm:presLayoutVars>
      </dgm:prSet>
      <dgm:spPr/>
    </dgm:pt>
    <dgm:pt modelId="{5451573D-B2A4-3547-BE1E-894B88A3FB45}" type="pres">
      <dgm:prSet presAssocID="{229FA747-A6DF-D344-9413-294777B44F6E}" presName="childShp" presStyleLbl="bgAccFollowNode1" presStyleIdx="6" presStyleCnt="7" custScaleX="135383">
        <dgm:presLayoutVars>
          <dgm:bulletEnabled val="1"/>
        </dgm:presLayoutVars>
      </dgm:prSet>
      <dgm:spPr/>
    </dgm:pt>
  </dgm:ptLst>
  <dgm:cxnLst>
    <dgm:cxn modelId="{4C21AD01-405D-E14D-910F-5224C89DF192}" type="presOf" srcId="{C02D9388-75DF-5A46-9C9A-3D26ADBCEBA1}" destId="{752C0944-6BFF-464F-A02B-ABF25E4B0E4D}" srcOrd="0" destOrd="0" presId="urn:microsoft.com/office/officeart/2005/8/layout/vList6"/>
    <dgm:cxn modelId="{71C2E702-5048-254C-AF73-CDF495F740A3}" type="presOf" srcId="{966133DF-543B-6C40-8683-C345432ED185}" destId="{54E95E5A-5492-F44D-B2CF-580100E9EE3D}" srcOrd="0" destOrd="0" presId="urn:microsoft.com/office/officeart/2005/8/layout/vList6"/>
    <dgm:cxn modelId="{E2EDC713-CEB5-B542-B07C-1222547B88DD}" type="presOf" srcId="{CE5B878B-075B-5A47-A09E-0DBD997386EB}" destId="{A34B76AD-F17C-A343-ABF6-D148CDE431D7}" srcOrd="0" destOrd="0" presId="urn:microsoft.com/office/officeart/2005/8/layout/vList6"/>
    <dgm:cxn modelId="{A16E8715-B65E-1A47-88AE-38343A30AA5B}" srcId="{59CC5EC7-C9C2-614F-9425-448F30EDF4DA}" destId="{BAC00D8E-23D8-F547-AAB7-B8C15EEC3AEF}" srcOrd="3" destOrd="0" parTransId="{DEFCFD47-720F-124F-9FA7-CC8CA2E00469}" sibTransId="{C112A7D1-8536-BF45-87DC-F6B69A7CA23D}"/>
    <dgm:cxn modelId="{2359CE3C-5F4B-D744-8460-6664B5D89B55}" srcId="{BAC00D8E-23D8-F547-AAB7-B8C15EEC3AEF}" destId="{CE5B878B-075B-5A47-A09E-0DBD997386EB}" srcOrd="0" destOrd="0" parTransId="{C07E9BE0-18AE-0C43-AA64-3701216120C0}" sibTransId="{78F964C5-574F-594D-A51B-B40362435150}"/>
    <dgm:cxn modelId="{C5C1303F-0097-0741-8F54-C80A177F338E}" type="presOf" srcId="{235342AC-F248-1346-9A06-B159B9C0CFB7}" destId="{3358AE81-9047-D242-ACCE-F8135848A219}" srcOrd="0" destOrd="0" presId="urn:microsoft.com/office/officeart/2005/8/layout/vList6"/>
    <dgm:cxn modelId="{3C069A45-65DE-A643-B983-C79933EEC884}" type="presOf" srcId="{53BECCA1-3920-FF4E-A55B-7247DE53F1EE}" destId="{5451573D-B2A4-3547-BE1E-894B88A3FB45}" srcOrd="0" destOrd="0" presId="urn:microsoft.com/office/officeart/2005/8/layout/vList6"/>
    <dgm:cxn modelId="{90829747-E993-8744-8D18-D89D33DD4F29}" srcId="{C02D9388-75DF-5A46-9C9A-3D26ADBCEBA1}" destId="{25BCAD0E-C6A9-4541-9ACD-AA53C31083F4}" srcOrd="0" destOrd="0" parTransId="{F97E932A-2D5C-C74A-B546-BACD8D7FB747}" sibTransId="{6F1E86CD-1A9A-6644-B4F7-9E7A94FEAB8E}"/>
    <dgm:cxn modelId="{B22C0150-6E18-A345-9F47-FD05C710D4F2}" type="presOf" srcId="{E3057C07-85DF-6847-8AD8-332E858ADB33}" destId="{56AFB9FF-8EB4-9A49-BA42-A313DA01E2C9}" srcOrd="0" destOrd="0" presId="urn:microsoft.com/office/officeart/2005/8/layout/vList6"/>
    <dgm:cxn modelId="{CAA69853-EB14-7349-9BC7-76C93AB4EE3D}" srcId="{E3057C07-85DF-6847-8AD8-332E858ADB33}" destId="{2C4C25E7-F4EB-4243-9BAF-2FEA3798A97A}" srcOrd="0" destOrd="0" parTransId="{DE50DF6A-9B22-FF43-8FDE-CE46F2CB89FE}" sibTransId="{F85D1B09-9135-B143-B6B6-B2F19C4E9AFC}"/>
    <dgm:cxn modelId="{CB23A754-7EA2-8846-98A8-DF35978408F4}" srcId="{59CC5EC7-C9C2-614F-9425-448F30EDF4DA}" destId="{7AA3B672-F5EB-E247-AFF7-344CBB5B7579}" srcOrd="4" destOrd="0" parTransId="{B999A0D9-3896-0E4E-AED1-3EE3C923F091}" sibTransId="{C39A21E8-4872-EF4C-A1FF-5EF2C2419495}"/>
    <dgm:cxn modelId="{5376EA64-5662-C74C-A478-18260FE09915}" srcId="{229FA747-A6DF-D344-9413-294777B44F6E}" destId="{53BECCA1-3920-FF4E-A55B-7247DE53F1EE}" srcOrd="0" destOrd="0" parTransId="{0EBAE3E0-FD50-994F-859F-B98F9230E123}" sibTransId="{87227F50-0BB3-4546-A14C-5B70DB72D3F4}"/>
    <dgm:cxn modelId="{53334880-163E-DA40-A239-357C49AC1932}" srcId="{7AA3B672-F5EB-E247-AFF7-344CBB5B7579}" destId="{019DD3FA-D581-6845-8597-BE4CABF699F7}" srcOrd="0" destOrd="0" parTransId="{3DC4AF67-E17B-2945-92FE-E6AEF961DBC5}" sibTransId="{B7599BEB-DE88-5E44-81AE-0A54CD6F7962}"/>
    <dgm:cxn modelId="{E0EE119A-F74F-7341-9893-2BCBBCB0965A}" srcId="{59CC5EC7-C9C2-614F-9425-448F30EDF4DA}" destId="{C02D9388-75DF-5A46-9C9A-3D26ADBCEBA1}" srcOrd="2" destOrd="0" parTransId="{4BDB1C9A-4150-5D4F-BEBE-404AD59A7288}" sibTransId="{75BC6C30-A8D2-524F-99D6-353E7551B6A8}"/>
    <dgm:cxn modelId="{F7B48B9B-590C-4442-B02F-A2A9EE2F43F1}" srcId="{59CC5EC7-C9C2-614F-9425-448F30EDF4DA}" destId="{38EEA28F-66FF-6B4E-BCFB-25D60914889D}" srcOrd="1" destOrd="0" parTransId="{A9AE1C01-8BC8-614C-92C8-DCF1611E2E08}" sibTransId="{EC04E769-736F-3446-BA41-4B9915123BF0}"/>
    <dgm:cxn modelId="{38ED219E-C90C-DE46-BFB7-9C005A63D76A}" srcId="{59CC5EC7-C9C2-614F-9425-448F30EDF4DA}" destId="{966133DF-543B-6C40-8683-C345432ED185}" srcOrd="0" destOrd="0" parTransId="{0313833E-7FCC-874A-A792-AB7DF993D8D4}" sibTransId="{64261E9A-6B40-1D48-A314-E02D2E0044F7}"/>
    <dgm:cxn modelId="{2B8FBBA4-522B-EB4D-886E-135CDD702D30}" type="presOf" srcId="{E6C34624-C02D-9C4E-8610-6139DF671BE1}" destId="{29A54BC5-6C40-F242-929F-FD97F33FCDBC}" srcOrd="0" destOrd="0" presId="urn:microsoft.com/office/officeart/2005/8/layout/vList6"/>
    <dgm:cxn modelId="{D2A029A9-AA0C-1145-A2BA-022C37C82B3E}" srcId="{966133DF-543B-6C40-8683-C345432ED185}" destId="{E6C34624-C02D-9C4E-8610-6139DF671BE1}" srcOrd="0" destOrd="0" parTransId="{553CFAE6-F8B0-8649-B99A-E9E4E5ACB38D}" sibTransId="{ADD837EE-5F72-EB49-9DB7-7F4E414E5D47}"/>
    <dgm:cxn modelId="{72A21CAE-BC3B-0F4E-9924-7CEC6AC36135}" type="presOf" srcId="{25BCAD0E-C6A9-4541-9ACD-AA53C31083F4}" destId="{04CF34BF-2057-F143-A5D4-B88306284E21}" srcOrd="0" destOrd="0" presId="urn:microsoft.com/office/officeart/2005/8/layout/vList6"/>
    <dgm:cxn modelId="{399AFBB3-352D-B541-9143-1C97E403F1B9}" srcId="{38EEA28F-66FF-6B4E-BCFB-25D60914889D}" destId="{235342AC-F248-1346-9A06-B159B9C0CFB7}" srcOrd="0" destOrd="0" parTransId="{F16B3184-8F08-A14D-ACE6-15EA5E3A04A3}" sibTransId="{80EF5221-EA49-574F-A83A-0CF1C371D364}"/>
    <dgm:cxn modelId="{6FFAD4B8-7D6C-F045-8101-8273F827B4E1}" type="presOf" srcId="{BAC00D8E-23D8-F547-AAB7-B8C15EEC3AEF}" destId="{B6EEB12E-B15A-7040-A79F-1993848DA1F9}" srcOrd="0" destOrd="0" presId="urn:microsoft.com/office/officeart/2005/8/layout/vList6"/>
    <dgm:cxn modelId="{E355ECCB-2CD3-3842-B650-E28D8A5B3238}" srcId="{59CC5EC7-C9C2-614F-9425-448F30EDF4DA}" destId="{229FA747-A6DF-D344-9413-294777B44F6E}" srcOrd="6" destOrd="0" parTransId="{FF4439A6-24E7-9149-A1A4-5E3D60CD57F5}" sibTransId="{95C7F99F-EC02-FD4C-90C5-39CE042943B2}"/>
    <dgm:cxn modelId="{D93C46CF-0586-6443-85D0-16FC93CE33D4}" type="presOf" srcId="{7AA3B672-F5EB-E247-AFF7-344CBB5B7579}" destId="{EAC1B18F-A15D-504A-906C-B40CB04EE7B4}" srcOrd="0" destOrd="0" presId="urn:microsoft.com/office/officeart/2005/8/layout/vList6"/>
    <dgm:cxn modelId="{0A291BD0-475F-2B40-B212-43F3618F96B8}" type="presOf" srcId="{2C4C25E7-F4EB-4243-9BAF-2FEA3798A97A}" destId="{04CC14D3-3D3E-554B-9496-C9EBC38012BF}" srcOrd="0" destOrd="0" presId="urn:microsoft.com/office/officeart/2005/8/layout/vList6"/>
    <dgm:cxn modelId="{8B0A4DD3-8A86-2140-8387-C5FB4342B9B0}" type="presOf" srcId="{59CC5EC7-C9C2-614F-9425-448F30EDF4DA}" destId="{D61AE4F8-CBAF-9843-88AD-B7DFABEB0A49}" srcOrd="0" destOrd="0" presId="urn:microsoft.com/office/officeart/2005/8/layout/vList6"/>
    <dgm:cxn modelId="{A13384D5-4532-A440-A984-391E04184D11}" srcId="{59CC5EC7-C9C2-614F-9425-448F30EDF4DA}" destId="{E3057C07-85DF-6847-8AD8-332E858ADB33}" srcOrd="5" destOrd="0" parTransId="{58563A1E-DB98-E44F-9A7F-62211A661B07}" sibTransId="{BE2826A7-079C-2D46-A956-477CAC67E584}"/>
    <dgm:cxn modelId="{473CF0E4-0E7D-AF43-9F15-D6A6120B54E2}" type="presOf" srcId="{38EEA28F-66FF-6B4E-BCFB-25D60914889D}" destId="{2D9C5F70-C01B-E847-839E-F6B0D05BDE96}" srcOrd="0" destOrd="0" presId="urn:microsoft.com/office/officeart/2005/8/layout/vList6"/>
    <dgm:cxn modelId="{D41A2BF6-2406-2B4D-AC78-B85ED5C4AE0B}" type="presOf" srcId="{019DD3FA-D581-6845-8597-BE4CABF699F7}" destId="{FE78F3E2-6B7A-7B42-9D83-989B6B15C790}" srcOrd="0" destOrd="0" presId="urn:microsoft.com/office/officeart/2005/8/layout/vList6"/>
    <dgm:cxn modelId="{89F547FB-4C20-0F4C-B0B3-7FADCF529B56}" type="presOf" srcId="{229FA747-A6DF-D344-9413-294777B44F6E}" destId="{D5850257-F985-3D44-B34A-F1289F6178B8}" srcOrd="0" destOrd="0" presId="urn:microsoft.com/office/officeart/2005/8/layout/vList6"/>
    <dgm:cxn modelId="{681EC4FE-BE6A-144B-9556-FE4AB7FABA7F}" type="presParOf" srcId="{D61AE4F8-CBAF-9843-88AD-B7DFABEB0A49}" destId="{D2AE7099-F434-CD4C-A162-3926E123DBF3}" srcOrd="0" destOrd="0" presId="urn:microsoft.com/office/officeart/2005/8/layout/vList6"/>
    <dgm:cxn modelId="{D85F7C6C-B986-CF45-B811-17480140B678}" type="presParOf" srcId="{D2AE7099-F434-CD4C-A162-3926E123DBF3}" destId="{54E95E5A-5492-F44D-B2CF-580100E9EE3D}" srcOrd="0" destOrd="0" presId="urn:microsoft.com/office/officeart/2005/8/layout/vList6"/>
    <dgm:cxn modelId="{3D9212F4-1004-4244-B463-9EBCA4E8E976}" type="presParOf" srcId="{D2AE7099-F434-CD4C-A162-3926E123DBF3}" destId="{29A54BC5-6C40-F242-929F-FD97F33FCDBC}" srcOrd="1" destOrd="0" presId="urn:microsoft.com/office/officeart/2005/8/layout/vList6"/>
    <dgm:cxn modelId="{35487C04-905E-F14E-860A-77583476FBEC}" type="presParOf" srcId="{D61AE4F8-CBAF-9843-88AD-B7DFABEB0A49}" destId="{F9037A9B-5FC2-0C4E-B4B1-D6329EF87AFE}" srcOrd="1" destOrd="0" presId="urn:microsoft.com/office/officeart/2005/8/layout/vList6"/>
    <dgm:cxn modelId="{0949E301-245F-E145-A2E8-13C2E8F18404}" type="presParOf" srcId="{D61AE4F8-CBAF-9843-88AD-B7DFABEB0A49}" destId="{1E9B5721-BB3F-B347-89DC-0D2E7C25B564}" srcOrd="2" destOrd="0" presId="urn:microsoft.com/office/officeart/2005/8/layout/vList6"/>
    <dgm:cxn modelId="{CAA1D027-F885-4E40-957F-842AE5CE803F}" type="presParOf" srcId="{1E9B5721-BB3F-B347-89DC-0D2E7C25B564}" destId="{2D9C5F70-C01B-E847-839E-F6B0D05BDE96}" srcOrd="0" destOrd="0" presId="urn:microsoft.com/office/officeart/2005/8/layout/vList6"/>
    <dgm:cxn modelId="{82CF24C4-229E-0342-A686-EA430C3FC7D8}" type="presParOf" srcId="{1E9B5721-BB3F-B347-89DC-0D2E7C25B564}" destId="{3358AE81-9047-D242-ACCE-F8135848A219}" srcOrd="1" destOrd="0" presId="urn:microsoft.com/office/officeart/2005/8/layout/vList6"/>
    <dgm:cxn modelId="{810C2073-91E7-3841-8AA7-47ADB5F40D09}" type="presParOf" srcId="{D61AE4F8-CBAF-9843-88AD-B7DFABEB0A49}" destId="{182327F6-7418-FC47-AF85-50B4162B1E17}" srcOrd="3" destOrd="0" presId="urn:microsoft.com/office/officeart/2005/8/layout/vList6"/>
    <dgm:cxn modelId="{0F26B845-2A87-B14A-B6B2-F6C3F6828A28}" type="presParOf" srcId="{D61AE4F8-CBAF-9843-88AD-B7DFABEB0A49}" destId="{E9B9C34E-F87F-0C4F-BF93-434506191999}" srcOrd="4" destOrd="0" presId="urn:microsoft.com/office/officeart/2005/8/layout/vList6"/>
    <dgm:cxn modelId="{B017D2AA-516C-914F-81F4-D08BCA0B598D}" type="presParOf" srcId="{E9B9C34E-F87F-0C4F-BF93-434506191999}" destId="{752C0944-6BFF-464F-A02B-ABF25E4B0E4D}" srcOrd="0" destOrd="0" presId="urn:microsoft.com/office/officeart/2005/8/layout/vList6"/>
    <dgm:cxn modelId="{71624711-F64B-0440-A612-A57921829755}" type="presParOf" srcId="{E9B9C34E-F87F-0C4F-BF93-434506191999}" destId="{04CF34BF-2057-F143-A5D4-B88306284E21}" srcOrd="1" destOrd="0" presId="urn:microsoft.com/office/officeart/2005/8/layout/vList6"/>
    <dgm:cxn modelId="{3F57C96B-4053-E94A-B083-E217C8E60A94}" type="presParOf" srcId="{D61AE4F8-CBAF-9843-88AD-B7DFABEB0A49}" destId="{1122811B-CCCC-F442-8CA2-AAFB5D542E6C}" srcOrd="5" destOrd="0" presId="urn:microsoft.com/office/officeart/2005/8/layout/vList6"/>
    <dgm:cxn modelId="{E509ED0C-1F50-9D4D-955C-C4271649D402}" type="presParOf" srcId="{D61AE4F8-CBAF-9843-88AD-B7DFABEB0A49}" destId="{607CBCC2-17A7-1941-8A55-C5BD5AC9CB7A}" srcOrd="6" destOrd="0" presId="urn:microsoft.com/office/officeart/2005/8/layout/vList6"/>
    <dgm:cxn modelId="{F309FDAA-FD27-2541-BA28-099EF62A89E8}" type="presParOf" srcId="{607CBCC2-17A7-1941-8A55-C5BD5AC9CB7A}" destId="{B6EEB12E-B15A-7040-A79F-1993848DA1F9}" srcOrd="0" destOrd="0" presId="urn:microsoft.com/office/officeart/2005/8/layout/vList6"/>
    <dgm:cxn modelId="{7A6C125B-2A41-B546-B26A-9236CC4229E0}" type="presParOf" srcId="{607CBCC2-17A7-1941-8A55-C5BD5AC9CB7A}" destId="{A34B76AD-F17C-A343-ABF6-D148CDE431D7}" srcOrd="1" destOrd="0" presId="urn:microsoft.com/office/officeart/2005/8/layout/vList6"/>
    <dgm:cxn modelId="{99024730-230C-2541-B1D2-395ED255F8CD}" type="presParOf" srcId="{D61AE4F8-CBAF-9843-88AD-B7DFABEB0A49}" destId="{70592F9C-45F6-3D4E-B66C-4754B35CF676}" srcOrd="7" destOrd="0" presId="urn:microsoft.com/office/officeart/2005/8/layout/vList6"/>
    <dgm:cxn modelId="{78F607A3-7CD8-6D41-9851-4F8D3ABEB829}" type="presParOf" srcId="{D61AE4F8-CBAF-9843-88AD-B7DFABEB0A49}" destId="{9B40AEDA-8CC6-F142-9934-24980652CBD5}" srcOrd="8" destOrd="0" presId="urn:microsoft.com/office/officeart/2005/8/layout/vList6"/>
    <dgm:cxn modelId="{9E6DC070-3319-1E4C-9A7B-E8D718473A30}" type="presParOf" srcId="{9B40AEDA-8CC6-F142-9934-24980652CBD5}" destId="{EAC1B18F-A15D-504A-906C-B40CB04EE7B4}" srcOrd="0" destOrd="0" presId="urn:microsoft.com/office/officeart/2005/8/layout/vList6"/>
    <dgm:cxn modelId="{9646EB18-2E6C-D44E-BD89-DF4D9C32F9C4}" type="presParOf" srcId="{9B40AEDA-8CC6-F142-9934-24980652CBD5}" destId="{FE78F3E2-6B7A-7B42-9D83-989B6B15C790}" srcOrd="1" destOrd="0" presId="urn:microsoft.com/office/officeart/2005/8/layout/vList6"/>
    <dgm:cxn modelId="{51DDA383-459A-B848-81FE-DDBB79C5094C}" type="presParOf" srcId="{D61AE4F8-CBAF-9843-88AD-B7DFABEB0A49}" destId="{7676E84F-6B8B-BE4C-9D44-F4CA3E79781F}" srcOrd="9" destOrd="0" presId="urn:microsoft.com/office/officeart/2005/8/layout/vList6"/>
    <dgm:cxn modelId="{82C414E5-54AB-9749-88A5-6A71E1494DB0}" type="presParOf" srcId="{D61AE4F8-CBAF-9843-88AD-B7DFABEB0A49}" destId="{5B756A95-EDF3-1940-AE7F-25054D087918}" srcOrd="10" destOrd="0" presId="urn:microsoft.com/office/officeart/2005/8/layout/vList6"/>
    <dgm:cxn modelId="{EB4E20D2-A55F-5440-8146-8E1EA82E38F3}" type="presParOf" srcId="{5B756A95-EDF3-1940-AE7F-25054D087918}" destId="{56AFB9FF-8EB4-9A49-BA42-A313DA01E2C9}" srcOrd="0" destOrd="0" presId="urn:microsoft.com/office/officeart/2005/8/layout/vList6"/>
    <dgm:cxn modelId="{8BA91317-EA6B-1346-A87D-2DB8AB665AD5}" type="presParOf" srcId="{5B756A95-EDF3-1940-AE7F-25054D087918}" destId="{04CC14D3-3D3E-554B-9496-C9EBC38012BF}" srcOrd="1" destOrd="0" presId="urn:microsoft.com/office/officeart/2005/8/layout/vList6"/>
    <dgm:cxn modelId="{3A070F0E-8F23-9F44-837C-723D3FEF9F9A}" type="presParOf" srcId="{D61AE4F8-CBAF-9843-88AD-B7DFABEB0A49}" destId="{3E42CE2D-CB69-DF44-BE92-6DDE1DC86A48}" srcOrd="11" destOrd="0" presId="urn:microsoft.com/office/officeart/2005/8/layout/vList6"/>
    <dgm:cxn modelId="{B90B4561-FF42-484E-9729-D6F15FCEE6DA}" type="presParOf" srcId="{D61AE4F8-CBAF-9843-88AD-B7DFABEB0A49}" destId="{D5D2DF98-E3C3-7A40-BE96-5EB1DC9550A8}" srcOrd="12" destOrd="0" presId="urn:microsoft.com/office/officeart/2005/8/layout/vList6"/>
    <dgm:cxn modelId="{B400BD57-C01F-C140-A30E-085E4345CA8A}" type="presParOf" srcId="{D5D2DF98-E3C3-7A40-BE96-5EB1DC9550A8}" destId="{D5850257-F985-3D44-B34A-F1289F6178B8}" srcOrd="0" destOrd="0" presId="urn:microsoft.com/office/officeart/2005/8/layout/vList6"/>
    <dgm:cxn modelId="{F69C67B4-A8AC-0F4F-8794-1400DC5D01F6}" type="presParOf" srcId="{D5D2DF98-E3C3-7A40-BE96-5EB1DC9550A8}" destId="{5451573D-B2A4-3547-BE1E-894B88A3FB45}"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A54BC5-6C40-F242-929F-FD97F33FCDBC}">
      <dsp:nvSpPr>
        <dsp:cNvPr id="0" name=""/>
        <dsp:cNvSpPr/>
      </dsp:nvSpPr>
      <dsp:spPr>
        <a:xfrm>
          <a:off x="2539058" y="4762"/>
          <a:ext cx="8964232" cy="711729"/>
        </a:xfrm>
        <a:prstGeom prst="rightArrow">
          <a:avLst>
            <a:gd name="adj1" fmla="val 75000"/>
            <a:gd name="adj2" fmla="val 50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228600" lvl="1" indent="-228600" algn="ctr" defTabSz="1066800">
            <a:lnSpc>
              <a:spcPct val="90000"/>
            </a:lnSpc>
            <a:spcBef>
              <a:spcPct val="0"/>
            </a:spcBef>
            <a:spcAft>
              <a:spcPct val="15000"/>
            </a:spcAft>
            <a:buNone/>
          </a:pPr>
          <a:r>
            <a:rPr lang="en-US" sz="2400" b="0" kern="1200" dirty="0"/>
            <a:t>A low-level quantum assembly language</a:t>
          </a:r>
        </a:p>
      </dsp:txBody>
      <dsp:txXfrm>
        <a:off x="2539058" y="93728"/>
        <a:ext cx="8697334" cy="533797"/>
      </dsp:txXfrm>
    </dsp:sp>
    <dsp:sp modelId="{54E95E5A-5492-F44D-B2CF-580100E9EE3D}">
      <dsp:nvSpPr>
        <dsp:cNvPr id="0" name=""/>
        <dsp:cNvSpPr/>
      </dsp:nvSpPr>
      <dsp:spPr>
        <a:xfrm>
          <a:off x="4347" y="4762"/>
          <a:ext cx="2534711" cy="711729"/>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0" kern="1200" dirty="0" err="1"/>
            <a:t>OpenQASM</a:t>
          </a:r>
          <a:r>
            <a:rPr lang="en-US" sz="2200" b="0" kern="1200" dirty="0"/>
            <a:t> (IBM)</a:t>
          </a:r>
        </a:p>
      </dsp:txBody>
      <dsp:txXfrm>
        <a:off x="39091" y="39506"/>
        <a:ext cx="2465223" cy="642241"/>
      </dsp:txXfrm>
    </dsp:sp>
    <dsp:sp modelId="{3358AE81-9047-D242-ACCE-F8135848A219}">
      <dsp:nvSpPr>
        <dsp:cNvPr id="0" name=""/>
        <dsp:cNvSpPr/>
      </dsp:nvSpPr>
      <dsp:spPr>
        <a:xfrm>
          <a:off x="2539058" y="787664"/>
          <a:ext cx="8964232" cy="711729"/>
        </a:xfrm>
        <a:prstGeom prst="rightArrow">
          <a:avLst>
            <a:gd name="adj1" fmla="val 75000"/>
            <a:gd name="adj2" fmla="val 50000"/>
          </a:avLst>
        </a:prstGeom>
        <a:solidFill>
          <a:schemeClr val="accent3">
            <a:tint val="40000"/>
            <a:alpha val="90000"/>
            <a:hueOff val="338190"/>
            <a:satOff val="16667"/>
            <a:lumOff val="297"/>
            <a:alphaOff val="0"/>
          </a:schemeClr>
        </a:solidFill>
        <a:ln w="12700" cap="flat" cmpd="sng" algn="ctr">
          <a:solidFill>
            <a:schemeClr val="accent3">
              <a:tint val="40000"/>
              <a:alpha val="90000"/>
              <a:hueOff val="338190"/>
              <a:satOff val="16667"/>
              <a:lumOff val="29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228600" lvl="1" indent="-228600" algn="ctr" defTabSz="1066800">
            <a:lnSpc>
              <a:spcPct val="90000"/>
            </a:lnSpc>
            <a:spcBef>
              <a:spcPct val="0"/>
            </a:spcBef>
            <a:spcAft>
              <a:spcPct val="15000"/>
            </a:spcAft>
            <a:buNone/>
          </a:pPr>
          <a:r>
            <a:rPr lang="en-ZA" sz="2400" b="0" kern="1200" dirty="0"/>
            <a:t>Python-based quantum computing framework</a:t>
          </a:r>
          <a:endParaRPr lang="en-US" sz="2400" b="0" kern="1200" dirty="0"/>
        </a:p>
      </dsp:txBody>
      <dsp:txXfrm>
        <a:off x="2539058" y="876630"/>
        <a:ext cx="8697334" cy="533797"/>
      </dsp:txXfrm>
    </dsp:sp>
    <dsp:sp modelId="{2D9C5F70-C01B-E847-839E-F6B0D05BDE96}">
      <dsp:nvSpPr>
        <dsp:cNvPr id="0" name=""/>
        <dsp:cNvSpPr/>
      </dsp:nvSpPr>
      <dsp:spPr>
        <a:xfrm>
          <a:off x="4347" y="787664"/>
          <a:ext cx="2534711" cy="711729"/>
        </a:xfrm>
        <a:prstGeom prst="roundRect">
          <a:avLst/>
        </a:prstGeom>
        <a:solidFill>
          <a:schemeClr val="accent3">
            <a:hueOff val="451767"/>
            <a:satOff val="16667"/>
            <a:lumOff val="-2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0" kern="1200" dirty="0" err="1"/>
            <a:t>Qiskit</a:t>
          </a:r>
          <a:r>
            <a:rPr lang="en-US" sz="2200" b="0" kern="1200" dirty="0"/>
            <a:t> (IBM)</a:t>
          </a:r>
        </a:p>
      </dsp:txBody>
      <dsp:txXfrm>
        <a:off x="39091" y="822408"/>
        <a:ext cx="2465223" cy="642241"/>
      </dsp:txXfrm>
    </dsp:sp>
    <dsp:sp modelId="{04CF34BF-2057-F143-A5D4-B88306284E21}">
      <dsp:nvSpPr>
        <dsp:cNvPr id="0" name=""/>
        <dsp:cNvSpPr/>
      </dsp:nvSpPr>
      <dsp:spPr>
        <a:xfrm>
          <a:off x="2539058" y="1570566"/>
          <a:ext cx="8964232" cy="711729"/>
        </a:xfrm>
        <a:prstGeom prst="rightArrow">
          <a:avLst>
            <a:gd name="adj1" fmla="val 75000"/>
            <a:gd name="adj2" fmla="val 50000"/>
          </a:avLst>
        </a:prstGeom>
        <a:solidFill>
          <a:schemeClr val="accent3">
            <a:tint val="40000"/>
            <a:alpha val="90000"/>
            <a:hueOff val="676380"/>
            <a:satOff val="33333"/>
            <a:lumOff val="593"/>
            <a:alphaOff val="0"/>
          </a:schemeClr>
        </a:solidFill>
        <a:ln w="12700" cap="flat" cmpd="sng" algn="ctr">
          <a:solidFill>
            <a:schemeClr val="accent3">
              <a:tint val="40000"/>
              <a:alpha val="90000"/>
              <a:hueOff val="676380"/>
              <a:satOff val="33333"/>
              <a:lumOff val="59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228600" lvl="1" indent="-228600" algn="ctr" defTabSz="1066800">
            <a:lnSpc>
              <a:spcPct val="90000"/>
            </a:lnSpc>
            <a:spcBef>
              <a:spcPct val="0"/>
            </a:spcBef>
            <a:spcAft>
              <a:spcPct val="15000"/>
            </a:spcAft>
            <a:buNone/>
          </a:pPr>
          <a:r>
            <a:rPr lang="en-ZA" sz="2400" b="0" kern="1200" dirty="0"/>
            <a:t>Python-based quantum computing framework</a:t>
          </a:r>
          <a:endParaRPr lang="en-US" sz="2400" b="0" kern="1200" dirty="0"/>
        </a:p>
      </dsp:txBody>
      <dsp:txXfrm>
        <a:off x="2539058" y="1659532"/>
        <a:ext cx="8697334" cy="533797"/>
      </dsp:txXfrm>
    </dsp:sp>
    <dsp:sp modelId="{752C0944-6BFF-464F-A02B-ABF25E4B0E4D}">
      <dsp:nvSpPr>
        <dsp:cNvPr id="0" name=""/>
        <dsp:cNvSpPr/>
      </dsp:nvSpPr>
      <dsp:spPr>
        <a:xfrm>
          <a:off x="4347" y="1570566"/>
          <a:ext cx="2534711" cy="711729"/>
        </a:xfrm>
        <a:prstGeom prst="roundRect">
          <a:avLst/>
        </a:prstGeom>
        <a:solidFill>
          <a:schemeClr val="accent3">
            <a:hueOff val="903533"/>
            <a:satOff val="33333"/>
            <a:lumOff val="-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0" kern="1200" dirty="0" err="1"/>
            <a:t>Cirq</a:t>
          </a:r>
          <a:r>
            <a:rPr lang="en-US" sz="2200" b="0" kern="1200" dirty="0"/>
            <a:t> (Google)</a:t>
          </a:r>
        </a:p>
      </dsp:txBody>
      <dsp:txXfrm>
        <a:off x="39091" y="1605310"/>
        <a:ext cx="2465223" cy="642241"/>
      </dsp:txXfrm>
    </dsp:sp>
    <dsp:sp modelId="{A34B76AD-F17C-A343-ABF6-D148CDE431D7}">
      <dsp:nvSpPr>
        <dsp:cNvPr id="0" name=""/>
        <dsp:cNvSpPr/>
      </dsp:nvSpPr>
      <dsp:spPr>
        <a:xfrm>
          <a:off x="2539058" y="2353468"/>
          <a:ext cx="8964232" cy="711729"/>
        </a:xfrm>
        <a:prstGeom prst="rightArrow">
          <a:avLst>
            <a:gd name="adj1" fmla="val 75000"/>
            <a:gd name="adj2" fmla="val 50000"/>
          </a:avLst>
        </a:prstGeom>
        <a:solidFill>
          <a:schemeClr val="accent3">
            <a:tint val="40000"/>
            <a:alpha val="90000"/>
            <a:hueOff val="1014570"/>
            <a:satOff val="50000"/>
            <a:lumOff val="890"/>
            <a:alphaOff val="0"/>
          </a:schemeClr>
        </a:solidFill>
        <a:ln w="12700" cap="flat" cmpd="sng" algn="ctr">
          <a:solidFill>
            <a:schemeClr val="accent3">
              <a:tint val="40000"/>
              <a:alpha val="90000"/>
              <a:hueOff val="1014570"/>
              <a:satOff val="50000"/>
              <a:lumOff val="89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228600" lvl="1" indent="-228600" algn="ctr" defTabSz="1066800">
            <a:lnSpc>
              <a:spcPct val="90000"/>
            </a:lnSpc>
            <a:spcBef>
              <a:spcPct val="0"/>
            </a:spcBef>
            <a:spcAft>
              <a:spcPct val="15000"/>
            </a:spcAft>
            <a:buFont typeface="Arial" panose="020B0604020202020204" pitchFamily="34" charset="0"/>
            <a:buNone/>
          </a:pPr>
          <a:r>
            <a:rPr lang="en-US" sz="2400" b="0" kern="1200" dirty="0"/>
            <a:t>A quantum instruction language</a:t>
          </a:r>
        </a:p>
      </dsp:txBody>
      <dsp:txXfrm>
        <a:off x="2539058" y="2442434"/>
        <a:ext cx="8697334" cy="533797"/>
      </dsp:txXfrm>
    </dsp:sp>
    <dsp:sp modelId="{B6EEB12E-B15A-7040-A79F-1993848DA1F9}">
      <dsp:nvSpPr>
        <dsp:cNvPr id="0" name=""/>
        <dsp:cNvSpPr/>
      </dsp:nvSpPr>
      <dsp:spPr>
        <a:xfrm>
          <a:off x="4347" y="2353468"/>
          <a:ext cx="2534711" cy="711729"/>
        </a:xfrm>
        <a:prstGeom prst="roundRect">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0" kern="1200" dirty="0" err="1"/>
            <a:t>Quil</a:t>
          </a:r>
          <a:r>
            <a:rPr lang="en-US" sz="2200" b="0" kern="1200" dirty="0"/>
            <a:t> (</a:t>
          </a:r>
          <a:r>
            <a:rPr lang="en-US" sz="2200" b="0" kern="1200" dirty="0" err="1"/>
            <a:t>Rigetti</a:t>
          </a:r>
          <a:r>
            <a:rPr lang="en-US" sz="2200" b="0" kern="1200" dirty="0"/>
            <a:t>)</a:t>
          </a:r>
        </a:p>
      </dsp:txBody>
      <dsp:txXfrm>
        <a:off x="39091" y="2388212"/>
        <a:ext cx="2465223" cy="642241"/>
      </dsp:txXfrm>
    </dsp:sp>
    <dsp:sp modelId="{FE78F3E2-6B7A-7B42-9D83-989B6B15C790}">
      <dsp:nvSpPr>
        <dsp:cNvPr id="0" name=""/>
        <dsp:cNvSpPr/>
      </dsp:nvSpPr>
      <dsp:spPr>
        <a:xfrm>
          <a:off x="2539058" y="3136371"/>
          <a:ext cx="8964232" cy="711729"/>
        </a:xfrm>
        <a:prstGeom prst="rightArrow">
          <a:avLst>
            <a:gd name="adj1" fmla="val 75000"/>
            <a:gd name="adj2" fmla="val 50000"/>
          </a:avLst>
        </a:prstGeom>
        <a:solidFill>
          <a:schemeClr val="accent3">
            <a:tint val="40000"/>
            <a:alpha val="90000"/>
            <a:hueOff val="1352761"/>
            <a:satOff val="66667"/>
            <a:lumOff val="1186"/>
            <a:alphaOff val="0"/>
          </a:schemeClr>
        </a:solidFill>
        <a:ln w="12700" cap="flat" cmpd="sng" algn="ctr">
          <a:solidFill>
            <a:schemeClr val="accent3">
              <a:tint val="40000"/>
              <a:alpha val="90000"/>
              <a:hueOff val="1352761"/>
              <a:satOff val="66667"/>
              <a:lumOff val="11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228600" lvl="1" indent="-228600" algn="ctr" defTabSz="1066800">
            <a:lnSpc>
              <a:spcPct val="90000"/>
            </a:lnSpc>
            <a:spcBef>
              <a:spcPct val="0"/>
            </a:spcBef>
            <a:spcAft>
              <a:spcPct val="15000"/>
            </a:spcAft>
            <a:buNone/>
          </a:pPr>
          <a:r>
            <a:rPr lang="en-ZA" sz="2400" b="0" kern="1200" dirty="0"/>
            <a:t>Python-based quantum computing framework</a:t>
          </a:r>
          <a:endParaRPr lang="en-US" sz="2400" b="0" kern="1200" dirty="0"/>
        </a:p>
      </dsp:txBody>
      <dsp:txXfrm>
        <a:off x="2539058" y="3225337"/>
        <a:ext cx="8697334" cy="533797"/>
      </dsp:txXfrm>
    </dsp:sp>
    <dsp:sp modelId="{EAC1B18F-A15D-504A-906C-B40CB04EE7B4}">
      <dsp:nvSpPr>
        <dsp:cNvPr id="0" name=""/>
        <dsp:cNvSpPr/>
      </dsp:nvSpPr>
      <dsp:spPr>
        <a:xfrm>
          <a:off x="4347" y="3136371"/>
          <a:ext cx="2534711" cy="711729"/>
        </a:xfrm>
        <a:prstGeom prst="roundRect">
          <a:avLst/>
        </a:prstGeom>
        <a:solidFill>
          <a:schemeClr val="accent3">
            <a:hueOff val="1807066"/>
            <a:satOff val="66667"/>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ZA" sz="2200" b="0" kern="1200" dirty="0" err="1"/>
            <a:t>PyQuil</a:t>
          </a:r>
          <a:r>
            <a:rPr lang="en-ZA" sz="2200" b="0" kern="1200" dirty="0"/>
            <a:t> </a:t>
          </a:r>
          <a:r>
            <a:rPr lang="en-US" sz="2200" b="0" kern="1200" dirty="0"/>
            <a:t>(</a:t>
          </a:r>
          <a:r>
            <a:rPr lang="en-US" sz="2200" b="0" kern="1200" dirty="0" err="1"/>
            <a:t>Rigetti</a:t>
          </a:r>
          <a:r>
            <a:rPr lang="en-US" sz="2200" b="0" kern="1200" dirty="0"/>
            <a:t>)</a:t>
          </a:r>
        </a:p>
      </dsp:txBody>
      <dsp:txXfrm>
        <a:off x="39091" y="3171115"/>
        <a:ext cx="2465223" cy="642241"/>
      </dsp:txXfrm>
    </dsp:sp>
    <dsp:sp modelId="{04CC14D3-3D3E-554B-9496-C9EBC38012BF}">
      <dsp:nvSpPr>
        <dsp:cNvPr id="0" name=""/>
        <dsp:cNvSpPr/>
      </dsp:nvSpPr>
      <dsp:spPr>
        <a:xfrm>
          <a:off x="2587377" y="3919273"/>
          <a:ext cx="8918589" cy="711729"/>
        </a:xfrm>
        <a:prstGeom prst="rightArrow">
          <a:avLst>
            <a:gd name="adj1" fmla="val 75000"/>
            <a:gd name="adj2" fmla="val 50000"/>
          </a:avLst>
        </a:prstGeom>
        <a:solidFill>
          <a:schemeClr val="accent3">
            <a:tint val="40000"/>
            <a:alpha val="90000"/>
            <a:hueOff val="1690951"/>
            <a:satOff val="83333"/>
            <a:lumOff val="1483"/>
            <a:alphaOff val="0"/>
          </a:schemeClr>
        </a:solidFill>
        <a:ln w="12700" cap="flat" cmpd="sng" algn="ctr">
          <a:solidFill>
            <a:schemeClr val="accent3">
              <a:tint val="40000"/>
              <a:alpha val="90000"/>
              <a:hueOff val="1690951"/>
              <a:satOff val="83333"/>
              <a:lumOff val="148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228600" lvl="1" indent="-228600" algn="l" defTabSz="1066800">
            <a:lnSpc>
              <a:spcPct val="90000"/>
            </a:lnSpc>
            <a:spcBef>
              <a:spcPct val="0"/>
            </a:spcBef>
            <a:spcAft>
              <a:spcPct val="15000"/>
            </a:spcAft>
            <a:buNone/>
          </a:pPr>
          <a:r>
            <a:rPr lang="en-ZA" sz="2400" kern="1200" dirty="0"/>
            <a:t>Python library for quantum machine learning and hybrid computing.</a:t>
          </a:r>
          <a:endParaRPr lang="en-US" sz="2400" b="0" kern="1200" dirty="0"/>
        </a:p>
      </dsp:txBody>
      <dsp:txXfrm>
        <a:off x="2587377" y="4008239"/>
        <a:ext cx="8651691" cy="533797"/>
      </dsp:txXfrm>
    </dsp:sp>
    <dsp:sp modelId="{56AFB9FF-8EB4-9A49-BA42-A313DA01E2C9}">
      <dsp:nvSpPr>
        <dsp:cNvPr id="0" name=""/>
        <dsp:cNvSpPr/>
      </dsp:nvSpPr>
      <dsp:spPr>
        <a:xfrm>
          <a:off x="1671" y="3919273"/>
          <a:ext cx="2585705" cy="711729"/>
        </a:xfrm>
        <a:prstGeom prst="roundRect">
          <a:avLst/>
        </a:prstGeom>
        <a:solidFill>
          <a:schemeClr val="accent3">
            <a:hueOff val="2258833"/>
            <a:satOff val="83333"/>
            <a:lumOff val="-122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ZA" sz="2200" kern="1200" dirty="0" err="1"/>
            <a:t>PennyLane</a:t>
          </a:r>
          <a:r>
            <a:rPr lang="en-ZA" sz="2200" kern="1200" dirty="0"/>
            <a:t> (</a:t>
          </a:r>
          <a:r>
            <a:rPr lang="en-ZA" sz="2200" b="0" kern="1200" dirty="0"/>
            <a:t>Xanadu</a:t>
          </a:r>
          <a:r>
            <a:rPr lang="en-ZA" sz="2200" kern="1200" dirty="0"/>
            <a:t>)</a:t>
          </a:r>
          <a:endParaRPr lang="en-US" sz="2200" b="0" kern="1200" dirty="0"/>
        </a:p>
      </dsp:txBody>
      <dsp:txXfrm>
        <a:off x="36415" y="3954017"/>
        <a:ext cx="2516217" cy="642241"/>
      </dsp:txXfrm>
    </dsp:sp>
    <dsp:sp modelId="{5451573D-B2A4-3547-BE1E-894B88A3FB45}">
      <dsp:nvSpPr>
        <dsp:cNvPr id="0" name=""/>
        <dsp:cNvSpPr/>
      </dsp:nvSpPr>
      <dsp:spPr>
        <a:xfrm>
          <a:off x="2539058" y="4702175"/>
          <a:ext cx="8964232" cy="711729"/>
        </a:xfrm>
        <a:prstGeom prst="rightArrow">
          <a:avLst>
            <a:gd name="adj1" fmla="val 75000"/>
            <a:gd name="adj2" fmla="val 50000"/>
          </a:avLst>
        </a:prstGeom>
        <a:solidFill>
          <a:schemeClr val="accent3">
            <a:tint val="40000"/>
            <a:alpha val="90000"/>
            <a:hueOff val="2029141"/>
            <a:satOff val="100000"/>
            <a:lumOff val="1779"/>
            <a:alphaOff val="0"/>
          </a:schemeClr>
        </a:solid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228600" lvl="1" indent="-228600" algn="ctr" defTabSz="1066800">
            <a:lnSpc>
              <a:spcPct val="90000"/>
            </a:lnSpc>
            <a:spcBef>
              <a:spcPct val="0"/>
            </a:spcBef>
            <a:spcAft>
              <a:spcPct val="15000"/>
            </a:spcAft>
            <a:buNone/>
          </a:pPr>
          <a:r>
            <a:rPr lang="en-US" sz="2400" b="0" kern="1200" dirty="0"/>
            <a:t>Microsoft’s quantum computing language</a:t>
          </a:r>
        </a:p>
      </dsp:txBody>
      <dsp:txXfrm>
        <a:off x="2539058" y="4791141"/>
        <a:ext cx="8697334" cy="533797"/>
      </dsp:txXfrm>
    </dsp:sp>
    <dsp:sp modelId="{D5850257-F985-3D44-B34A-F1289F6178B8}">
      <dsp:nvSpPr>
        <dsp:cNvPr id="0" name=""/>
        <dsp:cNvSpPr/>
      </dsp:nvSpPr>
      <dsp:spPr>
        <a:xfrm>
          <a:off x="4347" y="4702175"/>
          <a:ext cx="2534711" cy="711729"/>
        </a:xfrm>
        <a:prstGeom prst="round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0" kern="1200" dirty="0"/>
            <a:t>Q# (Microsoft)</a:t>
          </a:r>
        </a:p>
      </dsp:txBody>
      <dsp:txXfrm>
        <a:off x="39091" y="4736919"/>
        <a:ext cx="2465223" cy="642241"/>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9BEB82-778D-AD40-9C78-E0B63E5D4744}" type="datetimeFigureOut">
              <a:rPr lang="en-US" smtClean="0"/>
              <a:t>10/1/26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CE5E3-B8BD-D040-AC87-D640191DD8F1}" type="slidenum">
              <a:rPr lang="en-US" smtClean="0"/>
              <a:t>‹#›</a:t>
            </a:fld>
            <a:endParaRPr lang="en-US"/>
          </a:p>
        </p:txBody>
      </p:sp>
    </p:spTree>
    <p:extLst>
      <p:ext uri="{BB962C8B-B14F-4D97-AF65-F5344CB8AC3E}">
        <p14:creationId xmlns:p14="http://schemas.microsoft.com/office/powerpoint/2010/main" val="811909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1</a:t>
            </a:fld>
            <a:endParaRPr lang="en-US"/>
          </a:p>
        </p:txBody>
      </p:sp>
    </p:spTree>
    <p:extLst>
      <p:ext uri="{BB962C8B-B14F-4D97-AF65-F5344CB8AC3E}">
        <p14:creationId xmlns:p14="http://schemas.microsoft.com/office/powerpoint/2010/main" val="1563320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B2CE5E3-B8BD-D040-AC87-D640191DD8F1}" type="slidenum">
              <a:rPr lang="en-US" smtClean="0"/>
              <a:t>2</a:t>
            </a:fld>
            <a:endParaRPr lang="en-US"/>
          </a:p>
        </p:txBody>
      </p:sp>
    </p:spTree>
    <p:extLst>
      <p:ext uri="{BB962C8B-B14F-4D97-AF65-F5344CB8AC3E}">
        <p14:creationId xmlns:p14="http://schemas.microsoft.com/office/powerpoint/2010/main" val="2885861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By identifying pairs of gates that cancel each other, we can simplify quantum circuits, sometimes reducing entire sections to a No-Operation (NOP).</a:t>
                </a:r>
              </a:p>
              <a:p>
                <a:pPr algn="just"/>
                <a:endParaRPr lang="en-ZA" dirty="0"/>
              </a:p>
              <a:p>
                <a:pPr algn="just"/>
                <a:r>
                  <a:rPr lang="en-ZA" dirty="0"/>
                  <a:t>Pauli gates and the Hadamard gate are Hermitian, which means that applying any of them twice is equivalent to the identity. In other words, two in a row cancel out, so they can be removed from the circuit.</a:t>
                </a:r>
              </a:p>
              <a:p>
                <a:pPr algn="just"/>
                <a:endParaRPr lang="en-ZA" dirty="0"/>
              </a:p>
              <a:p>
                <a:pPr algn="just"/>
                <a:r>
                  <a:rPr lang="en-ZA" dirty="0"/>
                  <a:t>Mathematically, this is clear because multiplying the operator by itself gives the identity matrix. A simple way to understand it is that applying a Hadamard once places a qubit into superposition, and applying it a second time returns the qubit to its original state.</a:t>
                </a:r>
              </a:p>
              <a:p>
                <a:pPr algn="just"/>
                <a:endParaRPr lang="en-ZA" dirty="0"/>
              </a:p>
            </p:txBody>
          </p:sp>
        </mc:Choice>
        <mc:Fallback xmlns="">
          <p:sp>
            <p:nvSpPr>
              <p:cNvPr id="3" name="Notes Placeholder 2"/>
              <p:cNvSpPr>
                <a:spLocks noGrp="1"/>
              </p:cNvSpPr>
              <p:nvPr>
                <p:ph type="body" idx="1"/>
              </p:nvPr>
            </p:nvSpPr>
            <p:spPr/>
            <p:txBody>
              <a:bodyPr/>
              <a:lstStyle/>
              <a:p>
                <a:pPr algn="just"/>
                <a:r>
                  <a:rPr lang="en-ZA" b="0" dirty="0"/>
                  <a:t>The simplest operation in computing is NOP (No-Operation). While executing a NOP itself is not the goal, identifying redundant operations is crucial for optimizing quantum circuits.</a:t>
                </a:r>
              </a:p>
              <a:p>
                <a:pPr algn="just"/>
                <a:endParaRPr lang="en-ZA" b="0" dirty="0"/>
              </a:p>
              <a:p>
                <a:pPr algn="just"/>
                <a:r>
                  <a:rPr lang="en-ZA" b="0" dirty="0"/>
                  <a:t>In quantum computing, a gate that is both unitary and Hermitian satisfies:</a:t>
                </a:r>
                <a:r>
                  <a:rPr lang="en-ZA" b="0" baseline="0" dirty="0"/>
                  <a:t> </a:t>
                </a:r>
                <a:r>
                  <a:rPr lang="en-US" sz="1200" b="0" i="0">
                    <a:latin typeface="Cambria Math" panose="02040503050406030204" pitchFamily="18" charset="0"/>
                  </a:rPr>
                  <a:t>𝑈^2=𝐼</a:t>
                </a:r>
                <a:r>
                  <a:rPr lang="en-ZA" b="0" dirty="0"/>
                  <a:t> and </a:t>
                </a:r>
                <a:r>
                  <a:rPr lang="en-US" sz="1200" b="0" i="0">
                    <a:latin typeface="Cambria Math" panose="02040503050406030204" pitchFamily="18" charset="0"/>
                  </a:rPr>
                  <a:t>𝑈=𝑈^†</a:t>
                </a:r>
                <a:r>
                  <a:rPr lang="en-ZA" b="0" dirty="0"/>
                  <a:t>. This means that applying it twice results in the identity operator, effectively performing a NOP operation.</a:t>
                </a:r>
              </a:p>
              <a:p>
                <a:pPr algn="just"/>
                <a:endParaRPr lang="en-ZA" b="0" dirty="0"/>
              </a:p>
              <a:p>
                <a:pPr algn="just"/>
                <a:r>
                  <a:rPr lang="en-ZA" b="0" dirty="0"/>
                  <a:t>For example:</a:t>
                </a:r>
              </a:p>
              <a:p>
                <a:pPr algn="just"/>
                <a:r>
                  <a:rPr lang="en-ZA" b="0" dirty="0"/>
                  <a:t>Hadamard (H) gate satisfies </a:t>
                </a:r>
                <a:r>
                  <a:rPr lang="en-US" sz="1200" b="0" i="0">
                    <a:latin typeface="Cambria Math" panose="02040503050406030204" pitchFamily="18" charset="0"/>
                  </a:rPr>
                  <a:t>𝐻^2=𝐼</a:t>
                </a:r>
                <a:r>
                  <a:rPr lang="en-ZA" b="0" dirty="0"/>
                  <a:t>, so applying two Hadamard gates cancels their effect.</a:t>
                </a:r>
              </a:p>
              <a:p>
                <a:pPr algn="just"/>
                <a:endParaRPr lang="en-ZA" b="0" dirty="0"/>
              </a:p>
              <a:p>
                <a:pPr algn="just"/>
                <a:r>
                  <a:rPr lang="en-ZA" b="0" dirty="0"/>
                  <a:t>Pauli gates (X, Y, Z) satisfy </a:t>
                </a:r>
                <a:r>
                  <a:rPr lang="en-US" sz="1200" b="0" i="0">
                    <a:latin typeface="Cambria Math" panose="02040503050406030204" pitchFamily="18" charset="0"/>
                  </a:rPr>
                  <a:t>𝑋^2=𝑌^2=𝑍^2=𝐼</a:t>
                </a:r>
                <a:r>
                  <a:rPr lang="en-ZA" b="0" dirty="0"/>
                  <a:t>, meaning applying any of them twice is equivalent to the identity.</a:t>
                </a:r>
              </a:p>
              <a:p>
                <a:pPr algn="just"/>
                <a:endParaRPr lang="en-ZA" b="0" dirty="0"/>
              </a:p>
              <a:p>
                <a:pPr algn="just"/>
                <a:r>
                  <a:rPr lang="en-ZA" b="0" dirty="0"/>
                  <a:t>For unitary gates that are not Hermitian, applying them twice does not necessarily give the identity. Instead, applying the gate followed by its Hermitian adjoint (conjugate transpose) ensures a NOP operation: </a:t>
                </a:r>
                <a:r>
                  <a:rPr lang="en-US" sz="1200" b="0" i="0">
                    <a:latin typeface="Cambria Math" panose="02040503050406030204" pitchFamily="18" charset="0"/>
                  </a:rPr>
                  <a:t>𝑈𝑈^†=𝐼</a:t>
                </a:r>
                <a:r>
                  <a:rPr lang="en-ZA" b="0" dirty="0"/>
                  <a:t>. This means that while some gates cancel themselves out after two applications, others require an additional conjugate transpose operation to achieve a NOP.</a:t>
                </a:r>
              </a:p>
              <a:p>
                <a:pPr algn="just"/>
                <a:endParaRPr lang="en-ZA" b="0" dirty="0"/>
              </a:p>
              <a:p>
                <a:pPr algn="just"/>
                <a:r>
                  <a:rPr lang="en-ZA" b="0" dirty="0"/>
                  <a:t>In conclusion, applying a gate that is both unitary and Hermitian twice results in a NOP operation. For unitary but non-Hermitian gates, applying the gate followed by its conjugate transpose achieves the same effect.</a:t>
                </a:r>
              </a:p>
              <a:p>
                <a:pPr algn="just"/>
                <a:endParaRPr lang="en-ZA" b="0" dirty="0"/>
              </a:p>
              <a:p>
                <a:pPr algn="just"/>
                <a:r>
                  <a:rPr lang="en-ZA" b="0" dirty="0"/>
                  <a:t>All standard quantum gates are unitary, except for measurement and reset operations, which are irreversible.</a:t>
                </a:r>
              </a:p>
              <a:p>
                <a:pPr algn="just"/>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a:t>
            </a:fld>
            <a:endParaRPr lang="en-US"/>
          </a:p>
        </p:txBody>
      </p:sp>
    </p:spTree>
    <p:extLst>
      <p:ext uri="{BB962C8B-B14F-4D97-AF65-F5344CB8AC3E}">
        <p14:creationId xmlns:p14="http://schemas.microsoft.com/office/powerpoint/2010/main" val="3665147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In addition to Hermitian gates, there are also unitary gates that are </a:t>
                </a:r>
                <a:r>
                  <a:rPr lang="en-ZA" b="0" dirty="0"/>
                  <a:t>not Hermitian</a:t>
                </a:r>
                <a:r>
                  <a:rPr lang="en-ZA" dirty="0"/>
                  <a:t>. These gates are still reversible, but their inverses are different gates.</a:t>
                </a:r>
              </a:p>
              <a:p>
                <a:pPr algn="just"/>
                <a:endParaRPr lang="en-ZA" dirty="0"/>
              </a:p>
              <a:p>
                <a:pPr marL="171450" indent="-171450" algn="just">
                  <a:buFont typeface="Arial" panose="020B0604020202020204" pitchFamily="34" charset="0"/>
                  <a:buChar char="•"/>
                </a:pPr>
                <a:r>
                  <a:rPr lang="en-ZA" dirty="0"/>
                  <a:t>For example, the </a:t>
                </a:r>
                <a:r>
                  <a:rPr lang="en-ZA" b="0" dirty="0"/>
                  <a:t>S gate </a:t>
                </a:r>
                <a:r>
                  <a:rPr lang="en-ZA" dirty="0"/>
                  <a:t>has its inverse S</a:t>
                </a:r>
                <a:r>
                  <a:rPr lang="en-ZA" baseline="30000" dirty="0"/>
                  <a:t>†</a:t>
                </a:r>
                <a:r>
                  <a:rPr lang="en-ZA" dirty="0"/>
                  <a:t>. When applied together, S S</a:t>
                </a:r>
                <a:r>
                  <a:rPr lang="en-ZA" baseline="30000" dirty="0"/>
                  <a:t>†</a:t>
                </a:r>
                <a:r>
                  <a:rPr lang="en-ZA" dirty="0"/>
                  <a:t>=I which is equivalent to a NOP.</a:t>
                </a:r>
              </a:p>
              <a:p>
                <a:pPr marL="171450" indent="-171450" algn="just">
                  <a:buFont typeface="Arial" panose="020B0604020202020204" pitchFamily="34" charset="0"/>
                  <a:buChar char="•"/>
                </a:pPr>
                <a:endParaRPr lang="en-ZA" dirty="0"/>
              </a:p>
              <a:p>
                <a:pPr marL="171450" indent="-171450" algn="just">
                  <a:buFont typeface="Arial" panose="020B0604020202020204" pitchFamily="34" charset="0"/>
                  <a:buChar char="•"/>
                </a:pPr>
                <a:r>
                  <a:rPr lang="en-ZA" dirty="0"/>
                  <a:t>Similarly, the </a:t>
                </a:r>
                <a:r>
                  <a:rPr lang="en-ZA" b="0" dirty="0"/>
                  <a:t>T gate </a:t>
                </a:r>
                <a:r>
                  <a:rPr lang="en-ZA" dirty="0"/>
                  <a:t>and its inverse T</a:t>
                </a:r>
                <a:r>
                  <a:rPr lang="en-ZA" baseline="30000" dirty="0"/>
                  <a:t>† </a:t>
                </a:r>
                <a:r>
                  <a:rPr lang="en-ZA" dirty="0"/>
                  <a:t>cancel each other out, since T T</a:t>
                </a:r>
                <a:r>
                  <a:rPr lang="en-ZA" baseline="30000" dirty="0"/>
                  <a:t>†</a:t>
                </a:r>
                <a:r>
                  <a:rPr lang="en-ZA" dirty="0"/>
                  <a:t>=I.</a:t>
                </a:r>
              </a:p>
              <a:p>
                <a:pPr marL="171450" indent="-171450" algn="just">
                  <a:buFont typeface="Arial" panose="020B0604020202020204" pitchFamily="34" charset="0"/>
                  <a:buChar char="•"/>
                </a:pPr>
                <a:endParaRPr lang="en-ZA" dirty="0"/>
              </a:p>
              <a:p>
                <a:pPr marL="171450" indent="-171450" algn="just">
                  <a:buFont typeface="Arial" panose="020B0604020202020204" pitchFamily="34" charset="0"/>
                  <a:buChar char="•"/>
                </a:pPr>
                <a:r>
                  <a:rPr lang="en-ZA" dirty="0"/>
                  <a:t>In the third example, two H gates cancel each other out, simplifying the circuit to T T</a:t>
                </a:r>
                <a:r>
                  <a:rPr lang="en-ZA" baseline="30000" dirty="0"/>
                  <a:t>†</a:t>
                </a:r>
                <a:r>
                  <a:rPr lang="en-ZA" dirty="0"/>
                  <a:t>. Since T T</a:t>
                </a:r>
                <a:r>
                  <a:rPr lang="en-ZA" baseline="30000" dirty="0"/>
                  <a:t>†</a:t>
                </a:r>
                <a:r>
                  <a:rPr lang="en-ZA" dirty="0"/>
                  <a:t>=I, this reduces further to the identity. In the end, the entire circuit is equivalent to doing nothing. This means that whenever a gate and its adjoint appear in a circuit, even if they are not consecutive, they can be combined and simplified away.</a:t>
                </a:r>
              </a:p>
            </p:txBody>
          </p:sp>
        </mc:Choice>
        <mc:Fallback xmlns="">
          <p:sp>
            <p:nvSpPr>
              <p:cNvPr id="3" name="Notes Placeholder 2"/>
              <p:cNvSpPr>
                <a:spLocks noGrp="1"/>
              </p:cNvSpPr>
              <p:nvPr>
                <p:ph type="body" idx="1"/>
              </p:nvPr>
            </p:nvSpPr>
            <p:spPr/>
            <p:txBody>
              <a:bodyPr/>
              <a:lstStyle/>
              <a:p>
                <a:pPr algn="just"/>
                <a:r>
                  <a:rPr lang="en-ZA" b="0" dirty="0"/>
                  <a:t>The simplest operation in computing is NOP (No-Operation). While executing a NOP itself is not the goal, identifying redundant operations is crucial for optimizing quantum circuits.</a:t>
                </a:r>
              </a:p>
              <a:p>
                <a:pPr algn="just"/>
                <a:endParaRPr lang="en-ZA" b="0" dirty="0"/>
              </a:p>
              <a:p>
                <a:pPr algn="just"/>
                <a:r>
                  <a:rPr lang="en-ZA" b="0" dirty="0"/>
                  <a:t>In quantum computing, a gate that is both unitary and Hermitian satisfies:</a:t>
                </a:r>
                <a:r>
                  <a:rPr lang="en-ZA" b="0" baseline="0" dirty="0"/>
                  <a:t> </a:t>
                </a:r>
                <a:r>
                  <a:rPr lang="en-US" sz="1200" b="0" i="0">
                    <a:latin typeface="Cambria Math" panose="02040503050406030204" pitchFamily="18" charset="0"/>
                  </a:rPr>
                  <a:t>𝑈^2=𝐼</a:t>
                </a:r>
                <a:r>
                  <a:rPr lang="en-ZA" b="0" dirty="0"/>
                  <a:t> and </a:t>
                </a:r>
                <a:r>
                  <a:rPr lang="en-US" sz="1200" b="0" i="0">
                    <a:latin typeface="Cambria Math" panose="02040503050406030204" pitchFamily="18" charset="0"/>
                  </a:rPr>
                  <a:t>𝑈=𝑈^†</a:t>
                </a:r>
                <a:r>
                  <a:rPr lang="en-ZA" b="0" dirty="0"/>
                  <a:t>. This means that applying it twice results in the identity operator, effectively performing a NOP operation.</a:t>
                </a:r>
              </a:p>
              <a:p>
                <a:pPr algn="just"/>
                <a:endParaRPr lang="en-ZA" b="0" dirty="0"/>
              </a:p>
              <a:p>
                <a:pPr algn="just"/>
                <a:r>
                  <a:rPr lang="en-ZA" b="0" dirty="0"/>
                  <a:t>For example:</a:t>
                </a:r>
              </a:p>
              <a:p>
                <a:pPr algn="just"/>
                <a:r>
                  <a:rPr lang="en-ZA" b="0" dirty="0"/>
                  <a:t>Hadamard (H) gate satisfies </a:t>
                </a:r>
                <a:r>
                  <a:rPr lang="en-US" sz="1200" b="0" i="0">
                    <a:latin typeface="Cambria Math" panose="02040503050406030204" pitchFamily="18" charset="0"/>
                  </a:rPr>
                  <a:t>𝐻^2=𝐼</a:t>
                </a:r>
                <a:r>
                  <a:rPr lang="en-ZA" b="0" dirty="0"/>
                  <a:t>, so applying two Hadamard gates cancels their effect.</a:t>
                </a:r>
              </a:p>
              <a:p>
                <a:pPr algn="just"/>
                <a:endParaRPr lang="en-ZA" b="0" dirty="0"/>
              </a:p>
              <a:p>
                <a:pPr algn="just"/>
                <a:r>
                  <a:rPr lang="en-ZA" b="0" dirty="0"/>
                  <a:t>Pauli gates (X, Y, Z) satisfy </a:t>
                </a:r>
                <a:r>
                  <a:rPr lang="en-US" sz="1200" b="0" i="0">
                    <a:latin typeface="Cambria Math" panose="02040503050406030204" pitchFamily="18" charset="0"/>
                  </a:rPr>
                  <a:t>𝑋^2=𝑌^2=𝑍^2=𝐼</a:t>
                </a:r>
                <a:r>
                  <a:rPr lang="en-ZA" b="0" dirty="0"/>
                  <a:t>, meaning applying any of them twice is equivalent to the identity.</a:t>
                </a:r>
              </a:p>
              <a:p>
                <a:pPr algn="just"/>
                <a:endParaRPr lang="en-ZA" b="0" dirty="0"/>
              </a:p>
              <a:p>
                <a:pPr algn="just"/>
                <a:r>
                  <a:rPr lang="en-ZA" b="0" dirty="0"/>
                  <a:t>For unitary gates that are not Hermitian, applying them twice does not necessarily give the identity. Instead, applying the gate followed by its Hermitian adjoint (conjugate transpose) ensures a NOP operation: </a:t>
                </a:r>
                <a:r>
                  <a:rPr lang="en-US" sz="1200" b="0" i="0">
                    <a:latin typeface="Cambria Math" panose="02040503050406030204" pitchFamily="18" charset="0"/>
                  </a:rPr>
                  <a:t>𝑈𝑈^†=𝐼</a:t>
                </a:r>
                <a:r>
                  <a:rPr lang="en-ZA" b="0" dirty="0"/>
                  <a:t>. This means that while some gates cancel themselves out after two applications, others require an additional conjugate transpose operation to achieve a NOP.</a:t>
                </a:r>
              </a:p>
              <a:p>
                <a:pPr algn="just"/>
                <a:endParaRPr lang="en-ZA" b="0" dirty="0"/>
              </a:p>
              <a:p>
                <a:pPr algn="just"/>
                <a:r>
                  <a:rPr lang="en-ZA" b="0" dirty="0"/>
                  <a:t>In conclusion, applying a gate that is both unitary and Hermitian twice results in a NOP operation. For unitary but non-Hermitian gates, applying the gate followed by its conjugate transpose achieves the same effect.</a:t>
                </a:r>
              </a:p>
              <a:p>
                <a:pPr algn="just"/>
                <a:endParaRPr lang="en-ZA" b="0" dirty="0"/>
              </a:p>
              <a:p>
                <a:pPr algn="just"/>
                <a:r>
                  <a:rPr lang="en-ZA" b="0" dirty="0"/>
                  <a:t>All standard quantum gates are unitary, except for measurement and reset operations, which are irreversible.</a:t>
                </a:r>
              </a:p>
              <a:p>
                <a:pPr algn="just"/>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a:t>
            </a:fld>
            <a:endParaRPr lang="en-US"/>
          </a:p>
        </p:txBody>
      </p:sp>
    </p:spTree>
    <p:extLst>
      <p:ext uri="{BB962C8B-B14F-4D97-AF65-F5344CB8AC3E}">
        <p14:creationId xmlns:p14="http://schemas.microsoft.com/office/powerpoint/2010/main" val="935076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A sequence of single-qubit gates can often be simplified. Instead of treating every gate in the sequence as a separate operation, we can use algebraic rules and matrix identities to reduce them. This means that several gates in a row may combine into a single gate, or even cancel out completely. Recognizing these patterns is an important part of circuit optimization because it shortens the circuit and reduces the number of operations applied to a qubit.</a:t>
            </a:r>
          </a:p>
          <a:p>
            <a:pPr algn="just"/>
            <a:endParaRPr lang="en-ZA" dirty="0"/>
          </a:p>
          <a:p>
            <a:pPr marL="228600" indent="-228600" algn="just">
              <a:buFont typeface="+mj-lt"/>
              <a:buAutoNum type="arabicPeriod"/>
            </a:pPr>
            <a:r>
              <a:rPr lang="en-ZA" dirty="0"/>
              <a:t>For example, the sequence HXH is equivalent to the Pauli-Z gate. This can be directly verified by matrix multiplication.</a:t>
            </a:r>
          </a:p>
          <a:p>
            <a:pPr marL="228600" indent="-228600" algn="just">
              <a:buFont typeface="+mj-lt"/>
              <a:buAutoNum type="arabicPeriod"/>
            </a:pPr>
            <a:endParaRPr lang="en-ZA" dirty="0"/>
          </a:p>
          <a:p>
            <a:pPr marL="228600" indent="-228600" algn="just">
              <a:buFont typeface="+mj-lt"/>
              <a:buAutoNum type="arabicPeriod"/>
            </a:pPr>
            <a:r>
              <a:rPr lang="en-ZA" dirty="0"/>
              <a:t>The sequence HZH is equivalent to the Pauli-XX gate.</a:t>
            </a:r>
          </a:p>
          <a:p>
            <a:pPr marL="228600" indent="-228600" algn="just">
              <a:buFont typeface="+mj-lt"/>
              <a:buAutoNum type="arabicPeriod"/>
            </a:pPr>
            <a:endParaRPr lang="en-ZA" dirty="0"/>
          </a:p>
          <a:p>
            <a:pPr marL="228600" indent="-228600" algn="just">
              <a:buFont typeface="+mj-lt"/>
              <a:buAutoNum type="arabicPeriod"/>
            </a:pPr>
            <a:r>
              <a:rPr lang="en-ZA" dirty="0"/>
              <a:t>Another example is the sequence HS H.  This is equivalent to the square-root of X gate</a:t>
            </a:r>
          </a:p>
        </p:txBody>
      </p:sp>
      <p:sp>
        <p:nvSpPr>
          <p:cNvPr id="4" name="Slide Number Placeholder 3"/>
          <p:cNvSpPr>
            <a:spLocks noGrp="1"/>
          </p:cNvSpPr>
          <p:nvPr>
            <p:ph type="sldNum" sz="quarter" idx="5"/>
          </p:nvPr>
        </p:nvSpPr>
        <p:spPr/>
        <p:txBody>
          <a:bodyPr/>
          <a:lstStyle/>
          <a:p>
            <a:fld id="{1B2CE5E3-B8BD-D040-AC87-D640191DD8F1}" type="slidenum">
              <a:rPr lang="en-US" smtClean="0"/>
              <a:t>5</a:t>
            </a:fld>
            <a:endParaRPr lang="en-US"/>
          </a:p>
        </p:txBody>
      </p:sp>
    </p:spTree>
    <p:extLst>
      <p:ext uri="{BB962C8B-B14F-4D97-AF65-F5344CB8AC3E}">
        <p14:creationId xmlns:p14="http://schemas.microsoft.com/office/powerpoint/2010/main" val="3551053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By combining simplification and cancellation, we can reduce the number of gates even in cases where this is not immediately obvious.</a:t>
                </a:r>
              </a:p>
              <a:p>
                <a:pPr algn="just"/>
                <a:endParaRPr lang="en-ZA" dirty="0"/>
              </a:p>
              <a:p>
                <a:pPr marL="228600" indent="-228600" algn="just">
                  <a:buFont typeface="+mj-lt"/>
                  <a:buAutoNum type="arabicPeriod"/>
                </a:pPr>
                <a:r>
                  <a:rPr lang="en-ZA" dirty="0"/>
                  <a:t>For example, in the sequence HXHZ, the HXH simplifies to Z. With another Z after it, we get ZZ=I, so the entire circuit is equivalent to doing nothing.</a:t>
                </a:r>
              </a:p>
              <a:p>
                <a:pPr marL="228600" indent="-228600" algn="just">
                  <a:buFont typeface="+mj-lt"/>
                  <a:buAutoNum type="arabicPeriod"/>
                </a:pPr>
                <a:endParaRPr lang="en-ZA"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dirty="0"/>
                  <a:t>In the second example, the sequence HSH simplifies to </a:t>
                </a:r>
                <a14:m>
                  <m:oMath xmlns:m="http://schemas.openxmlformats.org/officeDocument/2006/math">
                    <m:rad>
                      <m:radPr>
                        <m:degHide m:val="on"/>
                        <m:ctrlPr>
                          <a:rPr lang="en-US" sz="1200" i="1" smtClean="0">
                            <a:latin typeface="Cambria Math" panose="02040503050406030204" pitchFamily="18" charset="0"/>
                          </a:rPr>
                        </m:ctrlPr>
                      </m:radPr>
                      <m:deg/>
                      <m:e>
                        <m:r>
                          <a:rPr lang="en-US" sz="1200" i="1">
                            <a:latin typeface="Cambria Math" panose="02040503050406030204" pitchFamily="18" charset="0"/>
                          </a:rPr>
                          <m:t>𝑋</m:t>
                        </m:r>
                      </m:e>
                    </m:rad>
                  </m:oMath>
                </a14:m>
                <a:r>
                  <a:rPr lang="en-ZA" dirty="0"/>
                  <a:t>. When followed by </a:t>
                </a:r>
                <a14:m>
                  <m:oMath xmlns:m="http://schemas.openxmlformats.org/officeDocument/2006/math">
                    <m:sSup>
                      <m:sSupPr>
                        <m:ctrlPr>
                          <a:rPr lang="en-US" sz="1200" i="1" smtClean="0">
                            <a:latin typeface="Cambria Math" panose="02040503050406030204" pitchFamily="18" charset="0"/>
                          </a:rPr>
                        </m:ctrlPr>
                      </m:sSupPr>
                      <m:e>
                        <m:rad>
                          <m:radPr>
                            <m:degHide m:val="on"/>
                            <m:ctrlPr>
                              <a:rPr lang="en-US" sz="1200" i="1">
                                <a:latin typeface="Cambria Math" panose="02040503050406030204" pitchFamily="18" charset="0"/>
                              </a:rPr>
                            </m:ctrlPr>
                          </m:radPr>
                          <m:deg/>
                          <m:e>
                            <m:r>
                              <a:rPr lang="en-US" sz="1200" i="1">
                                <a:latin typeface="Cambria Math" panose="02040503050406030204" pitchFamily="18" charset="0"/>
                              </a:rPr>
                              <m:t>𝑋</m:t>
                            </m:r>
                          </m:e>
                        </m:rad>
                      </m:e>
                      <m:sup>
                        <m:r>
                          <a:rPr lang="sr-Latn-RS" sz="1200">
                            <a:latin typeface="Cambria Math" panose="02040503050406030204" pitchFamily="18" charset="0"/>
                          </a:rPr>
                          <m:t>†</m:t>
                        </m:r>
                      </m:sup>
                    </m:sSup>
                  </m:oMath>
                </a14:m>
                <a:r>
                  <a:rPr lang="en-ZA" dirty="0"/>
                  <a:t>, the two cancel, again reducing the circuit to a NOP.</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These examples show how recognizing hidden simplifications and cancellations can collapse seemingly complex circuits all the way down to the identity.</a:t>
                </a:r>
              </a:p>
            </p:txBody>
          </p:sp>
        </mc:Choice>
        <mc:Fallback xmlns="">
          <p:sp>
            <p:nvSpPr>
              <p:cNvPr id="3" name="Notes Placeholder 2"/>
              <p:cNvSpPr>
                <a:spLocks noGrp="1"/>
              </p:cNvSpPr>
              <p:nvPr>
                <p:ph type="body" idx="1"/>
              </p:nvPr>
            </p:nvSpPr>
            <p:spPr/>
            <p:txBody>
              <a:bodyPr/>
              <a:lstStyle/>
              <a:p>
                <a:pPr algn="just"/>
                <a:r>
                  <a:rPr lang="en-ZA" dirty="0"/>
                  <a:t>By combining simplification and cancellation, we can reduce the number of gates even in cases where this is not immediately obvious.</a:t>
                </a:r>
              </a:p>
              <a:p>
                <a:pPr algn="just"/>
                <a:endParaRPr lang="en-ZA" dirty="0"/>
              </a:p>
              <a:p>
                <a:pPr marL="228600" indent="-228600" algn="just">
                  <a:buFont typeface="+mj-lt"/>
                  <a:buAutoNum type="arabicPeriod"/>
                </a:pPr>
                <a:r>
                  <a:rPr lang="en-ZA" dirty="0"/>
                  <a:t>For example, in the sequence HXHZ, the HXH simplifies to Z. With another Z after it, we get ZZ=I, so the entire circuit is equivalent to doing nothing.</a:t>
                </a:r>
              </a:p>
              <a:p>
                <a:pPr marL="228600" indent="-228600" algn="just">
                  <a:buFont typeface="+mj-lt"/>
                  <a:buAutoNum type="arabicPeriod"/>
                </a:pPr>
                <a:endParaRPr lang="en-ZA"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dirty="0"/>
                  <a:t>In the second example, the sequence HSH simplifies to </a:t>
                </a:r>
                <a:r>
                  <a:rPr lang="en-US" sz="1200" i="0">
                    <a:latin typeface="Cambria Math" panose="02040503050406030204" pitchFamily="18" charset="0"/>
                  </a:rPr>
                  <a:t>√𝑋</a:t>
                </a:r>
                <a:r>
                  <a:rPr lang="en-ZA" dirty="0"/>
                  <a:t>. When followed by </a:t>
                </a:r>
                <a:r>
                  <a:rPr lang="en-US" sz="1200" i="0">
                    <a:latin typeface="Cambria Math" panose="02040503050406030204" pitchFamily="18" charset="0"/>
                  </a:rPr>
                  <a:t>〖√𝑋〗^</a:t>
                </a:r>
                <a:r>
                  <a:rPr lang="sr-Latn-RS" sz="1200" i="0">
                    <a:latin typeface="Cambria Math" panose="02040503050406030204" pitchFamily="18" charset="0"/>
                  </a:rPr>
                  <a:t>†</a:t>
                </a:r>
                <a:r>
                  <a:rPr lang="en-ZA" dirty="0"/>
                  <a:t>, the two cancel, again reducing the circuit to a NOP.</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These examples show how recognizing hidden simplifications and cancellations can collapse seemingly complex circuits all the way down to the identity.</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a:t>
            </a:fld>
            <a:endParaRPr lang="en-US"/>
          </a:p>
        </p:txBody>
      </p:sp>
    </p:spTree>
    <p:extLst>
      <p:ext uri="{BB962C8B-B14F-4D97-AF65-F5344CB8AC3E}">
        <p14:creationId xmlns:p14="http://schemas.microsoft.com/office/powerpoint/2010/main" val="29736549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Similarly to simplifying other gate sequences, a sequence of phase gates can be replaced by a single phase gate. The argument of this gate is equal to the sum of the individual phase angles. This can be verified by multiplying the matrices of the phase gates. The product of the phase factors gives the sum of the phase angles in the exponent.</a:t>
            </a:r>
          </a:p>
          <a:p>
            <a:pPr algn="just"/>
            <a:endParaRPr lang="en-ZA" b="0" dirty="0"/>
          </a:p>
          <a:p>
            <a:pPr algn="just"/>
            <a:r>
              <a:rPr lang="en-ZA" dirty="0"/>
              <a:t>A similar principle applies to rotations. For example, two or more Rx​ gates in sequence can be replaced by a single Rx​ gate. The argument of this gate is equal to the sum of the individual rotation angles. This can be verified by multiplying the matrices, where the trigonometric terms combine to give the expected result.</a:t>
            </a:r>
          </a:p>
        </p:txBody>
      </p:sp>
      <p:sp>
        <p:nvSpPr>
          <p:cNvPr id="4" name="Slide Number Placeholder 3"/>
          <p:cNvSpPr>
            <a:spLocks noGrp="1"/>
          </p:cNvSpPr>
          <p:nvPr>
            <p:ph type="sldNum" sz="quarter" idx="5"/>
          </p:nvPr>
        </p:nvSpPr>
        <p:spPr/>
        <p:txBody>
          <a:bodyPr/>
          <a:lstStyle/>
          <a:p>
            <a:fld id="{1B2CE5E3-B8BD-D040-AC87-D640191DD8F1}" type="slidenum">
              <a:rPr lang="en-US" smtClean="0"/>
              <a:t>7</a:t>
            </a:fld>
            <a:endParaRPr lang="en-US"/>
          </a:p>
        </p:txBody>
      </p:sp>
    </p:spTree>
    <p:extLst>
      <p:ext uri="{BB962C8B-B14F-4D97-AF65-F5344CB8AC3E}">
        <p14:creationId xmlns:p14="http://schemas.microsoft.com/office/powerpoint/2010/main" val="764879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If the rotation angle is reduced to zero, meaning there is no rotation, the R operators reduce to the identity matrix.</a:t>
            </a:r>
          </a:p>
          <a:p>
            <a:pPr algn="just"/>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In addition, if an Ry​ or </a:t>
            </a:r>
            <a:r>
              <a:rPr lang="en-ZA" dirty="0" err="1"/>
              <a:t>Rz</a:t>
            </a:r>
            <a:r>
              <a:rPr lang="en-ZA" dirty="0"/>
              <a:t> operator is placed between two NOT gates, the result is a rotation about the y or z with the negative of the original angle. Intuitively, the two NOT gates flip the axis of rotation, which effectively changes the direction of the rotation and turns the angle negative.</a:t>
            </a:r>
          </a:p>
          <a:p>
            <a:pPr algn="just"/>
            <a:endParaRPr lang="en-ZA" dirty="0"/>
          </a:p>
          <a:p>
            <a:pPr algn="just"/>
            <a:r>
              <a:rPr lang="en-ZA" dirty="0"/>
              <a:t>The slide shows the mathematical proof of both statements.</a:t>
            </a:r>
          </a:p>
        </p:txBody>
      </p:sp>
      <p:sp>
        <p:nvSpPr>
          <p:cNvPr id="4" name="Slide Number Placeholder 3"/>
          <p:cNvSpPr>
            <a:spLocks noGrp="1"/>
          </p:cNvSpPr>
          <p:nvPr>
            <p:ph type="sldNum" sz="quarter" idx="5"/>
          </p:nvPr>
        </p:nvSpPr>
        <p:spPr/>
        <p:txBody>
          <a:bodyPr/>
          <a:lstStyle/>
          <a:p>
            <a:fld id="{1B2CE5E3-B8BD-D040-AC87-D640191DD8F1}" type="slidenum">
              <a:rPr lang="en-US" smtClean="0"/>
              <a:t>8</a:t>
            </a:fld>
            <a:endParaRPr lang="en-US"/>
          </a:p>
        </p:txBody>
      </p:sp>
    </p:spTree>
    <p:extLst>
      <p:ext uri="{BB962C8B-B14F-4D97-AF65-F5344CB8AC3E}">
        <p14:creationId xmlns:p14="http://schemas.microsoft.com/office/powerpoint/2010/main" val="17030826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In some cases, the application of two-qubit controlled gates does not change the state of the qubit pair.</a:t>
                </a:r>
              </a:p>
              <a:p>
                <a:pPr algn="just"/>
                <a:endParaRPr lang="en-ZA" dirty="0"/>
              </a:p>
              <a:p>
                <a:pPr algn="just"/>
                <a:r>
                  <a:rPr lang="en-ZA" dirty="0"/>
                  <a:t>If the control qubit is in the fixed state ∣0⟩, the controlled operation leaves the target unchanged. In this situation, the controlled gate is equivalent to two wires, since neither qubit undergoes any transformation.</a:t>
                </a:r>
              </a:p>
              <a:p>
                <a:pPr algn="just"/>
                <a:endParaRPr lang="en-ZA" dirty="0"/>
              </a:p>
              <a:p>
                <a:pPr algn="just"/>
                <a:r>
                  <a:rPr lang="en-ZA" dirty="0"/>
                  <a:t>Similarly, applying two consecutive CNOT gates on the same pair of qubits also has no effect. Their matrix product is the 4×4 </a:t>
                </a:r>
                <a:r>
                  <a:rPr lang="en-ZA" dirty="0" err="1"/>
                  <a:t>dentity</a:t>
                </a:r>
                <a:r>
                  <a:rPr lang="en-ZA" dirty="0"/>
                  <a:t>, so the overall action is equivalent to doing nothing.</a:t>
                </a:r>
              </a:p>
            </p:txBody>
          </p:sp>
        </mc:Choice>
        <mc:Fallback xmlns="">
          <p:sp>
            <p:nvSpPr>
              <p:cNvPr id="3" name="Notes Placeholder 2"/>
              <p:cNvSpPr>
                <a:spLocks noGrp="1"/>
              </p:cNvSpPr>
              <p:nvPr>
                <p:ph type="body" idx="1"/>
              </p:nvPr>
            </p:nvSpPr>
            <p:spPr/>
            <p:txBody>
              <a:bodyPr/>
              <a:lstStyle/>
              <a:p>
                <a:pPr algn="just"/>
                <a:r>
                  <a:rPr lang="en-US" dirty="0"/>
                  <a:t>U </a:t>
                </a:r>
                <a:r>
                  <a:rPr lang="en-US" dirty="0" err="1"/>
                  <a:t>nekim</a:t>
                </a:r>
                <a:r>
                  <a:rPr lang="en-US" dirty="0"/>
                  <a:t> </a:t>
                </a:r>
                <a:r>
                  <a:rPr lang="en-US" dirty="0" err="1"/>
                  <a:t>slučajevima</a:t>
                </a:r>
                <a:r>
                  <a:rPr lang="en-US" dirty="0"/>
                  <a:t> </a:t>
                </a:r>
                <a:r>
                  <a:rPr lang="en-US" dirty="0" err="1"/>
                  <a:t>i</a:t>
                </a:r>
                <a:r>
                  <a:rPr lang="en-US" dirty="0"/>
                  <a:t> </a:t>
                </a:r>
                <a:r>
                  <a:rPr lang="en-US" dirty="0" err="1"/>
                  <a:t>primena</a:t>
                </a:r>
                <a:r>
                  <a:rPr lang="en-US" dirty="0"/>
                  <a:t> </a:t>
                </a:r>
                <a:r>
                  <a:rPr lang="en-US" dirty="0" err="1"/>
                  <a:t>dvokubitnih</a:t>
                </a:r>
                <a:r>
                  <a:rPr lang="en-US" dirty="0"/>
                  <a:t> </a:t>
                </a:r>
                <a:r>
                  <a:rPr lang="en-US" dirty="0" err="1"/>
                  <a:t>kontrolisanih</a:t>
                </a:r>
                <a:r>
                  <a:rPr lang="en-US" dirty="0"/>
                  <a:t> </a:t>
                </a:r>
                <a:r>
                  <a:rPr lang="en-US" dirty="0" err="1"/>
                  <a:t>elementarna</a:t>
                </a:r>
                <a:r>
                  <a:rPr lang="en-US" dirty="0"/>
                  <a:t> </a:t>
                </a:r>
                <a:r>
                  <a:rPr lang="en-US" dirty="0" err="1"/>
                  <a:t>kvantnih</a:t>
                </a:r>
                <a:r>
                  <a:rPr lang="en-US" dirty="0"/>
                  <a:t> kola ne </a:t>
                </a:r>
                <a:r>
                  <a:rPr lang="en-US" dirty="0" err="1"/>
                  <a:t>menja</a:t>
                </a:r>
                <a:r>
                  <a:rPr lang="en-US" dirty="0"/>
                  <a:t> </a:t>
                </a:r>
                <a:r>
                  <a:rPr lang="en-US" dirty="0" err="1"/>
                  <a:t>stanje</a:t>
                </a:r>
                <a:r>
                  <a:rPr lang="en-US" dirty="0"/>
                  <a:t> para kubita. </a:t>
                </a:r>
              </a:p>
              <a:p>
                <a:pPr algn="just"/>
                <a:endParaRPr lang="en-US" dirty="0"/>
              </a:p>
              <a:p>
                <a:pPr algn="just"/>
                <a:r>
                  <a:rPr lang="en-US" dirty="0"/>
                  <a:t>Na primer, </a:t>
                </a:r>
                <a:r>
                  <a:rPr lang="en-US" dirty="0" err="1"/>
                  <a:t>ako</a:t>
                </a:r>
                <a:r>
                  <a:rPr lang="en-US" dirty="0"/>
                  <a:t> </a:t>
                </a:r>
                <a:r>
                  <a:rPr lang="en-US" dirty="0" err="1"/>
                  <a:t>je</a:t>
                </a:r>
                <a:r>
                  <a:rPr lang="en-US" dirty="0"/>
                  <a:t> </a:t>
                </a:r>
                <a:r>
                  <a:rPr lang="en-US" dirty="0" err="1"/>
                  <a:t>kontrolni</a:t>
                </a:r>
                <a:r>
                  <a:rPr lang="en-US" dirty="0"/>
                  <a:t> kubit </a:t>
                </a:r>
                <a:r>
                  <a:rPr lang="en-US" dirty="0" err="1"/>
                  <a:t>jednak</a:t>
                </a:r>
                <a:r>
                  <a:rPr lang="en-US" dirty="0"/>
                  <a:t> |0⟩, </a:t>
                </a:r>
                <a:r>
                  <a:rPr lang="en-US" dirty="0" err="1"/>
                  <a:t>ciljni</a:t>
                </a:r>
                <a:r>
                  <a:rPr lang="en-US" dirty="0"/>
                  <a:t> kubit se ne </a:t>
                </a:r>
                <a:r>
                  <a:rPr lang="en-US" dirty="0" err="1"/>
                  <a:t>menja</a:t>
                </a:r>
                <a:r>
                  <a:rPr lang="en-US" dirty="0"/>
                  <a:t>. </a:t>
                </a:r>
                <a:r>
                  <a:rPr lang="en-US" dirty="0" err="1"/>
                  <a:t>Ovo</a:t>
                </a:r>
                <a:r>
                  <a:rPr lang="en-US" dirty="0"/>
                  <a:t> </a:t>
                </a:r>
                <a:r>
                  <a:rPr lang="en-US" dirty="0" err="1"/>
                  <a:t>znači</a:t>
                </a:r>
                <a:r>
                  <a:rPr lang="en-US" dirty="0"/>
                  <a:t> da </a:t>
                </a:r>
                <a:r>
                  <a:rPr lang="en-US" dirty="0" err="1"/>
                  <a:t>ako</a:t>
                </a:r>
                <a:r>
                  <a:rPr lang="en-US" dirty="0"/>
                  <a:t> se </a:t>
                </a:r>
                <a:r>
                  <a:rPr lang="en-US" dirty="0" err="1"/>
                  <a:t>analizom</a:t>
                </a:r>
                <a:r>
                  <a:rPr lang="en-US" dirty="0"/>
                  <a:t> </a:t>
                </a:r>
                <a:r>
                  <a:rPr lang="en-US" dirty="0" err="1"/>
                  <a:t>složenog</a:t>
                </a:r>
                <a:r>
                  <a:rPr lang="en-US" dirty="0"/>
                  <a:t> kola </a:t>
                </a:r>
                <a:r>
                  <a:rPr lang="en-US" dirty="0" err="1"/>
                  <a:t>utvrdi</a:t>
                </a:r>
                <a:r>
                  <a:rPr lang="en-US" dirty="0"/>
                  <a:t> da </a:t>
                </a:r>
                <a:r>
                  <a:rPr lang="en-US" dirty="0" err="1"/>
                  <a:t>je</a:t>
                </a:r>
                <a:r>
                  <a:rPr lang="en-US" dirty="0"/>
                  <a:t> </a:t>
                </a:r>
                <a:r>
                  <a:rPr lang="en-US" dirty="0" err="1"/>
                  <a:t>kontrolni</a:t>
                </a:r>
                <a:r>
                  <a:rPr lang="en-US" dirty="0"/>
                  <a:t> kubit </a:t>
                </a:r>
                <a:r>
                  <a:rPr lang="en-US" dirty="0" err="1"/>
                  <a:t>na</a:t>
                </a:r>
                <a:r>
                  <a:rPr lang="en-US" dirty="0"/>
                  <a:t> </a:t>
                </a:r>
                <a:r>
                  <a:rPr lang="en-US" dirty="0" err="1"/>
                  <a:t>mestu</a:t>
                </a:r>
                <a:r>
                  <a:rPr lang="en-US" dirty="0"/>
                  <a:t> </a:t>
                </a:r>
                <a:r>
                  <a:rPr lang="en-US" dirty="0" err="1"/>
                  <a:t>kontrolisanog</a:t>
                </a:r>
                <a:r>
                  <a:rPr lang="en-US" dirty="0"/>
                  <a:t> kola </a:t>
                </a:r>
                <a:r>
                  <a:rPr lang="en-US" dirty="0" err="1"/>
                  <a:t>uvek</a:t>
                </a:r>
                <a:r>
                  <a:rPr lang="en-US" dirty="0"/>
                  <a:t> |0⟩, </a:t>
                </a:r>
                <a:r>
                  <a:rPr lang="en-US" dirty="0" err="1"/>
                  <a:t>kontrolisano</a:t>
                </a:r>
                <a:r>
                  <a:rPr lang="en-US" dirty="0"/>
                  <a:t> </a:t>
                </a:r>
                <a:r>
                  <a:rPr lang="en-US" dirty="0" err="1"/>
                  <a:t>koło</a:t>
                </a:r>
                <a:r>
                  <a:rPr lang="en-US" dirty="0"/>
                  <a:t> se </a:t>
                </a:r>
                <a:r>
                  <a:rPr lang="en-US" dirty="0" err="1"/>
                  <a:t>może</a:t>
                </a:r>
                <a:r>
                  <a:rPr lang="en-US" dirty="0"/>
                  <a:t> </a:t>
                </a:r>
                <a:r>
                  <a:rPr lang="en-US" dirty="0" err="1"/>
                  <a:t>zameniti</a:t>
                </a:r>
                <a:r>
                  <a:rPr lang="en-US" dirty="0"/>
                  <a:t> </a:t>
                </a:r>
                <a:r>
                  <a:rPr lang="en-US" dirty="0" err="1"/>
                  <a:t>praznom</a:t>
                </a:r>
                <a:r>
                  <a:rPr lang="en-US" dirty="0"/>
                  <a:t> </a:t>
                </a:r>
                <a:r>
                  <a:rPr lang="en-US" dirty="0" err="1"/>
                  <a:t>linijom</a:t>
                </a:r>
                <a:r>
                  <a:rPr lang="en-US" dirty="0"/>
                  <a:t>.</a:t>
                </a:r>
              </a:p>
              <a:p>
                <a:pPr algn="just"/>
                <a:endParaRPr lang="en-US" dirty="0"/>
              </a:p>
              <a:p>
                <a:pPr algn="just"/>
                <a:r>
                  <a:rPr lang="en-US" dirty="0" err="1"/>
                  <a:t>Takođe</a:t>
                </a:r>
                <a:r>
                  <a:rPr lang="en-US" dirty="0"/>
                  <a:t>, </a:t>
                </a:r>
                <a:r>
                  <a:rPr lang="en-US" dirty="0" err="1"/>
                  <a:t>dva</a:t>
                </a:r>
                <a:r>
                  <a:rPr lang="en-US" dirty="0"/>
                  <a:t> </a:t>
                </a:r>
                <a:r>
                  <a:rPr lang="en-US" dirty="0" err="1"/>
                  <a:t>kontrolisana</a:t>
                </a:r>
                <a:r>
                  <a:rPr lang="en-US" dirty="0"/>
                  <a:t> </a:t>
                </a:r>
                <a:r>
                  <a:rPr lang="en-US" dirty="0" err="1"/>
                  <a:t>ermitska</a:t>
                </a:r>
                <a:r>
                  <a:rPr lang="en-US" dirty="0"/>
                  <a:t> </a:t>
                </a:r>
                <a:r>
                  <a:rPr lang="en-US" dirty="0" err="1"/>
                  <a:t>elementarna</a:t>
                </a:r>
                <a:r>
                  <a:rPr lang="en-US" dirty="0"/>
                  <a:t> kola u </a:t>
                </a:r>
                <a:r>
                  <a:rPr lang="en-US" dirty="0" err="1"/>
                  <a:t>seriji</a:t>
                </a:r>
                <a:r>
                  <a:rPr lang="en-US" dirty="0"/>
                  <a:t> ne </a:t>
                </a:r>
                <a:r>
                  <a:rPr lang="en-US" dirty="0" err="1"/>
                  <a:t>menjaju</a:t>
                </a:r>
                <a:r>
                  <a:rPr lang="en-US" dirty="0"/>
                  <a:t> </a:t>
                </a:r>
                <a:r>
                  <a:rPr lang="en-US" dirty="0" err="1"/>
                  <a:t>stanje</a:t>
                </a:r>
                <a:r>
                  <a:rPr lang="en-US" dirty="0"/>
                  <a:t> </a:t>
                </a:r>
                <a:r>
                  <a:rPr lang="en-US" dirty="0" err="1"/>
                  <a:t>ulaznih</a:t>
                </a:r>
                <a:r>
                  <a:rPr lang="en-US" dirty="0"/>
                  <a:t> kubita. </a:t>
                </a:r>
                <a:r>
                  <a:rPr lang="en-US" dirty="0" err="1"/>
                  <a:t>Ovo</a:t>
                </a:r>
                <a:r>
                  <a:rPr lang="en-US" dirty="0"/>
                  <a:t> se </a:t>
                </a:r>
                <a:r>
                  <a:rPr lang="en-US" dirty="0" err="1"/>
                  <a:t>lako</a:t>
                </a:r>
                <a:r>
                  <a:rPr lang="en-US" dirty="0"/>
                  <a:t> </a:t>
                </a:r>
                <a:r>
                  <a:rPr lang="en-US" dirty="0" err="1"/>
                  <a:t>dokazuje</a:t>
                </a:r>
                <a:r>
                  <a:rPr lang="en-US" dirty="0"/>
                  <a:t> </a:t>
                </a:r>
                <a:r>
                  <a:rPr lang="en-US" dirty="0" err="1"/>
                  <a:t>na</a:t>
                </a:r>
                <a:r>
                  <a:rPr lang="en-US" dirty="0"/>
                  <a:t> </a:t>
                </a:r>
                <a:r>
                  <a:rPr lang="en-US" dirty="0" err="1"/>
                  <a:t>primeru</a:t>
                </a:r>
                <a:r>
                  <a:rPr lang="en-US" dirty="0"/>
                  <a:t> </a:t>
                </a:r>
                <a:r>
                  <a:rPr lang="en-US" dirty="0" err="1"/>
                  <a:t>dva</a:t>
                </a:r>
                <a:r>
                  <a:rPr lang="en-US" dirty="0"/>
                  <a:t> </a:t>
                </a:r>
                <a:r>
                  <a:rPr lang="en-US" dirty="0" err="1"/>
                  <a:t>cX</a:t>
                </a:r>
                <a:r>
                  <a:rPr lang="en-US" dirty="0"/>
                  <a:t> </a:t>
                </a:r>
                <a:r>
                  <a:rPr lang="en-US" dirty="0" err="1"/>
                  <a:t>operatora</a:t>
                </a:r>
                <a:r>
                  <a:rPr lang="en-US" dirty="0"/>
                  <a:t> </a:t>
                </a:r>
                <a:r>
                  <a:rPr lang="en-US" dirty="0" err="1"/>
                  <a:t>čije</a:t>
                </a:r>
                <a:r>
                  <a:rPr lang="en-US" dirty="0"/>
                  <a:t> </a:t>
                </a:r>
                <a:r>
                  <a:rPr lang="en-US" dirty="0" err="1"/>
                  <a:t>množenje</a:t>
                </a:r>
                <a:r>
                  <a:rPr lang="en-US" dirty="0"/>
                  <a:t> </a:t>
                </a:r>
                <a:r>
                  <a:rPr lang="en-US" dirty="0" err="1"/>
                  <a:t>daje</a:t>
                </a:r>
                <a:r>
                  <a:rPr lang="en-US" dirty="0"/>
                  <a:t> </a:t>
                </a:r>
                <a:r>
                  <a:rPr lang="en-US" dirty="0" err="1"/>
                  <a:t>jediničnu</a:t>
                </a:r>
                <a:r>
                  <a:rPr lang="en-US" dirty="0"/>
                  <a:t> </a:t>
                </a:r>
                <a:r>
                  <a:rPr lang="en-US" dirty="0" err="1"/>
                  <a:t>matricu</a:t>
                </a:r>
                <a:r>
                  <a:rPr lang="en-US" dirty="0"/>
                  <a:t> </a:t>
                </a:r>
                <a:r>
                  <a:rPr lang="en-US" dirty="0" err="1"/>
                  <a:t>dimenzija</a:t>
                </a:r>
                <a:r>
                  <a:rPr lang="en-US" dirty="0"/>
                  <a:t> 4x4. </a:t>
                </a:r>
                <a:r>
                  <a:rPr lang="en-US" dirty="0" err="1"/>
                  <a:t>Pošto</a:t>
                </a:r>
                <a:r>
                  <a:rPr lang="en-US" dirty="0"/>
                  <a:t> se ova </a:t>
                </a:r>
                <a:r>
                  <a:rPr lang="en-US" dirty="0" err="1"/>
                  <a:t>matrica</a:t>
                </a:r>
                <a:r>
                  <a:rPr lang="en-US" dirty="0"/>
                  <a:t> </a:t>
                </a:r>
                <a:r>
                  <a:rPr lang="en-US" dirty="0" err="1"/>
                  <a:t>dobija</a:t>
                </a:r>
                <a:r>
                  <a:rPr lang="en-US" dirty="0"/>
                  <a:t> </a:t>
                </a:r>
                <a:r>
                  <a:rPr lang="en-US" dirty="0" err="1"/>
                  <a:t>kao</a:t>
                </a:r>
                <a:r>
                  <a:rPr lang="en-US" dirty="0"/>
                  <a:t> </a:t>
                </a:r>
                <a:r>
                  <a:rPr lang="en-US" dirty="0" err="1"/>
                  <a:t>Kronekerov</a:t>
                </a:r>
                <a:r>
                  <a:rPr lang="en-US" dirty="0"/>
                  <a:t> </a:t>
                </a:r>
                <a:r>
                  <a:rPr lang="en-US" dirty="0" err="1"/>
                  <a:t>proizvod</a:t>
                </a:r>
                <a:r>
                  <a:rPr lang="en-US" dirty="0"/>
                  <a:t> </a:t>
                </a:r>
                <a:r>
                  <a:rPr lang="en-US" dirty="0" err="1"/>
                  <a:t>dve</a:t>
                </a:r>
                <a:r>
                  <a:rPr lang="en-US" dirty="0"/>
                  <a:t> </a:t>
                </a:r>
                <a:r>
                  <a:rPr lang="en-US" dirty="0" err="1"/>
                  <a:t>jedinične</a:t>
                </a:r>
                <a:r>
                  <a:rPr lang="en-US" dirty="0"/>
                  <a:t> </a:t>
                </a:r>
                <a:r>
                  <a:rPr lang="en-US" dirty="0" err="1"/>
                  <a:t>matrice</a:t>
                </a:r>
                <a:r>
                  <a:rPr lang="en-US" dirty="0"/>
                  <a:t> </a:t>
                </a:r>
                <a:r>
                  <a:rPr lang="en-US" dirty="0" err="1"/>
                  <a:t>dimenzija</a:t>
                </a:r>
                <a:r>
                  <a:rPr lang="en-US" dirty="0"/>
                  <a:t> 2x2, </a:t>
                </a:r>
                <a:r>
                  <a:rPr lang="en-US" dirty="0" err="1"/>
                  <a:t>uobičajeno</a:t>
                </a:r>
                <a:r>
                  <a:rPr lang="en-US" dirty="0"/>
                  <a:t> </a:t>
                </a:r>
                <a:r>
                  <a:rPr lang="en-US" dirty="0" err="1"/>
                  <a:t>je</a:t>
                </a:r>
                <a:r>
                  <a:rPr lang="en-US" dirty="0"/>
                  <a:t> </a:t>
                </a:r>
                <a:r>
                  <a:rPr lang="en-US" dirty="0" err="1"/>
                  <a:t>koristiti</a:t>
                </a:r>
                <a:r>
                  <a:rPr lang="en-US" dirty="0"/>
                  <a:t> </a:t>
                </a:r>
                <a:r>
                  <a:rPr lang="en-US" dirty="0" err="1"/>
                  <a:t>skraćenicu</a:t>
                </a:r>
                <a:r>
                  <a:rPr lang="en-US" baseline="0" dirty="0"/>
                  <a:t> </a:t>
                </a:r>
                <a:r>
                  <a:rPr lang="sr-Latn-RS" sz="1200" b="0" i="0">
                    <a:latin typeface="Cambria Math" panose="02040503050406030204" pitchFamily="18" charset="0"/>
                  </a:rPr>
                  <a:t>𝐼</a:t>
                </a:r>
                <a:r>
                  <a:rPr lang="en-ZA" sz="1200" b="0" i="0" baseline="30000">
                    <a:latin typeface="Cambria Math" panose="02040503050406030204" pitchFamily="18" charset="0"/>
                  </a:rPr>
                  <a:t>"</a:t>
                </a:r>
                <a:r>
                  <a:rPr lang="en-ZA" sz="1200" i="0" baseline="30000">
                    <a:latin typeface="Cambria Math" panose="02040503050406030204" pitchFamily="18" charset="0"/>
                  </a:rPr>
                  <a:t>⊗</a:t>
                </a:r>
                <a:r>
                  <a:rPr lang="sr-Latn-RS" sz="1200" b="0" i="0" baseline="30000">
                    <a:latin typeface="Cambria Math" panose="02040503050406030204" pitchFamily="18" charset="0"/>
                  </a:rPr>
                  <a:t>2</a:t>
                </a:r>
                <a:r>
                  <a:rPr lang="en-US" sz="1200" b="0" i="0" baseline="30000"/>
                  <a:t>"</a:t>
                </a:r>
                <a:r>
                  <a:rPr lang="en-US" dirty="0"/>
                  <a:t> (</a:t>
                </a:r>
                <a:r>
                  <a:rPr lang="en-US" dirty="0" err="1"/>
                  <a:t>kvadrat</a:t>
                </a:r>
                <a:r>
                  <a:rPr lang="en-US" dirty="0"/>
                  <a:t> </a:t>
                </a:r>
                <a:r>
                  <a:rPr lang="en-US" dirty="0" err="1"/>
                  <a:t>Kronekerovog</a:t>
                </a:r>
                <a:r>
                  <a:rPr lang="en-US" dirty="0"/>
                  <a:t> </a:t>
                </a:r>
                <a:r>
                  <a:rPr lang="en-US" dirty="0" err="1"/>
                  <a:t>proizvoda</a:t>
                </a:r>
                <a:r>
                  <a:rPr lang="en-US"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9</a:t>
            </a:fld>
            <a:endParaRPr lang="en-US"/>
          </a:p>
        </p:txBody>
      </p:sp>
    </p:spTree>
    <p:extLst>
      <p:ext uri="{BB962C8B-B14F-4D97-AF65-F5344CB8AC3E}">
        <p14:creationId xmlns:p14="http://schemas.microsoft.com/office/powerpoint/2010/main" val="3537457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It is interesting to look at the case where the target qubit at the input of a CNOT gate is in the state ∣+⟩. In this situation, no matter what state the control qubit is in, the output state stays the same. This happens because the CNOT flips the target, and flipping ∣+⟩ leaves it unchanged. In this specific case, the CNOT is equivalent to the identity and can be removed without affecting the circuit.</a:t>
            </a:r>
          </a:p>
          <a:p>
            <a:pPr algn="just"/>
            <a:endParaRPr lang="en-ZA" dirty="0"/>
          </a:p>
          <a:p>
            <a:pPr algn="just"/>
            <a:r>
              <a:rPr lang="en-ZA" dirty="0"/>
              <a:t>This can be checked directly by calculating the qubit states at the input and at the output of the circuit.</a:t>
            </a:r>
          </a:p>
        </p:txBody>
      </p:sp>
      <p:sp>
        <p:nvSpPr>
          <p:cNvPr id="4" name="Slide Number Placeholder 3"/>
          <p:cNvSpPr>
            <a:spLocks noGrp="1"/>
          </p:cNvSpPr>
          <p:nvPr>
            <p:ph type="sldNum" sz="quarter" idx="5"/>
          </p:nvPr>
        </p:nvSpPr>
        <p:spPr/>
        <p:txBody>
          <a:bodyPr/>
          <a:lstStyle/>
          <a:p>
            <a:fld id="{1B2CE5E3-B8BD-D040-AC87-D640191DD8F1}" type="slidenum">
              <a:rPr lang="en-US" smtClean="0"/>
              <a:t>10</a:t>
            </a:fld>
            <a:endParaRPr lang="en-US"/>
          </a:p>
        </p:txBody>
      </p:sp>
    </p:spTree>
    <p:extLst>
      <p:ext uri="{BB962C8B-B14F-4D97-AF65-F5344CB8AC3E}">
        <p14:creationId xmlns:p14="http://schemas.microsoft.com/office/powerpoint/2010/main" val="2545048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In certain applications, such as quantum circuit optimization, it is useful to rearrange the order of gates without affecting the state vector. Some gates, such as the Pauli-X gate and the Controlled-X (CNOT) gate, exhibit commutativity.</a:t>
                </a:r>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In the example shown in the image, the NOT gate and the CNOT gate can be swapped without changing the circuit's output state. This can be easily verified through matrix multiplication, where: </a:t>
                </a:r>
                <a14:m>
                  <m:oMath xmlns:m="http://schemas.openxmlformats.org/officeDocument/2006/math">
                    <m:r>
                      <a:rPr lang="sr-Latn-RS" sz="1200" i="1" dirty="0" smtClean="0">
                        <a:latin typeface="Cambria Math" panose="02040503050406030204" pitchFamily="18" charset="0"/>
                        <a:ea typeface="Cambria Math" panose="02040503050406030204" pitchFamily="18" charset="0"/>
                      </a:rPr>
                      <m:t>𝑐𝑋</m:t>
                    </m:r>
                    <m:d>
                      <m:dPr>
                        <m:ctrlPr>
                          <a:rPr lang="sr-Latn-RS" sz="1200" b="0" i="1" dirty="0" smtClean="0">
                            <a:latin typeface="Cambria Math" panose="02040503050406030204" pitchFamily="18" charset="0"/>
                            <a:ea typeface="Cambria Math" panose="02040503050406030204" pitchFamily="18" charset="0"/>
                          </a:rPr>
                        </m:ctrlPr>
                      </m:dPr>
                      <m:e>
                        <m:r>
                          <a:rPr lang="sr-Latn-RS" sz="1200" b="0" i="1" dirty="0" smtClean="0">
                            <a:latin typeface="Cambria Math" panose="02040503050406030204" pitchFamily="18" charset="0"/>
                            <a:ea typeface="Cambria Math" panose="02040503050406030204" pitchFamily="18" charset="0"/>
                          </a:rPr>
                          <m:t>𝐼</m:t>
                        </m:r>
                        <m:r>
                          <a:rPr lang="en-US" sz="1200" i="1" dirty="0">
                            <a:latin typeface="Cambria Math" panose="02040503050406030204" pitchFamily="18" charset="0"/>
                            <a:ea typeface="Cambria Math" panose="02040503050406030204" pitchFamily="18" charset="0"/>
                          </a:rPr>
                          <m:t>⊗</m:t>
                        </m:r>
                        <m:r>
                          <a:rPr lang="sr-Latn-RS" sz="1200" b="0" i="1" dirty="0" smtClean="0">
                            <a:latin typeface="Cambria Math" panose="02040503050406030204" pitchFamily="18" charset="0"/>
                            <a:ea typeface="Cambria Math" panose="02040503050406030204" pitchFamily="18" charset="0"/>
                          </a:rPr>
                          <m:t>𝑋</m:t>
                        </m:r>
                      </m:e>
                    </m:d>
                    <m:r>
                      <a:rPr lang="sr-Latn-RS" sz="1200" b="0" i="1" dirty="0" smtClean="0">
                        <a:latin typeface="Cambria Math" panose="02040503050406030204" pitchFamily="18" charset="0"/>
                        <a:ea typeface="Cambria Math" panose="02040503050406030204" pitchFamily="18" charset="0"/>
                      </a:rPr>
                      <m:t> =</m:t>
                    </m:r>
                    <m:d>
                      <m:dPr>
                        <m:ctrlPr>
                          <a:rPr lang="sr-Latn-RS" sz="1200" i="1" dirty="0">
                            <a:latin typeface="Cambria Math" panose="02040503050406030204" pitchFamily="18" charset="0"/>
                            <a:ea typeface="Cambria Math" panose="02040503050406030204" pitchFamily="18" charset="0"/>
                          </a:rPr>
                        </m:ctrlPr>
                      </m:dPr>
                      <m:e>
                        <m:r>
                          <a:rPr lang="sr-Latn-RS" sz="1200" b="0" i="1" dirty="0" smtClean="0">
                            <a:latin typeface="Cambria Math" panose="02040503050406030204" pitchFamily="18" charset="0"/>
                            <a:ea typeface="Cambria Math" panose="02040503050406030204" pitchFamily="18" charset="0"/>
                          </a:rPr>
                          <m:t>𝐼</m:t>
                        </m:r>
                        <m:r>
                          <a:rPr lang="en-US" sz="1200" i="1" dirty="0">
                            <a:latin typeface="Cambria Math" panose="02040503050406030204" pitchFamily="18" charset="0"/>
                            <a:ea typeface="Cambria Math" panose="02040503050406030204" pitchFamily="18" charset="0"/>
                          </a:rPr>
                          <m:t>⊗</m:t>
                        </m:r>
                        <m:r>
                          <a:rPr lang="sr-Latn-RS" sz="1200" b="0" i="1" dirty="0" smtClean="0">
                            <a:latin typeface="Cambria Math" panose="02040503050406030204" pitchFamily="18" charset="0"/>
                            <a:ea typeface="Cambria Math" panose="02040503050406030204" pitchFamily="18" charset="0"/>
                          </a:rPr>
                          <m:t>𝑋</m:t>
                        </m:r>
                      </m:e>
                    </m:d>
                    <m:r>
                      <a:rPr lang="sr-Latn-RS" sz="1200" i="1" dirty="0">
                        <a:latin typeface="Cambria Math" panose="02040503050406030204" pitchFamily="18" charset="0"/>
                        <a:ea typeface="Cambria Math" panose="02040503050406030204" pitchFamily="18" charset="0"/>
                      </a:rPr>
                      <m:t>𝑐𝑋</m:t>
                    </m:r>
                  </m:oMath>
                </a14:m>
                <a:r>
                  <a:rPr lang="en-US" sz="1200" b="0" i="1" dirty="0"/>
                  <a:t> </a:t>
                </a:r>
                <a:r>
                  <a:rPr lang="en-ZA" b="0" dirty="0"/>
                  <a:t>showing that gate order does not affect the transformation.</a:t>
                </a:r>
              </a:p>
            </p:txBody>
          </p:sp>
        </mc:Choice>
        <mc:Fallback xmlns="">
          <p:sp>
            <p:nvSpPr>
              <p:cNvPr id="3" name="Notes Placeholder 2"/>
              <p:cNvSpPr>
                <a:spLocks noGrp="1"/>
              </p:cNvSpPr>
              <p:nvPr>
                <p:ph type="body" idx="1"/>
              </p:nvPr>
            </p:nvSpPr>
            <p:spPr/>
            <p:txBody>
              <a:bodyPr/>
              <a:lstStyle/>
              <a:p>
                <a:pPr algn="just"/>
                <a:r>
                  <a:rPr lang="en-ZA" b="0" dirty="0"/>
                  <a:t>In certain applications, such as quantum circuit optimization, it is useful to rearrange the order of gates without affecting the state vector. Some gates, such as the Pauli-X gate and the Controlled-X (CNOT) gate, exhibit commutativity.</a:t>
                </a:r>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In the example shown in the image, the Pauli-X gate and the CNOT gate can be swapped without changing the circuit's output state. This can be easily verified through matrix multiplication, where: </a:t>
                </a:r>
                <a:r>
                  <a:rPr lang="sr-Latn-RS" sz="1200" i="0" dirty="0">
                    <a:latin typeface="Cambria Math" panose="02040503050406030204" pitchFamily="18" charset="0"/>
                    <a:ea typeface="Cambria Math" panose="02040503050406030204" pitchFamily="18" charset="0"/>
                  </a:rPr>
                  <a:t>𝑐𝑋</a:t>
                </a:r>
                <a:r>
                  <a:rPr lang="sr-Latn-RS" sz="1200" b="0" i="0" dirty="0">
                    <a:latin typeface="Cambria Math" panose="02040503050406030204" pitchFamily="18" charset="0"/>
                    <a:ea typeface="Cambria Math" panose="02040503050406030204" pitchFamily="18" charset="0"/>
                  </a:rPr>
                  <a:t>(𝐼</a:t>
                </a:r>
                <a:r>
                  <a:rPr lang="en-US" sz="1200" i="0" dirty="0">
                    <a:latin typeface="Cambria Math" panose="02040503050406030204" pitchFamily="18" charset="0"/>
                    <a:ea typeface="Cambria Math" panose="02040503050406030204" pitchFamily="18" charset="0"/>
                  </a:rPr>
                  <a:t>⊗</a:t>
                </a:r>
                <a:r>
                  <a:rPr lang="sr-Latn-RS" sz="1200" b="0" i="0" dirty="0">
                    <a:latin typeface="Cambria Math" panose="02040503050406030204" pitchFamily="18" charset="0"/>
                    <a:ea typeface="Cambria Math" panose="02040503050406030204" pitchFamily="18" charset="0"/>
                  </a:rPr>
                  <a:t>𝑋)  =</a:t>
                </a:r>
                <a:r>
                  <a:rPr lang="sr-Latn-RS" sz="1200" i="0" dirty="0">
                    <a:latin typeface="Cambria Math" panose="02040503050406030204" pitchFamily="18" charset="0"/>
                    <a:ea typeface="Cambria Math" panose="02040503050406030204" pitchFamily="18" charset="0"/>
                  </a:rPr>
                  <a:t>(</a:t>
                </a:r>
                <a:r>
                  <a:rPr lang="sr-Latn-RS" sz="1200" b="0" i="0" dirty="0">
                    <a:latin typeface="Cambria Math" panose="02040503050406030204" pitchFamily="18" charset="0"/>
                    <a:ea typeface="Cambria Math" panose="02040503050406030204" pitchFamily="18" charset="0"/>
                  </a:rPr>
                  <a:t>𝐼</a:t>
                </a:r>
                <a:r>
                  <a:rPr lang="en-US" sz="1200" i="0" dirty="0">
                    <a:latin typeface="Cambria Math" panose="02040503050406030204" pitchFamily="18" charset="0"/>
                    <a:ea typeface="Cambria Math" panose="02040503050406030204" pitchFamily="18" charset="0"/>
                  </a:rPr>
                  <a:t>⊗</a:t>
                </a:r>
                <a:r>
                  <a:rPr lang="sr-Latn-RS" sz="1200" b="0" i="0" dirty="0">
                    <a:latin typeface="Cambria Math" panose="02040503050406030204" pitchFamily="18" charset="0"/>
                    <a:ea typeface="Cambria Math" panose="02040503050406030204" pitchFamily="18" charset="0"/>
                  </a:rPr>
                  <a:t>𝑋)</a:t>
                </a:r>
                <a:r>
                  <a:rPr lang="sr-Latn-RS" sz="1200" i="0" dirty="0">
                    <a:latin typeface="Cambria Math" panose="02040503050406030204" pitchFamily="18" charset="0"/>
                    <a:ea typeface="Cambria Math" panose="02040503050406030204" pitchFamily="18" charset="0"/>
                  </a:rPr>
                  <a:t>𝑐𝑋</a:t>
                </a:r>
                <a:r>
                  <a:rPr lang="en-US" sz="1200" b="0" i="1" dirty="0"/>
                  <a:t> </a:t>
                </a:r>
                <a:r>
                  <a:rPr lang="en-ZA" b="0" dirty="0"/>
                  <a:t>showing that their order does not affect the transformation.</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11</a:t>
            </a:fld>
            <a:endParaRPr lang="en-US"/>
          </a:p>
        </p:txBody>
      </p:sp>
    </p:spTree>
    <p:extLst>
      <p:ext uri="{BB962C8B-B14F-4D97-AF65-F5344CB8AC3E}">
        <p14:creationId xmlns:p14="http://schemas.microsoft.com/office/powerpoint/2010/main" val="25516730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It is useful to note that the Rx</a:t>
                </a:r>
                <a:r>
                  <a:rPr lang="el-GR" dirty="0"/>
                  <a:t> </a:t>
                </a:r>
                <a:r>
                  <a:rPr lang="en-ZA" dirty="0"/>
                  <a:t>gate and the CNOT commute when Rx</a:t>
                </a:r>
                <a:r>
                  <a:rPr lang="el-GR" dirty="0"/>
                  <a:t> </a:t>
                </a:r>
                <a:r>
                  <a:rPr lang="en-ZA" dirty="0"/>
                  <a:t>is applied to the target qubit. In other words, the two gates can be swapped without changing the circuit’s output.</a:t>
                </a:r>
              </a:p>
              <a:p>
                <a:pPr algn="just"/>
                <a:endParaRPr lang="en-ZA" dirty="0"/>
              </a:p>
              <a:p>
                <a:pPr algn="just"/>
                <a:r>
                  <a:rPr lang="en-ZA" dirty="0"/>
                  <a:t>To verify this, the Rx</a:t>
                </a:r>
                <a:r>
                  <a:rPr lang="el-GR" dirty="0"/>
                  <a:t> </a:t>
                </a:r>
                <a:r>
                  <a:rPr lang="en-ZA" dirty="0"/>
                  <a:t>matrix can be written in a simpler form by setting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a:rPr lang="en-US" i="1" smtClean="0">
                            <a:latin typeface="Cambria Math" panose="02040503050406030204" pitchFamily="18" charset="0"/>
                          </a:rPr>
                          <m:t>𝑐𝑜𝑠</m:t>
                        </m:r>
                      </m:fName>
                      <m:e>
                        <m:f>
                          <m:fPr>
                            <m:type m:val="lin"/>
                            <m:ctrlPr>
                              <a:rPr lang="en-US" i="1" smtClean="0">
                                <a:latin typeface="Cambria Math" panose="02040503050406030204" pitchFamily="18" charset="0"/>
                              </a:rPr>
                            </m:ctrlPr>
                          </m:fPr>
                          <m:num>
                            <m:r>
                              <a:rPr lang="en-US" i="1" smtClean="0">
                                <a:latin typeface="Cambria Math" panose="02040503050406030204" pitchFamily="18" charset="0"/>
                              </a:rPr>
                              <m:t>𝜃</m:t>
                            </m:r>
                          </m:num>
                          <m:den>
                            <m:r>
                              <a:rPr lang="en-US" b="0" i="1" smtClean="0">
                                <a:latin typeface="Cambria Math" panose="02040503050406030204" pitchFamily="18" charset="0"/>
                              </a:rPr>
                              <m:t>2</m:t>
                            </m:r>
                          </m:den>
                        </m:f>
                      </m:e>
                    </m:func>
                  </m:oMath>
                </a14:m>
                <a:r>
                  <a:rPr lang="en-ZA" b="0" i="1" dirty="0"/>
                  <a:t> </a:t>
                </a:r>
                <a:r>
                  <a:rPr lang="en-ZA" b="0" i="0" dirty="0"/>
                  <a:t>and</a:t>
                </a:r>
                <a:r>
                  <a:rPr lang="en-ZA" b="0" i="1" dirty="0"/>
                  <a:t> b</a:t>
                </a:r>
                <a14:m>
                  <m:oMath xmlns:m="http://schemas.openxmlformats.org/officeDocument/2006/math">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a:rPr lang="en-US" b="0" i="1" smtClean="0">
                            <a:latin typeface="Cambria Math" panose="02040503050406030204" pitchFamily="18" charset="0"/>
                          </a:rPr>
                          <m:t>𝑠𝑖𝑛</m:t>
                        </m:r>
                      </m:fName>
                      <m:e>
                        <m:f>
                          <m:fPr>
                            <m:type m:val="lin"/>
                            <m:ctrlPr>
                              <a:rPr lang="en-US" i="1" smtClean="0">
                                <a:latin typeface="Cambria Math" panose="02040503050406030204" pitchFamily="18" charset="0"/>
                              </a:rPr>
                            </m:ctrlPr>
                          </m:fPr>
                          <m:num>
                            <m:r>
                              <a:rPr lang="en-US" i="1" smtClean="0">
                                <a:latin typeface="Cambria Math" panose="02040503050406030204" pitchFamily="18" charset="0"/>
                              </a:rPr>
                              <m:t>𝜃</m:t>
                            </m:r>
                          </m:num>
                          <m:den>
                            <m:r>
                              <a:rPr lang="en-US" b="0" i="1" smtClean="0">
                                <a:latin typeface="Cambria Math" panose="02040503050406030204" pitchFamily="18" charset="0"/>
                              </a:rPr>
                              <m:t>2</m:t>
                            </m:r>
                          </m:den>
                        </m:f>
                      </m:e>
                    </m:func>
                  </m:oMath>
                </a14:m>
                <a:r>
                  <a:rPr lang="el-GR" dirty="0"/>
                  <a:t>. </a:t>
                </a:r>
                <a:r>
                  <a:rPr lang="en-ZA" dirty="0"/>
                  <a:t>Using these substitutions makes the matrix multiplication easier.</a:t>
                </a:r>
              </a:p>
              <a:p>
                <a:pPr algn="just"/>
                <a:endParaRPr lang="en-ZA" dirty="0"/>
              </a:p>
              <a:p>
                <a:pPr algn="just"/>
                <a:r>
                  <a:rPr lang="en-ZA" dirty="0"/>
                  <a:t>After carrying out the multiplication, the transformation matrices of both circuit orders turn out to be identical. This confirms that Rx</a:t>
                </a:r>
                <a:r>
                  <a:rPr lang="el-GR" dirty="0"/>
                  <a:t> </a:t>
                </a:r>
                <a:r>
                  <a:rPr lang="en-ZA" dirty="0"/>
                  <a:t>and CNOT commute when the rotation is applied to the target qubit.</a:t>
                </a:r>
              </a:p>
              <a:p>
                <a:pPr algn="just"/>
                <a:endParaRPr lang="en-ZA" dirty="0"/>
              </a:p>
              <a:p>
                <a:pPr algn="just"/>
                <a:r>
                  <a:rPr lang="en-ZA" dirty="0"/>
                  <a:t>However, if Rx</a:t>
                </a:r>
                <a:r>
                  <a:rPr lang="el-GR" dirty="0"/>
                  <a:t> </a:t>
                </a:r>
                <a:r>
                  <a:rPr lang="en-ZA" dirty="0"/>
                  <a:t>is applied to the control qubit, commutativity does not hold, because the rotation changes the control state before the CNOT acts.</a:t>
                </a:r>
              </a:p>
            </p:txBody>
          </p:sp>
        </mc:Choice>
        <mc:Fallback xmlns="">
          <p:sp>
            <p:nvSpPr>
              <p:cNvPr id="3" name="Notes Placeholder 2"/>
              <p:cNvSpPr>
                <a:spLocks noGrp="1"/>
              </p:cNvSpPr>
              <p:nvPr>
                <p:ph type="body" idx="1"/>
              </p:nvPr>
            </p:nvSpPr>
            <p:spPr/>
            <p:txBody>
              <a:bodyPr/>
              <a:lstStyle/>
              <a:p>
                <a:pPr algn="just"/>
                <a:r>
                  <a:rPr lang="en-ZA" b="0" dirty="0"/>
                  <a:t>It is useful to observe the commutativity of the Rx</a:t>
                </a:r>
                <a:r>
                  <a:rPr lang="el-GR" b="0" dirty="0"/>
                  <a:t> </a:t>
                </a:r>
                <a:r>
                  <a:rPr lang="en-ZA" b="0" dirty="0"/>
                  <a:t>and CNOT (</a:t>
                </a:r>
                <a:r>
                  <a:rPr lang="en-ZA" b="0" dirty="0" err="1"/>
                  <a:t>cX</a:t>
                </a:r>
                <a:r>
                  <a:rPr lang="en-ZA" b="0" dirty="0"/>
                  <a:t>) gates when Rx</a:t>
                </a:r>
                <a:r>
                  <a:rPr lang="el-GR" b="0" dirty="0"/>
                  <a:t>) </a:t>
                </a:r>
                <a:r>
                  <a:rPr lang="en-ZA" b="0" dirty="0"/>
                  <a:t>is applied to the target qubit. This means they can be swapped without affecting the circuit’s output.</a:t>
                </a:r>
              </a:p>
              <a:p>
                <a:pPr algn="just"/>
                <a:endParaRPr lang="en-ZA" b="0" dirty="0"/>
              </a:p>
              <a:p>
                <a:pPr algn="just"/>
                <a:r>
                  <a:rPr lang="en-ZA" b="0" dirty="0"/>
                  <a:t>To verify this, for easier matrix multiplication, the elements of the Rx(</a:t>
                </a:r>
                <a:r>
                  <a:rPr lang="el-GR" b="0" dirty="0"/>
                  <a:t>θ) </a:t>
                </a:r>
                <a:r>
                  <a:rPr lang="en-ZA" b="0" dirty="0"/>
                  <a:t>matrix are replaced with </a:t>
                </a:r>
                <a:r>
                  <a:rPr lang="sr-Latn-RS" sz="1200" b="0" i="0">
                    <a:latin typeface="Cambria Math" panose="02040503050406030204" pitchFamily="18" charset="0"/>
                  </a:rPr>
                  <a:t>𝑎</a:t>
                </a:r>
                <a:r>
                  <a:rPr lang="en-ZA" b="0" dirty="0"/>
                  <a:t> and </a:t>
                </a:r>
                <a:r>
                  <a:rPr lang="en-US" sz="1200" b="0" i="0">
                    <a:latin typeface="Cambria Math" panose="02040503050406030204" pitchFamily="18" charset="0"/>
                  </a:rPr>
                  <a:t>𝑏</a:t>
                </a:r>
                <a:r>
                  <a:rPr lang="en-ZA" b="0" dirty="0"/>
                  <a:t>, where: </a:t>
                </a:r>
                <a:r>
                  <a:rPr lang="en-US" b="0" i="0">
                    <a:latin typeface="Cambria Math" panose="02040503050406030204" pitchFamily="18" charset="0"/>
                  </a:rPr>
                  <a:t>𝑎=</a:t>
                </a:r>
                <a:r>
                  <a:rPr lang="en-US" i="0">
                    <a:latin typeface="Cambria Math" panose="02040503050406030204" pitchFamily="18" charset="0"/>
                  </a:rPr>
                  <a:t>𝑐𝑜𝑠</a:t>
                </a:r>
                <a:r>
                  <a:rPr lang="en-US" b="0" i="0">
                    <a:latin typeface="Cambria Math" panose="02040503050406030204" pitchFamily="18" charset="0"/>
                  </a:rPr>
                  <a:t>⁡〖</a:t>
                </a:r>
                <a:r>
                  <a:rPr lang="en-US" i="0">
                    <a:latin typeface="Cambria Math" panose="02040503050406030204" pitchFamily="18" charset="0"/>
                  </a:rPr>
                  <a:t>𝜃∕</a:t>
                </a:r>
                <a:r>
                  <a:rPr lang="en-US" b="0" i="0">
                    <a:latin typeface="Cambria Math" panose="02040503050406030204" pitchFamily="18" charset="0"/>
                  </a:rPr>
                  <a:t>2〗</a:t>
                </a:r>
                <a:r>
                  <a:rPr lang="en-ZA" b="0" i="1" dirty="0"/>
                  <a:t> </a:t>
                </a:r>
                <a:r>
                  <a:rPr lang="en-ZA" b="0" i="0" dirty="0"/>
                  <a:t>and</a:t>
                </a:r>
                <a:r>
                  <a:rPr lang="en-ZA" b="0" i="1" dirty="0"/>
                  <a:t> b</a:t>
                </a:r>
                <a:r>
                  <a:rPr lang="en-US" b="0" i="0">
                    <a:latin typeface="Cambria Math" panose="02040503050406030204" pitchFamily="18" charset="0"/>
                  </a:rPr>
                  <a:t>=−𝑠𝑖𝑛⁡〖</a:t>
                </a:r>
                <a:r>
                  <a:rPr lang="en-US" i="0">
                    <a:latin typeface="Cambria Math" panose="02040503050406030204" pitchFamily="18" charset="0"/>
                  </a:rPr>
                  <a:t>𝜃∕</a:t>
                </a:r>
                <a:r>
                  <a:rPr lang="en-US" b="0" i="0">
                    <a:latin typeface="Cambria Math" panose="02040503050406030204" pitchFamily="18" charset="0"/>
                  </a:rPr>
                  <a:t>2〗</a:t>
                </a:r>
                <a:r>
                  <a:rPr lang="en-ZA" b="0" i="1" dirty="0"/>
                  <a:t>.</a:t>
                </a:r>
                <a:endParaRPr lang="en-US" b="0" dirty="0"/>
              </a:p>
              <a:p>
                <a:pPr algn="just"/>
                <a:endParaRPr lang="en-US" b="0" dirty="0"/>
              </a:p>
              <a:p>
                <a:pPr algn="just"/>
                <a:r>
                  <a:rPr lang="en-ZA" b="0" dirty="0"/>
                  <a:t>After performing the matrix multiplication, it can be seen that the transformation matrices of both circuit orders are identical, confirming their commutativity when Rx(</a:t>
                </a:r>
                <a:r>
                  <a:rPr lang="el-GR" b="0" dirty="0"/>
                  <a:t>θ) </a:t>
                </a:r>
                <a:r>
                  <a:rPr lang="en-ZA" b="0" dirty="0"/>
                  <a:t>is applied to the target qubit.</a:t>
                </a:r>
              </a:p>
              <a:p>
                <a:pPr algn="just"/>
                <a:r>
                  <a:rPr lang="en-ZA" b="0" dirty="0"/>
                  <a:t>However, if Rx(</a:t>
                </a:r>
                <a:r>
                  <a:rPr lang="el-GR" b="0" dirty="0"/>
                  <a:t>θ) </a:t>
                </a:r>
                <a:r>
                  <a:rPr lang="en-ZA" b="0" dirty="0"/>
                  <a:t>is applied to the control qubit, commutativity does not hold, as the rotation alters the control state before the CNOT operation.</a:t>
                </a:r>
              </a:p>
              <a:p>
                <a:pPr algn="just"/>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12</a:t>
            </a:fld>
            <a:endParaRPr lang="en-US"/>
          </a:p>
        </p:txBody>
      </p:sp>
    </p:spTree>
    <p:extLst>
      <p:ext uri="{BB962C8B-B14F-4D97-AF65-F5344CB8AC3E}">
        <p14:creationId xmlns:p14="http://schemas.microsoft.com/office/powerpoint/2010/main" val="4865105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The CX gate can be decomposed into a sequence of simpler gates, as shown on the slide. To check the correctness of this substitution, let’s look at specific cases.</a:t>
                </a:r>
              </a:p>
              <a:p>
                <a:endParaRPr lang="en-ZA" b="0" dirty="0"/>
              </a:p>
              <a:p>
                <a:r>
                  <a:rPr lang="en-ZA" b="0" dirty="0"/>
                  <a:t>Control = ∣1⟩, Target = ∣0⟩:</a:t>
                </a:r>
              </a:p>
              <a:p>
                <a:pPr marL="171450" indent="-171450">
                  <a:buFont typeface="Arial" panose="020B0604020202020204" pitchFamily="34" charset="0"/>
                  <a:buChar char="•"/>
                </a:pPr>
                <a:r>
                  <a:rPr lang="en-ZA" b="0" dirty="0"/>
                  <a:t>The first Hadamard puts the target into ∣+⟩.</a:t>
                </a:r>
              </a:p>
              <a:p>
                <a:pPr marL="171450" indent="-171450">
                  <a:buFont typeface="Arial" panose="020B0604020202020204" pitchFamily="34" charset="0"/>
                  <a:buChar char="•"/>
                </a:pPr>
                <a:r>
                  <a:rPr lang="en-ZA" b="0" dirty="0"/>
                  <a:t>The controlled-Z flips the phase, giving ∣−⟩.</a:t>
                </a:r>
              </a:p>
              <a:p>
                <a:pPr marL="171450" indent="-171450">
                  <a:buFont typeface="Arial" panose="020B0604020202020204" pitchFamily="34" charset="0"/>
                  <a:buChar char="•"/>
                </a:pPr>
                <a:r>
                  <a:rPr lang="en-ZA" b="0" dirty="0"/>
                  <a:t>The second Hadamard cancels the superposition and turns the target into ∣1⟩.</a:t>
                </a:r>
              </a:p>
              <a:p>
                <a:endParaRPr lang="en-ZA" b="0" dirty="0"/>
              </a:p>
              <a:p>
                <a:r>
                  <a:rPr lang="en-ZA" b="0" dirty="0"/>
                  <a:t>Control = ∣1⟩, Target = ∣1⟩:</a:t>
                </a:r>
              </a:p>
              <a:p>
                <a:endParaRPr lang="en-ZA" b="0" dirty="0"/>
              </a:p>
              <a:p>
                <a:pPr marL="171450" indent="-171450">
                  <a:buFont typeface="Arial" panose="020B0604020202020204" pitchFamily="34" charset="0"/>
                  <a:buChar char="•"/>
                </a:pPr>
                <a:r>
                  <a:rPr lang="en-ZA" b="0" dirty="0"/>
                  <a:t>The first Hadamard turns the target into ∣−⟩.</a:t>
                </a:r>
              </a:p>
              <a:p>
                <a:pPr marL="171450" indent="-171450">
                  <a:buFont typeface="Arial" panose="020B0604020202020204" pitchFamily="34" charset="0"/>
                  <a:buChar char="•"/>
                </a:pPr>
                <a:r>
                  <a:rPr lang="en-ZA" b="0" dirty="0"/>
                  <a:t>The controlled-Z flips the phase, giving ∣+⟩.</a:t>
                </a:r>
              </a:p>
              <a:p>
                <a:pPr marL="171450" indent="-171450">
                  <a:buFont typeface="Arial" panose="020B0604020202020204" pitchFamily="34" charset="0"/>
                  <a:buChar char="•"/>
                </a:pPr>
                <a:r>
                  <a:rPr lang="en-ZA" b="0" dirty="0"/>
                  <a:t>The second Hadamard restores the target to ∣0⟩.</a:t>
                </a:r>
              </a:p>
              <a:p>
                <a:endParaRPr lang="en-ZA" b="0" dirty="0"/>
              </a:p>
              <a:p>
                <a:r>
                  <a:rPr lang="en-ZA" b="0" dirty="0"/>
                  <a:t>Control = ∣0⟩:</a:t>
                </a:r>
              </a:p>
              <a:p>
                <a:r>
                  <a:rPr lang="en-ZA" b="0" dirty="0"/>
                  <a:t>The controlled-Z has no effect, and the two </a:t>
                </a:r>
                <a:r>
                  <a:rPr lang="en-ZA" b="0" dirty="0" err="1"/>
                  <a:t>Hadamards</a:t>
                </a:r>
                <a:r>
                  <a:rPr lang="en-ZA" b="0" dirty="0"/>
                  <a:t> cancel out. The target qubit remains unchanged.</a:t>
                </a:r>
              </a:p>
              <a:p>
                <a:endParaRPr lang="en-ZA"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b="0" dirty="0"/>
                  <a:t>We can also confirm this equivalence with matrices. Adding an identity on the control, the circuit is expressed as </a:t>
                </a:r>
                <a14:m>
                  <m:oMath xmlns:m="http://schemas.openxmlformats.org/officeDocument/2006/math">
                    <m:d>
                      <m:dPr>
                        <m:ctrlPr>
                          <a:rPr lang="sr-Latn-RS" sz="1200" b="0" i="1" dirty="0" smtClean="0">
                            <a:latin typeface="Cambria Math" panose="02040503050406030204" pitchFamily="18" charset="0"/>
                            <a:ea typeface="Cambria Math" panose="02040503050406030204" pitchFamily="18" charset="0"/>
                          </a:rPr>
                        </m:ctrlPr>
                      </m:dPr>
                      <m:e>
                        <m:r>
                          <a:rPr lang="sr-Latn-RS" sz="1200" b="0" i="1" dirty="0" smtClean="0">
                            <a:latin typeface="Cambria Math" panose="02040503050406030204" pitchFamily="18" charset="0"/>
                            <a:ea typeface="Cambria Math" panose="02040503050406030204" pitchFamily="18" charset="0"/>
                          </a:rPr>
                          <m:t>𝐼</m:t>
                        </m:r>
                        <m:r>
                          <a:rPr lang="en-US" sz="1200" i="1" dirty="0">
                            <a:latin typeface="Cambria Math" panose="02040503050406030204" pitchFamily="18" charset="0"/>
                            <a:ea typeface="Cambria Math" panose="02040503050406030204" pitchFamily="18" charset="0"/>
                          </a:rPr>
                          <m:t>⊗</m:t>
                        </m:r>
                        <m:r>
                          <a:rPr lang="sr-Latn-RS" sz="1200" b="0" i="1" dirty="0" smtClean="0">
                            <a:latin typeface="Cambria Math" panose="02040503050406030204" pitchFamily="18" charset="0"/>
                            <a:ea typeface="Cambria Math" panose="02040503050406030204" pitchFamily="18" charset="0"/>
                          </a:rPr>
                          <m:t>𝐻</m:t>
                        </m:r>
                      </m:e>
                    </m:d>
                    <m:r>
                      <a:rPr lang="sr-Latn-RS" sz="1200" b="0" i="1" dirty="0" smtClean="0">
                        <a:latin typeface="Cambria Math" panose="02040503050406030204" pitchFamily="18" charset="0"/>
                        <a:ea typeface="Cambria Math" panose="02040503050406030204" pitchFamily="18" charset="0"/>
                      </a:rPr>
                      <m:t> </m:t>
                    </m:r>
                    <m:r>
                      <a:rPr lang="sr-Latn-RS" sz="1200" b="0" i="1" dirty="0" smtClean="0">
                        <a:latin typeface="Cambria Math" panose="02040503050406030204" pitchFamily="18" charset="0"/>
                        <a:ea typeface="Cambria Math" panose="02040503050406030204" pitchFamily="18" charset="0"/>
                      </a:rPr>
                      <m:t>𝑐𝑍</m:t>
                    </m:r>
                    <m:r>
                      <a:rPr lang="sr-Latn-RS" sz="1200" b="0" i="1" dirty="0" smtClean="0">
                        <a:latin typeface="Cambria Math" panose="02040503050406030204" pitchFamily="18" charset="0"/>
                        <a:ea typeface="Cambria Math" panose="02040503050406030204" pitchFamily="18" charset="0"/>
                      </a:rPr>
                      <m:t> </m:t>
                    </m:r>
                    <m:d>
                      <m:dPr>
                        <m:ctrlPr>
                          <a:rPr lang="sr-Latn-RS" sz="1200" i="1" dirty="0">
                            <a:latin typeface="Cambria Math" panose="02040503050406030204" pitchFamily="18" charset="0"/>
                            <a:ea typeface="Cambria Math" panose="02040503050406030204" pitchFamily="18" charset="0"/>
                          </a:rPr>
                        </m:ctrlPr>
                      </m:dPr>
                      <m:e>
                        <m:r>
                          <a:rPr lang="sr-Latn-RS" sz="1200" i="1" dirty="0">
                            <a:latin typeface="Cambria Math" panose="02040503050406030204" pitchFamily="18" charset="0"/>
                            <a:ea typeface="Cambria Math" panose="02040503050406030204" pitchFamily="18" charset="0"/>
                          </a:rPr>
                          <m:t>𝐼</m:t>
                        </m:r>
                        <m:r>
                          <a:rPr lang="en-US" sz="1200" i="1" dirty="0">
                            <a:latin typeface="Cambria Math" panose="02040503050406030204" pitchFamily="18" charset="0"/>
                            <a:ea typeface="Cambria Math" panose="02040503050406030204" pitchFamily="18" charset="0"/>
                          </a:rPr>
                          <m:t>⊗</m:t>
                        </m:r>
                        <m:r>
                          <a:rPr lang="sr-Latn-RS" sz="1200" i="1" dirty="0">
                            <a:latin typeface="Cambria Math" panose="02040503050406030204" pitchFamily="18" charset="0"/>
                            <a:ea typeface="Cambria Math" panose="02040503050406030204" pitchFamily="18" charset="0"/>
                          </a:rPr>
                          <m:t>𝐻</m:t>
                        </m:r>
                      </m:e>
                    </m:d>
                  </m:oMath>
                </a14:m>
                <a:r>
                  <a:rPr lang="en-US" sz="1200" b="0" i="1" dirty="0"/>
                  <a:t>. </a:t>
                </a:r>
                <a:r>
                  <a:rPr lang="en-ZA" sz="1200" b="0" i="1" dirty="0"/>
                  <a:t> </a:t>
                </a:r>
                <a:r>
                  <a:rPr lang="en-ZA" b="0" dirty="0"/>
                  <a:t>Multiplying the matrices shows that this operator is identical to the CX matrix, proving that the decomposition is correct.</a:t>
                </a:r>
              </a:p>
            </p:txBody>
          </p:sp>
        </mc:Choice>
        <mc:Fallback xmlns="">
          <p:sp>
            <p:nvSpPr>
              <p:cNvPr id="3" name="Notes Placeholder 2"/>
              <p:cNvSpPr>
                <a:spLocks noGrp="1"/>
              </p:cNvSpPr>
              <p:nvPr>
                <p:ph type="body" idx="1"/>
              </p:nvPr>
            </p:nvSpPr>
            <p:spPr/>
            <p:txBody>
              <a:bodyPr/>
              <a:lstStyle/>
              <a:p>
                <a:pPr algn="just"/>
                <a:r>
                  <a:rPr lang="en-ZA" b="0" dirty="0"/>
                  <a:t>The </a:t>
                </a:r>
                <a:r>
                  <a:rPr lang="en-ZA" b="0" dirty="0" err="1"/>
                  <a:t>cX</a:t>
                </a:r>
                <a:r>
                  <a:rPr lang="en-ZA" b="0" dirty="0"/>
                  <a:t> gate can be decomposed into a sequence of gates as shown on the slide.</a:t>
                </a:r>
              </a:p>
              <a:p>
                <a:pPr algn="just"/>
                <a:endParaRPr lang="en-ZA" b="0" dirty="0"/>
              </a:p>
              <a:p>
                <a:pPr marL="0" indent="0" algn="just">
                  <a:buFont typeface="Arial" panose="020B0604020202020204" pitchFamily="34" charset="0"/>
                  <a:buNone/>
                </a:pPr>
                <a:r>
                  <a:rPr lang="en-ZA" b="0" dirty="0"/>
                  <a:t>To verify the correctness of this substitution, consider the case where the control qubit is </a:t>
                </a:r>
                <a:r>
                  <a:rPr lang="en-US" sz="1200" i="0">
                    <a:latin typeface="Cambria Math" panose="02040503050406030204" pitchFamily="18" charset="0"/>
                  </a:rPr>
                  <a:t>|1⟩</a:t>
                </a:r>
                <a:r>
                  <a:rPr lang="en-ZA" b="0" dirty="0"/>
                  <a:t> and the target qubit is </a:t>
                </a:r>
                <a:r>
                  <a:rPr lang="en-US" sz="1200" i="0">
                    <a:latin typeface="Cambria Math" panose="02040503050406030204" pitchFamily="18" charset="0"/>
                  </a:rPr>
                  <a:t>|</a:t>
                </a:r>
                <a:r>
                  <a:rPr lang="en-US" sz="1200" b="0" i="0">
                    <a:latin typeface="Cambria Math" panose="02040503050406030204" pitchFamily="18" charset="0"/>
                  </a:rPr>
                  <a:t>0⟩</a:t>
                </a:r>
                <a:r>
                  <a:rPr lang="en-ZA" b="0" dirty="0"/>
                  <a:t>.</a:t>
                </a:r>
              </a:p>
              <a:p>
                <a:pPr marL="0" indent="0" algn="just">
                  <a:buFont typeface="Arial" panose="020B0604020202020204" pitchFamily="34" charset="0"/>
                  <a:buNone/>
                </a:pPr>
                <a:endParaRPr lang="en-ZA" b="0" dirty="0"/>
              </a:p>
              <a:p>
                <a:pPr marL="171450" indent="-171450" algn="just">
                  <a:buFont typeface="Arial" panose="020B0604020202020204" pitchFamily="34" charset="0"/>
                  <a:buChar char="•"/>
                </a:pPr>
                <a:r>
                  <a:rPr lang="en-ZA" b="0" dirty="0"/>
                  <a:t>After applying the Hadamard (H) gate, the target qubit transitions to </a:t>
                </a:r>
                <a:r>
                  <a:rPr lang="en-US" sz="1200" i="0">
                    <a:latin typeface="Cambria Math" panose="02040503050406030204" pitchFamily="18" charset="0"/>
                  </a:rPr>
                  <a:t>|</a:t>
                </a:r>
                <a:r>
                  <a:rPr lang="en-US" sz="1200" b="0" i="0">
                    <a:latin typeface="Cambria Math" panose="02040503050406030204" pitchFamily="18" charset="0"/>
                  </a:rPr>
                  <a:t>+⟩</a:t>
                </a:r>
                <a:r>
                  <a:rPr lang="en-ZA" b="0" dirty="0"/>
                  <a:t>.</a:t>
                </a:r>
              </a:p>
              <a:p>
                <a:pPr marL="171450" indent="-171450" algn="just">
                  <a:buFont typeface="Arial" panose="020B0604020202020204" pitchFamily="34" charset="0"/>
                  <a:buChar char="•"/>
                </a:pPr>
                <a:r>
                  <a:rPr lang="en-ZA" b="0" dirty="0"/>
                  <a:t>The Controlled-Z (</a:t>
                </a:r>
                <a:r>
                  <a:rPr lang="en-ZA" b="0" dirty="0" err="1"/>
                  <a:t>cZ</a:t>
                </a:r>
                <a:r>
                  <a:rPr lang="en-ZA" b="0" dirty="0"/>
                  <a:t>) gate then changes the phase, flipping the amplitude sign of the second term, resulting in </a:t>
                </a:r>
                <a:r>
                  <a:rPr lang="en-US" sz="1200" i="0">
                    <a:latin typeface="Cambria Math" panose="02040503050406030204" pitchFamily="18" charset="0"/>
                  </a:rPr>
                  <a:t>|</a:t>
                </a:r>
                <a:r>
                  <a:rPr lang="en-US" sz="1200" b="0" i="0">
                    <a:latin typeface="Cambria Math" panose="02040503050406030204" pitchFamily="18" charset="0"/>
                  </a:rPr>
                  <a:t>−⟩</a:t>
                </a:r>
                <a:r>
                  <a:rPr lang="en-ZA" b="0" dirty="0"/>
                  <a:t>.</a:t>
                </a:r>
              </a:p>
              <a:p>
                <a:pPr marL="171450" indent="-171450" algn="just">
                  <a:buFont typeface="Arial" panose="020B0604020202020204" pitchFamily="34" charset="0"/>
                  <a:buChar char="•"/>
                </a:pPr>
                <a:r>
                  <a:rPr lang="en-ZA" b="0" dirty="0"/>
                  <a:t>A second Hadamard gate cancels the superposition, changing the target qubit state to </a:t>
                </a:r>
                <a:r>
                  <a:rPr lang="en-US" sz="1200" i="0">
                    <a:latin typeface="Cambria Math" panose="02040503050406030204" pitchFamily="18" charset="0"/>
                  </a:rPr>
                  <a:t>|1⟩</a:t>
                </a:r>
                <a:r>
                  <a:rPr lang="en-ZA" b="0" dirty="0"/>
                  <a:t>.</a:t>
                </a:r>
              </a:p>
              <a:p>
                <a:pPr marL="171450" indent="-171450" algn="just">
                  <a:buFont typeface="Arial" panose="020B0604020202020204" pitchFamily="34" charset="0"/>
                  <a:buChar char="•"/>
                </a:pPr>
                <a:endParaRPr lang="en-ZA" b="0" dirty="0"/>
              </a:p>
              <a:p>
                <a:pPr marL="0" indent="0" algn="just">
                  <a:buFont typeface="Arial" panose="020B0604020202020204" pitchFamily="34" charset="0"/>
                  <a:buNone/>
                </a:pPr>
                <a:r>
                  <a:rPr lang="en-ZA" b="0" dirty="0"/>
                  <a:t>Similarly, if the control qubit is </a:t>
                </a:r>
                <a:r>
                  <a:rPr lang="en-US" sz="1200" i="0">
                    <a:latin typeface="Cambria Math" panose="02040503050406030204" pitchFamily="18" charset="0"/>
                  </a:rPr>
                  <a:t>|1⟩</a:t>
                </a:r>
                <a:r>
                  <a:rPr lang="en-ZA" b="0" dirty="0"/>
                  <a:t> and the target qubit is </a:t>
                </a:r>
                <a:r>
                  <a:rPr lang="en-US" sz="1200" i="0">
                    <a:latin typeface="Cambria Math" panose="02040503050406030204" pitchFamily="18" charset="0"/>
                  </a:rPr>
                  <a:t>|</a:t>
                </a:r>
                <a:r>
                  <a:rPr lang="en-US" sz="1200" b="0" i="0">
                    <a:latin typeface="Cambria Math" panose="02040503050406030204" pitchFamily="18" charset="0"/>
                  </a:rPr>
                  <a:t>1⟩</a:t>
                </a:r>
                <a:r>
                  <a:rPr lang="en-ZA" b="0" dirty="0"/>
                  <a:t>:</a:t>
                </a:r>
              </a:p>
              <a:p>
                <a:pPr marL="0" indent="0" algn="just">
                  <a:buFont typeface="Arial" panose="020B0604020202020204" pitchFamily="34" charset="0"/>
                  <a:buNone/>
                </a:pPr>
                <a:endParaRPr lang="en-ZA" b="0" dirty="0"/>
              </a:p>
              <a:p>
                <a:pPr marL="171450" indent="-171450" algn="just">
                  <a:buFont typeface="Arial" panose="020B0604020202020204" pitchFamily="34" charset="0"/>
                  <a:buChar char="•"/>
                </a:pPr>
                <a:r>
                  <a:rPr lang="en-ZA" b="0" dirty="0"/>
                  <a:t>After applying the Hadamard (H) gate, the target qubit transitions to </a:t>
                </a:r>
                <a:r>
                  <a:rPr lang="en-US" sz="1200" i="0">
                    <a:latin typeface="Cambria Math" panose="02040503050406030204" pitchFamily="18" charset="0"/>
                  </a:rPr>
                  <a:t>|</a:t>
                </a:r>
                <a:r>
                  <a:rPr lang="en-US" sz="1200" b="0" i="0">
                    <a:latin typeface="Cambria Math" panose="02040503050406030204" pitchFamily="18" charset="0"/>
                  </a:rPr>
                  <a:t>−⟩</a:t>
                </a:r>
                <a:r>
                  <a:rPr lang="en-ZA" b="0" dirty="0"/>
                  <a:t>.</a:t>
                </a:r>
              </a:p>
              <a:p>
                <a:pPr marL="171450" indent="-171450" algn="just">
                  <a:buFont typeface="Arial" panose="020B0604020202020204" pitchFamily="34" charset="0"/>
                  <a:buChar char="•"/>
                </a:pPr>
                <a:r>
                  <a:rPr lang="en-ZA" b="0" dirty="0"/>
                  <a:t>The </a:t>
                </a:r>
                <a:r>
                  <a:rPr lang="en-ZA" b="0" dirty="0" err="1"/>
                  <a:t>cZ</a:t>
                </a:r>
                <a:r>
                  <a:rPr lang="en-ZA" b="0" dirty="0"/>
                  <a:t> gate flips the phase, converting it to </a:t>
                </a:r>
                <a:r>
                  <a:rPr lang="en-US" sz="1200" i="0">
                    <a:latin typeface="Cambria Math" panose="02040503050406030204" pitchFamily="18" charset="0"/>
                  </a:rPr>
                  <a:t>|</a:t>
                </a:r>
                <a:r>
                  <a:rPr lang="en-US" sz="1200" b="0" i="0">
                    <a:latin typeface="Cambria Math" panose="02040503050406030204" pitchFamily="18" charset="0"/>
                  </a:rPr>
                  <a:t>+⟩</a:t>
                </a:r>
                <a:r>
                  <a:rPr lang="en-ZA" b="0" dirty="0"/>
                  <a:t>.</a:t>
                </a:r>
              </a:p>
              <a:p>
                <a:pPr marL="171450" indent="-171450" algn="just">
                  <a:buFont typeface="Arial" panose="020B0604020202020204" pitchFamily="34" charset="0"/>
                  <a:buChar char="•"/>
                </a:pPr>
                <a:r>
                  <a:rPr lang="en-ZA" b="0" dirty="0"/>
                  <a:t>The second Hadamard gate then restores target to </a:t>
                </a:r>
                <a:r>
                  <a:rPr lang="en-US" sz="1200" i="0">
                    <a:latin typeface="Cambria Math" panose="02040503050406030204" pitchFamily="18" charset="0"/>
                  </a:rPr>
                  <a:t>|</a:t>
                </a:r>
                <a:r>
                  <a:rPr lang="en-US" sz="1200" b="0" i="0">
                    <a:latin typeface="Cambria Math" panose="02040503050406030204" pitchFamily="18" charset="0"/>
                  </a:rPr>
                  <a:t>0⟩</a:t>
                </a:r>
                <a:r>
                  <a:rPr lang="en-ZA" b="0" dirty="0"/>
                  <a:t>.</a:t>
                </a:r>
              </a:p>
              <a:p>
                <a:pPr marL="171450" indent="-171450" algn="just">
                  <a:buFont typeface="Arial" panose="020B0604020202020204" pitchFamily="34" charset="0"/>
                  <a:buChar char="•"/>
                </a:pPr>
                <a:endParaRPr lang="en-ZA" b="0" dirty="0"/>
              </a:p>
              <a:p>
                <a:pPr marL="0" indent="0" algn="just">
                  <a:buFont typeface="Arial" panose="020B0604020202020204" pitchFamily="34" charset="0"/>
                  <a:buNone/>
                </a:pPr>
                <a:r>
                  <a:rPr lang="en-ZA" b="0" dirty="0"/>
                  <a:t>If the control qubit is </a:t>
                </a:r>
                <a:r>
                  <a:rPr lang="en-US" sz="1200" i="0">
                    <a:latin typeface="Cambria Math" panose="02040503050406030204" pitchFamily="18" charset="0"/>
                  </a:rPr>
                  <a:t>|</a:t>
                </a:r>
                <a:r>
                  <a:rPr lang="en-US" sz="1200" b="0" i="0">
                    <a:latin typeface="Cambria Math" panose="02040503050406030204" pitchFamily="18" charset="0"/>
                  </a:rPr>
                  <a:t>0⟩</a:t>
                </a:r>
                <a:r>
                  <a:rPr lang="en-ZA" b="0" dirty="0"/>
                  <a:t>, the </a:t>
                </a:r>
                <a:r>
                  <a:rPr lang="en-ZA" b="0" dirty="0" err="1"/>
                  <a:t>cZ</a:t>
                </a:r>
                <a:r>
                  <a:rPr lang="en-ZA" b="0" dirty="0"/>
                  <a:t> gate has no effect, and the two Hadamard gates cancel each other out, leaving the target qubit unchanged.</a:t>
                </a:r>
              </a:p>
              <a:p>
                <a:pPr marL="0" indent="0" algn="just">
                  <a:buFont typeface="Arial" panose="020B0604020202020204" pitchFamily="34" charset="0"/>
                  <a:buNone/>
                </a:pPr>
                <a:endParaRPr lang="en-ZA" b="0" dirty="0"/>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ZA" b="0" dirty="0"/>
                  <a:t>To confirm this equivalence using matrix calculations, we introduce an identity gate (I) on the control qubit, expressing the full circuit operator as: </a:t>
                </a:r>
                <a:r>
                  <a:rPr lang="sr-Latn-RS" sz="1200" b="0" i="0" dirty="0">
                    <a:latin typeface="Cambria Math" panose="02040503050406030204" pitchFamily="18" charset="0"/>
                    <a:ea typeface="Cambria Math" panose="02040503050406030204" pitchFamily="18" charset="0"/>
                  </a:rPr>
                  <a:t>(I</a:t>
                </a:r>
                <a:r>
                  <a:rPr lang="en-US" sz="1200" i="0" dirty="0">
                    <a:latin typeface="Cambria Math" panose="02040503050406030204" pitchFamily="18" charset="0"/>
                    <a:ea typeface="Cambria Math" panose="02040503050406030204" pitchFamily="18" charset="0"/>
                  </a:rPr>
                  <a:t>⊗</a:t>
                </a:r>
                <a:r>
                  <a:rPr lang="sr-Latn-RS" sz="1200" b="0" i="0" dirty="0">
                    <a:latin typeface="Cambria Math" panose="02040503050406030204" pitchFamily="18" charset="0"/>
                    <a:ea typeface="Cambria Math" panose="02040503050406030204" pitchFamily="18" charset="0"/>
                  </a:rPr>
                  <a:t>H)  cZ </a:t>
                </a:r>
                <a:r>
                  <a:rPr lang="sr-Latn-RS" sz="1200" i="0" dirty="0">
                    <a:latin typeface="Cambria Math" panose="02040503050406030204" pitchFamily="18" charset="0"/>
                    <a:ea typeface="Cambria Math" panose="02040503050406030204" pitchFamily="18" charset="0"/>
                  </a:rPr>
                  <a:t>(I</a:t>
                </a:r>
                <a:r>
                  <a:rPr lang="en-US" sz="1200" i="0" dirty="0">
                    <a:latin typeface="Cambria Math" panose="02040503050406030204" pitchFamily="18" charset="0"/>
                    <a:ea typeface="Cambria Math" panose="02040503050406030204" pitchFamily="18" charset="0"/>
                  </a:rPr>
                  <a:t>⊗</a:t>
                </a:r>
                <a:r>
                  <a:rPr lang="sr-Latn-RS" sz="1200" i="0" dirty="0">
                    <a:latin typeface="Cambria Math" panose="02040503050406030204" pitchFamily="18" charset="0"/>
                    <a:ea typeface="Cambria Math" panose="02040503050406030204" pitchFamily="18" charset="0"/>
                  </a:rPr>
                  <a:t>H)</a:t>
                </a:r>
                <a:r>
                  <a:rPr lang="en-US" sz="1200" b="0" dirty="0"/>
                  <a:t>.</a:t>
                </a:r>
                <a:endParaRPr lang="en-ZA" b="0" dirty="0"/>
              </a:p>
              <a:p>
                <a:pPr marL="0" indent="0" algn="just">
                  <a:buFont typeface="Arial" panose="020B0604020202020204" pitchFamily="34" charset="0"/>
                  <a:buNone/>
                </a:pPr>
                <a:endParaRPr lang="en-ZA" b="0" dirty="0"/>
              </a:p>
              <a:p>
                <a:pPr marL="0" indent="0" algn="just">
                  <a:buFont typeface="Arial" panose="020B0604020202020204" pitchFamily="34" charset="0"/>
                  <a:buNone/>
                </a:pPr>
                <a:r>
                  <a:rPr lang="en-ZA" b="0" dirty="0"/>
                  <a:t>Multiplying the matrices shows that the transformation matrix of the entire circuit is identical to the </a:t>
                </a:r>
                <a:r>
                  <a:rPr lang="en-ZA" b="0" dirty="0" err="1"/>
                  <a:t>cX</a:t>
                </a:r>
                <a:r>
                  <a:rPr lang="en-ZA" b="0" dirty="0"/>
                  <a:t> operator, proving their equivalence.</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13</a:t>
            </a:fld>
            <a:endParaRPr lang="en-US"/>
          </a:p>
        </p:txBody>
      </p:sp>
    </p:spTree>
    <p:extLst>
      <p:ext uri="{BB962C8B-B14F-4D97-AF65-F5344CB8AC3E}">
        <p14:creationId xmlns:p14="http://schemas.microsoft.com/office/powerpoint/2010/main" val="1671792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In some situations, we may need a mirrored control X gate, where the upper qubit is the target and the lower qubit is the control. However, hardware connectivity often prevents us from wiring the qubits this way directly.</a:t>
                </a:r>
              </a:p>
              <a:p>
                <a:pPr algn="just"/>
                <a:endParaRPr lang="en-ZA" dirty="0"/>
              </a:p>
              <a:p>
                <a:pPr algn="just"/>
                <a:r>
                  <a:rPr lang="en-ZA" dirty="0"/>
                  <a:t>This problem can be solved by using a standard CX gate, sandwiched between Hadamard gates on both qubits. From the diagram, the overall transformation is given by</a:t>
                </a:r>
                <a:r>
                  <a:rPr lang="en-ZA" baseline="0" dirty="0"/>
                  <a:t> </a:t>
                </a:r>
                <a14:m>
                  <m:oMath xmlns:m="http://schemas.openxmlformats.org/officeDocument/2006/math">
                    <m:d>
                      <m:dPr>
                        <m:ctrlPr>
                          <a:rPr lang="sr-Latn-RS" sz="1200" b="0" i="1" dirty="0" smtClean="0">
                            <a:latin typeface="Cambria Math" panose="02040503050406030204" pitchFamily="18" charset="0"/>
                            <a:ea typeface="Cambria Math" panose="02040503050406030204" pitchFamily="18" charset="0"/>
                          </a:rPr>
                        </m:ctrlPr>
                      </m:dPr>
                      <m:e>
                        <m:r>
                          <a:rPr lang="en-US" sz="1200" b="0" i="1" dirty="0" smtClean="0">
                            <a:latin typeface="Cambria Math" panose="02040503050406030204" pitchFamily="18" charset="0"/>
                            <a:ea typeface="Cambria Math" panose="02040503050406030204" pitchFamily="18" charset="0"/>
                          </a:rPr>
                          <m:t>𝐻</m:t>
                        </m:r>
                        <m:r>
                          <a:rPr lang="en-US" sz="1200" i="1" dirty="0">
                            <a:latin typeface="Cambria Math" panose="02040503050406030204" pitchFamily="18" charset="0"/>
                            <a:ea typeface="Cambria Math" panose="02040503050406030204" pitchFamily="18" charset="0"/>
                          </a:rPr>
                          <m:t>⊗</m:t>
                        </m:r>
                        <m:r>
                          <a:rPr lang="sr-Latn-RS" sz="1200" b="0" i="1" dirty="0" smtClean="0">
                            <a:latin typeface="Cambria Math" panose="02040503050406030204" pitchFamily="18" charset="0"/>
                            <a:ea typeface="Cambria Math" panose="02040503050406030204" pitchFamily="18" charset="0"/>
                          </a:rPr>
                          <m:t>𝐻</m:t>
                        </m:r>
                      </m:e>
                    </m:d>
                    <m:r>
                      <a:rPr lang="sr-Latn-RS" sz="1200" b="0" i="1" dirty="0" smtClean="0">
                        <a:latin typeface="Cambria Math" panose="02040503050406030204" pitchFamily="18" charset="0"/>
                        <a:ea typeface="Cambria Math" panose="02040503050406030204" pitchFamily="18" charset="0"/>
                      </a:rPr>
                      <m:t> </m:t>
                    </m:r>
                    <m:r>
                      <a:rPr lang="sr-Latn-RS" sz="1200" b="0" i="1" dirty="0" smtClean="0">
                        <a:latin typeface="Cambria Math" panose="02040503050406030204" pitchFamily="18" charset="0"/>
                        <a:ea typeface="Cambria Math" panose="02040503050406030204" pitchFamily="18" charset="0"/>
                      </a:rPr>
                      <m:t>𝑐𝑋</m:t>
                    </m:r>
                    <m:r>
                      <a:rPr lang="sr-Latn-RS" sz="1200" b="0" i="1" dirty="0" smtClean="0">
                        <a:latin typeface="Cambria Math" panose="02040503050406030204" pitchFamily="18" charset="0"/>
                        <a:ea typeface="Cambria Math" panose="02040503050406030204" pitchFamily="18" charset="0"/>
                      </a:rPr>
                      <m:t> </m:t>
                    </m:r>
                    <m:d>
                      <m:dPr>
                        <m:ctrlPr>
                          <a:rPr lang="sr-Latn-RS" sz="1200" i="1" dirty="0">
                            <a:latin typeface="Cambria Math" panose="02040503050406030204" pitchFamily="18" charset="0"/>
                            <a:ea typeface="Cambria Math" panose="02040503050406030204" pitchFamily="18" charset="0"/>
                          </a:rPr>
                        </m:ctrlPr>
                      </m:dPr>
                      <m:e>
                        <m:r>
                          <a:rPr lang="en-US" sz="1200" b="0" i="1" dirty="0" smtClean="0">
                            <a:latin typeface="Cambria Math" panose="02040503050406030204" pitchFamily="18" charset="0"/>
                            <a:ea typeface="Cambria Math" panose="02040503050406030204" pitchFamily="18" charset="0"/>
                          </a:rPr>
                          <m:t>𝐻</m:t>
                        </m:r>
                        <m:r>
                          <a:rPr lang="en-US" sz="1200" i="1" dirty="0">
                            <a:latin typeface="Cambria Math" panose="02040503050406030204" pitchFamily="18" charset="0"/>
                            <a:ea typeface="Cambria Math" panose="02040503050406030204" pitchFamily="18" charset="0"/>
                          </a:rPr>
                          <m:t>⊗</m:t>
                        </m:r>
                        <m:r>
                          <a:rPr lang="sr-Latn-RS" sz="1200" i="1" dirty="0">
                            <a:latin typeface="Cambria Math" panose="02040503050406030204" pitchFamily="18" charset="0"/>
                            <a:ea typeface="Cambria Math" panose="02040503050406030204" pitchFamily="18" charset="0"/>
                          </a:rPr>
                          <m:t>𝐻</m:t>
                        </m:r>
                      </m:e>
                    </m:d>
                  </m:oMath>
                </a14:m>
                <a:r>
                  <a:rPr lang="en-US" sz="1200" i="1" dirty="0"/>
                  <a:t>.</a:t>
                </a:r>
              </a:p>
              <a:p>
                <a:pPr algn="just"/>
                <a:endParaRPr lang="en-ZA" dirty="0"/>
              </a:p>
              <a:p>
                <a:pPr algn="just"/>
                <a:r>
                  <a:rPr lang="en-ZA" dirty="0"/>
                  <a:t>Carrying out the matrix multiplication shows that this circuit produces exactly the reverse-controlled-X matrix. The </a:t>
                </a:r>
                <a:r>
                  <a:rPr lang="en-ZA" dirty="0" err="1"/>
                  <a:t>Hadamards</a:t>
                </a:r>
                <a:r>
                  <a:rPr lang="en-ZA" dirty="0"/>
                  <a:t> switch the basis, which swaps the roles of control and target, so the CX ends up acting in reverse.</a:t>
                </a:r>
              </a:p>
              <a:p>
                <a:pPr algn="just"/>
                <a:endParaRPr lang="en-ZA" dirty="0"/>
              </a:p>
            </p:txBody>
          </p:sp>
        </mc:Choice>
        <mc:Fallback xmlns="">
          <p:sp>
            <p:nvSpPr>
              <p:cNvPr id="3" name="Notes Placeholder 2"/>
              <p:cNvSpPr>
                <a:spLocks noGrp="1"/>
              </p:cNvSpPr>
              <p:nvPr>
                <p:ph type="body" idx="1"/>
              </p:nvPr>
            </p:nvSpPr>
            <p:spPr/>
            <p:txBody>
              <a:bodyPr/>
              <a:lstStyle/>
              <a:p>
                <a:pPr algn="just"/>
                <a:r>
                  <a:rPr lang="en-ZA" dirty="0"/>
                  <a:t>In some cases, it may be necessary to implement a reverse controlled-X (</a:t>
                </a:r>
                <a:r>
                  <a:rPr lang="en-ZA" dirty="0" err="1"/>
                  <a:t>cX</a:t>
                </a:r>
                <a:r>
                  <a:rPr lang="en-ZA" dirty="0"/>
                  <a:t>) gate. However, due to hardware constraints, it might not be possible to connect the qubits in a way that the upper qubit acts as the target and the lower qubit as the control.</a:t>
                </a:r>
              </a:p>
              <a:p>
                <a:pPr algn="just"/>
                <a:endParaRPr lang="en-ZA" dirty="0"/>
              </a:p>
              <a:p>
                <a:pPr algn="just"/>
                <a:r>
                  <a:rPr lang="en-ZA" dirty="0"/>
                  <a:t>This issue can be resolved by applying a standard </a:t>
                </a:r>
                <a:r>
                  <a:rPr lang="en-ZA" dirty="0" err="1"/>
                  <a:t>cX</a:t>
                </a:r>
                <a:r>
                  <a:rPr lang="en-ZA" dirty="0"/>
                  <a:t> gate, sandwiched between Hadamard gates on both qubits.</a:t>
                </a:r>
              </a:p>
              <a:p>
                <a:pPr algn="just"/>
                <a:endParaRPr lang="en-ZA" dirty="0"/>
              </a:p>
              <a:p>
                <a:pPr algn="just"/>
                <a:r>
                  <a:rPr lang="en-ZA" dirty="0"/>
                  <a:t>From the diagram, we can see that the transformation matrix for the overall quantum circuit is given by </a:t>
                </a:r>
                <a:r>
                  <a:rPr lang="sr-Latn-RS" sz="1200" b="0" i="0" dirty="0">
                    <a:latin typeface="Cambria Math" panose="02040503050406030204" pitchFamily="18" charset="0"/>
                    <a:ea typeface="Cambria Math" panose="02040503050406030204" pitchFamily="18" charset="0"/>
                  </a:rPr>
                  <a:t>(</a:t>
                </a:r>
                <a:r>
                  <a:rPr lang="en-US" sz="1200" b="0" i="0" dirty="0">
                    <a:latin typeface="Cambria Math" panose="02040503050406030204" pitchFamily="18" charset="0"/>
                    <a:ea typeface="Cambria Math" panose="02040503050406030204" pitchFamily="18" charset="0"/>
                  </a:rPr>
                  <a:t>H</a:t>
                </a:r>
                <a:r>
                  <a:rPr lang="en-US" sz="1200" i="0" dirty="0">
                    <a:latin typeface="Cambria Math" panose="02040503050406030204" pitchFamily="18" charset="0"/>
                    <a:ea typeface="Cambria Math" panose="02040503050406030204" pitchFamily="18" charset="0"/>
                  </a:rPr>
                  <a:t>⊗</a:t>
                </a:r>
                <a:r>
                  <a:rPr lang="sr-Latn-RS" sz="1200" b="0" i="0" dirty="0">
                    <a:latin typeface="Cambria Math" panose="02040503050406030204" pitchFamily="18" charset="0"/>
                    <a:ea typeface="Cambria Math" panose="02040503050406030204" pitchFamily="18" charset="0"/>
                  </a:rPr>
                  <a:t>H)  cX </a:t>
                </a:r>
                <a:r>
                  <a:rPr lang="sr-Latn-RS" sz="1200" i="0" dirty="0">
                    <a:latin typeface="Cambria Math" panose="02040503050406030204" pitchFamily="18" charset="0"/>
                    <a:ea typeface="Cambria Math" panose="02040503050406030204" pitchFamily="18" charset="0"/>
                  </a:rPr>
                  <a:t>(</a:t>
                </a:r>
                <a:r>
                  <a:rPr lang="en-US" sz="1200" b="0" i="0" dirty="0">
                    <a:latin typeface="Cambria Math" panose="02040503050406030204" pitchFamily="18" charset="0"/>
                    <a:ea typeface="Cambria Math" panose="02040503050406030204" pitchFamily="18" charset="0"/>
                  </a:rPr>
                  <a:t>H</a:t>
                </a:r>
                <a:r>
                  <a:rPr lang="en-US" sz="1200" i="0" dirty="0">
                    <a:latin typeface="Cambria Math" panose="02040503050406030204" pitchFamily="18" charset="0"/>
                    <a:ea typeface="Cambria Math" panose="02040503050406030204" pitchFamily="18" charset="0"/>
                  </a:rPr>
                  <a:t>⊗</a:t>
                </a:r>
                <a:r>
                  <a:rPr lang="sr-Latn-RS" sz="1200" i="0" dirty="0">
                    <a:latin typeface="Cambria Math" panose="02040503050406030204" pitchFamily="18" charset="0"/>
                    <a:ea typeface="Cambria Math" panose="02040503050406030204" pitchFamily="18" charset="0"/>
                  </a:rPr>
                  <a:t>H)</a:t>
                </a:r>
                <a:r>
                  <a:rPr lang="en-ZA" dirty="0"/>
                  <a:t>. Performing the matrix multiplication results in the reverse controlled-X (</a:t>
                </a:r>
                <a:r>
                  <a:rPr lang="en-ZA" dirty="0" err="1"/>
                  <a:t>rcX</a:t>
                </a:r>
                <a:r>
                  <a:rPr lang="en-ZA" dirty="0"/>
                  <a:t>) matrix.</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14</a:t>
            </a:fld>
            <a:endParaRPr lang="en-US"/>
          </a:p>
        </p:txBody>
      </p:sp>
    </p:spTree>
    <p:extLst>
      <p:ext uri="{BB962C8B-B14F-4D97-AF65-F5344CB8AC3E}">
        <p14:creationId xmlns:p14="http://schemas.microsoft.com/office/powerpoint/2010/main" val="28380548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The controlled-Z (CZ) and controlled-P (CP) gates have a special symmetry: swapping the control and target qubits does not change the transformation matrix.</a:t>
            </a:r>
          </a:p>
          <a:p>
            <a:pPr algn="just"/>
            <a:endParaRPr lang="en-ZA" dirty="0"/>
          </a:p>
          <a:p>
            <a:pPr algn="just"/>
            <a:r>
              <a:rPr lang="en-ZA" dirty="0"/>
              <a:t>This happens because both Z and P are diagonal gates. Since they only add a phase and do not flip states, it makes no difference which qubit acts as control.</a:t>
            </a:r>
          </a:p>
          <a:p>
            <a:pPr algn="just"/>
            <a:endParaRPr lang="en-ZA" dirty="0"/>
          </a:p>
          <a:p>
            <a:pPr algn="just"/>
            <a:r>
              <a:rPr lang="en-ZA" dirty="0"/>
              <a:t>Because of this symmetry, the CZ gate is often drawn simply as two connected dots, without distinguishing control from target.</a:t>
            </a:r>
          </a:p>
        </p:txBody>
      </p:sp>
      <p:sp>
        <p:nvSpPr>
          <p:cNvPr id="4" name="Slide Number Placeholder 3"/>
          <p:cNvSpPr>
            <a:spLocks noGrp="1"/>
          </p:cNvSpPr>
          <p:nvPr>
            <p:ph type="sldNum" sz="quarter" idx="5"/>
          </p:nvPr>
        </p:nvSpPr>
        <p:spPr/>
        <p:txBody>
          <a:bodyPr/>
          <a:lstStyle/>
          <a:p>
            <a:fld id="{1B2CE5E3-B8BD-D040-AC87-D640191DD8F1}" type="slidenum">
              <a:rPr lang="en-US" smtClean="0"/>
              <a:t>15</a:t>
            </a:fld>
            <a:endParaRPr lang="en-US"/>
          </a:p>
        </p:txBody>
      </p:sp>
    </p:spTree>
    <p:extLst>
      <p:ext uri="{BB962C8B-B14F-4D97-AF65-F5344CB8AC3E}">
        <p14:creationId xmlns:p14="http://schemas.microsoft.com/office/powerpoint/2010/main" val="41599858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The Z gate commutes with the CNOT, distributing onto both the control and target qubits. </a:t>
                </a:r>
              </a:p>
              <a:p>
                <a:endParaRPr lang="en-ZA" dirty="0"/>
              </a:p>
              <a:p>
                <a:r>
                  <a:rPr lang="en-ZA" dirty="0"/>
                  <a:t>Consider the circuit on the left, where a Z gate is applied to the target qubit before a CNOT. This setup is equivalent to a circuit where Z gates are applied to both the control and the target qubits after the CNOT.</a:t>
                </a:r>
              </a:p>
              <a:p>
                <a:endParaRPr lang="en-ZA" dirty="0"/>
              </a:p>
              <a:p>
                <a:r>
                  <a:rPr lang="en-ZA" dirty="0"/>
                  <a:t>In Dirac notation, this relationship is written as</a:t>
                </a:r>
                <a:r>
                  <a:rPr lang="en-ZA" baseline="0" dirty="0"/>
                  <a:t> </a:t>
                </a:r>
                <a14:m>
                  <m:oMath xmlns:m="http://schemas.openxmlformats.org/officeDocument/2006/math">
                    <m:r>
                      <a:rPr lang="sr-Latn-RS" sz="1200" i="1" dirty="0" smtClean="0">
                        <a:latin typeface="Cambria Math" panose="02040503050406030204" pitchFamily="18" charset="0"/>
                        <a:ea typeface="Cambria Math" panose="02040503050406030204" pitchFamily="18" charset="0"/>
                      </a:rPr>
                      <m:t>𝑐𝑋</m:t>
                    </m:r>
                    <m:d>
                      <m:dPr>
                        <m:ctrlPr>
                          <a:rPr lang="sr-Latn-RS" sz="1200" b="0" i="1" dirty="0" smtClean="0">
                            <a:latin typeface="Cambria Math" panose="02040503050406030204" pitchFamily="18" charset="0"/>
                            <a:ea typeface="Cambria Math" panose="02040503050406030204" pitchFamily="18" charset="0"/>
                          </a:rPr>
                        </m:ctrlPr>
                      </m:dPr>
                      <m:e>
                        <m:r>
                          <a:rPr lang="sr-Latn-RS" sz="1200" b="0" i="1" dirty="0" smtClean="0">
                            <a:latin typeface="Cambria Math" panose="02040503050406030204" pitchFamily="18" charset="0"/>
                            <a:ea typeface="Cambria Math" panose="02040503050406030204" pitchFamily="18" charset="0"/>
                          </a:rPr>
                          <m:t>𝐼</m:t>
                        </m:r>
                        <m:r>
                          <a:rPr lang="en-US" sz="1200" i="1" dirty="0">
                            <a:latin typeface="Cambria Math" panose="02040503050406030204" pitchFamily="18" charset="0"/>
                            <a:ea typeface="Cambria Math" panose="02040503050406030204" pitchFamily="18" charset="0"/>
                          </a:rPr>
                          <m:t>⊗</m:t>
                        </m:r>
                        <m:r>
                          <a:rPr lang="sr-Latn-RS" sz="1200" b="0" i="1" dirty="0" smtClean="0">
                            <a:latin typeface="Cambria Math" panose="02040503050406030204" pitchFamily="18" charset="0"/>
                            <a:ea typeface="Cambria Math" panose="02040503050406030204" pitchFamily="18" charset="0"/>
                          </a:rPr>
                          <m:t>𝑍</m:t>
                        </m:r>
                      </m:e>
                    </m:d>
                    <m:r>
                      <a:rPr lang="sr-Latn-RS" sz="1200" b="0" i="1" dirty="0" smtClean="0">
                        <a:latin typeface="Cambria Math" panose="02040503050406030204" pitchFamily="18" charset="0"/>
                        <a:ea typeface="Cambria Math" panose="02040503050406030204" pitchFamily="18" charset="0"/>
                      </a:rPr>
                      <m:t> =</m:t>
                    </m:r>
                    <m:d>
                      <m:dPr>
                        <m:ctrlPr>
                          <a:rPr lang="sr-Latn-RS" sz="1200" i="1" dirty="0">
                            <a:latin typeface="Cambria Math" panose="02040503050406030204" pitchFamily="18" charset="0"/>
                            <a:ea typeface="Cambria Math" panose="02040503050406030204" pitchFamily="18" charset="0"/>
                          </a:rPr>
                        </m:ctrlPr>
                      </m:dPr>
                      <m:e>
                        <m:r>
                          <a:rPr lang="sr-Latn-RS" sz="1200" b="0" i="1" dirty="0" smtClean="0">
                            <a:latin typeface="Cambria Math" panose="02040503050406030204" pitchFamily="18" charset="0"/>
                            <a:ea typeface="Cambria Math" panose="02040503050406030204" pitchFamily="18" charset="0"/>
                          </a:rPr>
                          <m:t>𝑍</m:t>
                        </m:r>
                        <m:r>
                          <a:rPr lang="en-US" sz="1200" i="1" dirty="0">
                            <a:latin typeface="Cambria Math" panose="02040503050406030204" pitchFamily="18" charset="0"/>
                            <a:ea typeface="Cambria Math" panose="02040503050406030204" pitchFamily="18" charset="0"/>
                          </a:rPr>
                          <m:t>⊗</m:t>
                        </m:r>
                        <m:r>
                          <a:rPr lang="sr-Latn-RS" sz="1200" b="0" i="1" dirty="0" smtClean="0">
                            <a:latin typeface="Cambria Math" panose="02040503050406030204" pitchFamily="18" charset="0"/>
                            <a:ea typeface="Cambria Math" panose="02040503050406030204" pitchFamily="18" charset="0"/>
                          </a:rPr>
                          <m:t>𝑍</m:t>
                        </m:r>
                      </m:e>
                    </m:d>
                    <m:r>
                      <a:rPr lang="sr-Latn-RS" sz="1200" i="1" dirty="0">
                        <a:latin typeface="Cambria Math" panose="02040503050406030204" pitchFamily="18" charset="0"/>
                        <a:ea typeface="Cambria Math" panose="02040503050406030204" pitchFamily="18" charset="0"/>
                      </a:rPr>
                      <m:t>𝑐𝑋</m:t>
                    </m:r>
                  </m:oMath>
                </a14:m>
                <a:r>
                  <a:rPr lang="en-ZA" dirty="0"/>
                  <a:t> and it can also be verified directly by matrix multiplication.</a:t>
                </a:r>
              </a:p>
              <a:p>
                <a:endParaRPr lang="en-ZA" dirty="0"/>
              </a:p>
              <a:p>
                <a:r>
                  <a:rPr lang="en-ZA" dirty="0"/>
                  <a:t>Intuitively, you can think of it like this: the Z gate “passes through” the CNOT, but in the process it leaves a copy of itself on the control qubit.</a:t>
                </a:r>
              </a:p>
            </p:txBody>
          </p:sp>
        </mc:Choice>
        <mc:Fallback xmlns="">
          <p:sp>
            <p:nvSpPr>
              <p:cNvPr id="3" name="Notes Placeholder 2"/>
              <p:cNvSpPr>
                <a:spLocks noGrp="1"/>
              </p:cNvSpPr>
              <p:nvPr>
                <p:ph type="body" idx="1"/>
              </p:nvPr>
            </p:nvSpPr>
            <p:spPr/>
            <p:txBody>
              <a:bodyPr/>
              <a:lstStyle/>
              <a:p>
                <a:r>
                  <a:rPr lang="en-ZA" dirty="0"/>
                  <a:t>The Z gate commutes with the CNOT, distributing onto both the control and target qubits. </a:t>
                </a:r>
              </a:p>
              <a:p>
                <a:endParaRPr lang="en-ZA" dirty="0"/>
              </a:p>
              <a:p>
                <a:r>
                  <a:rPr lang="en-ZA" dirty="0"/>
                  <a:t>Consider the circuit on the left, where a Z gate is applied to the target qubit before a CNOT. This setup is equivalent to a circuit where Z gates are applied to both the control and the target qubits after the CNOT.</a:t>
                </a:r>
              </a:p>
              <a:p>
                <a:endParaRPr lang="en-ZA" dirty="0"/>
              </a:p>
              <a:p>
                <a:r>
                  <a:rPr lang="en-ZA" dirty="0"/>
                  <a:t>In Dirac notation, this relationship is written as</a:t>
                </a:r>
                <a:r>
                  <a:rPr lang="en-ZA" baseline="0" dirty="0"/>
                  <a:t> </a:t>
                </a:r>
                <a:r>
                  <a:rPr lang="sr-Latn-RS" sz="1200" i="0" dirty="0">
                    <a:latin typeface="Cambria Math" panose="02040503050406030204" pitchFamily="18" charset="0"/>
                    <a:ea typeface="Cambria Math" panose="02040503050406030204" pitchFamily="18" charset="0"/>
                  </a:rPr>
                  <a:t>𝑐𝑋</a:t>
                </a:r>
                <a:r>
                  <a:rPr lang="sr-Latn-RS" sz="1200" b="0" i="0" dirty="0">
                    <a:latin typeface="Cambria Math" panose="02040503050406030204" pitchFamily="18" charset="0"/>
                    <a:ea typeface="Cambria Math" panose="02040503050406030204" pitchFamily="18" charset="0"/>
                  </a:rPr>
                  <a:t>(𝐼</a:t>
                </a:r>
                <a:r>
                  <a:rPr lang="en-US" sz="1200" i="0" dirty="0">
                    <a:latin typeface="Cambria Math" panose="02040503050406030204" pitchFamily="18" charset="0"/>
                    <a:ea typeface="Cambria Math" panose="02040503050406030204" pitchFamily="18" charset="0"/>
                  </a:rPr>
                  <a:t>⊗</a:t>
                </a:r>
                <a:r>
                  <a:rPr lang="sr-Latn-RS" sz="1200" b="0" i="0" dirty="0">
                    <a:latin typeface="Cambria Math" panose="02040503050406030204" pitchFamily="18" charset="0"/>
                    <a:ea typeface="Cambria Math" panose="02040503050406030204" pitchFamily="18" charset="0"/>
                  </a:rPr>
                  <a:t>𝑍)  =</a:t>
                </a:r>
                <a:r>
                  <a:rPr lang="sr-Latn-RS" sz="1200" i="0" dirty="0">
                    <a:latin typeface="Cambria Math" panose="02040503050406030204" pitchFamily="18" charset="0"/>
                    <a:ea typeface="Cambria Math" panose="02040503050406030204" pitchFamily="18" charset="0"/>
                  </a:rPr>
                  <a:t>(</a:t>
                </a:r>
                <a:r>
                  <a:rPr lang="sr-Latn-RS" sz="1200" b="0" i="0" dirty="0">
                    <a:latin typeface="Cambria Math" panose="02040503050406030204" pitchFamily="18" charset="0"/>
                    <a:ea typeface="Cambria Math" panose="02040503050406030204" pitchFamily="18" charset="0"/>
                  </a:rPr>
                  <a:t>𝑍</a:t>
                </a:r>
                <a:r>
                  <a:rPr lang="en-US" sz="1200" i="0" dirty="0">
                    <a:latin typeface="Cambria Math" panose="02040503050406030204" pitchFamily="18" charset="0"/>
                    <a:ea typeface="Cambria Math" panose="02040503050406030204" pitchFamily="18" charset="0"/>
                  </a:rPr>
                  <a:t>⊗</a:t>
                </a:r>
                <a:r>
                  <a:rPr lang="sr-Latn-RS" sz="1200" b="0" i="0" dirty="0">
                    <a:latin typeface="Cambria Math" panose="02040503050406030204" pitchFamily="18" charset="0"/>
                    <a:ea typeface="Cambria Math" panose="02040503050406030204" pitchFamily="18" charset="0"/>
                  </a:rPr>
                  <a:t>𝑍)</a:t>
                </a:r>
                <a:r>
                  <a:rPr lang="sr-Latn-RS" sz="1200" i="0" dirty="0">
                    <a:latin typeface="Cambria Math" panose="02040503050406030204" pitchFamily="18" charset="0"/>
                    <a:ea typeface="Cambria Math" panose="02040503050406030204" pitchFamily="18" charset="0"/>
                  </a:rPr>
                  <a:t>𝑐𝑋</a:t>
                </a:r>
                <a:r>
                  <a:rPr lang="en-ZA" dirty="0"/>
                  <a:t> and it can also be verified directly by matrix multiplication.</a:t>
                </a:r>
              </a:p>
              <a:p>
                <a:endParaRPr lang="en-ZA" dirty="0"/>
              </a:p>
              <a:p>
                <a:r>
                  <a:rPr lang="en-ZA" dirty="0"/>
                  <a:t>Intuitively, you can think of it like this: the Z gate “passes through” the CNOT, but in the process it leaves a copy of itself on the control qubit.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16</a:t>
            </a:fld>
            <a:endParaRPr lang="en-US"/>
          </a:p>
        </p:txBody>
      </p:sp>
    </p:spTree>
    <p:extLst>
      <p:ext uri="{BB962C8B-B14F-4D97-AF65-F5344CB8AC3E}">
        <p14:creationId xmlns:p14="http://schemas.microsoft.com/office/powerpoint/2010/main" val="40408142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The P gate commutes with the CNOT when applied to the control qubit, leaving the circuit unchanged. Intuitively, this works because the P gate only adds a phase to the control qubit, and that phase does not change how the CNOT flips the target.</a:t>
            </a:r>
          </a:p>
          <a:p>
            <a:pPr algn="just"/>
            <a:endParaRPr lang="en-ZA" dirty="0"/>
          </a:p>
          <a:p>
            <a:pPr algn="just"/>
            <a:r>
              <a:rPr lang="en-ZA" dirty="0"/>
              <a:t>This can be confirmed by matrix multiplication, which shows that the order of applying the gates does not affect the result. </a:t>
            </a:r>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17</a:t>
            </a:fld>
            <a:endParaRPr lang="en-US"/>
          </a:p>
        </p:txBody>
      </p:sp>
    </p:spTree>
    <p:extLst>
      <p:ext uri="{BB962C8B-B14F-4D97-AF65-F5344CB8AC3E}">
        <p14:creationId xmlns:p14="http://schemas.microsoft.com/office/powerpoint/2010/main" val="20263846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A CNOT gate followed by an X gate on the target qubit is equivalent to a CNOT gate sandwiched between two Pauli-XXX gates on the control qubit.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p>
          <a:p>
            <a:r>
              <a:rPr lang="en-ZA" dirty="0"/>
              <a:t>From this equivalence, we can draw an important conclusion that flipping the target output of the CNOT has the same effect as flipping the control qubit at the input. The extra X on the control output is then needed to restore the control qubit back to its original state.</a:t>
            </a:r>
          </a:p>
        </p:txBody>
      </p:sp>
      <p:sp>
        <p:nvSpPr>
          <p:cNvPr id="4" name="Slide Number Placeholder 3"/>
          <p:cNvSpPr>
            <a:spLocks noGrp="1"/>
          </p:cNvSpPr>
          <p:nvPr>
            <p:ph type="sldNum" sz="quarter" idx="5"/>
          </p:nvPr>
        </p:nvSpPr>
        <p:spPr/>
        <p:txBody>
          <a:bodyPr/>
          <a:lstStyle/>
          <a:p>
            <a:fld id="{1B2CE5E3-B8BD-D040-AC87-D640191DD8F1}" type="slidenum">
              <a:rPr lang="en-US" smtClean="0"/>
              <a:t>18</a:t>
            </a:fld>
            <a:endParaRPr lang="en-US"/>
          </a:p>
        </p:txBody>
      </p:sp>
    </p:spTree>
    <p:extLst>
      <p:ext uri="{BB962C8B-B14F-4D97-AF65-F5344CB8AC3E}">
        <p14:creationId xmlns:p14="http://schemas.microsoft.com/office/powerpoint/2010/main" val="14903445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When the target qubit is ∣0⟩, the CNOT acts as a copier of the control qubit.</a:t>
            </a:r>
          </a:p>
          <a:p>
            <a:endParaRPr lang="en-ZA" dirty="0"/>
          </a:p>
          <a:p>
            <a:pPr marL="171450" indent="-171450">
              <a:buFont typeface="Arial" panose="020B0604020202020204" pitchFamily="34" charset="0"/>
              <a:buChar char="•"/>
            </a:pPr>
            <a:r>
              <a:rPr lang="en-ZA" dirty="0"/>
              <a:t>If the control is ∣0⟩, the target remains ∣0⟩, giving the output ∣00⟩.</a:t>
            </a:r>
          </a:p>
          <a:p>
            <a:pPr marL="171450" indent="-171450">
              <a:buFont typeface="Arial" panose="020B0604020202020204" pitchFamily="34" charset="0"/>
              <a:buChar char="•"/>
            </a:pPr>
            <a:r>
              <a:rPr lang="en-ZA" dirty="0"/>
              <a:t>If the control is ∣1⟩, the target flips to ∣1⟩, giving the output ∣11⟩.</a:t>
            </a:r>
          </a:p>
          <a:p>
            <a:endParaRPr lang="en-ZA" dirty="0"/>
          </a:p>
          <a:p>
            <a:r>
              <a:rPr lang="en-ZA" dirty="0"/>
              <a:t>In both cases, the control qubit is effectively copied onto the target. However, this only works when the control is in a basis state.</a:t>
            </a:r>
          </a:p>
        </p:txBody>
      </p:sp>
      <p:sp>
        <p:nvSpPr>
          <p:cNvPr id="4" name="Slide Number Placeholder 3"/>
          <p:cNvSpPr>
            <a:spLocks noGrp="1"/>
          </p:cNvSpPr>
          <p:nvPr>
            <p:ph type="sldNum" sz="quarter" idx="5"/>
          </p:nvPr>
        </p:nvSpPr>
        <p:spPr/>
        <p:txBody>
          <a:bodyPr/>
          <a:lstStyle/>
          <a:p>
            <a:fld id="{1B2CE5E3-B8BD-D040-AC87-D640191DD8F1}" type="slidenum">
              <a:rPr lang="en-US" smtClean="0"/>
              <a:t>19</a:t>
            </a:fld>
            <a:endParaRPr lang="en-US"/>
          </a:p>
        </p:txBody>
      </p:sp>
    </p:spTree>
    <p:extLst>
      <p:ext uri="{BB962C8B-B14F-4D97-AF65-F5344CB8AC3E}">
        <p14:creationId xmlns:p14="http://schemas.microsoft.com/office/powerpoint/2010/main" val="1508508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Two parallel Hadamard gates, followed by a CNOT gate, can be replaced by their mirror image. In other words, applying </a:t>
            </a:r>
            <a:r>
              <a:rPr lang="en-ZA" dirty="0" err="1"/>
              <a:t>Hadamards</a:t>
            </a:r>
            <a:r>
              <a:rPr lang="en-ZA" dirty="0"/>
              <a:t> to both qubits before a CNOT is equivalent to applying a </a:t>
            </a:r>
            <a:r>
              <a:rPr lang="en-ZA" i="1" dirty="0"/>
              <a:t>reverse-controlled-X</a:t>
            </a:r>
            <a:r>
              <a:rPr lang="en-ZA" dirty="0"/>
              <a:t> after the </a:t>
            </a:r>
            <a:r>
              <a:rPr lang="en-ZA" dirty="0" err="1"/>
              <a:t>Hadamards</a:t>
            </a:r>
            <a:r>
              <a:rPr lang="en-ZA" dirty="0"/>
              <a:t>. This equivalence can be confirmed in the usual way by multiplying the matrices of both circuits and seeing that they match.</a:t>
            </a:r>
          </a:p>
          <a:p>
            <a:pPr algn="just"/>
            <a:endParaRPr lang="en-ZA" dirty="0"/>
          </a:p>
          <a:p>
            <a:pPr algn="just"/>
            <a:r>
              <a:rPr lang="en-ZA" dirty="0"/>
              <a:t>Intuitively, the </a:t>
            </a:r>
            <a:r>
              <a:rPr lang="en-ZA" dirty="0" err="1"/>
              <a:t>Hadamards</a:t>
            </a:r>
            <a:r>
              <a:rPr lang="en-ZA" dirty="0"/>
              <a:t> switch the computational basis to the diagonal basis. In this new basis, the roles of control and target are swapped, so the CNOT effectively becomes a reverse-CNOT.</a:t>
            </a:r>
          </a:p>
        </p:txBody>
      </p:sp>
      <p:sp>
        <p:nvSpPr>
          <p:cNvPr id="4" name="Slide Number Placeholder 3"/>
          <p:cNvSpPr>
            <a:spLocks noGrp="1"/>
          </p:cNvSpPr>
          <p:nvPr>
            <p:ph type="sldNum" sz="quarter" idx="5"/>
          </p:nvPr>
        </p:nvSpPr>
        <p:spPr/>
        <p:txBody>
          <a:bodyPr/>
          <a:lstStyle/>
          <a:p>
            <a:fld id="{1B2CE5E3-B8BD-D040-AC87-D640191DD8F1}" type="slidenum">
              <a:rPr lang="en-US" smtClean="0"/>
              <a:t>20</a:t>
            </a:fld>
            <a:endParaRPr lang="en-US"/>
          </a:p>
        </p:txBody>
      </p:sp>
    </p:spTree>
    <p:extLst>
      <p:ext uri="{BB962C8B-B14F-4D97-AF65-F5344CB8AC3E}">
        <p14:creationId xmlns:p14="http://schemas.microsoft.com/office/powerpoint/2010/main" val="38959810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One of the tasks of a quantum compiler is to find a path between the control and target qubits when no direct hardware connection exists. Suppose a program specifies a CNOT gate between qubits C and T, but there is no direct link between them. However, there is a connection between C and an auxiliary qubit A, as well as between A and T.</a:t>
                </a:r>
              </a:p>
              <a:p>
                <a:pPr algn="just"/>
                <a:endParaRPr lang="en-ZA" b="0" dirty="0"/>
              </a:p>
              <a:p>
                <a:pPr marL="171450" indent="-171450">
                  <a:buFont typeface="Arial" panose="020B0604020202020204" pitchFamily="34" charset="0"/>
                  <a:buChar char="•"/>
                </a:pPr>
                <a:r>
                  <a:rPr lang="en-ZA" b="0" dirty="0"/>
                  <a:t>Start: We begin with the three-qubit state ∣CAT⟩.</a:t>
                </a:r>
              </a:p>
              <a:p>
                <a:pPr marL="171450" indent="-171450">
                  <a:buFont typeface="Arial" panose="020B0604020202020204" pitchFamily="34" charset="0"/>
                  <a:buChar char="•"/>
                </a:pPr>
                <a:r>
                  <a:rPr lang="en-ZA" b="0" dirty="0"/>
                  <a:t>Step 1: CNOT from C to A: The auxiliary qubit picks up the value of the control. So A becomes A⊕C.</a:t>
                </a:r>
              </a:p>
              <a:p>
                <a:pPr marL="171450" indent="-171450">
                  <a:buFont typeface="Arial" panose="020B0604020202020204" pitchFamily="34" charset="0"/>
                  <a:buChar char="•"/>
                </a:pPr>
                <a:r>
                  <a:rPr lang="en-ZA" b="0" dirty="0"/>
                  <a:t>Step 2: CNOT from A to T: Now the target flips depending on A. Its value becomes T⊕(A⊕C).</a:t>
                </a:r>
              </a:p>
              <a:p>
                <a:pPr marL="171450" indent="-171450">
                  <a:buFont typeface="Arial" panose="020B0604020202020204" pitchFamily="34" charset="0"/>
                  <a:buChar char="•"/>
                </a:pPr>
                <a:r>
                  <a:rPr lang="en-ZA" b="0" dirty="0"/>
                  <a:t>Step 3: CNOT from C to A again: We undo the extra change on A. Since we added C twice, it cancels out, and A goes back to its original value.</a:t>
                </a:r>
              </a:p>
              <a:p>
                <a:pPr marL="171450" indent="-171450">
                  <a:buFont typeface="Arial" panose="020B0604020202020204" pitchFamily="34" charset="0"/>
                  <a:buChar char="•"/>
                </a:pPr>
                <a:r>
                  <a:rPr lang="en-ZA" b="0" dirty="0"/>
                  <a:t>Step 4 – CNOT from A to T again: Finally, the target flips once more, this time cancelling out the leftover A. What’s left is simply T⊕C.</a:t>
                </a:r>
              </a:p>
              <a:p>
                <a:pPr marL="0" indent="0">
                  <a:buFont typeface="Arial" panose="020B0604020202020204" pitchFamily="34" charset="0"/>
                  <a:buNone/>
                </a:pPr>
                <a:endParaRPr lang="en-ZA" b="0" dirty="0"/>
              </a:p>
              <a:p>
                <a:pPr marL="0" indent="0">
                  <a:buFont typeface="Arial" panose="020B0604020202020204" pitchFamily="34" charset="0"/>
                  <a:buNone/>
                </a:pPr>
                <a:r>
                  <a:rPr lang="en-ZA" b="0" dirty="0"/>
                  <a:t>The auxiliary qubit is restored to what it was at the start, and the target has flipped exactly as if there had been a direct CNOT from C to T.</a:t>
                </a:r>
              </a:p>
              <a:p>
                <a:pPr algn="just"/>
                <a:endParaRPr lang="en-ZA" b="0" dirty="0"/>
              </a:p>
              <a:p>
                <a:pPr algn="just"/>
                <a:r>
                  <a:rPr lang="en-ZA" b="0" dirty="0"/>
                  <a:t>An alternative strategy works in the reverse order:</a:t>
                </a:r>
              </a:p>
              <a:p>
                <a:pPr marL="171450" indent="-171450" algn="just">
                  <a:buFont typeface="Arial" panose="020B0604020202020204" pitchFamily="34" charset="0"/>
                  <a:buChar char="•"/>
                </a:pPr>
                <a:r>
                  <a:rPr lang="en-ZA" b="0" dirty="0"/>
                  <a:t>First apply a CNOT between A and T.</a:t>
                </a:r>
              </a:p>
              <a:p>
                <a:pPr marL="171450" indent="-171450" algn="just">
                  <a:buFont typeface="Arial" panose="020B0604020202020204" pitchFamily="34" charset="0"/>
                  <a:buChar char="•"/>
                </a:pPr>
                <a:r>
                  <a:rPr lang="en-ZA" b="0" dirty="0"/>
                  <a:t>Then apply a CNOT between C and A.</a:t>
                </a:r>
              </a:p>
              <a:p>
                <a:pPr marL="171450" indent="-171450" algn="just">
                  <a:buFont typeface="Arial" panose="020B0604020202020204" pitchFamily="34" charset="0"/>
                  <a:buChar char="•"/>
                </a:pPr>
                <a:r>
                  <a:rPr lang="en-ZA" b="0" dirty="0"/>
                  <a:t>Finally, repeat the sequence.</a:t>
                </a:r>
              </a:p>
              <a:p>
                <a:pPr marL="171450" indent="-171450" algn="just">
                  <a:buFont typeface="Arial" panose="020B0604020202020204" pitchFamily="34" charset="0"/>
                  <a:buChar char="•"/>
                </a:pPr>
                <a:endParaRPr lang="en-ZA" b="0" dirty="0"/>
              </a:p>
              <a:p>
                <a:pPr algn="just"/>
                <a:r>
                  <a:rPr lang="en-ZA" b="0" dirty="0"/>
                  <a:t>Tracing the states through this circuit again shows that the correct output is obtained.</a:t>
                </a:r>
              </a:p>
              <a:p>
                <a:pPr algn="just"/>
                <a:r>
                  <a:rPr lang="en-ZA" b="0" dirty="0"/>
                  <a:t>This analysis illustrates how a quantum compiler can insert intermediate qubits and gate sequences to “route” an operation across the hardware, even when a direct connection is missing.</a:t>
                </a:r>
              </a:p>
            </p:txBody>
          </p:sp>
        </mc:Choice>
        <mc:Fallback xmlns="">
          <p:sp>
            <p:nvSpPr>
              <p:cNvPr id="3" name="Notes Placeholder 2"/>
              <p:cNvSpPr>
                <a:spLocks noGrp="1"/>
              </p:cNvSpPr>
              <p:nvPr>
                <p:ph type="body" idx="1"/>
              </p:nvPr>
            </p:nvSpPr>
            <p:spPr/>
            <p:txBody>
              <a:bodyPr/>
              <a:lstStyle/>
              <a:p>
                <a:r>
                  <a:rPr lang="en-US" dirty="0" err="1"/>
                  <a:t>Jedan</a:t>
                </a:r>
                <a:r>
                  <a:rPr lang="en-US" dirty="0"/>
                  <a:t> od </a:t>
                </a:r>
                <a:r>
                  <a:rPr lang="en-US" dirty="0" err="1"/>
                  <a:t>zadataka</a:t>
                </a:r>
                <a:r>
                  <a:rPr lang="en-US" dirty="0"/>
                  <a:t> </a:t>
                </a:r>
                <a:r>
                  <a:rPr lang="en-US" dirty="0" err="1"/>
                  <a:t>programskog</a:t>
                </a:r>
                <a:r>
                  <a:rPr lang="en-US" dirty="0"/>
                  <a:t> </a:t>
                </a:r>
                <a:r>
                  <a:rPr lang="en-US" dirty="0" err="1"/>
                  <a:t>prevodioca</a:t>
                </a:r>
                <a:r>
                  <a:rPr lang="en-US" dirty="0"/>
                  <a:t> </a:t>
                </a:r>
                <a:r>
                  <a:rPr lang="en-US" dirty="0" err="1"/>
                  <a:t>je</a:t>
                </a:r>
                <a:r>
                  <a:rPr lang="en-US" dirty="0"/>
                  <a:t> da </a:t>
                </a:r>
                <a:r>
                  <a:rPr lang="en-US" dirty="0" err="1"/>
                  <a:t>nađe</a:t>
                </a:r>
                <a:r>
                  <a:rPr lang="en-US" dirty="0"/>
                  <a:t> </a:t>
                </a:r>
                <a:r>
                  <a:rPr lang="en-US" dirty="0" err="1"/>
                  <a:t>putanju</a:t>
                </a:r>
                <a:r>
                  <a:rPr lang="en-US" dirty="0"/>
                  <a:t> </a:t>
                </a:r>
                <a:r>
                  <a:rPr lang="en-US" dirty="0" err="1"/>
                  <a:t>između</a:t>
                </a:r>
                <a:r>
                  <a:rPr lang="en-US" dirty="0"/>
                  <a:t> </a:t>
                </a:r>
                <a:r>
                  <a:rPr lang="en-US" dirty="0" err="1"/>
                  <a:t>kontrolnog</a:t>
                </a:r>
                <a:r>
                  <a:rPr lang="en-US" dirty="0"/>
                  <a:t> </a:t>
                </a:r>
                <a:r>
                  <a:rPr lang="en-US" dirty="0" err="1"/>
                  <a:t>i</a:t>
                </a:r>
                <a:r>
                  <a:rPr lang="en-US" dirty="0"/>
                  <a:t> </a:t>
                </a:r>
                <a:r>
                  <a:rPr lang="en-US" dirty="0" err="1"/>
                  <a:t>ciljnog</a:t>
                </a:r>
                <a:r>
                  <a:rPr lang="en-US" dirty="0"/>
                  <a:t> kubita u </a:t>
                </a:r>
                <a:r>
                  <a:rPr lang="en-US" dirty="0" err="1"/>
                  <a:t>slučaju</a:t>
                </a:r>
                <a:r>
                  <a:rPr lang="en-US" dirty="0"/>
                  <a:t> da ne </a:t>
                </a:r>
                <a:r>
                  <a:rPr lang="en-US" dirty="0" err="1"/>
                  <a:t>postoji</a:t>
                </a:r>
                <a:r>
                  <a:rPr lang="en-US" dirty="0"/>
                  <a:t> </a:t>
                </a:r>
                <a:r>
                  <a:rPr lang="en-US" dirty="0" err="1"/>
                  <a:t>hardverska</a:t>
                </a:r>
                <a:r>
                  <a:rPr lang="en-US" dirty="0"/>
                  <a:t> </a:t>
                </a:r>
                <a:r>
                  <a:rPr lang="en-US" dirty="0" err="1"/>
                  <a:t>veza</a:t>
                </a:r>
                <a:r>
                  <a:rPr lang="en-US" dirty="0"/>
                  <a:t> </a:t>
                </a:r>
                <a:r>
                  <a:rPr lang="en-US" dirty="0" err="1"/>
                  <a:t>između</a:t>
                </a:r>
                <a:r>
                  <a:rPr lang="en-US" dirty="0"/>
                  <a:t> </a:t>
                </a:r>
                <a:r>
                  <a:rPr lang="en-US" dirty="0" err="1"/>
                  <a:t>njih</a:t>
                </a:r>
                <a:r>
                  <a:rPr lang="en-US" dirty="0"/>
                  <a:t>. </a:t>
                </a:r>
                <a:r>
                  <a:rPr lang="en-US" dirty="0" err="1"/>
                  <a:t>Neka</a:t>
                </a:r>
                <a:r>
                  <a:rPr lang="en-US" dirty="0"/>
                  <a:t> u program </a:t>
                </a:r>
                <a:r>
                  <a:rPr lang="en-US" dirty="0" err="1"/>
                  <a:t>cX</a:t>
                </a:r>
                <a:r>
                  <a:rPr lang="en-US" dirty="0"/>
                  <a:t> </a:t>
                </a:r>
                <a:r>
                  <a:rPr lang="en-US" dirty="0" err="1"/>
                  <a:t>elementarno</a:t>
                </a:r>
                <a:r>
                  <a:rPr lang="en-US" dirty="0"/>
                  <a:t> </a:t>
                </a:r>
                <a:r>
                  <a:rPr lang="en-US" dirty="0" err="1"/>
                  <a:t>kolo</a:t>
                </a:r>
                <a:r>
                  <a:rPr lang="en-US" dirty="0"/>
                  <a:t> </a:t>
                </a:r>
                <a:r>
                  <a:rPr lang="en-US" dirty="0" err="1"/>
                  <a:t>povezuje</a:t>
                </a:r>
                <a:r>
                  <a:rPr lang="en-US" dirty="0"/>
                  <a:t> kubite C </a:t>
                </a:r>
                <a:r>
                  <a:rPr lang="en-US" dirty="0" err="1"/>
                  <a:t>i</a:t>
                </a:r>
                <a:r>
                  <a:rPr lang="en-US" dirty="0"/>
                  <a:t> T. </a:t>
                </a:r>
                <a:r>
                  <a:rPr lang="en-US" dirty="0" err="1"/>
                  <a:t>Programski</a:t>
                </a:r>
                <a:r>
                  <a:rPr lang="en-US" dirty="0"/>
                  <a:t> </a:t>
                </a:r>
                <a:r>
                  <a:rPr lang="en-US" dirty="0" err="1"/>
                  <a:t>prevodilac</a:t>
                </a:r>
                <a:r>
                  <a:rPr lang="en-US" dirty="0"/>
                  <a:t> </a:t>
                </a:r>
                <a:r>
                  <a:rPr lang="en-US" dirty="0" err="1"/>
                  <a:t>je</a:t>
                </a:r>
                <a:r>
                  <a:rPr lang="en-US" dirty="0"/>
                  <a:t> </a:t>
                </a:r>
                <a:r>
                  <a:rPr lang="en-US" dirty="0" err="1"/>
                  <a:t>našao</a:t>
                </a:r>
                <a:r>
                  <a:rPr lang="en-US" dirty="0"/>
                  <a:t> da </a:t>
                </a:r>
                <a:r>
                  <a:rPr lang="en-US" dirty="0" err="1"/>
                  <a:t>je</a:t>
                </a:r>
                <a:r>
                  <a:rPr lang="en-US" dirty="0"/>
                  <a:t> </a:t>
                </a:r>
                <a:r>
                  <a:rPr lang="en-US" dirty="0" err="1"/>
                  <a:t>ovo</a:t>
                </a:r>
                <a:r>
                  <a:rPr lang="en-US" dirty="0"/>
                  <a:t> </a:t>
                </a:r>
                <a:r>
                  <a:rPr lang="en-US" dirty="0" err="1"/>
                  <a:t>moguće</a:t>
                </a:r>
                <a:r>
                  <a:rPr lang="en-US" dirty="0"/>
                  <a:t> </a:t>
                </a:r>
                <a:r>
                  <a:rPr lang="en-US" dirty="0" err="1"/>
                  <a:t>uz</a:t>
                </a:r>
                <a:r>
                  <a:rPr lang="en-US" dirty="0"/>
                  <a:t> </a:t>
                </a:r>
                <a:r>
                  <a:rPr lang="en-US" dirty="0" err="1"/>
                  <a:t>pomoć</a:t>
                </a:r>
                <a:r>
                  <a:rPr lang="en-US" dirty="0"/>
                  <a:t> </a:t>
                </a:r>
                <a:r>
                  <a:rPr lang="en-US" dirty="0" err="1"/>
                  <a:t>dodatnog</a:t>
                </a:r>
                <a:r>
                  <a:rPr lang="en-US" dirty="0"/>
                  <a:t> kubita A </a:t>
                </a:r>
                <a:r>
                  <a:rPr lang="en-US" dirty="0" err="1"/>
                  <a:t>koji</a:t>
                </a:r>
                <a:r>
                  <a:rPr lang="en-US" dirty="0"/>
                  <a:t> </a:t>
                </a:r>
                <a:r>
                  <a:rPr lang="en-US" dirty="0" err="1"/>
                  <a:t>prihvata</a:t>
                </a:r>
                <a:r>
                  <a:rPr lang="en-US" dirty="0"/>
                  <a:t> </a:t>
                </a:r>
                <a:r>
                  <a:rPr lang="en-US" dirty="0" err="1"/>
                  <a:t>cX</a:t>
                </a:r>
                <a:r>
                  <a:rPr lang="en-US" dirty="0"/>
                  <a:t> kola </a:t>
                </a:r>
                <a:r>
                  <a:rPr lang="en-US" dirty="0" err="1"/>
                  <a:t>između</a:t>
                </a:r>
                <a:r>
                  <a:rPr lang="en-US" dirty="0"/>
                  <a:t> A </a:t>
                </a:r>
                <a:r>
                  <a:rPr lang="en-US" dirty="0" err="1"/>
                  <a:t>i</a:t>
                </a:r>
                <a:r>
                  <a:rPr lang="en-US" dirty="0"/>
                  <a:t> C I </a:t>
                </a:r>
                <a:r>
                  <a:rPr lang="en-US" dirty="0" err="1"/>
                  <a:t>između</a:t>
                </a:r>
                <a:r>
                  <a:rPr lang="en-US" dirty="0"/>
                  <a:t> A </a:t>
                </a:r>
                <a:r>
                  <a:rPr lang="en-US" dirty="0" err="1"/>
                  <a:t>i</a:t>
                </a:r>
                <a:r>
                  <a:rPr lang="en-US" dirty="0"/>
                  <a:t> T. </a:t>
                </a:r>
                <a:r>
                  <a:rPr lang="en-US" dirty="0" err="1"/>
                  <a:t>Zadatak</a:t>
                </a:r>
                <a:r>
                  <a:rPr lang="en-US" dirty="0"/>
                  <a:t> </a:t>
                </a:r>
                <a:r>
                  <a:rPr lang="en-US" dirty="0" err="1"/>
                  <a:t>je</a:t>
                </a:r>
                <a:r>
                  <a:rPr lang="en-US" dirty="0"/>
                  <a:t> da se </a:t>
                </a:r>
                <a:r>
                  <a:rPr lang="en-US" dirty="0" err="1"/>
                  <a:t>originalno</a:t>
                </a:r>
                <a:r>
                  <a:rPr lang="en-US" dirty="0"/>
                  <a:t> </a:t>
                </a:r>
                <a:r>
                  <a:rPr lang="en-US" dirty="0" err="1"/>
                  <a:t>cX</a:t>
                </a:r>
                <a:r>
                  <a:rPr lang="en-US" dirty="0"/>
                  <a:t> </a:t>
                </a:r>
                <a:r>
                  <a:rPr lang="en-US" dirty="0" err="1"/>
                  <a:t>kolo</a:t>
                </a:r>
                <a:r>
                  <a:rPr lang="en-US" dirty="0"/>
                  <a:t> </a:t>
                </a:r>
                <a:r>
                  <a:rPr lang="en-US" dirty="0" err="1"/>
                  <a:t>zameni</a:t>
                </a:r>
                <a:r>
                  <a:rPr lang="en-US" dirty="0"/>
                  <a:t> </a:t>
                </a:r>
                <a:r>
                  <a:rPr lang="en-US" dirty="0" err="1"/>
                  <a:t>sekvencom</a:t>
                </a:r>
                <a:r>
                  <a:rPr lang="en-US" dirty="0"/>
                  <a:t> kola </a:t>
                </a:r>
                <a:r>
                  <a:rPr lang="en-US" dirty="0" err="1"/>
                  <a:t>koja</a:t>
                </a:r>
                <a:r>
                  <a:rPr lang="en-US" dirty="0"/>
                  <a:t> </a:t>
                </a:r>
                <a:r>
                  <a:rPr lang="en-US" dirty="0" err="1"/>
                  <a:t>će</a:t>
                </a:r>
                <a:r>
                  <a:rPr lang="en-US" dirty="0"/>
                  <a:t> </a:t>
                </a:r>
                <a:r>
                  <a:rPr lang="en-US" dirty="0" err="1"/>
                  <a:t>koristiti</a:t>
                </a:r>
                <a:r>
                  <a:rPr lang="en-US" dirty="0"/>
                  <a:t> </a:t>
                </a:r>
                <a:r>
                  <a:rPr lang="en-US" dirty="0" err="1"/>
                  <a:t>pomoćni</a:t>
                </a:r>
                <a:r>
                  <a:rPr lang="en-US" dirty="0"/>
                  <a:t> kubit A.</a:t>
                </a:r>
              </a:p>
              <a:p>
                <a:endParaRPr lang="en-US" dirty="0"/>
              </a:p>
              <a:p>
                <a:r>
                  <a:rPr lang="en-US" dirty="0" err="1"/>
                  <a:t>Kombinovano</a:t>
                </a:r>
                <a:r>
                  <a:rPr lang="en-US" dirty="0"/>
                  <a:t> </a:t>
                </a:r>
                <a:r>
                  <a:rPr lang="en-US" dirty="0" err="1"/>
                  <a:t>stanje</a:t>
                </a:r>
                <a:r>
                  <a:rPr lang="en-US" dirty="0"/>
                  <a:t> kubita </a:t>
                </a:r>
                <a:r>
                  <a:rPr lang="en-US" dirty="0" err="1"/>
                  <a:t>na</a:t>
                </a:r>
                <a:r>
                  <a:rPr lang="en-US" dirty="0"/>
                  <a:t> </a:t>
                </a:r>
                <a:r>
                  <a:rPr lang="en-US" dirty="0" err="1"/>
                  <a:t>ulazu</a:t>
                </a:r>
                <a:r>
                  <a:rPr lang="en-US" dirty="0"/>
                  <a:t> u </a:t>
                </a:r>
                <a:r>
                  <a:rPr lang="en-US" dirty="0" err="1"/>
                  <a:t>kolo</a:t>
                </a:r>
                <a:r>
                  <a:rPr lang="en-US" dirty="0"/>
                  <a:t> </a:t>
                </a:r>
                <a:r>
                  <a:rPr lang="en-US" dirty="0" err="1"/>
                  <a:t>je</a:t>
                </a:r>
                <a:r>
                  <a:rPr lang="en-US" dirty="0"/>
                  <a:t> |CAT⟩ a </a:t>
                </a:r>
                <a:r>
                  <a:rPr lang="en-US" dirty="0" err="1"/>
                  <a:t>na</a:t>
                </a:r>
                <a:r>
                  <a:rPr lang="en-US" dirty="0"/>
                  <a:t> </a:t>
                </a:r>
                <a:r>
                  <a:rPr lang="en-US" dirty="0" err="1"/>
                  <a:t>izlazu</a:t>
                </a:r>
                <a:r>
                  <a:rPr lang="en-US" dirty="0"/>
                  <a:t> </a:t>
                </a:r>
                <a:r>
                  <a:rPr lang="en-US" dirty="0" err="1"/>
                  <a:t>je</a:t>
                </a:r>
                <a:r>
                  <a:rPr lang="en-US" dirty="0"/>
                  <a:t> |CA⟩ </a:t>
                </a:r>
                <a:r>
                  <a:rPr lang="en-US" dirty="0" err="1"/>
                  <a:t>iza</a:t>
                </a:r>
                <a:r>
                  <a:rPr lang="en-US" dirty="0"/>
                  <a:t> </a:t>
                </a:r>
                <a:r>
                  <a:rPr lang="en-US" dirty="0" err="1"/>
                  <a:t>koga</a:t>
                </a:r>
                <a:r>
                  <a:rPr lang="en-US" dirty="0"/>
                  <a:t> </a:t>
                </a:r>
                <a:r>
                  <a:rPr lang="en-US" dirty="0" err="1"/>
                  <a:t>sledi</a:t>
                </a:r>
                <a:r>
                  <a:rPr lang="en-US" dirty="0"/>
                  <a:t> </a:t>
                </a:r>
                <a:r>
                  <a:rPr lang="en-US" sz="1200" i="0">
                    <a:latin typeface="Cambria Math" panose="02040503050406030204" pitchFamily="18" charset="0"/>
                  </a:rPr>
                  <a:t>|𝐶</a:t>
                </a:r>
                <a:r>
                  <a:rPr lang="en-US" sz="1200" i="0">
                    <a:latin typeface="Cambria Math" panose="02040503050406030204" pitchFamily="18" charset="0"/>
                    <a:ea typeface="Cambria Math" panose="02040503050406030204" pitchFamily="18" charset="0"/>
                  </a:rPr>
                  <a:t>⨁</a:t>
                </a:r>
                <a:r>
                  <a:rPr lang="en-US" sz="1200" i="0">
                    <a:latin typeface="Cambria Math" panose="02040503050406030204" pitchFamily="18" charset="0"/>
                  </a:rPr>
                  <a:t>𝑇⟩</a:t>
                </a:r>
                <a:r>
                  <a:rPr lang="en-US" dirty="0"/>
                  <a:t> </a:t>
                </a:r>
                <a:r>
                  <a:rPr lang="en-US" dirty="0" err="1"/>
                  <a:t>jer</a:t>
                </a:r>
                <a:r>
                  <a:rPr lang="en-US" dirty="0"/>
                  <a:t> </a:t>
                </a:r>
                <a:r>
                  <a:rPr lang="en-US" dirty="0" err="1"/>
                  <a:t>je</a:t>
                </a:r>
                <a:r>
                  <a:rPr lang="en-US" dirty="0"/>
                  <a:t> </a:t>
                </a:r>
                <a:r>
                  <a:rPr lang="en-US" dirty="0" err="1"/>
                  <a:t>ciljni</a:t>
                </a:r>
                <a:r>
                  <a:rPr lang="en-US" dirty="0"/>
                  <a:t> kubit </a:t>
                </a:r>
                <a:r>
                  <a:rPr lang="en-US" dirty="0" err="1"/>
                  <a:t>dat</a:t>
                </a:r>
                <a:r>
                  <a:rPr lang="en-US" dirty="0"/>
                  <a:t> </a:t>
                </a:r>
                <a:r>
                  <a:rPr lang="en-US" dirty="0" err="1"/>
                  <a:t>kao</a:t>
                </a:r>
                <a:r>
                  <a:rPr lang="en-US" dirty="0"/>
                  <a:t> XOR </a:t>
                </a:r>
                <a:r>
                  <a:rPr lang="en-US" dirty="0" err="1"/>
                  <a:t>operacija</a:t>
                </a:r>
                <a:r>
                  <a:rPr lang="en-US" dirty="0"/>
                  <a:t> </a:t>
                </a:r>
                <a:r>
                  <a:rPr lang="en-US" dirty="0" err="1"/>
                  <a:t>kontrolnog</a:t>
                </a:r>
                <a:r>
                  <a:rPr lang="en-US" dirty="0"/>
                  <a:t> </a:t>
                </a:r>
                <a:r>
                  <a:rPr lang="en-US" dirty="0" err="1"/>
                  <a:t>i</a:t>
                </a:r>
                <a:r>
                  <a:rPr lang="en-US" baseline="0" dirty="0"/>
                  <a:t> </a:t>
                </a:r>
                <a:r>
                  <a:rPr lang="en-US" baseline="0" dirty="0" err="1"/>
                  <a:t>ulazne</a:t>
                </a:r>
                <a:r>
                  <a:rPr lang="en-US" baseline="0" dirty="0"/>
                  <a:t> </a:t>
                </a:r>
                <a:r>
                  <a:rPr lang="en-US" baseline="0" dirty="0" err="1"/>
                  <a:t>vrednosti</a:t>
                </a:r>
                <a:r>
                  <a:rPr lang="en-US" baseline="0" dirty="0"/>
                  <a:t> </a:t>
                </a:r>
                <a:r>
                  <a:rPr lang="en-US" baseline="0" dirty="0" err="1"/>
                  <a:t>ciljnog</a:t>
                </a:r>
                <a:r>
                  <a:rPr lang="en-US" baseline="0" dirty="0"/>
                  <a:t> kubita. </a:t>
                </a:r>
                <a:r>
                  <a:rPr lang="en-US" baseline="0" dirty="0" err="1"/>
                  <a:t>Cilj</a:t>
                </a:r>
                <a:r>
                  <a:rPr lang="en-US" baseline="0" dirty="0"/>
                  <a:t> </a:t>
                </a:r>
                <a:r>
                  <a:rPr lang="en-US" baseline="0" dirty="0" err="1"/>
                  <a:t>je</a:t>
                </a:r>
                <a:r>
                  <a:rPr lang="en-US" baseline="0" dirty="0"/>
                  <a:t> da </a:t>
                </a:r>
                <a:r>
                  <a:rPr lang="en-US" baseline="0" dirty="0" err="1"/>
                  <a:t>distribuiramo</a:t>
                </a:r>
                <a:r>
                  <a:rPr lang="en-US" baseline="0" dirty="0"/>
                  <a:t> </a:t>
                </a:r>
                <a:r>
                  <a:rPr lang="en-US" baseline="0" dirty="0" err="1"/>
                  <a:t>cX</a:t>
                </a:r>
                <a:r>
                  <a:rPr lang="en-US" baseline="0" dirty="0"/>
                  <a:t> </a:t>
                </a:r>
                <a:r>
                  <a:rPr lang="en-US" baseline="0" dirty="0" err="1"/>
                  <a:t>operaciju</a:t>
                </a:r>
                <a:r>
                  <a:rPr lang="en-US" baseline="0" dirty="0"/>
                  <a:t> </a:t>
                </a:r>
                <a:r>
                  <a:rPr lang="en-US" baseline="0" dirty="0" err="1"/>
                  <a:t>preko</a:t>
                </a:r>
                <a:r>
                  <a:rPr lang="en-US" baseline="0" dirty="0"/>
                  <a:t> tri kubita.</a:t>
                </a:r>
              </a:p>
              <a:p>
                <a:pPr marL="228600" indent="-228600">
                  <a:buFont typeface="+mj-lt"/>
                  <a:buAutoNum type="arabicPeriod"/>
                </a:pPr>
                <a:r>
                  <a:rPr lang="en-US" baseline="0" dirty="0" err="1"/>
                  <a:t>Kolo</a:t>
                </a:r>
                <a:r>
                  <a:rPr lang="en-US" baseline="0" dirty="0"/>
                  <a:t> </a:t>
                </a:r>
                <a:r>
                  <a:rPr lang="en-US" baseline="0" dirty="0" err="1"/>
                  <a:t>na</a:t>
                </a:r>
                <a:r>
                  <a:rPr lang="en-US" baseline="0" dirty="0"/>
                  <a:t> </a:t>
                </a:r>
                <a:r>
                  <a:rPr lang="en-US" baseline="0" dirty="0" err="1"/>
                  <a:t>slici</a:t>
                </a:r>
                <a:r>
                  <a:rPr lang="en-US" baseline="0" dirty="0"/>
                  <a:t> </a:t>
                </a:r>
                <a:r>
                  <a:rPr lang="en-US" baseline="0" dirty="0" err="1"/>
                  <a:t>prikazuje</a:t>
                </a:r>
                <a:r>
                  <a:rPr lang="en-US" baseline="0" dirty="0"/>
                  <a:t> </a:t>
                </a:r>
                <a:r>
                  <a:rPr lang="en-US" baseline="0" dirty="0" err="1"/>
                  <a:t>prvi</a:t>
                </a:r>
                <a:r>
                  <a:rPr lang="en-US" baseline="0" dirty="0"/>
                  <a:t> </a:t>
                </a:r>
                <a:r>
                  <a:rPr lang="en-US" baseline="0" dirty="0" err="1"/>
                  <a:t>način</a:t>
                </a:r>
                <a:r>
                  <a:rPr lang="en-US" baseline="0" dirty="0"/>
                  <a:t> da se to </a:t>
                </a:r>
                <a:r>
                  <a:rPr lang="en-US" baseline="0" dirty="0" err="1"/>
                  <a:t>uradi</a:t>
                </a:r>
                <a:r>
                  <a:rPr lang="en-US" baseline="0" dirty="0"/>
                  <a:t>. U </a:t>
                </a:r>
                <a:r>
                  <a:rPr lang="en-US" baseline="0" dirty="0" err="1"/>
                  <a:t>dva</a:t>
                </a:r>
                <a:r>
                  <a:rPr lang="en-US" baseline="0" dirty="0"/>
                  <a:t> </a:t>
                </a:r>
                <a:r>
                  <a:rPr lang="en-US" baseline="0" dirty="0" err="1"/>
                  <a:t>ponavljanja</a:t>
                </a:r>
                <a:r>
                  <a:rPr lang="en-US" baseline="0" dirty="0"/>
                  <a:t> </a:t>
                </a:r>
                <a:r>
                  <a:rPr lang="en-US" baseline="0" dirty="0" err="1"/>
                  <a:t>spajaju</a:t>
                </a:r>
                <a:r>
                  <a:rPr lang="en-US" baseline="0" dirty="0"/>
                  <a:t> se </a:t>
                </a:r>
                <a:r>
                  <a:rPr lang="en-US" baseline="0" dirty="0" err="1"/>
                  <a:t>prvi</a:t>
                </a:r>
                <a:r>
                  <a:rPr lang="en-US" baseline="0" dirty="0"/>
                  <a:t> </a:t>
                </a:r>
                <a:r>
                  <a:rPr lang="en-US" baseline="0" dirty="0" err="1"/>
                  <a:t>sa</a:t>
                </a:r>
                <a:r>
                  <a:rPr lang="en-US" baseline="0" dirty="0"/>
                  <a:t> </a:t>
                </a:r>
                <a:r>
                  <a:rPr lang="en-US" baseline="0" dirty="0" err="1"/>
                  <a:t>pomoćnim</a:t>
                </a:r>
                <a:r>
                  <a:rPr lang="en-US" baseline="0" dirty="0"/>
                  <a:t> </a:t>
                </a:r>
                <a:r>
                  <a:rPr lang="en-US" baseline="0" dirty="0" err="1"/>
                  <a:t>i</a:t>
                </a:r>
                <a:r>
                  <a:rPr lang="en-US" baseline="0" dirty="0"/>
                  <a:t> </a:t>
                </a:r>
                <a:r>
                  <a:rPr lang="en-US" baseline="0" dirty="0" err="1"/>
                  <a:t>pomoćni</a:t>
                </a:r>
                <a:r>
                  <a:rPr lang="en-US" baseline="0" dirty="0"/>
                  <a:t> </a:t>
                </a:r>
                <a:r>
                  <a:rPr lang="en-US" baseline="0" dirty="0" err="1"/>
                  <a:t>sa</a:t>
                </a:r>
                <a:r>
                  <a:rPr lang="en-US" baseline="0" dirty="0"/>
                  <a:t> </a:t>
                </a:r>
                <a:r>
                  <a:rPr lang="en-US" baseline="0" dirty="0" err="1"/>
                  <a:t>ciljnim</a:t>
                </a:r>
                <a:r>
                  <a:rPr lang="en-US" baseline="0" dirty="0"/>
                  <a:t> kubitom. </a:t>
                </a:r>
                <a:r>
                  <a:rPr lang="en-US" baseline="0" dirty="0" err="1"/>
                  <a:t>Uzimajući</a:t>
                </a:r>
                <a:r>
                  <a:rPr lang="en-US" baseline="0" dirty="0"/>
                  <a:t> u </a:t>
                </a:r>
                <a:r>
                  <a:rPr lang="en-US" baseline="0" dirty="0" err="1"/>
                  <a:t>obzir</a:t>
                </a:r>
                <a:r>
                  <a:rPr lang="en-US" baseline="0" dirty="0"/>
                  <a:t> da </a:t>
                </a:r>
                <a:r>
                  <a:rPr lang="en-US" baseline="0" dirty="0" err="1"/>
                  <a:t>za</a:t>
                </a:r>
                <a:r>
                  <a:rPr lang="en-US" baseline="0" dirty="0"/>
                  <a:t> </a:t>
                </a:r>
                <a:r>
                  <a:rPr lang="en-US" baseline="0" dirty="0" err="1"/>
                  <a:t>neku</a:t>
                </a:r>
                <a:r>
                  <a:rPr lang="en-US" baseline="0" dirty="0"/>
                  <a:t> </a:t>
                </a:r>
                <a:r>
                  <a:rPr lang="en-US" baseline="0" dirty="0" err="1"/>
                  <a:t>logičku</a:t>
                </a:r>
                <a:r>
                  <a:rPr lang="en-US" baseline="0" dirty="0"/>
                  <a:t> </a:t>
                </a:r>
                <a:r>
                  <a:rPr lang="en-US" baseline="0" dirty="0" err="1"/>
                  <a:t>promenljivu</a:t>
                </a:r>
                <a:r>
                  <a:rPr lang="en-US" baseline="0" dirty="0"/>
                  <a:t> L </a:t>
                </a:r>
                <a:r>
                  <a:rPr lang="en-US" baseline="0" dirty="0" err="1"/>
                  <a:t>važi</a:t>
                </a:r>
                <a:r>
                  <a:rPr lang="en-US" baseline="0" dirty="0"/>
                  <a:t> da </a:t>
                </a:r>
                <a:r>
                  <a:rPr lang="en-US" baseline="0" dirty="0" err="1"/>
                  <a:t>je</a:t>
                </a:r>
                <a:r>
                  <a:rPr lang="en-US" baseline="0" dirty="0"/>
                  <a:t> L⨁L=0, </a:t>
                </a:r>
                <a:r>
                  <a:rPr lang="en-US" baseline="0" dirty="0" err="1"/>
                  <a:t>može</a:t>
                </a:r>
                <a:r>
                  <a:rPr lang="en-US" baseline="0" dirty="0"/>
                  <a:t> se </a:t>
                </a:r>
                <a:r>
                  <a:rPr lang="en-US" baseline="0" dirty="0" err="1"/>
                  <a:t>pratiti</a:t>
                </a:r>
                <a:r>
                  <a:rPr lang="en-US" baseline="0" dirty="0"/>
                  <a:t> </a:t>
                </a:r>
                <a:r>
                  <a:rPr lang="en-US" baseline="0" dirty="0" err="1"/>
                  <a:t>kombinovano</a:t>
                </a:r>
                <a:r>
                  <a:rPr lang="en-US" baseline="0" dirty="0"/>
                  <a:t> </a:t>
                </a:r>
                <a:r>
                  <a:rPr lang="en-US" baseline="0" dirty="0" err="1"/>
                  <a:t>stanje</a:t>
                </a:r>
                <a:r>
                  <a:rPr lang="en-US" baseline="0" dirty="0"/>
                  <a:t> tri kubita </a:t>
                </a:r>
                <a:r>
                  <a:rPr lang="en-US" baseline="0" dirty="0" err="1"/>
                  <a:t>kroz</a:t>
                </a:r>
                <a:r>
                  <a:rPr lang="en-US" baseline="0" dirty="0"/>
                  <a:t> kola. Na </a:t>
                </a:r>
                <a:r>
                  <a:rPr lang="en-US" baseline="0" dirty="0" err="1"/>
                  <a:t>kraju</a:t>
                </a:r>
                <a:r>
                  <a:rPr lang="en-US" baseline="0" dirty="0"/>
                  <a:t> se </a:t>
                </a:r>
                <a:r>
                  <a:rPr lang="en-US" baseline="0" dirty="0" err="1"/>
                  <a:t>dobija</a:t>
                </a:r>
                <a:r>
                  <a:rPr lang="en-US" baseline="0" dirty="0"/>
                  <a:t> </a:t>
                </a:r>
                <a:r>
                  <a:rPr lang="en-US" baseline="0" dirty="0" err="1"/>
                  <a:t>isti</a:t>
                </a:r>
                <a:r>
                  <a:rPr lang="en-US" baseline="0" dirty="0"/>
                  <a:t> </a:t>
                </a:r>
                <a:r>
                  <a:rPr lang="en-US" baseline="0" dirty="0" err="1"/>
                  <a:t>rezultat</a:t>
                </a:r>
                <a:r>
                  <a:rPr lang="en-US" baseline="0" dirty="0"/>
                  <a:t> </a:t>
                </a:r>
                <a:r>
                  <a:rPr lang="en-US" baseline="0" dirty="0" err="1"/>
                  <a:t>kao</a:t>
                </a:r>
                <a:r>
                  <a:rPr lang="en-US" baseline="0" dirty="0"/>
                  <a:t> </a:t>
                </a:r>
                <a:r>
                  <a:rPr lang="en-US" baseline="0" dirty="0" err="1"/>
                  <a:t>i</a:t>
                </a:r>
                <a:r>
                  <a:rPr lang="en-US" baseline="0" dirty="0"/>
                  <a:t> u </a:t>
                </a:r>
                <a:r>
                  <a:rPr lang="en-US" baseline="0" dirty="0" err="1"/>
                  <a:t>slučaju</a:t>
                </a:r>
                <a:r>
                  <a:rPr lang="en-US" baseline="0" dirty="0"/>
                  <a:t> </a:t>
                </a:r>
                <a:r>
                  <a:rPr lang="en-US" baseline="0" dirty="0" err="1"/>
                  <a:t>originalnog</a:t>
                </a:r>
                <a:r>
                  <a:rPr lang="en-US" baseline="0" dirty="0"/>
                  <a:t> kola.</a:t>
                </a:r>
              </a:p>
              <a:p>
                <a:pPr marL="228600" indent="-228600">
                  <a:buFont typeface="+mj-lt"/>
                  <a:buAutoNum type="arabicPeriod"/>
                </a:pPr>
                <a:r>
                  <a:rPr lang="en-US" baseline="0" dirty="0" err="1"/>
                  <a:t>Kolo</a:t>
                </a:r>
                <a:r>
                  <a:rPr lang="en-US" baseline="0" dirty="0"/>
                  <a:t> </a:t>
                </a:r>
                <a:r>
                  <a:rPr lang="en-US" baseline="0" dirty="0" err="1"/>
                  <a:t>na</a:t>
                </a:r>
                <a:r>
                  <a:rPr lang="en-US" baseline="0" dirty="0"/>
                  <a:t> </a:t>
                </a:r>
                <a:r>
                  <a:rPr lang="en-US" baseline="0" dirty="0" err="1"/>
                  <a:t>desnoj</a:t>
                </a:r>
                <a:r>
                  <a:rPr lang="en-US" baseline="0" dirty="0"/>
                  <a:t> </a:t>
                </a:r>
                <a:r>
                  <a:rPr lang="en-US" baseline="0" dirty="0" err="1"/>
                  <a:t>strani</a:t>
                </a:r>
                <a:r>
                  <a:rPr lang="en-US" baseline="0" dirty="0"/>
                  <a:t> </a:t>
                </a:r>
                <a:r>
                  <a:rPr lang="en-US" baseline="0" dirty="0" err="1"/>
                  <a:t>prikazuje</a:t>
                </a:r>
                <a:r>
                  <a:rPr lang="en-US" baseline="0" dirty="0"/>
                  <a:t> </a:t>
                </a:r>
                <a:r>
                  <a:rPr lang="en-US" baseline="0" dirty="0" err="1"/>
                  <a:t>alternativno</a:t>
                </a:r>
                <a:r>
                  <a:rPr lang="en-US" baseline="0" dirty="0"/>
                  <a:t> </a:t>
                </a:r>
                <a:r>
                  <a:rPr lang="en-US" baseline="0" dirty="0" err="1"/>
                  <a:t>rešenje</a:t>
                </a:r>
                <a:r>
                  <a:rPr lang="en-US" baseline="0" dirty="0"/>
                  <a:t> </a:t>
                </a:r>
                <a:r>
                  <a:rPr lang="en-US" baseline="0" dirty="0" err="1"/>
                  <a:t>gde</a:t>
                </a:r>
                <a:r>
                  <a:rPr lang="en-US" baseline="0" dirty="0"/>
                  <a:t> se u </a:t>
                </a:r>
                <a:r>
                  <a:rPr lang="en-US" baseline="0" dirty="0" err="1"/>
                  <a:t>dva</a:t>
                </a:r>
                <a:r>
                  <a:rPr lang="en-US" baseline="0" dirty="0"/>
                  <a:t> </a:t>
                </a:r>
                <a:r>
                  <a:rPr lang="en-US" baseline="0" dirty="0" err="1"/>
                  <a:t>ponavljanja</a:t>
                </a:r>
                <a:r>
                  <a:rPr lang="en-US" baseline="0" dirty="0"/>
                  <a:t> </a:t>
                </a:r>
                <a:r>
                  <a:rPr lang="en-US" baseline="0" dirty="0" err="1"/>
                  <a:t>spajaju</a:t>
                </a:r>
                <a:r>
                  <a:rPr lang="en-US" baseline="0" dirty="0"/>
                  <a:t> se </a:t>
                </a:r>
                <a:r>
                  <a:rPr lang="en-US" baseline="0" dirty="0" err="1"/>
                  <a:t>pomoćni</a:t>
                </a:r>
                <a:r>
                  <a:rPr lang="en-US" baseline="0" dirty="0"/>
                  <a:t> </a:t>
                </a:r>
                <a:r>
                  <a:rPr lang="en-US" baseline="0" dirty="0" err="1"/>
                  <a:t>sa</a:t>
                </a:r>
                <a:r>
                  <a:rPr lang="en-US" baseline="0" dirty="0"/>
                  <a:t> </a:t>
                </a:r>
                <a:r>
                  <a:rPr lang="en-US" baseline="0" dirty="0" err="1"/>
                  <a:t>ciljnim</a:t>
                </a:r>
                <a:r>
                  <a:rPr lang="en-US" baseline="0" dirty="0"/>
                  <a:t> </a:t>
                </a:r>
                <a:r>
                  <a:rPr lang="en-US" baseline="0" dirty="0" err="1"/>
                  <a:t>i</a:t>
                </a:r>
                <a:r>
                  <a:rPr lang="en-US" baseline="0" dirty="0"/>
                  <a:t> </a:t>
                </a:r>
                <a:r>
                  <a:rPr lang="en-US" baseline="0" dirty="0" err="1"/>
                  <a:t>kontrolni</a:t>
                </a:r>
                <a:r>
                  <a:rPr lang="en-US" baseline="0" dirty="0"/>
                  <a:t> </a:t>
                </a:r>
                <a:r>
                  <a:rPr lang="en-US" baseline="0" dirty="0" err="1"/>
                  <a:t>sa</a:t>
                </a:r>
                <a:r>
                  <a:rPr lang="en-US" baseline="0" dirty="0"/>
                  <a:t> </a:t>
                </a:r>
                <a:r>
                  <a:rPr lang="en-US" baseline="0" dirty="0" err="1"/>
                  <a:t>pomoćnim</a:t>
                </a:r>
                <a:r>
                  <a:rPr lang="en-US" baseline="0" dirty="0"/>
                  <a:t>. </a:t>
                </a:r>
                <a:r>
                  <a:rPr lang="en-US" baseline="0" dirty="0" err="1"/>
                  <a:t>Praćenjem</a:t>
                </a:r>
                <a:r>
                  <a:rPr lang="en-US" baseline="0" dirty="0"/>
                  <a:t> </a:t>
                </a:r>
                <a:r>
                  <a:rPr lang="en-US" baseline="0" dirty="0" err="1"/>
                  <a:t>kombinovanog</a:t>
                </a:r>
                <a:r>
                  <a:rPr lang="en-US" baseline="0" dirty="0"/>
                  <a:t> </a:t>
                </a:r>
                <a:r>
                  <a:rPr lang="en-US" baseline="0" dirty="0" err="1"/>
                  <a:t>stanja</a:t>
                </a:r>
                <a:r>
                  <a:rPr lang="en-US" baseline="0" dirty="0"/>
                  <a:t> </a:t>
                </a:r>
                <a:r>
                  <a:rPr lang="en-US" baseline="0" dirty="0" err="1"/>
                  <a:t>sva</a:t>
                </a:r>
                <a:r>
                  <a:rPr lang="en-US" baseline="0" dirty="0"/>
                  <a:t> tri kubita </a:t>
                </a:r>
                <a:r>
                  <a:rPr lang="en-US" baseline="0" dirty="0" err="1"/>
                  <a:t>opet</a:t>
                </a:r>
                <a:r>
                  <a:rPr lang="en-US" baseline="0" dirty="0"/>
                  <a:t> se </a:t>
                </a:r>
                <a:r>
                  <a:rPr lang="en-US" baseline="0" dirty="0" err="1"/>
                  <a:t>dobija</a:t>
                </a:r>
                <a:r>
                  <a:rPr lang="en-US" baseline="0" dirty="0"/>
                  <a:t> </a:t>
                </a:r>
                <a:r>
                  <a:rPr lang="en-US" baseline="0" dirty="0" err="1"/>
                  <a:t>isti</a:t>
                </a:r>
                <a:r>
                  <a:rPr lang="en-US" baseline="0" dirty="0"/>
                  <a:t> </a:t>
                </a:r>
                <a:r>
                  <a:rPr lang="en-US" baseline="0" dirty="0" err="1"/>
                  <a:t>rezultat</a:t>
                </a:r>
                <a:r>
                  <a:rPr lang="en-US" baseline="0" dirty="0"/>
                  <a:t>.</a:t>
                </a:r>
              </a:p>
              <a:p>
                <a:pPr marL="0" indent="0">
                  <a:buFont typeface="+mj-lt"/>
                  <a:buNone/>
                </a:pPr>
                <a:r>
                  <a:rPr lang="en-US" dirty="0" err="1"/>
                  <a:t>Naravno</a:t>
                </a:r>
                <a:r>
                  <a:rPr lang="en-US" dirty="0"/>
                  <a:t>, </a:t>
                </a:r>
                <a:r>
                  <a:rPr lang="en-US" dirty="0" err="1"/>
                  <a:t>ovo</a:t>
                </a:r>
                <a:r>
                  <a:rPr lang="en-US" dirty="0"/>
                  <a:t> </a:t>
                </a:r>
                <a:r>
                  <a:rPr lang="en-US" dirty="0" err="1"/>
                  <a:t>je</a:t>
                </a:r>
                <a:r>
                  <a:rPr lang="en-US" dirty="0"/>
                  <a:t> </a:t>
                </a:r>
                <a:r>
                  <a:rPr lang="en-US" dirty="0" err="1"/>
                  <a:t>samo</a:t>
                </a:r>
                <a:r>
                  <a:rPr lang="en-US" dirty="0"/>
                  <a:t> </a:t>
                </a:r>
                <a:r>
                  <a:rPr lang="en-US" dirty="0" err="1"/>
                  <a:t>teorijsko</a:t>
                </a:r>
                <a:r>
                  <a:rPr lang="en-US" dirty="0"/>
                  <a:t> </a:t>
                </a:r>
                <a:r>
                  <a:rPr lang="en-US" dirty="0" err="1"/>
                  <a:t>razmatranje</a:t>
                </a:r>
                <a:r>
                  <a:rPr lang="en-US" dirty="0"/>
                  <a:t> </a:t>
                </a:r>
                <a:r>
                  <a:rPr lang="en-US" dirty="0" err="1"/>
                  <a:t>koje</a:t>
                </a:r>
                <a:r>
                  <a:rPr lang="en-US" dirty="0"/>
                  <a:t> ne </a:t>
                </a:r>
                <a:r>
                  <a:rPr lang="en-US" dirty="0" err="1"/>
                  <a:t>uzima</a:t>
                </a:r>
                <a:r>
                  <a:rPr lang="en-US" dirty="0"/>
                  <a:t> u </a:t>
                </a:r>
                <a:r>
                  <a:rPr lang="en-US" dirty="0" err="1"/>
                  <a:t>obzir</a:t>
                </a:r>
                <a:r>
                  <a:rPr lang="en-US" dirty="0"/>
                  <a:t> </a:t>
                </a:r>
                <a:r>
                  <a:rPr lang="en-US" dirty="0" err="1"/>
                  <a:t>druga</a:t>
                </a:r>
                <a:r>
                  <a:rPr lang="en-US" dirty="0"/>
                  <a:t> </a:t>
                </a:r>
                <a:r>
                  <a:rPr lang="en-US" dirty="0" err="1"/>
                  <a:t>hardverska</a:t>
                </a:r>
                <a:r>
                  <a:rPr lang="en-US" dirty="0"/>
                  <a:t> </a:t>
                </a:r>
                <a:r>
                  <a:rPr lang="en-US" dirty="0" err="1"/>
                  <a:t>sredstva</a:t>
                </a:r>
                <a:r>
                  <a:rPr lang="en-US" dirty="0"/>
                  <a:t> </a:t>
                </a:r>
                <a:r>
                  <a:rPr lang="en-US" dirty="0" err="1"/>
                  <a:t>koja</a:t>
                </a:r>
                <a:r>
                  <a:rPr lang="en-US" dirty="0"/>
                  <a:t> </a:t>
                </a:r>
                <a:r>
                  <a:rPr lang="en-US" dirty="0" err="1"/>
                  <a:t>postoje</a:t>
                </a:r>
                <a:r>
                  <a:rPr lang="en-US" dirty="0"/>
                  <a:t> u </a:t>
                </a:r>
                <a:r>
                  <a:rPr lang="en-US" dirty="0" err="1"/>
                  <a:t>procesorima</a:t>
                </a:r>
                <a:r>
                  <a:rPr lang="en-US" dirty="0"/>
                  <a:t>, pa </a:t>
                </a:r>
                <a:r>
                  <a:rPr lang="en-US" dirty="0" err="1"/>
                  <a:t>je</a:t>
                </a:r>
                <a:r>
                  <a:rPr lang="en-US" dirty="0"/>
                  <a:t> </a:t>
                </a:r>
                <a:r>
                  <a:rPr lang="en-US" dirty="0" err="1"/>
                  <a:t>hardversko</a:t>
                </a:r>
                <a:r>
                  <a:rPr lang="en-US" dirty="0"/>
                  <a:t> </a:t>
                </a:r>
                <a:r>
                  <a:rPr lang="en-US" dirty="0" err="1"/>
                  <a:t>rutiranje</a:t>
                </a:r>
                <a:r>
                  <a:rPr lang="en-US" dirty="0"/>
                  <a:t> </a:t>
                </a:r>
                <a:r>
                  <a:rPr lang="en-US" dirty="0" err="1"/>
                  <a:t>verovatno</a:t>
                </a:r>
                <a:r>
                  <a:rPr lang="en-US" dirty="0"/>
                  <a:t> </a:t>
                </a:r>
                <a:r>
                  <a:rPr lang="en-US" dirty="0" err="1"/>
                  <a:t>efikasnije</a:t>
                </a:r>
                <a:r>
                  <a:rPr lang="en-US"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21</a:t>
            </a:fld>
            <a:endParaRPr lang="en-US"/>
          </a:p>
        </p:txBody>
      </p:sp>
    </p:spTree>
    <p:extLst>
      <p:ext uri="{BB962C8B-B14F-4D97-AF65-F5344CB8AC3E}">
        <p14:creationId xmlns:p14="http://schemas.microsoft.com/office/powerpoint/2010/main" val="35159309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An interesting equivalence arises where CNOT gates behave like mirror images.</a:t>
                </a:r>
              </a:p>
              <a:p>
                <a:pPr algn="just"/>
                <a:endParaRPr lang="en-ZA" dirty="0"/>
              </a:p>
              <a:p>
                <a:pPr algn="just"/>
                <a:r>
                  <a:rPr lang="en-ZA" dirty="0"/>
                  <a:t>The circuit shown includes a CNOT gate between the first and third qubits, followed by a pair of CNOT gates involving the middle qubit. It can be shown that shifting the initial CNOT gate from the left to the right side of the group does not alter the circuit’s final state.</a:t>
                </a:r>
              </a:p>
              <a:p>
                <a:pPr algn="just"/>
                <a:endParaRPr lang="en-ZA" dirty="0"/>
              </a:p>
              <a:p>
                <a:pPr algn="just"/>
                <a:r>
                  <a:rPr lang="en-ZA" dirty="0"/>
                  <a:t>The same holds true if the two CNOT gates within the group switch places. Even in this configuration, moving the initial CNOT from the left to the right side of the group leaves the circuit’s state unchanged.</a:t>
                </a:r>
              </a:p>
            </p:txBody>
          </p:sp>
        </mc:Choice>
        <mc:Fallback xmlns="">
          <p:sp>
            <p:nvSpPr>
              <p:cNvPr id="3" name="Notes Placeholder 2"/>
              <p:cNvSpPr>
                <a:spLocks noGrp="1"/>
              </p:cNvSpPr>
              <p:nvPr>
                <p:ph type="body" idx="1"/>
              </p:nvPr>
            </p:nvSpPr>
            <p:spPr/>
            <p:txBody>
              <a:bodyPr/>
              <a:lstStyle/>
              <a:p>
                <a:r>
                  <a:rPr lang="en-US" dirty="0" err="1"/>
                  <a:t>Jedan</a:t>
                </a:r>
                <a:r>
                  <a:rPr lang="en-US" dirty="0"/>
                  <a:t> od </a:t>
                </a:r>
                <a:r>
                  <a:rPr lang="en-US" dirty="0" err="1"/>
                  <a:t>zadataka</a:t>
                </a:r>
                <a:r>
                  <a:rPr lang="en-US" dirty="0"/>
                  <a:t> </a:t>
                </a:r>
                <a:r>
                  <a:rPr lang="en-US" dirty="0" err="1"/>
                  <a:t>programskog</a:t>
                </a:r>
                <a:r>
                  <a:rPr lang="en-US" dirty="0"/>
                  <a:t> </a:t>
                </a:r>
                <a:r>
                  <a:rPr lang="en-US" dirty="0" err="1"/>
                  <a:t>prevodioca</a:t>
                </a:r>
                <a:r>
                  <a:rPr lang="en-US" dirty="0"/>
                  <a:t> </a:t>
                </a:r>
                <a:r>
                  <a:rPr lang="en-US" dirty="0" err="1"/>
                  <a:t>je</a:t>
                </a:r>
                <a:r>
                  <a:rPr lang="en-US" dirty="0"/>
                  <a:t> da </a:t>
                </a:r>
                <a:r>
                  <a:rPr lang="en-US" dirty="0" err="1"/>
                  <a:t>nađe</a:t>
                </a:r>
                <a:r>
                  <a:rPr lang="en-US" dirty="0"/>
                  <a:t> </a:t>
                </a:r>
                <a:r>
                  <a:rPr lang="en-US" dirty="0" err="1"/>
                  <a:t>putanju</a:t>
                </a:r>
                <a:r>
                  <a:rPr lang="en-US" dirty="0"/>
                  <a:t> </a:t>
                </a:r>
                <a:r>
                  <a:rPr lang="en-US" dirty="0" err="1"/>
                  <a:t>između</a:t>
                </a:r>
                <a:r>
                  <a:rPr lang="en-US" dirty="0"/>
                  <a:t> </a:t>
                </a:r>
                <a:r>
                  <a:rPr lang="en-US" dirty="0" err="1"/>
                  <a:t>kontrolnog</a:t>
                </a:r>
                <a:r>
                  <a:rPr lang="en-US" dirty="0"/>
                  <a:t> </a:t>
                </a:r>
                <a:r>
                  <a:rPr lang="en-US" dirty="0" err="1"/>
                  <a:t>i</a:t>
                </a:r>
                <a:r>
                  <a:rPr lang="en-US" dirty="0"/>
                  <a:t> </a:t>
                </a:r>
                <a:r>
                  <a:rPr lang="en-US" dirty="0" err="1"/>
                  <a:t>ciljnog</a:t>
                </a:r>
                <a:r>
                  <a:rPr lang="en-US" dirty="0"/>
                  <a:t> kubita u </a:t>
                </a:r>
                <a:r>
                  <a:rPr lang="en-US" dirty="0" err="1"/>
                  <a:t>slučaju</a:t>
                </a:r>
                <a:r>
                  <a:rPr lang="en-US" dirty="0"/>
                  <a:t> da ne </a:t>
                </a:r>
                <a:r>
                  <a:rPr lang="en-US" dirty="0" err="1"/>
                  <a:t>postoji</a:t>
                </a:r>
                <a:r>
                  <a:rPr lang="en-US" dirty="0"/>
                  <a:t> </a:t>
                </a:r>
                <a:r>
                  <a:rPr lang="en-US" dirty="0" err="1"/>
                  <a:t>hardverska</a:t>
                </a:r>
                <a:r>
                  <a:rPr lang="en-US" dirty="0"/>
                  <a:t> </a:t>
                </a:r>
                <a:r>
                  <a:rPr lang="en-US" dirty="0" err="1"/>
                  <a:t>veza</a:t>
                </a:r>
                <a:r>
                  <a:rPr lang="en-US" dirty="0"/>
                  <a:t> </a:t>
                </a:r>
                <a:r>
                  <a:rPr lang="en-US" dirty="0" err="1"/>
                  <a:t>između</a:t>
                </a:r>
                <a:r>
                  <a:rPr lang="en-US" dirty="0"/>
                  <a:t> </a:t>
                </a:r>
                <a:r>
                  <a:rPr lang="en-US" dirty="0" err="1"/>
                  <a:t>njih</a:t>
                </a:r>
                <a:r>
                  <a:rPr lang="en-US" dirty="0"/>
                  <a:t>. </a:t>
                </a:r>
                <a:r>
                  <a:rPr lang="en-US" dirty="0" err="1"/>
                  <a:t>Neka</a:t>
                </a:r>
                <a:r>
                  <a:rPr lang="en-US" dirty="0"/>
                  <a:t> u program </a:t>
                </a:r>
                <a:r>
                  <a:rPr lang="en-US" dirty="0" err="1"/>
                  <a:t>cX</a:t>
                </a:r>
                <a:r>
                  <a:rPr lang="en-US" dirty="0"/>
                  <a:t> </a:t>
                </a:r>
                <a:r>
                  <a:rPr lang="en-US" dirty="0" err="1"/>
                  <a:t>elementarno</a:t>
                </a:r>
                <a:r>
                  <a:rPr lang="en-US" dirty="0"/>
                  <a:t> </a:t>
                </a:r>
                <a:r>
                  <a:rPr lang="en-US" dirty="0" err="1"/>
                  <a:t>kolo</a:t>
                </a:r>
                <a:r>
                  <a:rPr lang="en-US" dirty="0"/>
                  <a:t> </a:t>
                </a:r>
                <a:r>
                  <a:rPr lang="en-US" dirty="0" err="1"/>
                  <a:t>povezuje</a:t>
                </a:r>
                <a:r>
                  <a:rPr lang="en-US" dirty="0"/>
                  <a:t> kubite C </a:t>
                </a:r>
                <a:r>
                  <a:rPr lang="en-US" dirty="0" err="1"/>
                  <a:t>i</a:t>
                </a:r>
                <a:r>
                  <a:rPr lang="en-US" dirty="0"/>
                  <a:t> T. </a:t>
                </a:r>
                <a:r>
                  <a:rPr lang="en-US" dirty="0" err="1"/>
                  <a:t>Programski</a:t>
                </a:r>
                <a:r>
                  <a:rPr lang="en-US" dirty="0"/>
                  <a:t> </a:t>
                </a:r>
                <a:r>
                  <a:rPr lang="en-US" dirty="0" err="1"/>
                  <a:t>prevodilac</a:t>
                </a:r>
                <a:r>
                  <a:rPr lang="en-US" dirty="0"/>
                  <a:t> </a:t>
                </a:r>
                <a:r>
                  <a:rPr lang="en-US" dirty="0" err="1"/>
                  <a:t>je</a:t>
                </a:r>
                <a:r>
                  <a:rPr lang="en-US" dirty="0"/>
                  <a:t> </a:t>
                </a:r>
                <a:r>
                  <a:rPr lang="en-US" dirty="0" err="1"/>
                  <a:t>našao</a:t>
                </a:r>
                <a:r>
                  <a:rPr lang="en-US" dirty="0"/>
                  <a:t> da </a:t>
                </a:r>
                <a:r>
                  <a:rPr lang="en-US" dirty="0" err="1"/>
                  <a:t>je</a:t>
                </a:r>
                <a:r>
                  <a:rPr lang="en-US" dirty="0"/>
                  <a:t> </a:t>
                </a:r>
                <a:r>
                  <a:rPr lang="en-US" dirty="0" err="1"/>
                  <a:t>ovo</a:t>
                </a:r>
                <a:r>
                  <a:rPr lang="en-US" dirty="0"/>
                  <a:t> </a:t>
                </a:r>
                <a:r>
                  <a:rPr lang="en-US" dirty="0" err="1"/>
                  <a:t>moguće</a:t>
                </a:r>
                <a:r>
                  <a:rPr lang="en-US" dirty="0"/>
                  <a:t> </a:t>
                </a:r>
                <a:r>
                  <a:rPr lang="en-US" dirty="0" err="1"/>
                  <a:t>uz</a:t>
                </a:r>
                <a:r>
                  <a:rPr lang="en-US" dirty="0"/>
                  <a:t> </a:t>
                </a:r>
                <a:r>
                  <a:rPr lang="en-US" dirty="0" err="1"/>
                  <a:t>pomoć</a:t>
                </a:r>
                <a:r>
                  <a:rPr lang="en-US" dirty="0"/>
                  <a:t> </a:t>
                </a:r>
                <a:r>
                  <a:rPr lang="en-US" dirty="0" err="1"/>
                  <a:t>dodatnog</a:t>
                </a:r>
                <a:r>
                  <a:rPr lang="en-US" dirty="0"/>
                  <a:t> kubita A </a:t>
                </a:r>
                <a:r>
                  <a:rPr lang="en-US" dirty="0" err="1"/>
                  <a:t>koji</a:t>
                </a:r>
                <a:r>
                  <a:rPr lang="en-US" dirty="0"/>
                  <a:t> </a:t>
                </a:r>
                <a:r>
                  <a:rPr lang="en-US" dirty="0" err="1"/>
                  <a:t>prihvata</a:t>
                </a:r>
                <a:r>
                  <a:rPr lang="en-US" dirty="0"/>
                  <a:t> </a:t>
                </a:r>
                <a:r>
                  <a:rPr lang="en-US" dirty="0" err="1"/>
                  <a:t>cX</a:t>
                </a:r>
                <a:r>
                  <a:rPr lang="en-US" dirty="0"/>
                  <a:t> kola </a:t>
                </a:r>
                <a:r>
                  <a:rPr lang="en-US" dirty="0" err="1"/>
                  <a:t>između</a:t>
                </a:r>
                <a:r>
                  <a:rPr lang="en-US" dirty="0"/>
                  <a:t> A </a:t>
                </a:r>
                <a:r>
                  <a:rPr lang="en-US" dirty="0" err="1"/>
                  <a:t>i</a:t>
                </a:r>
                <a:r>
                  <a:rPr lang="en-US" dirty="0"/>
                  <a:t> C I </a:t>
                </a:r>
                <a:r>
                  <a:rPr lang="en-US" dirty="0" err="1"/>
                  <a:t>između</a:t>
                </a:r>
                <a:r>
                  <a:rPr lang="en-US" dirty="0"/>
                  <a:t> A </a:t>
                </a:r>
                <a:r>
                  <a:rPr lang="en-US" dirty="0" err="1"/>
                  <a:t>i</a:t>
                </a:r>
                <a:r>
                  <a:rPr lang="en-US" dirty="0"/>
                  <a:t> T. </a:t>
                </a:r>
                <a:r>
                  <a:rPr lang="en-US" dirty="0" err="1"/>
                  <a:t>Zadatak</a:t>
                </a:r>
                <a:r>
                  <a:rPr lang="en-US" dirty="0"/>
                  <a:t> </a:t>
                </a:r>
                <a:r>
                  <a:rPr lang="en-US" dirty="0" err="1"/>
                  <a:t>je</a:t>
                </a:r>
                <a:r>
                  <a:rPr lang="en-US" dirty="0"/>
                  <a:t> da se </a:t>
                </a:r>
                <a:r>
                  <a:rPr lang="en-US" dirty="0" err="1"/>
                  <a:t>originalno</a:t>
                </a:r>
                <a:r>
                  <a:rPr lang="en-US" dirty="0"/>
                  <a:t> </a:t>
                </a:r>
                <a:r>
                  <a:rPr lang="en-US" dirty="0" err="1"/>
                  <a:t>cX</a:t>
                </a:r>
                <a:r>
                  <a:rPr lang="en-US" dirty="0"/>
                  <a:t> </a:t>
                </a:r>
                <a:r>
                  <a:rPr lang="en-US" dirty="0" err="1"/>
                  <a:t>kolo</a:t>
                </a:r>
                <a:r>
                  <a:rPr lang="en-US" dirty="0"/>
                  <a:t> </a:t>
                </a:r>
                <a:r>
                  <a:rPr lang="en-US" dirty="0" err="1"/>
                  <a:t>zameni</a:t>
                </a:r>
                <a:r>
                  <a:rPr lang="en-US" dirty="0"/>
                  <a:t> </a:t>
                </a:r>
                <a:r>
                  <a:rPr lang="en-US" dirty="0" err="1"/>
                  <a:t>sekvencom</a:t>
                </a:r>
                <a:r>
                  <a:rPr lang="en-US" dirty="0"/>
                  <a:t> kola </a:t>
                </a:r>
                <a:r>
                  <a:rPr lang="en-US" dirty="0" err="1"/>
                  <a:t>koja</a:t>
                </a:r>
                <a:r>
                  <a:rPr lang="en-US" dirty="0"/>
                  <a:t> </a:t>
                </a:r>
                <a:r>
                  <a:rPr lang="en-US" dirty="0" err="1"/>
                  <a:t>će</a:t>
                </a:r>
                <a:r>
                  <a:rPr lang="en-US" dirty="0"/>
                  <a:t> </a:t>
                </a:r>
                <a:r>
                  <a:rPr lang="en-US" dirty="0" err="1"/>
                  <a:t>koristiti</a:t>
                </a:r>
                <a:r>
                  <a:rPr lang="en-US" dirty="0"/>
                  <a:t> </a:t>
                </a:r>
                <a:r>
                  <a:rPr lang="en-US" dirty="0" err="1"/>
                  <a:t>pomoćni</a:t>
                </a:r>
                <a:r>
                  <a:rPr lang="en-US" dirty="0"/>
                  <a:t> kubit A.</a:t>
                </a:r>
              </a:p>
              <a:p>
                <a:endParaRPr lang="en-US" dirty="0"/>
              </a:p>
              <a:p>
                <a:r>
                  <a:rPr lang="en-US" dirty="0" err="1"/>
                  <a:t>Kombinovano</a:t>
                </a:r>
                <a:r>
                  <a:rPr lang="en-US" dirty="0"/>
                  <a:t> </a:t>
                </a:r>
                <a:r>
                  <a:rPr lang="en-US" dirty="0" err="1"/>
                  <a:t>stanje</a:t>
                </a:r>
                <a:r>
                  <a:rPr lang="en-US" dirty="0"/>
                  <a:t> kubita </a:t>
                </a:r>
                <a:r>
                  <a:rPr lang="en-US" dirty="0" err="1"/>
                  <a:t>na</a:t>
                </a:r>
                <a:r>
                  <a:rPr lang="en-US" dirty="0"/>
                  <a:t> </a:t>
                </a:r>
                <a:r>
                  <a:rPr lang="en-US" dirty="0" err="1"/>
                  <a:t>ulazu</a:t>
                </a:r>
                <a:r>
                  <a:rPr lang="en-US" dirty="0"/>
                  <a:t> u </a:t>
                </a:r>
                <a:r>
                  <a:rPr lang="en-US" dirty="0" err="1"/>
                  <a:t>kolo</a:t>
                </a:r>
                <a:r>
                  <a:rPr lang="en-US" dirty="0"/>
                  <a:t> </a:t>
                </a:r>
                <a:r>
                  <a:rPr lang="en-US" dirty="0" err="1"/>
                  <a:t>je</a:t>
                </a:r>
                <a:r>
                  <a:rPr lang="en-US" dirty="0"/>
                  <a:t> |CAT⟩ a </a:t>
                </a:r>
                <a:r>
                  <a:rPr lang="en-US" dirty="0" err="1"/>
                  <a:t>na</a:t>
                </a:r>
                <a:r>
                  <a:rPr lang="en-US" dirty="0"/>
                  <a:t> </a:t>
                </a:r>
                <a:r>
                  <a:rPr lang="en-US" dirty="0" err="1"/>
                  <a:t>izlazu</a:t>
                </a:r>
                <a:r>
                  <a:rPr lang="en-US" dirty="0"/>
                  <a:t> </a:t>
                </a:r>
                <a:r>
                  <a:rPr lang="en-US" dirty="0" err="1"/>
                  <a:t>je</a:t>
                </a:r>
                <a:r>
                  <a:rPr lang="en-US" dirty="0"/>
                  <a:t> |CA⟩ </a:t>
                </a:r>
                <a:r>
                  <a:rPr lang="en-US" dirty="0" err="1"/>
                  <a:t>iza</a:t>
                </a:r>
                <a:r>
                  <a:rPr lang="en-US" dirty="0"/>
                  <a:t> </a:t>
                </a:r>
                <a:r>
                  <a:rPr lang="en-US" dirty="0" err="1"/>
                  <a:t>koga</a:t>
                </a:r>
                <a:r>
                  <a:rPr lang="en-US" dirty="0"/>
                  <a:t> </a:t>
                </a:r>
                <a:r>
                  <a:rPr lang="en-US" dirty="0" err="1"/>
                  <a:t>sledi</a:t>
                </a:r>
                <a:r>
                  <a:rPr lang="en-US" dirty="0"/>
                  <a:t> </a:t>
                </a:r>
                <a:r>
                  <a:rPr lang="en-US" sz="1200" i="0">
                    <a:latin typeface="Cambria Math" panose="02040503050406030204" pitchFamily="18" charset="0"/>
                  </a:rPr>
                  <a:t>|𝐶</a:t>
                </a:r>
                <a:r>
                  <a:rPr lang="en-US" sz="1200" i="0">
                    <a:latin typeface="Cambria Math" panose="02040503050406030204" pitchFamily="18" charset="0"/>
                    <a:ea typeface="Cambria Math" panose="02040503050406030204" pitchFamily="18" charset="0"/>
                  </a:rPr>
                  <a:t>⨁</a:t>
                </a:r>
                <a:r>
                  <a:rPr lang="en-US" sz="1200" i="0">
                    <a:latin typeface="Cambria Math" panose="02040503050406030204" pitchFamily="18" charset="0"/>
                  </a:rPr>
                  <a:t>𝑇⟩</a:t>
                </a:r>
                <a:r>
                  <a:rPr lang="en-US" dirty="0"/>
                  <a:t> </a:t>
                </a:r>
                <a:r>
                  <a:rPr lang="en-US" dirty="0" err="1"/>
                  <a:t>jer</a:t>
                </a:r>
                <a:r>
                  <a:rPr lang="en-US" dirty="0"/>
                  <a:t> </a:t>
                </a:r>
                <a:r>
                  <a:rPr lang="en-US" dirty="0" err="1"/>
                  <a:t>je</a:t>
                </a:r>
                <a:r>
                  <a:rPr lang="en-US" dirty="0"/>
                  <a:t> </a:t>
                </a:r>
                <a:r>
                  <a:rPr lang="en-US" dirty="0" err="1"/>
                  <a:t>ciljni</a:t>
                </a:r>
                <a:r>
                  <a:rPr lang="en-US" dirty="0"/>
                  <a:t> kubit </a:t>
                </a:r>
                <a:r>
                  <a:rPr lang="en-US" dirty="0" err="1"/>
                  <a:t>dat</a:t>
                </a:r>
                <a:r>
                  <a:rPr lang="en-US" dirty="0"/>
                  <a:t> </a:t>
                </a:r>
                <a:r>
                  <a:rPr lang="en-US" dirty="0" err="1"/>
                  <a:t>kao</a:t>
                </a:r>
                <a:r>
                  <a:rPr lang="en-US" dirty="0"/>
                  <a:t> XOR </a:t>
                </a:r>
                <a:r>
                  <a:rPr lang="en-US" dirty="0" err="1"/>
                  <a:t>operacija</a:t>
                </a:r>
                <a:r>
                  <a:rPr lang="en-US" dirty="0"/>
                  <a:t> </a:t>
                </a:r>
                <a:r>
                  <a:rPr lang="en-US" dirty="0" err="1"/>
                  <a:t>kontrolnog</a:t>
                </a:r>
                <a:r>
                  <a:rPr lang="en-US" dirty="0"/>
                  <a:t> </a:t>
                </a:r>
                <a:r>
                  <a:rPr lang="en-US" dirty="0" err="1"/>
                  <a:t>i</a:t>
                </a:r>
                <a:r>
                  <a:rPr lang="en-US" baseline="0" dirty="0"/>
                  <a:t> </a:t>
                </a:r>
                <a:r>
                  <a:rPr lang="en-US" baseline="0" dirty="0" err="1"/>
                  <a:t>ulazne</a:t>
                </a:r>
                <a:r>
                  <a:rPr lang="en-US" baseline="0" dirty="0"/>
                  <a:t> </a:t>
                </a:r>
                <a:r>
                  <a:rPr lang="en-US" baseline="0" dirty="0" err="1"/>
                  <a:t>vrednosti</a:t>
                </a:r>
                <a:r>
                  <a:rPr lang="en-US" baseline="0" dirty="0"/>
                  <a:t> </a:t>
                </a:r>
                <a:r>
                  <a:rPr lang="en-US" baseline="0" dirty="0" err="1"/>
                  <a:t>ciljnog</a:t>
                </a:r>
                <a:r>
                  <a:rPr lang="en-US" baseline="0" dirty="0"/>
                  <a:t> kubita. </a:t>
                </a:r>
                <a:r>
                  <a:rPr lang="en-US" baseline="0" dirty="0" err="1"/>
                  <a:t>Cilj</a:t>
                </a:r>
                <a:r>
                  <a:rPr lang="en-US" baseline="0" dirty="0"/>
                  <a:t> </a:t>
                </a:r>
                <a:r>
                  <a:rPr lang="en-US" baseline="0" dirty="0" err="1"/>
                  <a:t>je</a:t>
                </a:r>
                <a:r>
                  <a:rPr lang="en-US" baseline="0" dirty="0"/>
                  <a:t> da </a:t>
                </a:r>
                <a:r>
                  <a:rPr lang="en-US" baseline="0" dirty="0" err="1"/>
                  <a:t>distribuiramo</a:t>
                </a:r>
                <a:r>
                  <a:rPr lang="en-US" baseline="0" dirty="0"/>
                  <a:t> </a:t>
                </a:r>
                <a:r>
                  <a:rPr lang="en-US" baseline="0" dirty="0" err="1"/>
                  <a:t>cX</a:t>
                </a:r>
                <a:r>
                  <a:rPr lang="en-US" baseline="0" dirty="0"/>
                  <a:t> </a:t>
                </a:r>
                <a:r>
                  <a:rPr lang="en-US" baseline="0" dirty="0" err="1"/>
                  <a:t>operaciju</a:t>
                </a:r>
                <a:r>
                  <a:rPr lang="en-US" baseline="0" dirty="0"/>
                  <a:t> </a:t>
                </a:r>
                <a:r>
                  <a:rPr lang="en-US" baseline="0" dirty="0" err="1"/>
                  <a:t>preko</a:t>
                </a:r>
                <a:r>
                  <a:rPr lang="en-US" baseline="0" dirty="0"/>
                  <a:t> tri kubita.</a:t>
                </a:r>
              </a:p>
              <a:p>
                <a:pPr marL="228600" indent="-228600">
                  <a:buFont typeface="+mj-lt"/>
                  <a:buAutoNum type="arabicPeriod"/>
                </a:pPr>
                <a:r>
                  <a:rPr lang="en-US" baseline="0" dirty="0" err="1"/>
                  <a:t>Kolo</a:t>
                </a:r>
                <a:r>
                  <a:rPr lang="en-US" baseline="0" dirty="0"/>
                  <a:t> </a:t>
                </a:r>
                <a:r>
                  <a:rPr lang="en-US" baseline="0" dirty="0" err="1"/>
                  <a:t>na</a:t>
                </a:r>
                <a:r>
                  <a:rPr lang="en-US" baseline="0" dirty="0"/>
                  <a:t> </a:t>
                </a:r>
                <a:r>
                  <a:rPr lang="en-US" baseline="0" dirty="0" err="1"/>
                  <a:t>slici</a:t>
                </a:r>
                <a:r>
                  <a:rPr lang="en-US" baseline="0" dirty="0"/>
                  <a:t> </a:t>
                </a:r>
                <a:r>
                  <a:rPr lang="en-US" baseline="0" dirty="0" err="1"/>
                  <a:t>prikazuje</a:t>
                </a:r>
                <a:r>
                  <a:rPr lang="en-US" baseline="0" dirty="0"/>
                  <a:t> </a:t>
                </a:r>
                <a:r>
                  <a:rPr lang="en-US" baseline="0" dirty="0" err="1"/>
                  <a:t>prvi</a:t>
                </a:r>
                <a:r>
                  <a:rPr lang="en-US" baseline="0" dirty="0"/>
                  <a:t> </a:t>
                </a:r>
                <a:r>
                  <a:rPr lang="en-US" baseline="0" dirty="0" err="1"/>
                  <a:t>način</a:t>
                </a:r>
                <a:r>
                  <a:rPr lang="en-US" baseline="0" dirty="0"/>
                  <a:t> da se to </a:t>
                </a:r>
                <a:r>
                  <a:rPr lang="en-US" baseline="0" dirty="0" err="1"/>
                  <a:t>uradi</a:t>
                </a:r>
                <a:r>
                  <a:rPr lang="en-US" baseline="0" dirty="0"/>
                  <a:t>. U </a:t>
                </a:r>
                <a:r>
                  <a:rPr lang="en-US" baseline="0" dirty="0" err="1"/>
                  <a:t>dva</a:t>
                </a:r>
                <a:r>
                  <a:rPr lang="en-US" baseline="0" dirty="0"/>
                  <a:t> </a:t>
                </a:r>
                <a:r>
                  <a:rPr lang="en-US" baseline="0" dirty="0" err="1"/>
                  <a:t>ponavljanja</a:t>
                </a:r>
                <a:r>
                  <a:rPr lang="en-US" baseline="0" dirty="0"/>
                  <a:t> </a:t>
                </a:r>
                <a:r>
                  <a:rPr lang="en-US" baseline="0" dirty="0" err="1"/>
                  <a:t>spajaju</a:t>
                </a:r>
                <a:r>
                  <a:rPr lang="en-US" baseline="0" dirty="0"/>
                  <a:t> se </a:t>
                </a:r>
                <a:r>
                  <a:rPr lang="en-US" baseline="0" dirty="0" err="1"/>
                  <a:t>prvi</a:t>
                </a:r>
                <a:r>
                  <a:rPr lang="en-US" baseline="0" dirty="0"/>
                  <a:t> </a:t>
                </a:r>
                <a:r>
                  <a:rPr lang="en-US" baseline="0" dirty="0" err="1"/>
                  <a:t>sa</a:t>
                </a:r>
                <a:r>
                  <a:rPr lang="en-US" baseline="0" dirty="0"/>
                  <a:t> </a:t>
                </a:r>
                <a:r>
                  <a:rPr lang="en-US" baseline="0" dirty="0" err="1"/>
                  <a:t>pomoćnim</a:t>
                </a:r>
                <a:r>
                  <a:rPr lang="en-US" baseline="0" dirty="0"/>
                  <a:t> </a:t>
                </a:r>
                <a:r>
                  <a:rPr lang="en-US" baseline="0" dirty="0" err="1"/>
                  <a:t>i</a:t>
                </a:r>
                <a:r>
                  <a:rPr lang="en-US" baseline="0" dirty="0"/>
                  <a:t> </a:t>
                </a:r>
                <a:r>
                  <a:rPr lang="en-US" baseline="0" dirty="0" err="1"/>
                  <a:t>pomoćni</a:t>
                </a:r>
                <a:r>
                  <a:rPr lang="en-US" baseline="0" dirty="0"/>
                  <a:t> </a:t>
                </a:r>
                <a:r>
                  <a:rPr lang="en-US" baseline="0" dirty="0" err="1"/>
                  <a:t>sa</a:t>
                </a:r>
                <a:r>
                  <a:rPr lang="en-US" baseline="0" dirty="0"/>
                  <a:t> </a:t>
                </a:r>
                <a:r>
                  <a:rPr lang="en-US" baseline="0" dirty="0" err="1"/>
                  <a:t>ciljnim</a:t>
                </a:r>
                <a:r>
                  <a:rPr lang="en-US" baseline="0" dirty="0"/>
                  <a:t> kubitom. </a:t>
                </a:r>
                <a:r>
                  <a:rPr lang="en-US" baseline="0" dirty="0" err="1"/>
                  <a:t>Uzimajući</a:t>
                </a:r>
                <a:r>
                  <a:rPr lang="en-US" baseline="0" dirty="0"/>
                  <a:t> u </a:t>
                </a:r>
                <a:r>
                  <a:rPr lang="en-US" baseline="0" dirty="0" err="1"/>
                  <a:t>obzir</a:t>
                </a:r>
                <a:r>
                  <a:rPr lang="en-US" baseline="0" dirty="0"/>
                  <a:t> da </a:t>
                </a:r>
                <a:r>
                  <a:rPr lang="en-US" baseline="0" dirty="0" err="1"/>
                  <a:t>za</a:t>
                </a:r>
                <a:r>
                  <a:rPr lang="en-US" baseline="0" dirty="0"/>
                  <a:t> </a:t>
                </a:r>
                <a:r>
                  <a:rPr lang="en-US" baseline="0" dirty="0" err="1"/>
                  <a:t>neku</a:t>
                </a:r>
                <a:r>
                  <a:rPr lang="en-US" baseline="0" dirty="0"/>
                  <a:t> </a:t>
                </a:r>
                <a:r>
                  <a:rPr lang="en-US" baseline="0" dirty="0" err="1"/>
                  <a:t>logičku</a:t>
                </a:r>
                <a:r>
                  <a:rPr lang="en-US" baseline="0" dirty="0"/>
                  <a:t> </a:t>
                </a:r>
                <a:r>
                  <a:rPr lang="en-US" baseline="0" dirty="0" err="1"/>
                  <a:t>promenljivu</a:t>
                </a:r>
                <a:r>
                  <a:rPr lang="en-US" baseline="0" dirty="0"/>
                  <a:t> L </a:t>
                </a:r>
                <a:r>
                  <a:rPr lang="en-US" baseline="0" dirty="0" err="1"/>
                  <a:t>važi</a:t>
                </a:r>
                <a:r>
                  <a:rPr lang="en-US" baseline="0" dirty="0"/>
                  <a:t> da </a:t>
                </a:r>
                <a:r>
                  <a:rPr lang="en-US" baseline="0" dirty="0" err="1"/>
                  <a:t>je</a:t>
                </a:r>
                <a:r>
                  <a:rPr lang="en-US" baseline="0" dirty="0"/>
                  <a:t> L⨁L=0, </a:t>
                </a:r>
                <a:r>
                  <a:rPr lang="en-US" baseline="0" dirty="0" err="1"/>
                  <a:t>može</a:t>
                </a:r>
                <a:r>
                  <a:rPr lang="en-US" baseline="0" dirty="0"/>
                  <a:t> se </a:t>
                </a:r>
                <a:r>
                  <a:rPr lang="en-US" baseline="0" dirty="0" err="1"/>
                  <a:t>pratiti</a:t>
                </a:r>
                <a:r>
                  <a:rPr lang="en-US" baseline="0" dirty="0"/>
                  <a:t> </a:t>
                </a:r>
                <a:r>
                  <a:rPr lang="en-US" baseline="0" dirty="0" err="1"/>
                  <a:t>kombinovano</a:t>
                </a:r>
                <a:r>
                  <a:rPr lang="en-US" baseline="0" dirty="0"/>
                  <a:t> </a:t>
                </a:r>
                <a:r>
                  <a:rPr lang="en-US" baseline="0" dirty="0" err="1"/>
                  <a:t>stanje</a:t>
                </a:r>
                <a:r>
                  <a:rPr lang="en-US" baseline="0" dirty="0"/>
                  <a:t> tri kubita </a:t>
                </a:r>
                <a:r>
                  <a:rPr lang="en-US" baseline="0" dirty="0" err="1"/>
                  <a:t>kroz</a:t>
                </a:r>
                <a:r>
                  <a:rPr lang="en-US" baseline="0" dirty="0"/>
                  <a:t> kola. Na </a:t>
                </a:r>
                <a:r>
                  <a:rPr lang="en-US" baseline="0" dirty="0" err="1"/>
                  <a:t>kraju</a:t>
                </a:r>
                <a:r>
                  <a:rPr lang="en-US" baseline="0" dirty="0"/>
                  <a:t> se </a:t>
                </a:r>
                <a:r>
                  <a:rPr lang="en-US" baseline="0" dirty="0" err="1"/>
                  <a:t>dobija</a:t>
                </a:r>
                <a:r>
                  <a:rPr lang="en-US" baseline="0" dirty="0"/>
                  <a:t> </a:t>
                </a:r>
                <a:r>
                  <a:rPr lang="en-US" baseline="0" dirty="0" err="1"/>
                  <a:t>isti</a:t>
                </a:r>
                <a:r>
                  <a:rPr lang="en-US" baseline="0" dirty="0"/>
                  <a:t> </a:t>
                </a:r>
                <a:r>
                  <a:rPr lang="en-US" baseline="0" dirty="0" err="1"/>
                  <a:t>rezultat</a:t>
                </a:r>
                <a:r>
                  <a:rPr lang="en-US" baseline="0" dirty="0"/>
                  <a:t> </a:t>
                </a:r>
                <a:r>
                  <a:rPr lang="en-US" baseline="0" dirty="0" err="1"/>
                  <a:t>kao</a:t>
                </a:r>
                <a:r>
                  <a:rPr lang="en-US" baseline="0" dirty="0"/>
                  <a:t> </a:t>
                </a:r>
                <a:r>
                  <a:rPr lang="en-US" baseline="0" dirty="0" err="1"/>
                  <a:t>i</a:t>
                </a:r>
                <a:r>
                  <a:rPr lang="en-US" baseline="0" dirty="0"/>
                  <a:t> u </a:t>
                </a:r>
                <a:r>
                  <a:rPr lang="en-US" baseline="0" dirty="0" err="1"/>
                  <a:t>slučaju</a:t>
                </a:r>
                <a:r>
                  <a:rPr lang="en-US" baseline="0" dirty="0"/>
                  <a:t> </a:t>
                </a:r>
                <a:r>
                  <a:rPr lang="en-US" baseline="0" dirty="0" err="1"/>
                  <a:t>originalnog</a:t>
                </a:r>
                <a:r>
                  <a:rPr lang="en-US" baseline="0" dirty="0"/>
                  <a:t> kola.</a:t>
                </a:r>
              </a:p>
              <a:p>
                <a:pPr marL="228600" indent="-228600">
                  <a:buFont typeface="+mj-lt"/>
                  <a:buAutoNum type="arabicPeriod"/>
                </a:pPr>
                <a:r>
                  <a:rPr lang="en-US" baseline="0" dirty="0" err="1"/>
                  <a:t>Kolo</a:t>
                </a:r>
                <a:r>
                  <a:rPr lang="en-US" baseline="0" dirty="0"/>
                  <a:t> </a:t>
                </a:r>
                <a:r>
                  <a:rPr lang="en-US" baseline="0" dirty="0" err="1"/>
                  <a:t>na</a:t>
                </a:r>
                <a:r>
                  <a:rPr lang="en-US" baseline="0" dirty="0"/>
                  <a:t> </a:t>
                </a:r>
                <a:r>
                  <a:rPr lang="en-US" baseline="0" dirty="0" err="1"/>
                  <a:t>desnoj</a:t>
                </a:r>
                <a:r>
                  <a:rPr lang="en-US" baseline="0" dirty="0"/>
                  <a:t> </a:t>
                </a:r>
                <a:r>
                  <a:rPr lang="en-US" baseline="0" dirty="0" err="1"/>
                  <a:t>strani</a:t>
                </a:r>
                <a:r>
                  <a:rPr lang="en-US" baseline="0" dirty="0"/>
                  <a:t> </a:t>
                </a:r>
                <a:r>
                  <a:rPr lang="en-US" baseline="0" dirty="0" err="1"/>
                  <a:t>prikazuje</a:t>
                </a:r>
                <a:r>
                  <a:rPr lang="en-US" baseline="0" dirty="0"/>
                  <a:t> </a:t>
                </a:r>
                <a:r>
                  <a:rPr lang="en-US" baseline="0" dirty="0" err="1"/>
                  <a:t>alternativno</a:t>
                </a:r>
                <a:r>
                  <a:rPr lang="en-US" baseline="0" dirty="0"/>
                  <a:t> </a:t>
                </a:r>
                <a:r>
                  <a:rPr lang="en-US" baseline="0" dirty="0" err="1"/>
                  <a:t>rešenje</a:t>
                </a:r>
                <a:r>
                  <a:rPr lang="en-US" baseline="0" dirty="0"/>
                  <a:t> </a:t>
                </a:r>
                <a:r>
                  <a:rPr lang="en-US" baseline="0" dirty="0" err="1"/>
                  <a:t>gde</a:t>
                </a:r>
                <a:r>
                  <a:rPr lang="en-US" baseline="0" dirty="0"/>
                  <a:t> se u </a:t>
                </a:r>
                <a:r>
                  <a:rPr lang="en-US" baseline="0" dirty="0" err="1"/>
                  <a:t>dva</a:t>
                </a:r>
                <a:r>
                  <a:rPr lang="en-US" baseline="0" dirty="0"/>
                  <a:t> </a:t>
                </a:r>
                <a:r>
                  <a:rPr lang="en-US" baseline="0" dirty="0" err="1"/>
                  <a:t>ponavljanja</a:t>
                </a:r>
                <a:r>
                  <a:rPr lang="en-US" baseline="0" dirty="0"/>
                  <a:t> </a:t>
                </a:r>
                <a:r>
                  <a:rPr lang="en-US" baseline="0" dirty="0" err="1"/>
                  <a:t>spajaju</a:t>
                </a:r>
                <a:r>
                  <a:rPr lang="en-US" baseline="0" dirty="0"/>
                  <a:t> se </a:t>
                </a:r>
                <a:r>
                  <a:rPr lang="en-US" baseline="0" dirty="0" err="1"/>
                  <a:t>pomoćni</a:t>
                </a:r>
                <a:r>
                  <a:rPr lang="en-US" baseline="0" dirty="0"/>
                  <a:t> </a:t>
                </a:r>
                <a:r>
                  <a:rPr lang="en-US" baseline="0" dirty="0" err="1"/>
                  <a:t>sa</a:t>
                </a:r>
                <a:r>
                  <a:rPr lang="en-US" baseline="0" dirty="0"/>
                  <a:t> </a:t>
                </a:r>
                <a:r>
                  <a:rPr lang="en-US" baseline="0" dirty="0" err="1"/>
                  <a:t>ciljnim</a:t>
                </a:r>
                <a:r>
                  <a:rPr lang="en-US" baseline="0" dirty="0"/>
                  <a:t> </a:t>
                </a:r>
                <a:r>
                  <a:rPr lang="en-US" baseline="0" dirty="0" err="1"/>
                  <a:t>i</a:t>
                </a:r>
                <a:r>
                  <a:rPr lang="en-US" baseline="0" dirty="0"/>
                  <a:t> </a:t>
                </a:r>
                <a:r>
                  <a:rPr lang="en-US" baseline="0" dirty="0" err="1"/>
                  <a:t>kontrolni</a:t>
                </a:r>
                <a:r>
                  <a:rPr lang="en-US" baseline="0" dirty="0"/>
                  <a:t> </a:t>
                </a:r>
                <a:r>
                  <a:rPr lang="en-US" baseline="0" dirty="0" err="1"/>
                  <a:t>sa</a:t>
                </a:r>
                <a:r>
                  <a:rPr lang="en-US" baseline="0" dirty="0"/>
                  <a:t> </a:t>
                </a:r>
                <a:r>
                  <a:rPr lang="en-US" baseline="0" dirty="0" err="1"/>
                  <a:t>pomoćnim</a:t>
                </a:r>
                <a:r>
                  <a:rPr lang="en-US" baseline="0" dirty="0"/>
                  <a:t>. </a:t>
                </a:r>
                <a:r>
                  <a:rPr lang="en-US" baseline="0" dirty="0" err="1"/>
                  <a:t>Praćenjem</a:t>
                </a:r>
                <a:r>
                  <a:rPr lang="en-US" baseline="0" dirty="0"/>
                  <a:t> </a:t>
                </a:r>
                <a:r>
                  <a:rPr lang="en-US" baseline="0" dirty="0" err="1"/>
                  <a:t>kombinovanog</a:t>
                </a:r>
                <a:r>
                  <a:rPr lang="en-US" baseline="0" dirty="0"/>
                  <a:t> </a:t>
                </a:r>
                <a:r>
                  <a:rPr lang="en-US" baseline="0" dirty="0" err="1"/>
                  <a:t>stanja</a:t>
                </a:r>
                <a:r>
                  <a:rPr lang="en-US" baseline="0" dirty="0"/>
                  <a:t> </a:t>
                </a:r>
                <a:r>
                  <a:rPr lang="en-US" baseline="0" dirty="0" err="1"/>
                  <a:t>sva</a:t>
                </a:r>
                <a:r>
                  <a:rPr lang="en-US" baseline="0" dirty="0"/>
                  <a:t> tri kubita </a:t>
                </a:r>
                <a:r>
                  <a:rPr lang="en-US" baseline="0" dirty="0" err="1"/>
                  <a:t>opet</a:t>
                </a:r>
                <a:r>
                  <a:rPr lang="en-US" baseline="0" dirty="0"/>
                  <a:t> se </a:t>
                </a:r>
                <a:r>
                  <a:rPr lang="en-US" baseline="0" dirty="0" err="1"/>
                  <a:t>dobija</a:t>
                </a:r>
                <a:r>
                  <a:rPr lang="en-US" baseline="0" dirty="0"/>
                  <a:t> </a:t>
                </a:r>
                <a:r>
                  <a:rPr lang="en-US" baseline="0" dirty="0" err="1"/>
                  <a:t>isti</a:t>
                </a:r>
                <a:r>
                  <a:rPr lang="en-US" baseline="0" dirty="0"/>
                  <a:t> </a:t>
                </a:r>
                <a:r>
                  <a:rPr lang="en-US" baseline="0" dirty="0" err="1"/>
                  <a:t>rezultat</a:t>
                </a:r>
                <a:r>
                  <a:rPr lang="en-US" baseline="0" dirty="0"/>
                  <a:t>.</a:t>
                </a:r>
              </a:p>
              <a:p>
                <a:pPr marL="0" indent="0">
                  <a:buFont typeface="+mj-lt"/>
                  <a:buNone/>
                </a:pPr>
                <a:r>
                  <a:rPr lang="en-US" dirty="0" err="1"/>
                  <a:t>Naravno</a:t>
                </a:r>
                <a:r>
                  <a:rPr lang="en-US" dirty="0"/>
                  <a:t>, </a:t>
                </a:r>
                <a:r>
                  <a:rPr lang="en-US" dirty="0" err="1"/>
                  <a:t>ovo</a:t>
                </a:r>
                <a:r>
                  <a:rPr lang="en-US" dirty="0"/>
                  <a:t> </a:t>
                </a:r>
                <a:r>
                  <a:rPr lang="en-US" dirty="0" err="1"/>
                  <a:t>je</a:t>
                </a:r>
                <a:r>
                  <a:rPr lang="en-US" dirty="0"/>
                  <a:t> </a:t>
                </a:r>
                <a:r>
                  <a:rPr lang="en-US" dirty="0" err="1"/>
                  <a:t>samo</a:t>
                </a:r>
                <a:r>
                  <a:rPr lang="en-US" dirty="0"/>
                  <a:t> </a:t>
                </a:r>
                <a:r>
                  <a:rPr lang="en-US" dirty="0" err="1"/>
                  <a:t>teorijsko</a:t>
                </a:r>
                <a:r>
                  <a:rPr lang="en-US" dirty="0"/>
                  <a:t> </a:t>
                </a:r>
                <a:r>
                  <a:rPr lang="en-US" dirty="0" err="1"/>
                  <a:t>razmatranje</a:t>
                </a:r>
                <a:r>
                  <a:rPr lang="en-US" dirty="0"/>
                  <a:t> </a:t>
                </a:r>
                <a:r>
                  <a:rPr lang="en-US" dirty="0" err="1"/>
                  <a:t>koje</a:t>
                </a:r>
                <a:r>
                  <a:rPr lang="en-US" dirty="0"/>
                  <a:t> ne </a:t>
                </a:r>
                <a:r>
                  <a:rPr lang="en-US" dirty="0" err="1"/>
                  <a:t>uzima</a:t>
                </a:r>
                <a:r>
                  <a:rPr lang="en-US" dirty="0"/>
                  <a:t> u </a:t>
                </a:r>
                <a:r>
                  <a:rPr lang="en-US" dirty="0" err="1"/>
                  <a:t>obzir</a:t>
                </a:r>
                <a:r>
                  <a:rPr lang="en-US" dirty="0"/>
                  <a:t> </a:t>
                </a:r>
                <a:r>
                  <a:rPr lang="en-US" dirty="0" err="1"/>
                  <a:t>druga</a:t>
                </a:r>
                <a:r>
                  <a:rPr lang="en-US" dirty="0"/>
                  <a:t> </a:t>
                </a:r>
                <a:r>
                  <a:rPr lang="en-US" dirty="0" err="1"/>
                  <a:t>hardverska</a:t>
                </a:r>
                <a:r>
                  <a:rPr lang="en-US" dirty="0"/>
                  <a:t> </a:t>
                </a:r>
                <a:r>
                  <a:rPr lang="en-US" dirty="0" err="1"/>
                  <a:t>sredstva</a:t>
                </a:r>
                <a:r>
                  <a:rPr lang="en-US" dirty="0"/>
                  <a:t> </a:t>
                </a:r>
                <a:r>
                  <a:rPr lang="en-US" dirty="0" err="1"/>
                  <a:t>koja</a:t>
                </a:r>
                <a:r>
                  <a:rPr lang="en-US" dirty="0"/>
                  <a:t> </a:t>
                </a:r>
                <a:r>
                  <a:rPr lang="en-US" dirty="0" err="1"/>
                  <a:t>postoje</a:t>
                </a:r>
                <a:r>
                  <a:rPr lang="en-US" dirty="0"/>
                  <a:t> u </a:t>
                </a:r>
                <a:r>
                  <a:rPr lang="en-US" dirty="0" err="1"/>
                  <a:t>procesorima</a:t>
                </a:r>
                <a:r>
                  <a:rPr lang="en-US" dirty="0"/>
                  <a:t>, pa </a:t>
                </a:r>
                <a:r>
                  <a:rPr lang="en-US" dirty="0" err="1"/>
                  <a:t>je</a:t>
                </a:r>
                <a:r>
                  <a:rPr lang="en-US" dirty="0"/>
                  <a:t> </a:t>
                </a:r>
                <a:r>
                  <a:rPr lang="en-US" dirty="0" err="1"/>
                  <a:t>hardversko</a:t>
                </a:r>
                <a:r>
                  <a:rPr lang="en-US" dirty="0"/>
                  <a:t> </a:t>
                </a:r>
                <a:r>
                  <a:rPr lang="en-US" dirty="0" err="1"/>
                  <a:t>rutiranje</a:t>
                </a:r>
                <a:r>
                  <a:rPr lang="en-US" dirty="0"/>
                  <a:t> </a:t>
                </a:r>
                <a:r>
                  <a:rPr lang="en-US" dirty="0" err="1"/>
                  <a:t>verovatno</a:t>
                </a:r>
                <a:r>
                  <a:rPr lang="en-US" dirty="0"/>
                  <a:t> </a:t>
                </a:r>
                <a:r>
                  <a:rPr lang="en-US" dirty="0" err="1"/>
                  <a:t>efikasnije</a:t>
                </a:r>
                <a:r>
                  <a:rPr lang="en-US"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22</a:t>
            </a:fld>
            <a:endParaRPr lang="en-US"/>
          </a:p>
        </p:txBody>
      </p:sp>
    </p:spTree>
    <p:extLst>
      <p:ext uri="{BB962C8B-B14F-4D97-AF65-F5344CB8AC3E}">
        <p14:creationId xmlns:p14="http://schemas.microsoft.com/office/powerpoint/2010/main" val="9046187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The SWAP gate is used to exchange the states of two qubits. It is not a basic hardware gate but a composite gate built from three CNOTs, following the XOR swap algorithm. This method is efficient because it requires no extra memory, and the algorithm itself can be written in just three lines of code.</a:t>
            </a:r>
          </a:p>
          <a:p>
            <a:pPr algn="just"/>
            <a:endParaRPr lang="en-ZA" b="0" dirty="0"/>
          </a:p>
          <a:p>
            <a:pPr algn="just"/>
            <a:r>
              <a:rPr lang="en-ZA" b="0" dirty="0"/>
              <a:t>Step-by-step through the circuit:</a:t>
            </a:r>
          </a:p>
          <a:p>
            <a:pPr marL="228600" indent="-228600" algn="just">
              <a:buFont typeface="+mj-lt"/>
              <a:buAutoNum type="arabicPeriod"/>
            </a:pPr>
            <a:r>
              <a:rPr lang="en-ZA" b="0" dirty="0"/>
              <a:t>Input: qubits (</a:t>
            </a:r>
            <a:r>
              <a:rPr lang="en-ZA" b="0" dirty="0" err="1"/>
              <a:t>a,b</a:t>
            </a:r>
            <a:r>
              <a:rPr lang="en-ZA" b="0" dirty="0"/>
              <a:t>).</a:t>
            </a:r>
          </a:p>
          <a:p>
            <a:pPr marL="228600" indent="-228600" algn="just">
              <a:buFont typeface="+mj-lt"/>
              <a:buAutoNum type="arabicPeriod"/>
            </a:pPr>
            <a:r>
              <a:rPr lang="en-ZA" b="0" dirty="0"/>
              <a:t>After the first CNOT: the control remains a, and the target becomes </a:t>
            </a:r>
            <a:r>
              <a:rPr lang="en-ZA" b="0" dirty="0" err="1"/>
              <a:t>a⊕b</a:t>
            </a:r>
            <a:r>
              <a:rPr lang="en-ZA" b="0" dirty="0"/>
              <a:t>.</a:t>
            </a:r>
          </a:p>
          <a:p>
            <a:pPr marL="228600" indent="-228600" algn="just">
              <a:buFont typeface="+mj-lt"/>
              <a:buAutoNum type="arabicPeriod"/>
            </a:pPr>
            <a:r>
              <a:rPr lang="en-ZA" b="0" dirty="0"/>
              <a:t>After the second CNOT: the control is now </a:t>
            </a:r>
            <a:r>
              <a:rPr lang="en-ZA" b="0" dirty="0" err="1"/>
              <a:t>a⊕b</a:t>
            </a:r>
            <a:r>
              <a:rPr lang="en-ZA" b="0" dirty="0"/>
              <a:t>, and the target simplifies to b.</a:t>
            </a:r>
          </a:p>
          <a:p>
            <a:pPr marL="228600" indent="-228600" algn="just">
              <a:buFont typeface="+mj-lt"/>
              <a:buAutoNum type="arabicPeriod"/>
            </a:pPr>
            <a:r>
              <a:rPr lang="en-ZA" b="0" dirty="0"/>
              <a:t>After the third CNOT: the control is b, and the target simplifies becomes a.</a:t>
            </a:r>
          </a:p>
          <a:p>
            <a:pPr marL="228600" indent="-228600" algn="just">
              <a:buFont typeface="+mj-lt"/>
              <a:buAutoNum type="arabicPeriod"/>
            </a:pPr>
            <a:endParaRPr lang="en-ZA" b="0" dirty="0"/>
          </a:p>
          <a:p>
            <a:pPr marL="0" indent="0" algn="just">
              <a:buFont typeface="+mj-lt"/>
              <a:buNone/>
            </a:pPr>
            <a:r>
              <a:rPr lang="en-ZA" b="0" dirty="0"/>
              <a:t>At the output, the two qubits have exchanged states, (</a:t>
            </a:r>
            <a:r>
              <a:rPr lang="en-ZA" b="0" dirty="0" err="1"/>
              <a:t>a,b</a:t>
            </a:r>
            <a:r>
              <a:rPr lang="en-ZA" b="0" dirty="0"/>
              <a:t>)↦(</a:t>
            </a:r>
            <a:r>
              <a:rPr lang="en-ZA" b="0" dirty="0" err="1"/>
              <a:t>b,a</a:t>
            </a:r>
            <a:r>
              <a:rPr lang="en-ZA" b="0" dirty="0"/>
              <a:t>).</a:t>
            </a:r>
          </a:p>
          <a:p>
            <a:pPr algn="just"/>
            <a:endParaRPr lang="en-ZA" b="0" dirty="0"/>
          </a:p>
          <a:p>
            <a:pPr algn="just"/>
            <a:r>
              <a:rPr lang="en-ZA" dirty="0"/>
              <a:t>To prove correctness, we multiply the operators, CNOT, reverse CNOT, and CNOT. The result is exactly the unitary matrix of the SWAP gate.</a:t>
            </a: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23</a:t>
            </a:fld>
            <a:endParaRPr lang="en-US"/>
          </a:p>
        </p:txBody>
      </p:sp>
    </p:spTree>
    <p:extLst>
      <p:ext uri="{BB962C8B-B14F-4D97-AF65-F5344CB8AC3E}">
        <p14:creationId xmlns:p14="http://schemas.microsoft.com/office/powerpoint/2010/main" val="277532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A qubit state can be visualized as a vector on the Bloch sphere. The state can be changed by rotating the vector around the sphere. The decomposition theorem states that any unitary operator acting on a single qubit can be written as a sequence of rotations around just two distinct axes. </a:t>
                </a:r>
              </a:p>
              <a:p>
                <a:pPr algn="just"/>
                <a:endParaRPr lang="en-ZA" dirty="0"/>
              </a:p>
              <a:p>
                <a:pPr algn="just"/>
                <a:r>
                  <a:rPr lang="en-ZA" dirty="0"/>
                  <a:t>A widely used form is a rotation about the z-axis, followed by a rotation about the y-axis, and then another rotation about the z-axis.</a:t>
                </a:r>
                <a:endParaRPr lang="en-ZA" b="0" dirty="0"/>
              </a:p>
            </p:txBody>
          </p:sp>
        </mc:Choice>
        <mc:Fallback xmlns="">
          <p:sp>
            <p:nvSpPr>
              <p:cNvPr id="3" name="Notes Placeholder 2"/>
              <p:cNvSpPr>
                <a:spLocks noGrp="1"/>
              </p:cNvSpPr>
              <p:nvPr>
                <p:ph type="body" idx="1"/>
              </p:nvPr>
            </p:nvSpPr>
            <p:spPr/>
            <p:txBody>
              <a:bodyPr/>
              <a:lstStyle/>
              <a:p>
                <a:pPr algn="just"/>
                <a:r>
                  <a:rPr lang="en-ZA" b="0" dirty="0"/>
                  <a:t>It has been shown that a qubit state vector can be rotated on the Bloch sphere using a sequence of rotations around the z, y, and again around the z. </a:t>
                </a:r>
                <a:r>
                  <a:rPr lang="en-ZA" dirty="0"/>
                  <a:t>Based on this, the </a:t>
                </a:r>
                <a:r>
                  <a:rPr lang="en-ZA" b="0" dirty="0"/>
                  <a:t>decomposition theorem</a:t>
                </a:r>
                <a:r>
                  <a:rPr lang="en-ZA" dirty="0"/>
                  <a:t> states that any unitary operator acting on a single qubit can be represented as a sequence of rotations around two distinct axes.</a:t>
                </a:r>
                <a:r>
                  <a:rPr lang="en-ZA" b="0" dirty="0"/>
                  <a:t>.</a:t>
                </a:r>
              </a:p>
              <a:p>
                <a:pPr algn="just"/>
                <a:endParaRPr lang="en-ZA" b="0" dirty="0"/>
              </a:p>
              <a:p>
                <a:pPr algn="just"/>
                <a:r>
                  <a:rPr lang="en-ZA" b="0" dirty="0"/>
                  <a:t>The decomposition theorem states that if </a:t>
                </a:r>
                <a:r>
                  <a:rPr lang="en-US" sz="1200" i="0">
                    <a:latin typeface="Cambria Math" panose="02040503050406030204" pitchFamily="18" charset="0"/>
                  </a:rPr>
                  <a:t>𝑈</a:t>
                </a:r>
                <a:r>
                  <a:rPr lang="en-ZA" b="0" dirty="0"/>
                  <a:t> is a unitary operator acting on a qubit, then there exist four real numbers that </a:t>
                </a:r>
                <a:r>
                  <a:rPr lang="en-ZA" sz="1200" kern="1200" dirty="0">
                    <a:solidFill>
                      <a:schemeClr val="tx1"/>
                    </a:solidFill>
                    <a:latin typeface="+mn-lt"/>
                    <a:ea typeface="+mn-ea"/>
                    <a:cs typeface="+mn-cs"/>
                  </a:rPr>
                  <a:t>a global phase and rotation angles</a:t>
                </a:r>
                <a:r>
                  <a:rPr lang="en-ZA" b="0" dirty="0"/>
                  <a:t>. The operator </a:t>
                </a:r>
                <a:r>
                  <a:rPr lang="en-US" sz="1200" i="0">
                    <a:latin typeface="Cambria Math" panose="02040503050406030204" pitchFamily="18" charset="0"/>
                  </a:rPr>
                  <a:t>𝑈</a:t>
                </a:r>
                <a:r>
                  <a:rPr lang="en-ZA" b="0" dirty="0"/>
                  <a:t> can thus be expressed as the product of a global phase factor and three rotation matrices corresponding to rotations around the z, y, and again the z.</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24</a:t>
            </a:fld>
            <a:endParaRPr lang="en-US"/>
          </a:p>
        </p:txBody>
      </p:sp>
    </p:spTree>
    <p:extLst>
      <p:ext uri="{BB962C8B-B14F-4D97-AF65-F5344CB8AC3E}">
        <p14:creationId xmlns:p14="http://schemas.microsoft.com/office/powerpoint/2010/main" val="476648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first lemma of the decomposition theorem states that there exist operators A,B and C such that </a:t>
                </a:r>
                <a14:m>
                  <m:oMath xmlns:m="http://schemas.openxmlformats.org/officeDocument/2006/math">
                    <m:r>
                      <a:rPr lang="en-US" sz="1200" i="1" smtClean="0">
                        <a:latin typeface="Cambria Math" panose="02040503050406030204" pitchFamily="18" charset="0"/>
                      </a:rPr>
                      <m:t>𝑈</m:t>
                    </m:r>
                    <m:r>
                      <a:rPr lang="en-US" sz="1200" i="0">
                        <a:latin typeface="Cambria Math" panose="02040503050406030204" pitchFamily="18" charset="0"/>
                      </a:rPr>
                      <m:t>=</m:t>
                    </m:r>
                    <m:r>
                      <a:rPr lang="en-US" sz="1200" i="1">
                        <a:latin typeface="Cambria Math" panose="02040503050406030204" pitchFamily="18" charset="0"/>
                      </a:rPr>
                      <m:t>𝐴𝑋𝐵𝑋𝐶</m:t>
                    </m:r>
                  </m:oMath>
                </a14:m>
                <a:r>
                  <a:rPr lang="en-ZA" dirty="0"/>
                  <a:t>  where their product satisfies </a:t>
                </a:r>
                <a14:m>
                  <m:oMath xmlns:m="http://schemas.openxmlformats.org/officeDocument/2006/math">
                    <m:r>
                      <a:rPr lang="en-US" sz="1200" b="0" i="1" smtClean="0">
                        <a:latin typeface="Cambria Math" panose="02040503050406030204" pitchFamily="18" charset="0"/>
                      </a:rPr>
                      <m:t>𝐴𝐵𝐶</m:t>
                    </m:r>
                    <m:r>
                      <a:rPr lang="en-US" sz="1200" b="0" i="1" smtClean="0">
                        <a:latin typeface="Cambria Math" panose="02040503050406030204" pitchFamily="18" charset="0"/>
                      </a:rPr>
                      <m:t>=</m:t>
                    </m:r>
                    <m:r>
                      <a:rPr lang="en-US" sz="1200" b="0" i="1" smtClean="0">
                        <a:latin typeface="Cambria Math" panose="02040503050406030204" pitchFamily="18" charset="0"/>
                      </a:rPr>
                      <m:t>𝐼</m:t>
                    </m:r>
                  </m:oMath>
                </a14:m>
                <a:endParaRPr lang="en-ZA" dirty="0"/>
              </a:p>
              <a:p>
                <a:pPr algn="just"/>
                <a:endParaRPr lang="en-ZA" dirty="0"/>
              </a:p>
              <a:p>
                <a:pPr marL="228600" indent="-228600" algn="l">
                  <a:buFont typeface="+mj-lt"/>
                  <a:buAutoNum type="arabicPeriod"/>
                </a:pPr>
                <a:r>
                  <a:rPr lang="en-ZA" dirty="0"/>
                  <a:t>To outline the proof, we choose the rotation operators as follows:</a:t>
                </a:r>
                <a:br>
                  <a:rPr lang="en-US" sz="1200" i="1" dirty="0">
                    <a:latin typeface="Cambria Math" panose="02040503050406030204" pitchFamily="18" charset="0"/>
                  </a:rPr>
                </a:br>
                <a14:m>
                  <m:oMath xmlns:m="http://schemas.openxmlformats.org/officeDocument/2006/math">
                    <m:r>
                      <a:rPr lang="en-US" sz="1200" i="1" smtClean="0">
                        <a:latin typeface="Cambria Math" panose="02040503050406030204" pitchFamily="18" charset="0"/>
                      </a:rPr>
                      <m:t>𝐴</m:t>
                    </m:r>
                    <m:r>
                      <a:rPr lang="en-US" sz="120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𝑧</m:t>
                        </m:r>
                      </m:sub>
                    </m:sSub>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𝛼</m:t>
                            </m:r>
                          </m:e>
                          <m:sub>
                            <m:r>
                              <a:rPr lang="en-US" sz="1200">
                                <a:latin typeface="Cambria Math" panose="02040503050406030204" pitchFamily="18" charset="0"/>
                              </a:rPr>
                              <m:t>1</m:t>
                            </m:r>
                          </m:sub>
                        </m:sSub>
                      </m:e>
                    </m:d>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𝑦</m:t>
                        </m:r>
                      </m:sub>
                    </m:sSub>
                    <m:d>
                      <m:dPr>
                        <m:ctrlPr>
                          <a:rPr lang="en-US" sz="1200" i="1">
                            <a:latin typeface="Cambria Math" panose="02040503050406030204" pitchFamily="18" charset="0"/>
                          </a:rPr>
                        </m:ctrlPr>
                      </m:dPr>
                      <m:e>
                        <m:f>
                          <m:fPr>
                            <m:type m:val="lin"/>
                            <m:ctrlPr>
                              <a:rPr lang="en-US" sz="1200" i="1">
                                <a:latin typeface="Cambria Math" panose="02040503050406030204" pitchFamily="18" charset="0"/>
                              </a:rPr>
                            </m:ctrlPr>
                          </m:fPr>
                          <m:num>
                            <m:r>
                              <a:rPr lang="en-US" sz="1200" i="1">
                                <a:latin typeface="Cambria Math" panose="02040503050406030204" pitchFamily="18" charset="0"/>
                              </a:rPr>
                              <m:t>𝜃</m:t>
                            </m:r>
                          </m:num>
                          <m:den>
                            <m:r>
                              <a:rPr lang="en-US" sz="1200">
                                <a:latin typeface="Cambria Math" panose="02040503050406030204" pitchFamily="18" charset="0"/>
                              </a:rPr>
                              <m:t>2</m:t>
                            </m:r>
                          </m:den>
                        </m:f>
                      </m:e>
                    </m:d>
                  </m:oMath>
                </a14:m>
                <a:r>
                  <a:rPr lang="en-ZA" dirty="0"/>
                  <a:t>, </a:t>
                </a:r>
                <a14:m>
                  <m:oMath xmlns:m="http://schemas.openxmlformats.org/officeDocument/2006/math">
                    <m:r>
                      <a:rPr lang="en-US" sz="1200" i="1" smtClean="0">
                        <a:latin typeface="Cambria Math" panose="02040503050406030204" pitchFamily="18" charset="0"/>
                      </a:rPr>
                      <m:t>𝐵</m:t>
                    </m:r>
                    <m:r>
                      <a:rPr lang="en-US" sz="120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𝑦</m:t>
                        </m:r>
                      </m:sub>
                    </m:sSub>
                    <m:d>
                      <m:dPr>
                        <m:ctrlPr>
                          <a:rPr lang="en-US" sz="1200" i="1">
                            <a:latin typeface="Cambria Math" panose="02040503050406030204" pitchFamily="18" charset="0"/>
                          </a:rPr>
                        </m:ctrlPr>
                      </m:dPr>
                      <m:e>
                        <m:r>
                          <a:rPr lang="en-US" sz="1200">
                            <a:latin typeface="Cambria Math" panose="02040503050406030204" pitchFamily="18" charset="0"/>
                          </a:rPr>
                          <m:t>−</m:t>
                        </m:r>
                        <m:f>
                          <m:fPr>
                            <m:type m:val="lin"/>
                            <m:ctrlPr>
                              <a:rPr lang="en-US" sz="1200" i="1">
                                <a:latin typeface="Cambria Math" panose="02040503050406030204" pitchFamily="18" charset="0"/>
                              </a:rPr>
                            </m:ctrlPr>
                          </m:fPr>
                          <m:num>
                            <m:r>
                              <a:rPr lang="en-US" sz="1200" i="1">
                                <a:latin typeface="Cambria Math" panose="02040503050406030204" pitchFamily="18" charset="0"/>
                              </a:rPr>
                              <m:t>𝜃</m:t>
                            </m:r>
                          </m:num>
                          <m:den>
                            <m:r>
                              <a:rPr lang="en-US" sz="1200">
                                <a:latin typeface="Cambria Math" panose="02040503050406030204" pitchFamily="18" charset="0"/>
                              </a:rPr>
                              <m:t>2</m:t>
                            </m:r>
                          </m:den>
                        </m:f>
                      </m:e>
                    </m:d>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𝑧</m:t>
                        </m:r>
                      </m:sub>
                    </m:sSub>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𝛼</m:t>
                                </m:r>
                              </m:e>
                              <m:sub>
                                <m:r>
                                  <a:rPr lang="en-US" sz="1200">
                                    <a:latin typeface="Cambria Math" panose="02040503050406030204" pitchFamily="18" charset="0"/>
                                  </a:rPr>
                                  <m:t>2</m:t>
                                </m:r>
                              </m:sub>
                            </m:sSub>
                            <m:r>
                              <a:rPr lang="en-US" sz="1200">
                                <a:latin typeface="Cambria Math" panose="02040503050406030204" pitchFamily="18" charset="0"/>
                              </a:rPr>
                              <m:t>+</m:t>
                            </m:r>
                            <m:r>
                              <a:rPr lang="en-US" sz="1200" i="1">
                                <a:latin typeface="Cambria Math" panose="02040503050406030204" pitchFamily="18" charset="0"/>
                              </a:rPr>
                              <m:t>𝛼</m:t>
                            </m:r>
                          </m:e>
                          <m:sub>
                            <m:r>
                              <a:rPr lang="en-US" sz="1200">
                                <a:latin typeface="Cambria Math" panose="02040503050406030204" pitchFamily="18" charset="0"/>
                              </a:rPr>
                              <m:t>1</m:t>
                            </m:r>
                          </m:sub>
                        </m:sSub>
                        <m:f>
                          <m:fPr>
                            <m:type m:val="lin"/>
                            <m:ctrlPr>
                              <a:rPr lang="en-US" sz="1200" i="1">
                                <a:latin typeface="Cambria Math" panose="02040503050406030204" pitchFamily="18" charset="0"/>
                              </a:rPr>
                            </m:ctrlPr>
                          </m:fPr>
                          <m:num>
                            <m:r>
                              <a:rPr lang="en-US" sz="1200">
                                <a:latin typeface="Cambria Math" panose="02040503050406030204" pitchFamily="18" charset="0"/>
                              </a:rPr>
                              <m:t>)</m:t>
                            </m:r>
                          </m:num>
                          <m:den>
                            <m:r>
                              <a:rPr lang="en-US" sz="1200">
                                <a:latin typeface="Cambria Math" panose="02040503050406030204" pitchFamily="18" charset="0"/>
                              </a:rPr>
                              <m:t>2</m:t>
                            </m:r>
                          </m:den>
                        </m:f>
                      </m:e>
                    </m:d>
                  </m:oMath>
                </a14:m>
                <a:r>
                  <a:rPr lang="en-US" sz="1200" dirty="0"/>
                  <a:t> and </a:t>
                </a:r>
                <a14:m>
                  <m:oMath xmlns:m="http://schemas.openxmlformats.org/officeDocument/2006/math">
                    <m:r>
                      <a:rPr lang="en-US" sz="1200" i="1" smtClean="0">
                        <a:latin typeface="Cambria Math" panose="02040503050406030204" pitchFamily="18" charset="0"/>
                      </a:rPr>
                      <m:t>𝐶</m:t>
                    </m:r>
                    <m:r>
                      <a:rPr lang="en-US" sz="120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𝑧</m:t>
                        </m:r>
                      </m:sub>
                    </m:sSub>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d>
                              <m:dPr>
                                <m:endChr m:val=""/>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𝛼</m:t>
                                    </m:r>
                                  </m:e>
                                  <m:sub>
                                    <m:r>
                                      <a:rPr lang="en-US" sz="1200">
                                        <a:latin typeface="Cambria Math" panose="02040503050406030204" pitchFamily="18" charset="0"/>
                                      </a:rPr>
                                      <m:t>2</m:t>
                                    </m:r>
                                  </m:sub>
                                </m:sSub>
                                <m:r>
                                  <a:rPr lang="en-US" sz="1200">
                                    <a:latin typeface="Cambria Math" panose="02040503050406030204" pitchFamily="18" charset="0"/>
                                  </a:rPr>
                                  <m:t>−</m:t>
                                </m:r>
                                <m:r>
                                  <a:rPr lang="en-US" sz="1200" i="1">
                                    <a:latin typeface="Cambria Math" panose="02040503050406030204" pitchFamily="18" charset="0"/>
                                  </a:rPr>
                                  <m:t>𝛼</m:t>
                                </m:r>
                              </m:e>
                            </m:d>
                          </m:e>
                          <m:sub>
                            <m:r>
                              <a:rPr lang="en-US" sz="1200">
                                <a:latin typeface="Cambria Math" panose="02040503050406030204" pitchFamily="18" charset="0"/>
                              </a:rPr>
                              <m:t>1</m:t>
                            </m:r>
                          </m:sub>
                        </m:sSub>
                        <m:f>
                          <m:fPr>
                            <m:type m:val="lin"/>
                            <m:ctrlPr>
                              <a:rPr lang="en-US" sz="1200" i="1">
                                <a:latin typeface="Cambria Math" panose="02040503050406030204" pitchFamily="18" charset="0"/>
                              </a:rPr>
                            </m:ctrlPr>
                          </m:fPr>
                          <m:num>
                            <m:r>
                              <a:rPr lang="en-US" sz="1200">
                                <a:latin typeface="Cambria Math" panose="02040503050406030204" pitchFamily="18" charset="0"/>
                              </a:rPr>
                              <m:t>)</m:t>
                            </m:r>
                          </m:num>
                          <m:den>
                            <m:r>
                              <a:rPr lang="en-US" sz="1200">
                                <a:latin typeface="Cambria Math" panose="02040503050406030204" pitchFamily="18" charset="0"/>
                              </a:rPr>
                              <m:t>2</m:t>
                            </m:r>
                          </m:den>
                        </m:f>
                      </m:e>
                    </m:d>
                  </m:oMath>
                </a14:m>
                <a:endParaRPr lang="en-US" sz="1200" dirty="0"/>
              </a:p>
              <a:p>
                <a:pPr marL="228600" indent="-228600" algn="l">
                  <a:buFont typeface="+mj-lt"/>
                  <a:buAutoNum type="arabicPeriod"/>
                </a:pPr>
                <a:endParaRPr lang="en-US" sz="1200" dirty="0"/>
              </a:p>
              <a:p>
                <a:pPr marL="228600" indent="-228600" algn="l">
                  <a:buFont typeface="+mj-lt"/>
                  <a:buAutoNum type="arabicPeriod"/>
                </a:pPr>
                <a:r>
                  <a:rPr lang="en-ZA" dirty="0"/>
                  <a:t>we rely on several facts we have already established:</a:t>
                </a:r>
              </a:p>
              <a:p>
                <a:pPr marL="628650" lvl="1" indent="-171450">
                  <a:buFont typeface="Arial" panose="020B0604020202020204" pitchFamily="34" charset="0"/>
                  <a:buChar char="•"/>
                </a:pPr>
                <a:r>
                  <a:rPr lang="en-ZA" dirty="0"/>
                  <a:t>a rotation with angle 0 is the identity,</a:t>
                </a:r>
              </a:p>
              <a:p>
                <a:pPr marL="628650" lvl="1" indent="-171450">
                  <a:buFont typeface="Arial" panose="020B0604020202020204" pitchFamily="34" charset="0"/>
                  <a:buChar char="•"/>
                </a:pPr>
                <a:r>
                  <a:rPr lang="en-ZA" dirty="0"/>
                  <a:t>two rotations about the same axis combine into a single rotation with the sum of the angles,</a:t>
                </a:r>
              </a:p>
              <a:p>
                <a:pPr marL="628650" lvl="1" indent="-171450">
                  <a:buFont typeface="Arial" panose="020B0604020202020204" pitchFamily="34" charset="0"/>
                  <a:buChar char="•"/>
                </a:pPr>
                <a:r>
                  <a:rPr lang="en-ZA" dirty="0"/>
                  <a:t>an XRX sequence flips the sign of the rotation angle,</a:t>
                </a:r>
              </a:p>
              <a:p>
                <a:pPr marL="628650" lvl="1" indent="-171450">
                  <a:buFont typeface="Arial" panose="020B0604020202020204" pitchFamily="34" charset="0"/>
                  <a:buChar char="•"/>
                </a:pPr>
                <a:r>
                  <a:rPr lang="en-ZA" dirty="0"/>
                  <a:t>two Hermitian gates applied in sequence give the identity.</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sz="1200" baseline="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sz="1200" baseline="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dirty="0"/>
                  <a:t>With these properties it is possible to select the angles in a way that ensures the condition </a:t>
                </a:r>
                <a14:m>
                  <m:oMath xmlns:m="http://schemas.openxmlformats.org/officeDocument/2006/math">
                    <m:r>
                      <a:rPr lang="en-US" sz="1200" i="1" smtClean="0">
                        <a:latin typeface="Cambria Math" panose="02040503050406030204" pitchFamily="18" charset="0"/>
                      </a:rPr>
                      <m:t>𝐴𝐵𝐶</m:t>
                    </m:r>
                    <m:r>
                      <a:rPr lang="en-US" sz="1200" i="1" smtClean="0">
                        <a:latin typeface="Cambria Math" panose="02040503050406030204" pitchFamily="18" charset="0"/>
                      </a:rPr>
                      <m:t>=</m:t>
                    </m:r>
                    <m:r>
                      <a:rPr lang="en-US" sz="1200" i="1" smtClean="0">
                        <a:latin typeface="Cambria Math" panose="02040503050406030204" pitchFamily="18" charset="0"/>
                      </a:rPr>
                      <m:t>𝐼</m:t>
                    </m:r>
                  </m:oMath>
                </a14:m>
                <a:r>
                  <a:rPr lang="en-ZA" dirty="0"/>
                  <a:t> holds.</a:t>
                </a:r>
              </a:p>
              <a:p>
                <a:pPr algn="just"/>
                <a:endParaRPr lang="en-ZA" dirty="0"/>
              </a:p>
              <a:p>
                <a:pPr algn="just"/>
                <a:r>
                  <a:rPr lang="en-ZA" b="0" dirty="0"/>
                  <a:t>In practical terms, this lemma tells us that any single-qubit unitary operator can be built using the Pauli-X gate together with three other gates whose product is the identity.</a:t>
                </a:r>
              </a:p>
            </p:txBody>
          </p:sp>
        </mc:Choice>
        <mc:Fallback xmlns="">
          <p:sp>
            <p:nvSpPr>
              <p:cNvPr id="3" name="Notes Placeholder 2"/>
              <p:cNvSpPr>
                <a:spLocks noGrp="1"/>
              </p:cNvSpPr>
              <p:nvPr>
                <p:ph type="body" idx="1"/>
              </p:nvPr>
            </p:nvSpPr>
            <p:spPr/>
            <p:txBody>
              <a:bodyPr/>
              <a:lstStyle/>
              <a:p>
                <a:pPr algn="just"/>
                <a:r>
                  <a:rPr lang="en-ZA" dirty="0"/>
                  <a:t>The first lemma of the decomposition theorem states that there exist operators A,B and C such that </a:t>
                </a:r>
                <a:r>
                  <a:rPr lang="en-US" sz="1200" i="0">
                    <a:latin typeface="Cambria Math" panose="02040503050406030204" pitchFamily="18" charset="0"/>
                  </a:rPr>
                  <a:t>𝑈=𝐴𝑋𝐵𝑋𝐶</a:t>
                </a:r>
                <a:r>
                  <a:rPr lang="en-ZA" dirty="0"/>
                  <a:t>  where their product satisfies </a:t>
                </a:r>
                <a:r>
                  <a:rPr lang="en-US" sz="1200" b="0" i="0">
                    <a:latin typeface="Cambria Math" panose="02040503050406030204" pitchFamily="18" charset="0"/>
                  </a:rPr>
                  <a:t>𝐴𝐵𝐶=𝐼</a:t>
                </a:r>
                <a:endParaRPr lang="en-ZA" dirty="0"/>
              </a:p>
              <a:p>
                <a:pPr algn="just"/>
                <a:endParaRPr lang="en-ZA" dirty="0"/>
              </a:p>
              <a:p>
                <a:pPr algn="just"/>
                <a:r>
                  <a:rPr lang="en-ZA" dirty="0"/>
                  <a:t>We will outline the proof of this lemma. If the rotation operators are chosen such that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i="0">
                    <a:latin typeface="Cambria Math" panose="02040503050406030204" pitchFamily="18" charset="0"/>
                  </a:rPr>
                  <a:t>𝐴=𝑅_𝑧 (𝛼_1 ) 𝑅_𝑦 (𝜃∕2)</a:t>
                </a:r>
                <a:r>
                  <a:rPr lang="en-ZA" dirty="0"/>
                  <a:t>, </a:t>
                </a:r>
                <a:r>
                  <a:rPr lang="en-US" sz="1200" i="0">
                    <a:latin typeface="Cambria Math" panose="02040503050406030204" pitchFamily="18" charset="0"/>
                  </a:rPr>
                  <a:t>𝐵=𝑅_𝑦 (−𝜃∕2) 𝑅_𝑧 (〖−(𝛼_2+𝛼〗_1  )∕2)</a:t>
                </a:r>
                <a:r>
                  <a:rPr lang="en-US" sz="1200" dirty="0"/>
                  <a:t> and </a:t>
                </a:r>
                <a:r>
                  <a:rPr lang="en-US" sz="1200" i="0">
                    <a:latin typeface="Cambria Math" panose="02040503050406030204" pitchFamily="18" charset="0"/>
                  </a:rPr>
                  <a:t>𝐶=𝑅_𝑧 ((𝛼_2−𝛼┤_1  )∕2)</a:t>
                </a:r>
                <a:endParaRPr lang="en-US" sz="120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then it is possible to select the angles in a way that ensures the condition </a:t>
                </a:r>
                <a:r>
                  <a:rPr lang="en-US" sz="1200" i="0">
                    <a:latin typeface="Cambria Math" panose="02040503050406030204" pitchFamily="18" charset="0"/>
                  </a:rPr>
                  <a:t>𝐴𝐵𝐶=𝐼</a:t>
                </a:r>
                <a:r>
                  <a:rPr lang="en-ZA" dirty="0"/>
                  <a:t> holds.</a:t>
                </a:r>
              </a:p>
              <a:p>
                <a:pPr algn="just"/>
                <a:endParaRPr lang="en-ZA" dirty="0"/>
              </a:p>
              <a:p>
                <a:pPr algn="just"/>
                <a:r>
                  <a:rPr lang="en-ZA" dirty="0"/>
                  <a:t>Considering the equivalences established in previous slides, we find that </a:t>
                </a:r>
                <a:r>
                  <a:rPr lang="en-US" sz="1200" i="0">
                    <a:latin typeface="Cambria Math" panose="02040503050406030204" pitchFamily="18" charset="0"/>
                  </a:rPr>
                  <a:t>𝐴𝑋𝐵𝑋𝐶</a:t>
                </a:r>
                <a:r>
                  <a:rPr lang="en-ZA" dirty="0"/>
                  <a:t> reduces to the sequence of rotations</a:t>
                </a:r>
                <a:r>
                  <a:rPr lang="en-US" sz="1200" b="0" i="0">
                    <a:latin typeface="Cambria Math" panose="02040503050406030204" pitchFamily="18" charset="0"/>
                  </a:rPr>
                  <a:t> </a:t>
                </a:r>
                <a:r>
                  <a:rPr lang="en-US" sz="1200" i="0">
                    <a:latin typeface="Cambria Math" panose="02040503050406030204" pitchFamily="18" charset="0"/>
                  </a:rPr>
                  <a:t>𝑅_𝑧 𝑅_</a:t>
                </a:r>
                <a:r>
                  <a:rPr lang="en-US" sz="1200" b="0" i="0">
                    <a:latin typeface="Cambria Math" panose="02040503050406030204" pitchFamily="18" charset="0"/>
                  </a:rPr>
                  <a:t>𝑦 </a:t>
                </a:r>
                <a:r>
                  <a:rPr lang="en-US" sz="1200" i="0">
                    <a:latin typeface="Cambria Math" panose="02040503050406030204" pitchFamily="18" charset="0"/>
                  </a:rPr>
                  <a:t>𝑅_𝑧</a:t>
                </a:r>
                <a:r>
                  <a:rPr lang="en-ZA" dirty="0"/>
                  <a:t>​, which, according to the decomposition theorem,</a:t>
                </a:r>
                <a:r>
                  <a:rPr lang="en-ZA" baseline="0" dirty="0"/>
                  <a:t> </a:t>
                </a:r>
                <a:r>
                  <a:rPr lang="en-ZA" dirty="0"/>
                  <a:t>represents the unitary operator </a:t>
                </a:r>
                <a:r>
                  <a:rPr lang="en-US" sz="1200" i="0">
                    <a:latin typeface="Cambria Math" panose="02040503050406030204" pitchFamily="18" charset="0"/>
                  </a:rPr>
                  <a:t>𝑈</a:t>
                </a:r>
                <a:r>
                  <a:rPr lang="en-ZA" dirty="0"/>
                  <a:t>.</a:t>
                </a:r>
              </a:p>
              <a:p>
                <a:pPr algn="just"/>
                <a:endParaRPr lang="en-ZA" dirty="0"/>
              </a:p>
              <a:p>
                <a:pPr algn="just"/>
                <a:r>
                  <a:rPr lang="en-ZA" dirty="0"/>
                  <a:t>From a practical perspective, this means that any unitary operator </a:t>
                </a:r>
                <a:r>
                  <a:rPr lang="en-US" sz="1200" i="0">
                    <a:latin typeface="Cambria Math" panose="02040503050406030204" pitchFamily="18" charset="0"/>
                  </a:rPr>
                  <a:t>𝑈</a:t>
                </a:r>
                <a:r>
                  <a:rPr lang="en-ZA" dirty="0"/>
                  <a:t> can be implemented using the Pauli X gate along with three gates whose combined matrix product is the identity matrix. To fully satisfy the decomposition theorem, a phase gate is added to the circuit sequence if necessary.</a:t>
                </a:r>
              </a:p>
              <a:p>
                <a:pPr algn="just"/>
                <a:endParaRPr lang="en-ZA"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25</a:t>
            </a:fld>
            <a:endParaRPr lang="en-US"/>
          </a:p>
        </p:txBody>
      </p:sp>
    </p:spTree>
    <p:extLst>
      <p:ext uri="{BB962C8B-B14F-4D97-AF65-F5344CB8AC3E}">
        <p14:creationId xmlns:p14="http://schemas.microsoft.com/office/powerpoint/2010/main" val="30256257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second lemma extends the decomposition theorem to controlled gates.</a:t>
                </a:r>
              </a:p>
              <a:p>
                <a:pPr algn="just"/>
                <a:endParaRPr lang="en-ZA" b="0" dirty="0"/>
              </a:p>
              <a:p>
                <a:pPr algn="just"/>
                <a:r>
                  <a:rPr lang="en-ZA" dirty="0"/>
                  <a:t>The lemma states that if a unitary operator </a:t>
                </a:r>
                <a14:m>
                  <m:oMath xmlns:m="http://schemas.openxmlformats.org/officeDocument/2006/math">
                    <m:r>
                      <a:rPr lang="en-US" sz="1200" i="1" smtClean="0">
                        <a:latin typeface="Cambria Math" panose="02040503050406030204" pitchFamily="18" charset="0"/>
                      </a:rPr>
                      <m:t>𝑈</m:t>
                    </m:r>
                  </m:oMath>
                </a14:m>
                <a:r>
                  <a:rPr lang="en-ZA" dirty="0"/>
                  <a:t> can be expressed as a product </a:t>
                </a:r>
                <a14:m>
                  <m:oMath xmlns:m="http://schemas.openxmlformats.org/officeDocument/2006/math">
                    <m:r>
                      <a:rPr lang="en-US" sz="1200" i="1" smtClean="0">
                        <a:latin typeface="Cambria Math" panose="02040503050406030204" pitchFamily="18" charset="0"/>
                      </a:rPr>
                      <m:t>𝐴𝑋𝐵𝑋𝐶</m:t>
                    </m:r>
                  </m:oMath>
                </a14:m>
                <a:r>
                  <a:rPr lang="en-ZA" dirty="0"/>
                  <a:t> with </a:t>
                </a:r>
                <a14:m>
                  <m:oMath xmlns:m="http://schemas.openxmlformats.org/officeDocument/2006/math">
                    <m:r>
                      <a:rPr lang="sr-Latn-RS" sz="1200" b="0" i="1" smtClean="0">
                        <a:latin typeface="Cambria Math" panose="02040503050406030204" pitchFamily="18" charset="0"/>
                      </a:rPr>
                      <m:t>𝐴𝐵𝐶</m:t>
                    </m:r>
                    <m:r>
                      <a:rPr lang="sr-Latn-RS" sz="1200" b="0" i="1" smtClean="0">
                        <a:latin typeface="Cambria Math" panose="02040503050406030204" pitchFamily="18" charset="0"/>
                      </a:rPr>
                      <m:t>=</m:t>
                    </m:r>
                    <m:r>
                      <a:rPr lang="sr-Latn-RS" sz="1200" b="0" i="1" smtClean="0">
                        <a:latin typeface="Cambria Math" panose="02040503050406030204" pitchFamily="18" charset="0"/>
                      </a:rPr>
                      <m:t>𝐼</m:t>
                    </m:r>
                  </m:oMath>
                </a14:m>
                <a:r>
                  <a:rPr lang="en-ZA" dirty="0"/>
                  <a:t>, then the controlled operator </a:t>
                </a:r>
                <a14:m>
                  <m:oMath xmlns:m="http://schemas.openxmlformats.org/officeDocument/2006/math">
                    <m:r>
                      <m:rPr>
                        <m:sty m:val="p"/>
                      </m:rPr>
                      <a:rPr lang="en-US" sz="1200" b="0" i="0" smtClean="0">
                        <a:latin typeface="Cambria Math" panose="02040503050406030204" pitchFamily="18" charset="0"/>
                      </a:rPr>
                      <m:t>c</m:t>
                    </m:r>
                    <m:r>
                      <a:rPr lang="en-US" sz="1200" i="1" smtClean="0">
                        <a:latin typeface="Cambria Math" panose="02040503050406030204" pitchFamily="18" charset="0"/>
                      </a:rPr>
                      <m:t>𝑈</m:t>
                    </m:r>
                  </m:oMath>
                </a14:m>
                <a:r>
                  <a:rPr lang="en-ZA" b="0" dirty="0"/>
                  <a:t> </a:t>
                </a:r>
                <a:r>
                  <a:rPr lang="en-ZA" dirty="0"/>
                  <a:t>can be implemented using three single-qubit gates and two CNOT gates, arranged as shown in the figure.</a:t>
                </a:r>
              </a:p>
              <a:p>
                <a:pPr algn="just"/>
                <a:endParaRPr lang="en-ZA" b="0" dirty="0"/>
              </a:p>
              <a:p>
                <a:pPr algn="just"/>
                <a:r>
                  <a:rPr lang="en-ZA" b="0" dirty="0"/>
                  <a:t>The lemma can be proven by looking at the circuit.</a:t>
                </a:r>
              </a:p>
              <a:p>
                <a:pPr algn="just"/>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If the control qubit is </a:t>
                </a:r>
                <a14:m>
                  <m:oMath xmlns:m="http://schemas.openxmlformats.org/officeDocument/2006/math">
                    <m:r>
                      <a:rPr lang="sr-Latn-RS" sz="1200" i="1" smtClean="0">
                        <a:latin typeface="Cambria Math" panose="02040503050406030204" pitchFamily="18" charset="0"/>
                      </a:rPr>
                      <m:t>𝑐</m:t>
                    </m:r>
                    <m:r>
                      <a:rPr lang="sr-Latn-RS" sz="1200" i="1" smtClean="0">
                        <a:latin typeface="Cambria Math" panose="02040503050406030204" pitchFamily="18" charset="0"/>
                      </a:rPr>
                      <m:t>=</m:t>
                    </m:r>
                    <m:d>
                      <m:dPr>
                        <m:begChr m:val="|"/>
                        <m:endChr m:val="⟩"/>
                        <m:ctrlPr>
                          <a:rPr lang="sr-Latn-RS" sz="1200" b="0" i="1" smtClean="0">
                            <a:latin typeface="Cambria Math" panose="02040503050406030204" pitchFamily="18" charset="0"/>
                          </a:rPr>
                        </m:ctrlPr>
                      </m:dPr>
                      <m:e>
                        <m:r>
                          <a:rPr lang="sr-Latn-RS" sz="1200" b="0" i="1" smtClean="0">
                            <a:latin typeface="Cambria Math" panose="02040503050406030204" pitchFamily="18" charset="0"/>
                          </a:rPr>
                          <m:t>0</m:t>
                        </m:r>
                      </m:e>
                    </m:d>
                  </m:oMath>
                </a14:m>
                <a:r>
                  <a:rPr lang="en-ZA" b="0" dirty="0"/>
                  <a:t>, the controlled-X gates remain inactive, and the entire circuit reduces to the identity, </a:t>
                </a:r>
                <a14:m>
                  <m:oMath xmlns:m="http://schemas.openxmlformats.org/officeDocument/2006/math">
                    <m:r>
                      <a:rPr lang="sr-Latn-RS" sz="1200" b="0" i="1" smtClean="0">
                        <a:latin typeface="Cambria Math" panose="02040503050406030204" pitchFamily="18" charset="0"/>
                        <a:ea typeface="Cambria Math" panose="02040503050406030204" pitchFamily="18" charset="0"/>
                      </a:rPr>
                      <m:t>𝐴𝐵𝐶</m:t>
                    </m:r>
                    <m:r>
                      <a:rPr lang="sr-Latn-RS" sz="1200" b="0" i="1" smtClean="0">
                        <a:latin typeface="Cambria Math" panose="02040503050406030204" pitchFamily="18" charset="0"/>
                        <a:ea typeface="Cambria Math" panose="02040503050406030204" pitchFamily="18" charset="0"/>
                      </a:rPr>
                      <m:t>=</m:t>
                    </m:r>
                    <m:r>
                      <a:rPr lang="sr-Latn-RS" sz="1200" b="0" i="1" smtClean="0">
                        <a:latin typeface="Cambria Math" panose="02040503050406030204" pitchFamily="18" charset="0"/>
                        <a:ea typeface="Cambria Math" panose="02040503050406030204" pitchFamily="18" charset="0"/>
                      </a:rPr>
                      <m:t>𝐼</m:t>
                    </m:r>
                  </m:oMath>
                </a14:m>
                <a:r>
                  <a:rPr lang="en-ZA" b="0" dirty="0"/>
                  <a:t>.</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b="0" dirty="0"/>
              </a:p>
              <a:p>
                <a:pPr marL="171450" indent="-171450" algn="just">
                  <a:buFont typeface="Arial" panose="020B0604020202020204" pitchFamily="34" charset="0"/>
                  <a:buChar char="•"/>
                </a:pPr>
                <a:r>
                  <a:rPr lang="en-ZA" b="0" dirty="0"/>
                  <a:t>If the control qubit is </a:t>
                </a:r>
                <a14:m>
                  <m:oMath xmlns:m="http://schemas.openxmlformats.org/officeDocument/2006/math">
                    <m:r>
                      <a:rPr lang="sr-Latn-RS" sz="1200" i="1" smtClean="0">
                        <a:latin typeface="Cambria Math" panose="02040503050406030204" pitchFamily="18" charset="0"/>
                      </a:rPr>
                      <m:t>𝑐</m:t>
                    </m:r>
                    <m:r>
                      <a:rPr lang="sr-Latn-RS" sz="1200" i="1" smtClean="0">
                        <a:latin typeface="Cambria Math" panose="02040503050406030204" pitchFamily="18" charset="0"/>
                      </a:rPr>
                      <m:t>=</m:t>
                    </m:r>
                    <m:d>
                      <m:dPr>
                        <m:begChr m:val="|"/>
                        <m:endChr m:val="⟩"/>
                        <m:ctrlPr>
                          <a:rPr lang="sr-Latn-RS" sz="1200" b="0" i="1" smtClean="0">
                            <a:latin typeface="Cambria Math" panose="02040503050406030204" pitchFamily="18" charset="0"/>
                          </a:rPr>
                        </m:ctrlPr>
                      </m:dPr>
                      <m:e>
                        <m:r>
                          <a:rPr lang="en-US" sz="1200" b="0" i="1" smtClean="0">
                            <a:latin typeface="Cambria Math" panose="02040503050406030204" pitchFamily="18" charset="0"/>
                          </a:rPr>
                          <m:t>1</m:t>
                        </m:r>
                      </m:e>
                    </m:d>
                  </m:oMath>
                </a14:m>
                <a:r>
                  <a:rPr lang="en-ZA" b="0" dirty="0"/>
                  <a:t>, the controlled-X gates are active, and the entire circuit implements the transformation </a:t>
                </a:r>
                <a14:m>
                  <m:oMath xmlns:m="http://schemas.openxmlformats.org/officeDocument/2006/math">
                    <m:r>
                      <a:rPr lang="sr-Latn-RS" sz="1200" b="0" i="1" smtClean="0">
                        <a:latin typeface="Cambria Math" panose="02040503050406030204" pitchFamily="18" charset="0"/>
                        <a:ea typeface="Cambria Math" panose="02040503050406030204" pitchFamily="18" charset="0"/>
                      </a:rPr>
                      <m:t>𝐴𝑋𝐵𝑋𝐶</m:t>
                    </m:r>
                    <m:r>
                      <a:rPr lang="sr-Latn-RS" sz="1200" b="0" i="1" smtClean="0">
                        <a:latin typeface="Cambria Math" panose="02040503050406030204" pitchFamily="18" charset="0"/>
                        <a:ea typeface="Cambria Math" panose="02040503050406030204" pitchFamily="18" charset="0"/>
                      </a:rPr>
                      <m:t>=</m:t>
                    </m:r>
                    <m:r>
                      <a:rPr lang="sr-Latn-RS" sz="1200" b="0" i="1" smtClean="0">
                        <a:latin typeface="Cambria Math" panose="02040503050406030204" pitchFamily="18" charset="0"/>
                        <a:ea typeface="Cambria Math" panose="02040503050406030204" pitchFamily="18" charset="0"/>
                      </a:rPr>
                      <m:t>𝑈</m:t>
                    </m:r>
                  </m:oMath>
                </a14:m>
                <a:r>
                  <a:rPr lang="en-ZA" b="0" dirty="0"/>
                  <a:t>.</a:t>
                </a:r>
              </a:p>
              <a:p>
                <a:pPr algn="just"/>
                <a:endParaRPr lang="en-ZA" b="0" dirty="0"/>
              </a:p>
            </p:txBody>
          </p:sp>
        </mc:Choice>
        <mc:Fallback xmlns="">
          <p:sp>
            <p:nvSpPr>
              <p:cNvPr id="3" name="Notes Placeholder 2"/>
              <p:cNvSpPr>
                <a:spLocks noGrp="1"/>
              </p:cNvSpPr>
              <p:nvPr>
                <p:ph type="body" idx="1"/>
              </p:nvPr>
            </p:nvSpPr>
            <p:spPr/>
            <p:txBody>
              <a:bodyPr/>
              <a:lstStyle/>
              <a:p>
                <a:pPr algn="just"/>
                <a:r>
                  <a:rPr lang="en-ZA" b="0" dirty="0"/>
                  <a:t>The second lemma extends the decomposition theorem to controlled gates.</a:t>
                </a:r>
              </a:p>
              <a:p>
                <a:pPr algn="just"/>
                <a:endParaRPr lang="en-ZA" b="0" dirty="0"/>
              </a:p>
              <a:p>
                <a:pPr algn="just"/>
                <a:r>
                  <a:rPr lang="en-ZA" b="0" dirty="0"/>
                  <a:t>The lemma states that if a unitary operator </a:t>
                </a:r>
                <a:r>
                  <a:rPr lang="en-US" sz="1200" i="0">
                    <a:latin typeface="Cambria Math" panose="02040503050406030204" pitchFamily="18" charset="0"/>
                  </a:rPr>
                  <a:t>𝑈</a:t>
                </a:r>
                <a:r>
                  <a:rPr lang="en-ZA" b="0" dirty="0"/>
                  <a:t> can be expressed as a product of operators</a:t>
                </a:r>
                <a:r>
                  <a:rPr lang="en-ZA" b="0" baseline="0" dirty="0"/>
                  <a:t> </a:t>
                </a:r>
                <a:r>
                  <a:rPr lang="en-US" sz="1200" i="0">
                    <a:latin typeface="Cambria Math" panose="02040503050406030204" pitchFamily="18" charset="0"/>
                  </a:rPr>
                  <a:t>𝐴𝑋𝐵𝑋𝐶</a:t>
                </a:r>
                <a:r>
                  <a:rPr lang="en-ZA" b="0" dirty="0"/>
                  <a:t> where their product satisfies </a:t>
                </a:r>
                <a:r>
                  <a:rPr lang="sr-Latn-RS" sz="1200" b="0" i="0">
                    <a:latin typeface="Cambria Math" panose="02040503050406030204" pitchFamily="18" charset="0"/>
                  </a:rPr>
                  <a:t>𝐴𝐵𝐶=𝐼</a:t>
                </a:r>
                <a:r>
                  <a:rPr lang="en-ZA" b="0" dirty="0"/>
                  <a:t>, then the controlled unitary operator </a:t>
                </a:r>
                <a:r>
                  <a:rPr lang="en-US" sz="1200" b="0" i="0">
                    <a:latin typeface="Cambria Math" panose="02040503050406030204" pitchFamily="18" charset="0"/>
                  </a:rPr>
                  <a:t>c</a:t>
                </a:r>
                <a:r>
                  <a:rPr lang="en-US" sz="1200" i="0">
                    <a:latin typeface="Cambria Math" panose="02040503050406030204" pitchFamily="18" charset="0"/>
                  </a:rPr>
                  <a:t>𝑈</a:t>
                </a:r>
                <a:r>
                  <a:rPr lang="en-ZA" b="0" dirty="0"/>
                  <a:t> can be implemented using three single-qubit gates and two controlled-X (CNOT) gates.</a:t>
                </a:r>
              </a:p>
              <a:p>
                <a:pPr algn="just"/>
                <a:endParaRPr lang="en-ZA" b="0" dirty="0"/>
              </a:p>
              <a:p>
                <a:pPr algn="just"/>
                <a:r>
                  <a:rPr lang="en-ZA" b="0" dirty="0"/>
                  <a:t>This lemma is directly proven using the circuit shown in the figure.</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If the control qubit is </a:t>
                </a:r>
                <a:r>
                  <a:rPr lang="sr-Latn-RS" sz="1200" i="0">
                    <a:latin typeface="Cambria Math" panose="02040503050406030204" pitchFamily="18" charset="0"/>
                  </a:rPr>
                  <a:t>𝑐=</a:t>
                </a:r>
                <a:r>
                  <a:rPr lang="sr-Latn-RS" sz="1200" b="0" i="0">
                    <a:latin typeface="Cambria Math" panose="02040503050406030204" pitchFamily="18" charset="0"/>
                  </a:rPr>
                  <a:t>|0⟩</a:t>
                </a:r>
                <a:r>
                  <a:rPr lang="en-ZA" b="0" dirty="0"/>
                  <a:t>, the controlled-X gates remain inactive, and the entire circuit reduces to the identity transformation </a:t>
                </a:r>
                <a:r>
                  <a:rPr lang="sr-Latn-RS" sz="1200" b="0" i="0">
                    <a:latin typeface="Cambria Math" panose="02040503050406030204" pitchFamily="18" charset="0"/>
                    <a:ea typeface="Cambria Math" panose="02040503050406030204" pitchFamily="18" charset="0"/>
                  </a:rPr>
                  <a:t>𝐴𝐵𝐶=𝐼</a:t>
                </a:r>
                <a:r>
                  <a:rPr lang="en-ZA" b="0" dirty="0"/>
                  <a:t>.</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b="0" dirty="0"/>
              </a:p>
              <a:p>
                <a:pPr marL="171450" indent="-171450" algn="just">
                  <a:buFont typeface="Arial" panose="020B0604020202020204" pitchFamily="34" charset="0"/>
                  <a:buChar char="•"/>
                </a:pPr>
                <a:r>
                  <a:rPr lang="en-ZA" b="0" dirty="0"/>
                  <a:t>If the control qubit is </a:t>
                </a:r>
                <a:r>
                  <a:rPr lang="sr-Latn-RS" sz="1200" i="0">
                    <a:latin typeface="Cambria Math" panose="02040503050406030204" pitchFamily="18" charset="0"/>
                  </a:rPr>
                  <a:t>𝑐=</a:t>
                </a:r>
                <a:r>
                  <a:rPr lang="sr-Latn-RS" sz="1200" b="0" i="0">
                    <a:latin typeface="Cambria Math" panose="02040503050406030204" pitchFamily="18" charset="0"/>
                  </a:rPr>
                  <a:t>|</a:t>
                </a:r>
                <a:r>
                  <a:rPr lang="en-US" sz="1200" b="0" i="0">
                    <a:latin typeface="Cambria Math" panose="02040503050406030204" pitchFamily="18" charset="0"/>
                  </a:rPr>
                  <a:t>1</a:t>
                </a:r>
                <a:r>
                  <a:rPr lang="sr-Latn-RS" sz="1200" b="0" i="0">
                    <a:latin typeface="Cambria Math" panose="02040503050406030204" pitchFamily="18" charset="0"/>
                  </a:rPr>
                  <a:t>⟩</a:t>
                </a:r>
                <a:r>
                  <a:rPr lang="en-ZA" b="0" dirty="0"/>
                  <a:t>, the controlled-X gates are active, and the entire circuit implements the transformation </a:t>
                </a:r>
                <a:r>
                  <a:rPr lang="sr-Latn-RS" sz="1200" b="0" i="0">
                    <a:latin typeface="Cambria Math" panose="02040503050406030204" pitchFamily="18" charset="0"/>
                    <a:ea typeface="Cambria Math" panose="02040503050406030204" pitchFamily="18" charset="0"/>
                  </a:rPr>
                  <a:t>𝐴𝑋𝐵𝑋𝐶=𝑈</a:t>
                </a:r>
                <a:r>
                  <a:rPr lang="en-ZA" b="0" dirty="0"/>
                  <a:t>.</a:t>
                </a:r>
              </a:p>
              <a:p>
                <a:pPr algn="just"/>
                <a:endParaRPr lang="en-ZA" b="0" dirty="0"/>
              </a:p>
              <a:p>
                <a:pPr algn="just"/>
                <a:r>
                  <a:rPr lang="en-ZA" b="0" dirty="0"/>
                  <a:t>Thus, the results are consistent with Lemma 1.</a:t>
                </a:r>
              </a:p>
              <a:p>
                <a:pPr algn="just"/>
                <a:endParaRPr lang="en-US" b="0" dirty="0"/>
              </a:p>
              <a:p>
                <a:pPr algn="just"/>
                <a:endParaRPr lang="en-US" b="0" dirty="0"/>
              </a:p>
              <a:p>
                <a:pPr algn="just"/>
                <a:r>
                  <a:rPr lang="en-US" b="0" dirty="0"/>
                  <a:t>Druga </a:t>
                </a:r>
                <a:r>
                  <a:rPr lang="en-US" b="0" dirty="0" err="1"/>
                  <a:t>lema</a:t>
                </a:r>
                <a:r>
                  <a:rPr lang="en-US" b="0" dirty="0"/>
                  <a:t> </a:t>
                </a:r>
                <a:r>
                  <a:rPr lang="en-US" b="0" dirty="0" err="1"/>
                  <a:t>proširuje</a:t>
                </a:r>
                <a:r>
                  <a:rPr lang="en-US" b="0" dirty="0"/>
                  <a:t> </a:t>
                </a:r>
                <a:r>
                  <a:rPr lang="en-US" b="0" dirty="0" err="1"/>
                  <a:t>teoremu</a:t>
                </a:r>
                <a:r>
                  <a:rPr lang="en-US" b="0" dirty="0"/>
                  <a:t> </a:t>
                </a:r>
                <a:r>
                  <a:rPr lang="en-US" b="0" dirty="0" err="1"/>
                  <a:t>dekompozicije</a:t>
                </a:r>
                <a:r>
                  <a:rPr lang="en-US" b="0" dirty="0"/>
                  <a:t> </a:t>
                </a:r>
                <a:r>
                  <a:rPr lang="en-US" b="0" dirty="0" err="1"/>
                  <a:t>na</a:t>
                </a:r>
                <a:r>
                  <a:rPr lang="en-US" b="0" dirty="0"/>
                  <a:t> </a:t>
                </a:r>
                <a:r>
                  <a:rPr lang="en-US" b="0" dirty="0" err="1"/>
                  <a:t>kontrolisane</a:t>
                </a:r>
                <a:r>
                  <a:rPr lang="en-US" b="0" dirty="0"/>
                  <a:t> </a:t>
                </a:r>
                <a:r>
                  <a:rPr lang="en-US" b="0" dirty="0" err="1"/>
                  <a:t>gejtove</a:t>
                </a:r>
                <a:r>
                  <a:rPr lang="en-US" b="0" dirty="0"/>
                  <a:t>.</a:t>
                </a:r>
              </a:p>
              <a:p>
                <a:pPr algn="just"/>
                <a:endParaRPr lang="en-US" b="0" dirty="0"/>
              </a:p>
              <a:p>
                <a:pPr algn="just"/>
                <a:r>
                  <a:rPr lang="en-US" b="0" dirty="0" err="1"/>
                  <a:t>Lema</a:t>
                </a:r>
                <a:r>
                  <a:rPr lang="en-US" b="0" dirty="0"/>
                  <a:t> </a:t>
                </a:r>
                <a:r>
                  <a:rPr lang="en-US" b="0" dirty="0" err="1"/>
                  <a:t>kaže</a:t>
                </a:r>
                <a:r>
                  <a:rPr lang="en-US" b="0" dirty="0"/>
                  <a:t> da </a:t>
                </a:r>
                <a:r>
                  <a:rPr lang="en-US" b="0" dirty="0" err="1"/>
                  <a:t>ako</a:t>
                </a:r>
                <a:r>
                  <a:rPr lang="en-US" b="0" dirty="0"/>
                  <a:t> se </a:t>
                </a:r>
                <a:r>
                  <a:rPr lang="en-US" b="0" dirty="0" err="1"/>
                  <a:t>unitarni</a:t>
                </a:r>
                <a:r>
                  <a:rPr lang="en-US" b="0" dirty="0"/>
                  <a:t> operator </a:t>
                </a:r>
                <a:r>
                  <a:rPr lang="en-US" b="0" dirty="0" err="1"/>
                  <a:t>može</a:t>
                </a:r>
                <a:r>
                  <a:rPr lang="en-US" b="0" dirty="0"/>
                  <a:t> </a:t>
                </a:r>
                <a:r>
                  <a:rPr lang="en-US" b="0" dirty="0" err="1"/>
                  <a:t>predstaviti</a:t>
                </a:r>
                <a:r>
                  <a:rPr lang="en-US" b="0" dirty="0"/>
                  <a:t> </a:t>
                </a:r>
                <a:r>
                  <a:rPr lang="en-US" b="0" dirty="0" err="1"/>
                  <a:t>kao</a:t>
                </a:r>
                <a:r>
                  <a:rPr lang="en-US" b="0" dirty="0"/>
                  <a:t> </a:t>
                </a:r>
                <a:r>
                  <a:rPr lang="en-US" b="0" dirty="0" err="1"/>
                  <a:t>proizvod</a:t>
                </a:r>
                <a:r>
                  <a:rPr lang="en-US" b="0" dirty="0"/>
                  <a:t> </a:t>
                </a:r>
                <a:r>
                  <a:rPr lang="en-US" b="0" dirty="0" err="1"/>
                  <a:t>operatora</a:t>
                </a:r>
                <a:r>
                  <a:rPr lang="en-US" b="0" dirty="0"/>
                  <a:t> AXBXC, </a:t>
                </a:r>
                <a:r>
                  <a:rPr lang="en-US" b="0" dirty="0" err="1"/>
                  <a:t>gde</a:t>
                </a:r>
                <a:r>
                  <a:rPr lang="en-US" b="0" dirty="0"/>
                  <a:t> </a:t>
                </a:r>
                <a:r>
                  <a:rPr lang="en-US" b="0" dirty="0" err="1"/>
                  <a:t>je</a:t>
                </a:r>
                <a:r>
                  <a:rPr lang="en-US" b="0" dirty="0"/>
                  <a:t> </a:t>
                </a:r>
                <a:r>
                  <a:rPr lang="en-US" b="0" dirty="0" err="1"/>
                  <a:t>proizvod</a:t>
                </a:r>
                <a:r>
                  <a:rPr lang="en-US" b="0" dirty="0"/>
                  <a:t> ABC=I, </a:t>
                </a:r>
                <a:r>
                  <a:rPr lang="en-US" b="0" dirty="0" err="1"/>
                  <a:t>onda</a:t>
                </a:r>
                <a:r>
                  <a:rPr lang="en-US" b="0" dirty="0"/>
                  <a:t> se </a:t>
                </a:r>
                <a:r>
                  <a:rPr lang="en-US" b="0" dirty="0" err="1"/>
                  <a:t>kontrolisani</a:t>
                </a:r>
                <a:r>
                  <a:rPr lang="en-US" b="0" dirty="0"/>
                  <a:t> </a:t>
                </a:r>
                <a:r>
                  <a:rPr lang="en-US" b="0" dirty="0" err="1"/>
                  <a:t>unitarni</a:t>
                </a:r>
                <a:r>
                  <a:rPr lang="en-US" b="0" dirty="0"/>
                  <a:t> operator </a:t>
                </a:r>
                <a:r>
                  <a:rPr lang="en-US" b="0" dirty="0" err="1"/>
                  <a:t>može</a:t>
                </a:r>
                <a:r>
                  <a:rPr lang="en-US" b="0" dirty="0"/>
                  <a:t> </a:t>
                </a:r>
                <a:r>
                  <a:rPr lang="en-US" b="0" dirty="0" err="1"/>
                  <a:t>implementirati</a:t>
                </a:r>
                <a:r>
                  <a:rPr lang="en-US" b="0" dirty="0"/>
                  <a:t>  </a:t>
                </a:r>
                <a:r>
                  <a:rPr lang="en-US" b="0" dirty="0" err="1"/>
                  <a:t>sa</a:t>
                </a:r>
                <a:r>
                  <a:rPr lang="en-US" b="0" dirty="0"/>
                  <a:t> tri </a:t>
                </a:r>
                <a:r>
                  <a:rPr lang="en-US" b="0" dirty="0" err="1"/>
                  <a:t>jednokubitna</a:t>
                </a:r>
                <a:r>
                  <a:rPr lang="en-US" b="0" dirty="0"/>
                  <a:t> </a:t>
                </a:r>
                <a:r>
                  <a:rPr lang="en-US" b="0" dirty="0" err="1"/>
                  <a:t>elementarna</a:t>
                </a:r>
                <a:r>
                  <a:rPr lang="en-US" b="0" dirty="0"/>
                  <a:t> kola </a:t>
                </a:r>
                <a:r>
                  <a:rPr lang="en-US" b="0" dirty="0" err="1"/>
                  <a:t>i</a:t>
                </a:r>
                <a:r>
                  <a:rPr lang="en-US" b="0" dirty="0"/>
                  <a:t> </a:t>
                </a:r>
                <a:r>
                  <a:rPr lang="en-US" b="0" dirty="0" err="1"/>
                  <a:t>dva</a:t>
                </a:r>
                <a:r>
                  <a:rPr lang="en-US" b="0" dirty="0"/>
                  <a:t> </a:t>
                </a:r>
                <a:r>
                  <a:rPr lang="en-US" b="0" dirty="0" err="1"/>
                  <a:t>kontrolisana</a:t>
                </a:r>
                <a:r>
                  <a:rPr lang="en-US" b="0" dirty="0"/>
                  <a:t> X </a:t>
                </a:r>
                <a:r>
                  <a:rPr lang="en-US" b="0" dirty="0" err="1"/>
                  <a:t>gejta</a:t>
                </a:r>
                <a:r>
                  <a:rPr lang="en-US" b="0" dirty="0"/>
                  <a:t>.</a:t>
                </a:r>
              </a:p>
              <a:p>
                <a:pPr algn="just"/>
                <a:endParaRPr lang="en-US" b="0" dirty="0"/>
              </a:p>
              <a:p>
                <a:pPr algn="just"/>
                <a:r>
                  <a:rPr lang="en-US" b="0" dirty="0" err="1"/>
                  <a:t>Lema</a:t>
                </a:r>
                <a:r>
                  <a:rPr lang="en-US" b="0" dirty="0"/>
                  <a:t> se </a:t>
                </a:r>
                <a:r>
                  <a:rPr lang="en-US" b="0" dirty="0" err="1"/>
                  <a:t>direktno</a:t>
                </a:r>
                <a:r>
                  <a:rPr lang="en-US" b="0" dirty="0"/>
                  <a:t> </a:t>
                </a:r>
                <a:r>
                  <a:rPr lang="en-US" b="0" dirty="0" err="1"/>
                  <a:t>dokazuje</a:t>
                </a:r>
                <a:r>
                  <a:rPr lang="en-US" b="0" dirty="0"/>
                  <a:t> </a:t>
                </a:r>
                <a:r>
                  <a:rPr lang="en-US" b="0" dirty="0" err="1"/>
                  <a:t>preko</a:t>
                </a:r>
                <a:r>
                  <a:rPr lang="en-US" b="0" dirty="0"/>
                  <a:t> kola </a:t>
                </a:r>
                <a:r>
                  <a:rPr lang="en-US" b="0" dirty="0" err="1"/>
                  <a:t>na</a:t>
                </a:r>
                <a:r>
                  <a:rPr lang="en-US" b="0" dirty="0"/>
                  <a:t> </a:t>
                </a:r>
                <a:r>
                  <a:rPr lang="en-US" b="0" dirty="0" err="1"/>
                  <a:t>slici</a:t>
                </a:r>
                <a:r>
                  <a:rPr lang="en-US" b="0" dirty="0"/>
                  <a:t>. </a:t>
                </a:r>
              </a:p>
              <a:p>
                <a:pPr algn="just"/>
                <a:endParaRPr lang="en-US" b="0" dirty="0"/>
              </a:p>
              <a:p>
                <a:pPr marL="171450" indent="-171450" algn="just">
                  <a:buFont typeface="Arial" panose="020B0604020202020204" pitchFamily="34" charset="0"/>
                  <a:buChar char="•"/>
                </a:pPr>
                <a:r>
                  <a:rPr lang="en-US" b="0" dirty="0" err="1"/>
                  <a:t>Ako</a:t>
                </a:r>
                <a:r>
                  <a:rPr lang="en-US" b="0" dirty="0"/>
                  <a:t> </a:t>
                </a:r>
                <a:r>
                  <a:rPr lang="en-US" b="0" dirty="0" err="1"/>
                  <a:t>je</a:t>
                </a:r>
                <a:r>
                  <a:rPr lang="en-US" b="0" dirty="0"/>
                  <a:t> </a:t>
                </a:r>
                <a:r>
                  <a:rPr lang="en-US" b="0" dirty="0" err="1"/>
                  <a:t>kontrolni</a:t>
                </a:r>
                <a:r>
                  <a:rPr lang="en-US" b="0" dirty="0"/>
                  <a:t> kubit c=|0⟩, </a:t>
                </a:r>
                <a:r>
                  <a:rPr lang="en-US" b="0" dirty="0" err="1"/>
                  <a:t>onda</a:t>
                </a:r>
                <a:r>
                  <a:rPr lang="en-US" b="0" dirty="0"/>
                  <a:t> se </a:t>
                </a:r>
                <a:r>
                  <a:rPr lang="en-US" b="0" dirty="0" err="1"/>
                  <a:t>zbog</a:t>
                </a:r>
                <a:r>
                  <a:rPr lang="en-US" b="0" dirty="0"/>
                  <a:t> </a:t>
                </a:r>
                <a:r>
                  <a:rPr lang="en-US" b="0" dirty="0" err="1"/>
                  <a:t>neaktivnosti</a:t>
                </a:r>
                <a:r>
                  <a:rPr lang="en-US" b="0" dirty="0"/>
                  <a:t> </a:t>
                </a:r>
                <a:r>
                  <a:rPr lang="en-US" b="0" dirty="0" err="1"/>
                  <a:t>cX</a:t>
                </a:r>
                <a:r>
                  <a:rPr lang="en-US" b="0" dirty="0"/>
                  <a:t> </a:t>
                </a:r>
                <a:r>
                  <a:rPr lang="en-US" b="0" dirty="0" err="1"/>
                  <a:t>gejta</a:t>
                </a:r>
                <a:r>
                  <a:rPr lang="en-US" b="0" dirty="0"/>
                  <a:t>, </a:t>
                </a:r>
                <a:r>
                  <a:rPr lang="en-US" b="0" dirty="0" err="1"/>
                  <a:t>celo</a:t>
                </a:r>
                <a:r>
                  <a:rPr lang="en-US" b="0" dirty="0"/>
                  <a:t> </a:t>
                </a:r>
                <a:r>
                  <a:rPr lang="en-US" b="0" dirty="0" err="1"/>
                  <a:t>kolo</a:t>
                </a:r>
                <a:r>
                  <a:rPr lang="en-US" b="0" dirty="0"/>
                  <a:t> </a:t>
                </a:r>
                <a:r>
                  <a:rPr lang="en-US" b="0" dirty="0" err="1"/>
                  <a:t>svodi</a:t>
                </a:r>
                <a:r>
                  <a:rPr lang="en-US" b="0" dirty="0"/>
                  <a:t> </a:t>
                </a:r>
                <a:r>
                  <a:rPr lang="en-US" b="0" dirty="0" err="1"/>
                  <a:t>na</a:t>
                </a:r>
                <a:r>
                  <a:rPr lang="en-US" b="0" dirty="0"/>
                  <a:t> </a:t>
                </a:r>
                <a:r>
                  <a:rPr lang="en-US" b="0" dirty="0" err="1"/>
                  <a:t>proizvod</a:t>
                </a:r>
                <a:r>
                  <a:rPr lang="en-US" b="0" dirty="0"/>
                  <a:t> ABC=I.</a:t>
                </a:r>
              </a:p>
              <a:p>
                <a:pPr marL="171450" indent="-171450" algn="just">
                  <a:buFont typeface="Arial" panose="020B0604020202020204" pitchFamily="34" charset="0"/>
                  <a:buChar char="•"/>
                </a:pPr>
                <a:endParaRPr lang="en-US" b="0" dirty="0"/>
              </a:p>
              <a:p>
                <a:pPr marL="171450" indent="-171450" algn="just">
                  <a:buFont typeface="Arial" panose="020B0604020202020204" pitchFamily="34" charset="0"/>
                  <a:buChar char="•"/>
                </a:pPr>
                <a:r>
                  <a:rPr lang="en-US" b="0" dirty="0" err="1"/>
                  <a:t>Ako</a:t>
                </a:r>
                <a:r>
                  <a:rPr lang="en-US" b="0" dirty="0"/>
                  <a:t> </a:t>
                </a:r>
                <a:r>
                  <a:rPr lang="en-US" b="0" dirty="0" err="1"/>
                  <a:t>je</a:t>
                </a:r>
                <a:r>
                  <a:rPr lang="en-US" b="0" dirty="0"/>
                  <a:t> </a:t>
                </a:r>
                <a:r>
                  <a:rPr lang="en-US" b="0" dirty="0" err="1"/>
                  <a:t>kontrolni</a:t>
                </a:r>
                <a:r>
                  <a:rPr lang="en-US" b="0" dirty="0"/>
                  <a:t> kubit c=|1⟩, </a:t>
                </a:r>
                <a:r>
                  <a:rPr lang="en-US" b="0" dirty="0" err="1"/>
                  <a:t>cX</a:t>
                </a:r>
                <a:r>
                  <a:rPr lang="en-US" b="0" dirty="0"/>
                  <a:t> </a:t>
                </a:r>
                <a:r>
                  <a:rPr lang="en-US" b="0" dirty="0" err="1"/>
                  <a:t>gejts</a:t>
                </a:r>
                <a:r>
                  <a:rPr lang="en-US" b="0" dirty="0"/>
                  <a:t> </a:t>
                </a:r>
                <a:r>
                  <a:rPr lang="en-US" b="0" dirty="0" err="1"/>
                  <a:t>su</a:t>
                </a:r>
                <a:r>
                  <a:rPr lang="en-US" b="0" dirty="0"/>
                  <a:t> </a:t>
                </a:r>
                <a:r>
                  <a:rPr lang="en-US" b="0" dirty="0" err="1"/>
                  <a:t>aktivna</a:t>
                </a:r>
                <a:r>
                  <a:rPr lang="en-US" b="0" dirty="0"/>
                  <a:t> </a:t>
                </a:r>
                <a:r>
                  <a:rPr lang="en-US" b="0" dirty="0" err="1"/>
                  <a:t>i</a:t>
                </a:r>
                <a:r>
                  <a:rPr lang="en-US" b="0" dirty="0"/>
                  <a:t> </a:t>
                </a:r>
                <a:r>
                  <a:rPr lang="en-US" b="0" dirty="0" err="1"/>
                  <a:t>celo</a:t>
                </a:r>
                <a:r>
                  <a:rPr lang="en-US" b="0" dirty="0"/>
                  <a:t> </a:t>
                </a:r>
                <a:r>
                  <a:rPr lang="en-US" b="0" dirty="0" err="1"/>
                  <a:t>kolo</a:t>
                </a:r>
                <a:r>
                  <a:rPr lang="en-US" b="0" dirty="0"/>
                  <a:t> </a:t>
                </a:r>
                <a:r>
                  <a:rPr lang="en-US" b="0" dirty="0" err="1"/>
                  <a:t>je</a:t>
                </a:r>
                <a:r>
                  <a:rPr lang="en-US" b="0" dirty="0"/>
                  <a:t> </a:t>
                </a:r>
                <a:r>
                  <a:rPr lang="en-US" b="0" dirty="0" err="1"/>
                  <a:t>predstavljeno</a:t>
                </a:r>
                <a:r>
                  <a:rPr lang="en-US" b="0" dirty="0"/>
                  <a:t> </a:t>
                </a:r>
                <a:r>
                  <a:rPr lang="en-US" b="0" dirty="0" err="1"/>
                  <a:t>proizvodom</a:t>
                </a:r>
                <a:r>
                  <a:rPr lang="en-US" b="0" dirty="0"/>
                  <a:t> AXBXC=U. </a:t>
                </a:r>
                <a:r>
                  <a:rPr lang="en-US" b="0" dirty="0" err="1"/>
                  <a:t>Dakle</a:t>
                </a:r>
                <a:r>
                  <a:rPr lang="en-US" b="0" dirty="0"/>
                  <a:t>, </a:t>
                </a:r>
                <a:r>
                  <a:rPr lang="en-US" b="0" dirty="0" err="1"/>
                  <a:t>rezultati</a:t>
                </a:r>
                <a:r>
                  <a:rPr lang="en-US" b="0" dirty="0"/>
                  <a:t> </a:t>
                </a:r>
                <a:r>
                  <a:rPr lang="en-US" b="0" dirty="0" err="1"/>
                  <a:t>su</a:t>
                </a:r>
                <a:r>
                  <a:rPr lang="en-US" b="0" dirty="0"/>
                  <a:t> </a:t>
                </a:r>
                <a:r>
                  <a:rPr lang="en-US" b="0" dirty="0" err="1"/>
                  <a:t>saglasni</a:t>
                </a:r>
                <a:r>
                  <a:rPr lang="en-US" b="0" dirty="0"/>
                  <a:t> </a:t>
                </a:r>
                <a:r>
                  <a:rPr lang="en-US" b="0" dirty="0" err="1"/>
                  <a:t>sa</a:t>
                </a:r>
                <a:r>
                  <a:rPr lang="en-US" b="0" dirty="0"/>
                  <a:t> </a:t>
                </a:r>
                <a:r>
                  <a:rPr lang="en-US" b="0" dirty="0" err="1"/>
                  <a:t>lemom</a:t>
                </a:r>
                <a:r>
                  <a:rPr lang="en-US" b="0" dirty="0"/>
                  <a:t> 1.</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26</a:t>
            </a:fld>
            <a:endParaRPr lang="en-US"/>
          </a:p>
        </p:txBody>
      </p:sp>
    </p:spTree>
    <p:extLst>
      <p:ext uri="{BB962C8B-B14F-4D97-AF65-F5344CB8AC3E}">
        <p14:creationId xmlns:p14="http://schemas.microsoft.com/office/powerpoint/2010/main" val="17417042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To complete the design of the controlled circuit, we also need to include a phase factor. We define the operator </a:t>
                </a:r>
                <a:r>
                  <a:rPr lang="el-GR" dirty="0"/>
                  <a:t>Φ </a:t>
                </a:r>
                <a:r>
                  <a:rPr lang="en-ZA" dirty="0"/>
                  <a:t>as a global phase determined by the angle </a:t>
                </a:r>
                <a:r>
                  <a:rPr lang="el-GR" dirty="0"/>
                  <a:t>φ, </a:t>
                </a:r>
                <a:r>
                  <a:rPr lang="en-ZA" dirty="0"/>
                  <a:t>multiplied by the identity operator.</a:t>
                </a:r>
              </a:p>
              <a:p>
                <a:endParaRPr lang="en-ZA" dirty="0"/>
              </a:p>
              <a:p>
                <a:r>
                  <a:rPr lang="en-ZA" b="1" dirty="0"/>
                  <a:t>Lemma 3</a:t>
                </a:r>
                <a:r>
                  <a:rPr lang="en-ZA" dirty="0"/>
                  <a:t> states that a controlled-</a:t>
                </a:r>
                <a:r>
                  <a:rPr lang="el-GR" dirty="0"/>
                  <a:t>Φ</a:t>
                </a:r>
                <a:r>
                  <a:rPr lang="en-US" dirty="0"/>
                  <a:t> </a:t>
                </a:r>
                <a:r>
                  <a:rPr lang="en-ZA" dirty="0"/>
                  <a:t>gate is equivalent to applying a phase gate P on the control qubit.</a:t>
                </a:r>
              </a:p>
              <a:p>
                <a:endParaRPr lang="en-ZA" dirty="0"/>
              </a:p>
              <a:p>
                <a:r>
                  <a:rPr lang="en-ZA" dirty="0"/>
                  <a:t>The proof is straightforward. By comparing the input–output </a:t>
                </a:r>
                <a:r>
                  <a:rPr lang="en-ZA" dirty="0" err="1"/>
                  <a:t>behavior</a:t>
                </a:r>
                <a:r>
                  <a:rPr lang="en-ZA" dirty="0"/>
                  <a:t> of the two circuits, we see they perform the same transformation:</a:t>
                </a:r>
              </a:p>
              <a:p>
                <a:endParaRPr lang="en-ZA" dirty="0"/>
              </a:p>
              <a:p>
                <a:pPr/>
                <a14:m>
                  <m:oMathPara xmlns:m="http://schemas.openxmlformats.org/officeDocument/2006/math">
                    <m:oMathParaPr>
                      <m:jc m:val="centerGroup"/>
                    </m:oMathParaPr>
                    <m:oMath xmlns:m="http://schemas.openxmlformats.org/officeDocument/2006/math">
                      <m:m>
                        <m:mPr>
                          <m:plcHide m:val="on"/>
                          <m:mcs>
                            <m:mc>
                              <m:mcPr>
                                <m:count m:val="5"/>
                                <m:mcJc m:val="center"/>
                              </m:mcPr>
                            </m:mc>
                          </m:mcs>
                          <m:ctrlPr>
                            <a:rPr lang="en-US" sz="1200" i="1" smtClean="0">
                              <a:latin typeface="Cambria Math" panose="02040503050406030204" pitchFamily="18" charset="0"/>
                            </a:rPr>
                          </m:ctrlPr>
                        </m:mPr>
                        <m:mr>
                          <m:e>
                            <m:r>
                              <a:rPr lang="en-US" sz="1200" i="1">
                                <a:latin typeface="Cambria Math" panose="02040503050406030204" pitchFamily="18" charset="0"/>
                              </a:rPr>
                              <m:t>𝐶</m:t>
                            </m:r>
                            <m:r>
                              <m:rPr>
                                <m:sty m:val="p"/>
                              </m:rPr>
                              <a:rPr lang="en-US" sz="1200" i="0">
                                <a:latin typeface="Cambria Math" panose="02040503050406030204" pitchFamily="18" charset="0"/>
                              </a:rPr>
                              <m:t>Φ</m:t>
                            </m:r>
                            <m:r>
                              <a:rPr lang="en-US" sz="1200" i="0">
                                <a:latin typeface="Cambria Math" panose="02040503050406030204" pitchFamily="18" charset="0"/>
                              </a:rPr>
                              <m:t>:</m:t>
                            </m:r>
                          </m:e>
                          <m:e>
                            <m:d>
                              <m:dPr>
                                <m:begChr m:val="|"/>
                                <m:endChr m:val="⟩"/>
                                <m:ctrlPr>
                                  <a:rPr lang="en-US" sz="1200" i="1">
                                    <a:latin typeface="Cambria Math" panose="02040503050406030204" pitchFamily="18" charset="0"/>
                                  </a:rPr>
                                </m:ctrlPr>
                              </m:dPr>
                              <m:e>
                                <m:r>
                                  <a:rPr lang="en-US" sz="1200" i="0">
                                    <a:latin typeface="Cambria Math" panose="02040503050406030204" pitchFamily="18" charset="0"/>
                                  </a:rPr>
                                  <m:t>00</m:t>
                                </m:r>
                              </m:e>
                            </m:d>
                            <m:r>
                              <a:rPr lang="en-US" sz="1200" i="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i="0">
                                    <a:latin typeface="Cambria Math" panose="02040503050406030204" pitchFamily="18" charset="0"/>
                                  </a:rPr>
                                  <m:t>00</m:t>
                                </m:r>
                              </m:e>
                            </m:d>
                          </m:e>
                          <m:e>
                            <m:d>
                              <m:dPr>
                                <m:begChr m:val="|"/>
                                <m:endChr m:val="⟩"/>
                                <m:ctrlPr>
                                  <a:rPr lang="en-US" sz="1200" i="1">
                                    <a:latin typeface="Cambria Math" panose="02040503050406030204" pitchFamily="18" charset="0"/>
                                  </a:rPr>
                                </m:ctrlPr>
                              </m:dPr>
                              <m:e>
                                <m:r>
                                  <a:rPr lang="en-US" sz="1200" i="0">
                                    <a:latin typeface="Cambria Math" panose="02040503050406030204" pitchFamily="18" charset="0"/>
                                  </a:rPr>
                                  <m:t>01</m:t>
                                </m:r>
                              </m:e>
                            </m:d>
                            <m:r>
                              <a:rPr lang="en-US" sz="1200" i="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i="0">
                                    <a:latin typeface="Cambria Math" panose="02040503050406030204" pitchFamily="18" charset="0"/>
                                  </a:rPr>
                                  <m:t>0</m:t>
                                </m:r>
                                <m:r>
                                  <a:rPr lang="en-US" sz="1200" b="0" i="1" smtClean="0">
                                    <a:latin typeface="Cambria Math" panose="02040503050406030204" pitchFamily="18" charset="0"/>
                                  </a:rPr>
                                  <m:t>1</m:t>
                                </m:r>
                              </m:e>
                            </m:d>
                          </m:e>
                          <m:e>
                            <m:d>
                              <m:dPr>
                                <m:begChr m:val="|"/>
                                <m:endChr m:val="⟩"/>
                                <m:ctrlPr>
                                  <a:rPr lang="en-US" sz="1200" i="1">
                                    <a:latin typeface="Cambria Math" panose="02040503050406030204" pitchFamily="18" charset="0"/>
                                  </a:rPr>
                                </m:ctrlPr>
                              </m:dPr>
                              <m:e>
                                <m:r>
                                  <a:rPr lang="en-US" sz="1200" i="0">
                                    <a:latin typeface="Cambria Math" panose="02040503050406030204" pitchFamily="18" charset="0"/>
                                  </a:rPr>
                                  <m:t>10</m:t>
                                </m:r>
                              </m:e>
                            </m:d>
                            <m:r>
                              <a:rPr lang="en-US" sz="1200" i="0">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𝑒</m:t>
                                </m:r>
                              </m:e>
                              <m:sup>
                                <m:r>
                                  <a:rPr lang="en-US" sz="1200" i="1">
                                    <a:latin typeface="Cambria Math" panose="02040503050406030204" pitchFamily="18" charset="0"/>
                                  </a:rPr>
                                  <m:t>𝑖</m:t>
                                </m:r>
                                <m:r>
                                  <a:rPr lang="en-US" sz="1200" i="1">
                                    <a:latin typeface="Cambria Math" panose="02040503050406030204" pitchFamily="18" charset="0"/>
                                  </a:rPr>
                                  <m:t>𝜑</m:t>
                                </m:r>
                              </m:sup>
                            </m:sSup>
                            <m:d>
                              <m:dPr>
                                <m:begChr m:val="|"/>
                                <m:endChr m:val="⟩"/>
                                <m:ctrlPr>
                                  <a:rPr lang="en-US" sz="1200" i="1">
                                    <a:latin typeface="Cambria Math" panose="02040503050406030204" pitchFamily="18" charset="0"/>
                                  </a:rPr>
                                </m:ctrlPr>
                              </m:dPr>
                              <m:e>
                                <m:r>
                                  <a:rPr lang="en-US" sz="1200" i="0">
                                    <a:latin typeface="Cambria Math" panose="02040503050406030204" pitchFamily="18" charset="0"/>
                                  </a:rPr>
                                  <m:t>10</m:t>
                                </m:r>
                              </m:e>
                            </m:d>
                          </m:e>
                          <m:e>
                            <m:d>
                              <m:dPr>
                                <m:begChr m:val="|"/>
                                <m:endChr m:val="⟩"/>
                                <m:ctrlPr>
                                  <a:rPr lang="en-US" sz="1200" i="1">
                                    <a:latin typeface="Cambria Math" panose="02040503050406030204" pitchFamily="18" charset="0"/>
                                  </a:rPr>
                                </m:ctrlPr>
                              </m:dPr>
                              <m:e>
                                <m:r>
                                  <a:rPr lang="en-US" sz="1200" i="0">
                                    <a:latin typeface="Cambria Math" panose="02040503050406030204" pitchFamily="18" charset="0"/>
                                  </a:rPr>
                                  <m:t>11</m:t>
                                </m:r>
                              </m:e>
                            </m:d>
                            <m:r>
                              <a:rPr lang="en-US" sz="1200" i="0">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𝑒</m:t>
                                </m:r>
                              </m:e>
                              <m:sup>
                                <m:r>
                                  <a:rPr lang="en-US" sz="1200" i="1">
                                    <a:latin typeface="Cambria Math" panose="02040503050406030204" pitchFamily="18" charset="0"/>
                                  </a:rPr>
                                  <m:t>𝑖</m:t>
                                </m:r>
                                <m:r>
                                  <a:rPr lang="en-US" sz="1200" i="1">
                                    <a:latin typeface="Cambria Math" panose="02040503050406030204" pitchFamily="18" charset="0"/>
                                  </a:rPr>
                                  <m:t>𝜑</m:t>
                                </m:r>
                              </m:sup>
                            </m:sSup>
                            <m:d>
                              <m:dPr>
                                <m:begChr m:val="|"/>
                                <m:endChr m:val="⟩"/>
                                <m:ctrlPr>
                                  <a:rPr lang="en-US" sz="1200" i="1">
                                    <a:latin typeface="Cambria Math" panose="02040503050406030204" pitchFamily="18" charset="0"/>
                                  </a:rPr>
                                </m:ctrlPr>
                              </m:dPr>
                              <m:e>
                                <m:r>
                                  <a:rPr lang="en-US" sz="1200" i="0">
                                    <a:latin typeface="Cambria Math" panose="02040503050406030204" pitchFamily="18" charset="0"/>
                                  </a:rPr>
                                  <m:t>11</m:t>
                                </m:r>
                              </m:e>
                            </m:d>
                          </m:e>
                        </m:mr>
                        <m:mr>
                          <m:e>
                            <m:r>
                              <a:rPr lang="en-US" sz="1200" i="1">
                                <a:latin typeface="Cambria Math" panose="02040503050406030204" pitchFamily="18" charset="0"/>
                              </a:rPr>
                              <m:t>𝑃</m:t>
                            </m:r>
                            <m:r>
                              <a:rPr lang="en-US" dirty="0" smtClean="0">
                                <a:latin typeface="Cambria Math" panose="02040503050406030204" pitchFamily="18" charset="0"/>
                                <a:ea typeface="Cambria Math" panose="02040503050406030204" pitchFamily="18" charset="0"/>
                              </a:rPr>
                              <m:t>⊗</m:t>
                            </m:r>
                            <m:r>
                              <m:rPr>
                                <m:sty m:val="p"/>
                              </m:rPr>
                              <a:rPr lang="en-US" b="0" i="0" dirty="0" smtClean="0">
                                <a:latin typeface="Cambria Math" panose="02040503050406030204" pitchFamily="18" charset="0"/>
                                <a:ea typeface="Cambria Math" panose="02040503050406030204" pitchFamily="18" charset="0"/>
                              </a:rPr>
                              <m:t>I</m:t>
                            </m:r>
                            <m:r>
                              <a:rPr lang="en-US" sz="1200" i="0">
                                <a:latin typeface="Cambria Math" panose="02040503050406030204" pitchFamily="18" charset="0"/>
                              </a:rPr>
                              <m:t>:</m:t>
                            </m:r>
                          </m:e>
                          <m:e>
                            <m:d>
                              <m:dPr>
                                <m:begChr m:val="|"/>
                                <m:endChr m:val="⟩"/>
                                <m:ctrlPr>
                                  <a:rPr lang="en-US" sz="1200" i="1">
                                    <a:latin typeface="Cambria Math" panose="02040503050406030204" pitchFamily="18" charset="0"/>
                                  </a:rPr>
                                </m:ctrlPr>
                              </m:dPr>
                              <m:e>
                                <m:r>
                                  <a:rPr lang="en-US" sz="1200" i="0">
                                    <a:latin typeface="Cambria Math" panose="02040503050406030204" pitchFamily="18" charset="0"/>
                                  </a:rPr>
                                  <m:t>00</m:t>
                                </m:r>
                              </m:e>
                            </m:d>
                            <m:r>
                              <a:rPr lang="en-US" sz="1200" i="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i="0">
                                    <a:latin typeface="Cambria Math" panose="02040503050406030204" pitchFamily="18" charset="0"/>
                                  </a:rPr>
                                  <m:t>00</m:t>
                                </m:r>
                              </m:e>
                            </m:d>
                          </m:e>
                          <m:e>
                            <m:d>
                              <m:dPr>
                                <m:begChr m:val="|"/>
                                <m:endChr m:val="⟩"/>
                                <m:ctrlPr>
                                  <a:rPr lang="en-US" sz="1200" i="1">
                                    <a:latin typeface="Cambria Math" panose="02040503050406030204" pitchFamily="18" charset="0"/>
                                  </a:rPr>
                                </m:ctrlPr>
                              </m:dPr>
                              <m:e>
                                <m:r>
                                  <a:rPr lang="en-US" sz="1200" i="0">
                                    <a:latin typeface="Cambria Math" panose="02040503050406030204" pitchFamily="18" charset="0"/>
                                  </a:rPr>
                                  <m:t>01</m:t>
                                </m:r>
                              </m:e>
                            </m:d>
                            <m:r>
                              <a:rPr lang="en-US" sz="1200" i="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i="0">
                                    <a:latin typeface="Cambria Math" panose="02040503050406030204" pitchFamily="18" charset="0"/>
                                  </a:rPr>
                                  <m:t>01</m:t>
                                </m:r>
                              </m:e>
                            </m:d>
                          </m:e>
                          <m:e>
                            <m:d>
                              <m:dPr>
                                <m:begChr m:val="|"/>
                                <m:endChr m:val="⟩"/>
                                <m:ctrlPr>
                                  <a:rPr lang="en-US" sz="1200" i="1">
                                    <a:latin typeface="Cambria Math" panose="02040503050406030204" pitchFamily="18" charset="0"/>
                                  </a:rPr>
                                </m:ctrlPr>
                              </m:dPr>
                              <m:e>
                                <m:r>
                                  <a:rPr lang="en-US" sz="1200" i="0">
                                    <a:latin typeface="Cambria Math" panose="02040503050406030204" pitchFamily="18" charset="0"/>
                                  </a:rPr>
                                  <m:t>10</m:t>
                                </m:r>
                              </m:e>
                            </m:d>
                            <m:r>
                              <a:rPr lang="en-US" sz="1200" i="0">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𝑒</m:t>
                                </m:r>
                              </m:e>
                              <m:sup>
                                <m:r>
                                  <a:rPr lang="en-US" sz="1200" i="1">
                                    <a:latin typeface="Cambria Math" panose="02040503050406030204" pitchFamily="18" charset="0"/>
                                  </a:rPr>
                                  <m:t>𝑖</m:t>
                                </m:r>
                                <m:r>
                                  <a:rPr lang="en-US" sz="1200" i="1">
                                    <a:latin typeface="Cambria Math" panose="02040503050406030204" pitchFamily="18" charset="0"/>
                                  </a:rPr>
                                  <m:t>𝜑</m:t>
                                </m:r>
                              </m:sup>
                            </m:sSup>
                            <m:d>
                              <m:dPr>
                                <m:begChr m:val="|"/>
                                <m:endChr m:val="⟩"/>
                                <m:ctrlPr>
                                  <a:rPr lang="en-US" sz="1200" i="1">
                                    <a:latin typeface="Cambria Math" panose="02040503050406030204" pitchFamily="18" charset="0"/>
                                  </a:rPr>
                                </m:ctrlPr>
                              </m:dPr>
                              <m:e>
                                <m:r>
                                  <a:rPr lang="en-US" sz="1200" i="0">
                                    <a:latin typeface="Cambria Math" panose="02040503050406030204" pitchFamily="18" charset="0"/>
                                  </a:rPr>
                                  <m:t>10</m:t>
                                </m:r>
                              </m:e>
                            </m:d>
                          </m:e>
                          <m:e>
                            <m:d>
                              <m:dPr>
                                <m:begChr m:val="|"/>
                                <m:endChr m:val="⟩"/>
                                <m:ctrlPr>
                                  <a:rPr lang="en-US" sz="1200" i="1">
                                    <a:latin typeface="Cambria Math" panose="02040503050406030204" pitchFamily="18" charset="0"/>
                                  </a:rPr>
                                </m:ctrlPr>
                              </m:dPr>
                              <m:e>
                                <m:r>
                                  <a:rPr lang="en-US" sz="1200" i="0">
                                    <a:latin typeface="Cambria Math" panose="02040503050406030204" pitchFamily="18" charset="0"/>
                                  </a:rPr>
                                  <m:t>11</m:t>
                                </m:r>
                              </m:e>
                            </m:d>
                            <m:r>
                              <a:rPr lang="en-US" sz="1200" i="0">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𝑒</m:t>
                                </m:r>
                              </m:e>
                              <m:sup>
                                <m:r>
                                  <a:rPr lang="en-US" sz="1200" i="1">
                                    <a:latin typeface="Cambria Math" panose="02040503050406030204" pitchFamily="18" charset="0"/>
                                  </a:rPr>
                                  <m:t>𝑖</m:t>
                                </m:r>
                                <m:r>
                                  <a:rPr lang="en-US" sz="1200" i="1">
                                    <a:latin typeface="Cambria Math" panose="02040503050406030204" pitchFamily="18" charset="0"/>
                                  </a:rPr>
                                  <m:t>𝜑</m:t>
                                </m:r>
                              </m:sup>
                            </m:sSup>
                            <m:d>
                              <m:dPr>
                                <m:begChr m:val="|"/>
                                <m:endChr m:val="⟩"/>
                                <m:ctrlPr>
                                  <a:rPr lang="en-US" sz="1200" i="1">
                                    <a:latin typeface="Cambria Math" panose="02040503050406030204" pitchFamily="18" charset="0"/>
                                  </a:rPr>
                                </m:ctrlPr>
                              </m:dPr>
                              <m:e>
                                <m:r>
                                  <a:rPr lang="en-US" sz="1200" i="0">
                                    <a:latin typeface="Cambria Math" panose="02040503050406030204" pitchFamily="18" charset="0"/>
                                  </a:rPr>
                                  <m:t>11</m:t>
                                </m:r>
                              </m:e>
                            </m:d>
                          </m:e>
                        </m:mr>
                      </m:m>
                    </m:oMath>
                  </m:oMathPara>
                </a14:m>
                <a:endParaRPr lang="en-ZA" dirty="0"/>
              </a:p>
              <a:p>
                <a:pPr algn="just"/>
                <a:r>
                  <a:rPr lang="en-ZA" dirty="0"/>
                  <a:t> </a:t>
                </a:r>
              </a:p>
              <a:p>
                <a:pPr algn="just"/>
                <a:r>
                  <a:rPr lang="en-ZA" dirty="0"/>
                  <a:t>Since the mappings are identical, the circuits in the figure are equivalent, which completes the proof of the lemma.</a:t>
                </a:r>
              </a:p>
            </p:txBody>
          </p:sp>
        </mc:Choice>
        <mc:Fallback xmlns="">
          <p:sp>
            <p:nvSpPr>
              <p:cNvPr id="3" name="Notes Placeholder 2"/>
              <p:cNvSpPr>
                <a:spLocks noGrp="1"/>
              </p:cNvSpPr>
              <p:nvPr>
                <p:ph type="body" idx="1"/>
              </p:nvPr>
            </p:nvSpPr>
            <p:spPr/>
            <p:txBody>
              <a:bodyPr/>
              <a:lstStyle/>
              <a:p>
                <a:pPr algn="just"/>
                <a:r>
                  <a:rPr lang="en-ZA" b="0" dirty="0"/>
                  <a:t>To complete the design of the controlled circuit, a phase factor must be included. For this purpose, we define the operator </a:t>
                </a:r>
                <a:r>
                  <a:rPr lang="el-GR" sz="1200" i="0">
                    <a:latin typeface="Cambria Math" panose="02040503050406030204" pitchFamily="18" charset="0"/>
                    <a:ea typeface="Cambria Math" panose="02040503050406030204" pitchFamily="18" charset="0"/>
                  </a:rPr>
                  <a:t>Φ</a:t>
                </a:r>
                <a:r>
                  <a:rPr lang="el-GR" b="0" dirty="0"/>
                  <a:t> </a:t>
                </a:r>
                <a:r>
                  <a:rPr lang="en-ZA" b="0" dirty="0"/>
                  <a:t>as the product of a phase factor determined by the angle </a:t>
                </a:r>
                <a:r>
                  <a:rPr lang="el-GR" sz="1200" i="0">
                    <a:latin typeface="Cambria Math" panose="02040503050406030204" pitchFamily="18" charset="0"/>
                    <a:ea typeface="Cambria Math" panose="02040503050406030204" pitchFamily="18" charset="0"/>
                  </a:rPr>
                  <a:t>𝜑</a:t>
                </a:r>
                <a:r>
                  <a:rPr lang="el-GR" b="0" dirty="0"/>
                  <a:t> </a:t>
                </a:r>
                <a:r>
                  <a:rPr lang="en-ZA" b="0" dirty="0"/>
                  <a:t>and the identity operator. Additionally, we note that the product of the rotation operator </a:t>
                </a:r>
                <a:r>
                  <a:rPr lang="sr-Latn-RS" sz="1200" b="0" i="0">
                    <a:latin typeface="Cambria Math" panose="02040503050406030204" pitchFamily="18" charset="0"/>
                    <a:ea typeface="Cambria Math" panose="02040503050406030204" pitchFamily="18" charset="0"/>
                  </a:rPr>
                  <a:t>𝑅_𝑧</a:t>
                </a:r>
                <a:r>
                  <a:rPr lang="en-ZA" b="0" dirty="0"/>
                  <a:t>​ and </a:t>
                </a:r>
                <a:r>
                  <a:rPr lang="el-GR" sz="1200" i="0">
                    <a:latin typeface="Cambria Math" panose="02040503050406030204" pitchFamily="18" charset="0"/>
                    <a:ea typeface="Cambria Math" panose="02040503050406030204" pitchFamily="18" charset="0"/>
                  </a:rPr>
                  <a:t>Φ</a:t>
                </a:r>
                <a:r>
                  <a:rPr lang="el-GR" b="0" dirty="0"/>
                  <a:t> </a:t>
                </a:r>
                <a:r>
                  <a:rPr lang="en-ZA" b="0" dirty="0"/>
                  <a:t>results in the phase gate P.</a:t>
                </a:r>
              </a:p>
              <a:p>
                <a:pPr algn="just"/>
                <a:endParaRPr lang="en-ZA" b="0" dirty="0"/>
              </a:p>
              <a:p>
                <a:pPr algn="just"/>
                <a:r>
                  <a:rPr lang="en-ZA" b="0" dirty="0"/>
                  <a:t>Now, we define the third lemma, illustrated by the circuit in the figure.</a:t>
                </a:r>
              </a:p>
              <a:p>
                <a:pPr algn="just"/>
                <a:r>
                  <a:rPr lang="en-ZA" b="0" dirty="0"/>
                  <a:t>The lemma states that a controlled-</a:t>
                </a:r>
                <a:r>
                  <a:rPr lang="el-GR" b="0" dirty="0"/>
                  <a:t>Φ </a:t>
                </a:r>
                <a:r>
                  <a:rPr lang="en-ZA" b="0" dirty="0"/>
                  <a:t>gate can be represented using a single phase gate P applied to the control qubit. In other words, the operation of the controlled-</a:t>
                </a:r>
                <a:r>
                  <a:rPr lang="el-GR" b="0" dirty="0"/>
                  <a:t>Φ </a:t>
                </a:r>
                <a:r>
                  <a:rPr lang="en-ZA" b="0" dirty="0"/>
                  <a:t>gate is equivalent to the Kronecker product </a:t>
                </a:r>
                <a:r>
                  <a:rPr lang="sr-Latn-RS" sz="1200" i="0">
                    <a:latin typeface="Cambria Math" panose="02040503050406030204" pitchFamily="18" charset="0"/>
                    <a:ea typeface="Cambria Math" panose="02040503050406030204" pitchFamily="18" charset="0"/>
                  </a:rPr>
                  <a:t>𝑃</a:t>
                </a:r>
                <a:r>
                  <a:rPr lang="en-US" sz="1200" i="0">
                    <a:latin typeface="Cambria Math" panose="02040503050406030204" pitchFamily="18" charset="0"/>
                  </a:rPr>
                  <a:t>⨂</a:t>
                </a:r>
                <a:r>
                  <a:rPr lang="sr-Latn-RS" sz="1200" i="0">
                    <a:latin typeface="Cambria Math" panose="02040503050406030204" pitchFamily="18" charset="0"/>
                  </a:rPr>
                  <a:t>𝐼</a:t>
                </a:r>
                <a:r>
                  <a:rPr lang="en-ZA" b="0" dirty="0"/>
                  <a:t>.</a:t>
                </a:r>
              </a:p>
              <a:p>
                <a:pPr algn="just"/>
                <a:endParaRPr lang="en-ZA" b="0" dirty="0"/>
              </a:p>
              <a:p>
                <a:pPr algn="just"/>
                <a:r>
                  <a:rPr lang="en-ZA" b="0" dirty="0"/>
                  <a:t>To prove this, we calculate the controlled-</a:t>
                </a:r>
                <a:r>
                  <a:rPr lang="el-GR" b="0" dirty="0"/>
                  <a:t>Φ </a:t>
                </a:r>
                <a:r>
                  <a:rPr lang="en-ZA" b="0" dirty="0"/>
                  <a:t>operator c</a:t>
                </a:r>
                <a:r>
                  <a:rPr lang="el-GR" b="0" dirty="0"/>
                  <a:t>Φ </a:t>
                </a:r>
                <a:r>
                  <a:rPr lang="en-ZA" b="0" dirty="0"/>
                  <a:t>using the outer product method.</a:t>
                </a:r>
              </a:p>
              <a:p>
                <a:pPr algn="just"/>
                <a:r>
                  <a:rPr lang="en-ZA" b="0" dirty="0"/>
                  <a:t>When the control qubit is ∣0⟩, the controlled-</a:t>
                </a:r>
                <a:r>
                  <a:rPr lang="el-GR" b="0" dirty="0"/>
                  <a:t>Φ </a:t>
                </a:r>
                <a:r>
                  <a:rPr lang="en-ZA" b="0" dirty="0"/>
                  <a:t>gate applies the identity operation.</a:t>
                </a:r>
              </a:p>
              <a:p>
                <a:pPr algn="just"/>
                <a:r>
                  <a:rPr lang="en-ZA" b="0" dirty="0"/>
                  <a:t>When the control qubit is ∣1⟩, the controlled-</a:t>
                </a:r>
                <a:r>
                  <a:rPr lang="el-GR" b="0" dirty="0"/>
                  <a:t>Φ </a:t>
                </a:r>
                <a:r>
                  <a:rPr lang="en-ZA" b="0" dirty="0"/>
                  <a:t>gate applies the transformation defined by the matrix </a:t>
                </a:r>
                <a:r>
                  <a:rPr lang="el-GR" sz="1200" i="0">
                    <a:latin typeface="Cambria Math" panose="02040503050406030204" pitchFamily="18" charset="0"/>
                    <a:ea typeface="Cambria Math" panose="02040503050406030204" pitchFamily="18" charset="0"/>
                  </a:rPr>
                  <a:t>Φ</a:t>
                </a:r>
                <a:r>
                  <a:rPr lang="el-GR" b="0" dirty="0"/>
                  <a:t>.</a:t>
                </a:r>
              </a:p>
              <a:p>
                <a:pPr algn="just"/>
                <a:r>
                  <a:rPr lang="en-ZA" b="0" dirty="0"/>
                  <a:t>In the second step, we compute the Kronecker product </a:t>
                </a:r>
                <a:r>
                  <a:rPr lang="sr-Latn-RS" sz="1200" i="0">
                    <a:latin typeface="Cambria Math" panose="02040503050406030204" pitchFamily="18" charset="0"/>
                    <a:ea typeface="Cambria Math" panose="02040503050406030204" pitchFamily="18" charset="0"/>
                  </a:rPr>
                  <a:t>𝑃</a:t>
                </a:r>
                <a:r>
                  <a:rPr lang="en-US" sz="1200" i="0">
                    <a:latin typeface="Cambria Math" panose="02040503050406030204" pitchFamily="18" charset="0"/>
                  </a:rPr>
                  <a:t>⨂</a:t>
                </a:r>
                <a:r>
                  <a:rPr lang="sr-Latn-RS" sz="1200" i="0">
                    <a:latin typeface="Cambria Math" panose="02040503050406030204" pitchFamily="18" charset="0"/>
                  </a:rPr>
                  <a:t>𝐼</a:t>
                </a:r>
                <a:r>
                  <a:rPr lang="en-ZA" b="0" dirty="0"/>
                  <a:t>. Comparing the two results, we find that they are identical, meaning that the circuits in the figure are equivalent. This completes the proof of the lemma.</a:t>
                </a:r>
              </a:p>
              <a:p>
                <a:pPr algn="just"/>
                <a:endParaRPr lang="en-US"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27</a:t>
            </a:fld>
            <a:endParaRPr lang="en-US"/>
          </a:p>
        </p:txBody>
      </p:sp>
    </p:spTree>
    <p:extLst>
      <p:ext uri="{BB962C8B-B14F-4D97-AF65-F5344CB8AC3E}">
        <p14:creationId xmlns:p14="http://schemas.microsoft.com/office/powerpoint/2010/main" val="21370773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With the proof of the previous lemma, the phase factor has now been incorporated into the decomposition of the controlled two-qubit gate.</a:t>
            </a:r>
          </a:p>
          <a:p>
            <a:pPr algn="just"/>
            <a:endParaRPr lang="en-ZA" dirty="0"/>
          </a:p>
          <a:p>
            <a:pPr algn="just"/>
            <a:r>
              <a:rPr lang="en-ZA" dirty="0"/>
              <a:t>We can state that the controlled-U gate can be constructed using a controlled-AXBXC circuit with an additional controlled phase factor </a:t>
            </a:r>
            <a:r>
              <a:rPr lang="el-GR" dirty="0"/>
              <a:t>Φ.</a:t>
            </a:r>
            <a:endParaRPr lang="en-US" dirty="0"/>
          </a:p>
          <a:p>
            <a:pPr algn="just"/>
            <a:endParaRPr lang="el-GR" dirty="0"/>
          </a:p>
          <a:p>
            <a:pPr algn="just"/>
            <a:r>
              <a:rPr lang="en-ZA" dirty="0"/>
              <a:t>Based on the results of Lemma 3, the controlled phase factor circuit can be replaced by a single phase gate P, leading to the final configuration shown in the bottom circuit.</a:t>
            </a:r>
          </a:p>
        </p:txBody>
      </p:sp>
      <p:sp>
        <p:nvSpPr>
          <p:cNvPr id="4" name="Slide Number Placeholder 3"/>
          <p:cNvSpPr>
            <a:spLocks noGrp="1"/>
          </p:cNvSpPr>
          <p:nvPr>
            <p:ph type="sldNum" sz="quarter" idx="5"/>
          </p:nvPr>
        </p:nvSpPr>
        <p:spPr/>
        <p:txBody>
          <a:bodyPr/>
          <a:lstStyle/>
          <a:p>
            <a:fld id="{1B2CE5E3-B8BD-D040-AC87-D640191DD8F1}" type="slidenum">
              <a:rPr lang="en-US" smtClean="0"/>
              <a:t>28</a:t>
            </a:fld>
            <a:endParaRPr lang="en-US"/>
          </a:p>
        </p:txBody>
      </p:sp>
    </p:spTree>
    <p:extLst>
      <p:ext uri="{BB962C8B-B14F-4D97-AF65-F5344CB8AC3E}">
        <p14:creationId xmlns:p14="http://schemas.microsoft.com/office/powerpoint/2010/main" val="1264994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Building on the previous results, we can now show the equivalence of the two circuits in the figure. </a:t>
                </a:r>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The double-controlled-U gate on the left is equivalent to the circuit on the right, provided that </a:t>
                </a:r>
                <a14:m>
                  <m:oMath xmlns:m="http://schemas.openxmlformats.org/officeDocument/2006/math">
                    <m:r>
                      <a:rPr lang="sr-Latn-RS" sz="1200" b="0" i="1" smtClean="0">
                        <a:latin typeface="Cambria Math" panose="02040503050406030204" pitchFamily="18" charset="0"/>
                      </a:rPr>
                      <m:t>𝑈</m:t>
                    </m:r>
                    <m:r>
                      <a:rPr lang="sr-Latn-RS" sz="1200" b="0" i="1" smtClean="0">
                        <a:latin typeface="Cambria Math" panose="02040503050406030204" pitchFamily="18" charset="0"/>
                      </a:rPr>
                      <m:t>=</m:t>
                    </m:r>
                    <m:sSup>
                      <m:sSupPr>
                        <m:ctrlPr>
                          <a:rPr lang="sr-Latn-RS" sz="1200" b="0" i="1" smtClean="0">
                            <a:latin typeface="Cambria Math" panose="02040503050406030204" pitchFamily="18" charset="0"/>
                          </a:rPr>
                        </m:ctrlPr>
                      </m:sSupPr>
                      <m:e>
                        <m:r>
                          <a:rPr lang="sr-Latn-RS" sz="1200" b="0" i="1" smtClean="0">
                            <a:latin typeface="Cambria Math" panose="02040503050406030204" pitchFamily="18" charset="0"/>
                          </a:rPr>
                          <m:t>𝑉</m:t>
                        </m:r>
                      </m:e>
                      <m:sup>
                        <m:r>
                          <a:rPr lang="sr-Latn-RS" sz="1200" b="0" i="1" smtClean="0">
                            <a:latin typeface="Cambria Math" panose="02040503050406030204" pitchFamily="18" charset="0"/>
                          </a:rPr>
                          <m:t>2</m:t>
                        </m:r>
                      </m:sup>
                    </m:sSup>
                  </m:oMath>
                </a14:m>
                <a:r>
                  <a:rPr lang="en-ZA" b="0" dirty="0"/>
                  <a:t>. Circuits of this type are known as </a:t>
                </a:r>
                <a:r>
                  <a:rPr lang="en-US" dirty="0"/>
                  <a:t>C</a:t>
                </a:r>
                <a:r>
                  <a:rPr lang="en-US" baseline="30000" dirty="0"/>
                  <a:t>2</a:t>
                </a:r>
                <a:r>
                  <a:rPr lang="en-US" dirty="0"/>
                  <a:t>(U)</a:t>
                </a:r>
                <a:r>
                  <a:rPr lang="en-ZA" b="0" dirty="0"/>
                  <a:t> circuits. The proof comes from tracking the states of the qubits step by step:</a:t>
                </a:r>
              </a:p>
              <a:p>
                <a:pPr algn="just"/>
                <a:endParaRPr lang="en-ZA"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The first controlled-V gate is activated only if the control qubit </a:t>
                </a:r>
                <a14:m>
                  <m:oMath xmlns:m="http://schemas.openxmlformats.org/officeDocument/2006/math">
                    <m:sSub>
                      <m:sSubPr>
                        <m:ctrlPr>
                          <a:rPr lang="en-US" sz="1200" b="0" i="1" smtClean="0">
                            <a:latin typeface="Cambria Math" panose="02040503050406030204" pitchFamily="18" charset="0"/>
                          </a:rPr>
                        </m:ctrlPr>
                      </m:sSubPr>
                      <m:e>
                        <m:r>
                          <a:rPr lang="sr-Latn-RS" sz="1200" b="0" i="1" smtClean="0">
                            <a:latin typeface="Cambria Math" panose="02040503050406030204" pitchFamily="18" charset="0"/>
                          </a:rPr>
                          <m:t>𝑐</m:t>
                        </m:r>
                      </m:e>
                      <m:sub>
                        <m:r>
                          <a:rPr lang="sr-Latn-RS" sz="1200" b="0" i="1" smtClean="0">
                            <a:latin typeface="Cambria Math" panose="02040503050406030204" pitchFamily="18" charset="0"/>
                          </a:rPr>
                          <m:t>2</m:t>
                        </m:r>
                      </m:sub>
                    </m:sSub>
                  </m:oMath>
                </a14:m>
                <a:r>
                  <a:rPr lang="en-ZA" b="0" dirty="0"/>
                  <a:t> is ∣1⟩.</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The middle controlled-V</a:t>
                </a:r>
                <a:r>
                  <a:rPr lang="en-ZA" b="0" baseline="30000" dirty="0"/>
                  <a:t>†</a:t>
                </a:r>
                <a:r>
                  <a:rPr lang="en-ZA" b="0" dirty="0"/>
                  <a:t> gate is active only if </a:t>
                </a:r>
                <a14:m>
                  <m:oMath xmlns:m="http://schemas.openxmlformats.org/officeDocument/2006/math">
                    <m:sSub>
                      <m:sSubPr>
                        <m:ctrlPr>
                          <a:rPr lang="en-US" sz="1200" b="0" i="1" smtClean="0">
                            <a:latin typeface="Cambria Math" panose="02040503050406030204" pitchFamily="18" charset="0"/>
                          </a:rPr>
                        </m:ctrlPr>
                      </m:sSubPr>
                      <m:e>
                        <m:r>
                          <a:rPr lang="sr-Latn-RS" sz="1200" b="0" i="1" smtClean="0">
                            <a:latin typeface="Cambria Math" panose="02040503050406030204" pitchFamily="18" charset="0"/>
                          </a:rPr>
                          <m:t>𝑐</m:t>
                        </m:r>
                      </m:e>
                      <m:sub>
                        <m:r>
                          <a:rPr lang="en-US" sz="1200" b="0" i="1" smtClean="0">
                            <a:latin typeface="Cambria Math" panose="02040503050406030204" pitchFamily="18" charset="0"/>
                          </a:rPr>
                          <m:t>1</m:t>
                        </m:r>
                      </m:sub>
                    </m:sSub>
                    <m:r>
                      <a:rPr lang="en-US" sz="1200" b="0" i="1" smtClean="0">
                        <a:latin typeface="Cambria Math" panose="02040503050406030204" pitchFamily="18" charset="0"/>
                        <a:ea typeface="Cambria Math" panose="02040503050406030204" pitchFamily="18" charset="0"/>
                      </a:rPr>
                      <m:t>⊕</m:t>
                    </m:r>
                    <m:sSub>
                      <m:sSubPr>
                        <m:ctrlPr>
                          <a:rPr lang="en-US" sz="1200" b="0" i="1" smtClean="0">
                            <a:latin typeface="Cambria Math" panose="02040503050406030204" pitchFamily="18" charset="0"/>
                          </a:rPr>
                        </m:ctrlPr>
                      </m:sSubPr>
                      <m:e>
                        <m:r>
                          <a:rPr lang="sr-Latn-RS" sz="1200" b="0" i="1" smtClean="0">
                            <a:latin typeface="Cambria Math" panose="02040503050406030204" pitchFamily="18" charset="0"/>
                          </a:rPr>
                          <m:t>𝑐</m:t>
                        </m:r>
                      </m:e>
                      <m:sub>
                        <m:r>
                          <a:rPr lang="sr-Latn-RS" sz="1200" b="0" i="1" smtClean="0">
                            <a:latin typeface="Cambria Math" panose="02040503050406030204" pitchFamily="18" charset="0"/>
                          </a:rPr>
                          <m:t>2</m:t>
                        </m:r>
                      </m:sub>
                    </m:sSub>
                    <m:r>
                      <a:rPr lang="en-US" sz="1200" b="0" i="1" smtClean="0">
                        <a:latin typeface="Cambria Math" panose="02040503050406030204" pitchFamily="18" charset="0"/>
                      </a:rPr>
                      <m:t>=1</m:t>
                    </m:r>
                  </m:oMath>
                </a14:m>
                <a:r>
                  <a:rPr lang="en-ZA" b="0" dirty="0"/>
                  <a:t>. In other words, when the controls differ, V</a:t>
                </a:r>
                <a:r>
                  <a:rPr lang="en-ZA" b="0" baseline="30000" dirty="0"/>
                  <a:t>†</a:t>
                </a:r>
                <a:r>
                  <a:rPr lang="en-ZA" b="0" dirty="0"/>
                  <a:t> cancels the effect of the earlier V.</a:t>
                </a:r>
                <a:br>
                  <a:rPr lang="en-ZA" b="0" dirty="0"/>
                </a:br>
                <a:r>
                  <a:rPr lang="en-ZA" b="0" dirty="0"/>
                  <a:t>The second CNOT restores qubit </a:t>
                </a:r>
                <a14:m>
                  <m:oMath xmlns:m="http://schemas.openxmlformats.org/officeDocument/2006/math">
                    <m:sSub>
                      <m:sSubPr>
                        <m:ctrlPr>
                          <a:rPr lang="en-US" sz="1200" b="0" i="1" smtClean="0">
                            <a:latin typeface="Cambria Math" panose="02040503050406030204" pitchFamily="18" charset="0"/>
                          </a:rPr>
                        </m:ctrlPr>
                      </m:sSubPr>
                      <m:e>
                        <m:r>
                          <a:rPr lang="sr-Latn-RS" sz="1200" b="0" i="1" smtClean="0">
                            <a:latin typeface="Cambria Math" panose="02040503050406030204" pitchFamily="18" charset="0"/>
                          </a:rPr>
                          <m:t>𝑐</m:t>
                        </m:r>
                      </m:e>
                      <m:sub>
                        <m:r>
                          <a:rPr lang="sr-Latn-RS" sz="1200" b="0" i="1" smtClean="0">
                            <a:latin typeface="Cambria Math" panose="02040503050406030204" pitchFamily="18" charset="0"/>
                          </a:rPr>
                          <m:t>2</m:t>
                        </m:r>
                      </m:sub>
                    </m:sSub>
                  </m:oMath>
                </a14:m>
                <a:r>
                  <a:rPr lang="en-ZA" b="0" dirty="0"/>
                  <a:t>​ to its original state, as required for any controlled operation.</a:t>
                </a:r>
              </a:p>
              <a:p>
                <a:pPr marL="171450" indent="-171450" algn="just">
                  <a:buFont typeface="Arial" panose="020B0604020202020204" pitchFamily="34" charset="0"/>
                  <a:buChar char="•"/>
                </a:pPr>
                <a:r>
                  <a:rPr lang="en-ZA" b="0" dirty="0"/>
                  <a:t>Finally, the second controlled-</a:t>
                </a:r>
                <a14:m>
                  <m:oMath xmlns:m="http://schemas.openxmlformats.org/officeDocument/2006/math">
                    <m:r>
                      <a:rPr lang="en-US" sz="1200" b="0" i="1" smtClean="0">
                        <a:latin typeface="Cambria Math" panose="02040503050406030204" pitchFamily="18" charset="0"/>
                      </a:rPr>
                      <m:t>𝑉</m:t>
                    </m:r>
                  </m:oMath>
                </a14:m>
                <a:r>
                  <a:rPr lang="en-ZA" b="0" dirty="0"/>
                  <a:t> gate is triggered if </a:t>
                </a:r>
                <a14:m>
                  <m:oMath xmlns:m="http://schemas.openxmlformats.org/officeDocument/2006/math">
                    <m:sSub>
                      <m:sSubPr>
                        <m:ctrlPr>
                          <a:rPr lang="en-US" sz="1200" b="0" i="1" smtClean="0">
                            <a:latin typeface="Cambria Math" panose="02040503050406030204" pitchFamily="18" charset="0"/>
                          </a:rPr>
                        </m:ctrlPr>
                      </m:sSubPr>
                      <m:e>
                        <m:r>
                          <a:rPr lang="sr-Latn-RS" sz="1200" b="0" i="1" smtClean="0">
                            <a:latin typeface="Cambria Math" panose="02040503050406030204" pitchFamily="18" charset="0"/>
                          </a:rPr>
                          <m:t>𝑐</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1</m:t>
                        </m:r>
                      </m:e>
                    </m:d>
                  </m:oMath>
                </a14:m>
                <a:r>
                  <a:rPr lang="en-ZA" b="0" dirty="0"/>
                  <a:t>. This ensures that V is applied twice, i.e., </a:t>
                </a:r>
                <a14:m>
                  <m:oMath xmlns:m="http://schemas.openxmlformats.org/officeDocument/2006/math">
                    <m:sSup>
                      <m:sSupPr>
                        <m:ctrlPr>
                          <a:rPr lang="sr-Latn-RS" sz="1200" b="0" i="1" smtClean="0">
                            <a:latin typeface="Cambria Math" panose="02040503050406030204" pitchFamily="18" charset="0"/>
                          </a:rPr>
                        </m:ctrlPr>
                      </m:sSupPr>
                      <m:e>
                        <m:r>
                          <a:rPr lang="sr-Latn-RS" sz="1200" b="0" i="1" smtClean="0">
                            <a:latin typeface="Cambria Math" panose="02040503050406030204" pitchFamily="18" charset="0"/>
                          </a:rPr>
                          <m:t>𝑉</m:t>
                        </m:r>
                      </m:e>
                      <m:sup>
                        <m:r>
                          <a:rPr lang="sr-Latn-RS" sz="1200" b="0" i="1" smtClean="0">
                            <a:latin typeface="Cambria Math" panose="02040503050406030204" pitchFamily="18" charset="0"/>
                          </a:rPr>
                          <m:t>2</m:t>
                        </m:r>
                      </m:sup>
                    </m:sSup>
                    <m:r>
                      <a:rPr lang="en-US" sz="1200" b="0" i="1" smtClean="0">
                        <a:latin typeface="Cambria Math" panose="02040503050406030204" pitchFamily="18" charset="0"/>
                      </a:rPr>
                      <m:t>=</m:t>
                    </m:r>
                    <m:r>
                      <a:rPr lang="en-US" sz="1200" b="0" i="1" smtClean="0">
                        <a:latin typeface="Cambria Math" panose="02040503050406030204" pitchFamily="18" charset="0"/>
                      </a:rPr>
                      <m:t>𝑈</m:t>
                    </m:r>
                  </m:oMath>
                </a14:m>
                <a:r>
                  <a:rPr lang="en-ZA" b="0" dirty="0"/>
                  <a:t>, only when both controls are set to ∣1⟩.</a:t>
                </a:r>
              </a:p>
              <a:p>
                <a:pPr marL="171450" indent="-171450" algn="just">
                  <a:buFont typeface="Arial" panose="020B0604020202020204" pitchFamily="34" charset="0"/>
                  <a:buChar char="•"/>
                </a:pPr>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So, the circuit on the right correctly implements a double-controlled-U gate, confirming the equivalence under the condition </a:t>
                </a:r>
                <a14:m>
                  <m:oMath xmlns:m="http://schemas.openxmlformats.org/officeDocument/2006/math">
                    <m:r>
                      <a:rPr lang="sr-Latn-RS" sz="1200" b="0" i="1" smtClean="0">
                        <a:latin typeface="Cambria Math" panose="02040503050406030204" pitchFamily="18" charset="0"/>
                      </a:rPr>
                      <m:t>𝑈</m:t>
                    </m:r>
                    <m:r>
                      <a:rPr lang="sr-Latn-RS" sz="1200" b="0" i="1" smtClean="0">
                        <a:latin typeface="Cambria Math" panose="02040503050406030204" pitchFamily="18" charset="0"/>
                      </a:rPr>
                      <m:t>=</m:t>
                    </m:r>
                    <m:sSup>
                      <m:sSupPr>
                        <m:ctrlPr>
                          <a:rPr lang="sr-Latn-RS" sz="1200" b="0" i="1" smtClean="0">
                            <a:latin typeface="Cambria Math" panose="02040503050406030204" pitchFamily="18" charset="0"/>
                          </a:rPr>
                        </m:ctrlPr>
                      </m:sSupPr>
                      <m:e>
                        <m:r>
                          <a:rPr lang="sr-Latn-RS" sz="1200" b="0" i="1" smtClean="0">
                            <a:latin typeface="Cambria Math" panose="02040503050406030204" pitchFamily="18" charset="0"/>
                          </a:rPr>
                          <m:t>𝑉</m:t>
                        </m:r>
                      </m:e>
                      <m:sup>
                        <m:r>
                          <a:rPr lang="sr-Latn-RS" sz="1200" b="0" i="1" smtClean="0">
                            <a:latin typeface="Cambria Math" panose="02040503050406030204" pitchFamily="18" charset="0"/>
                          </a:rPr>
                          <m:t>2</m:t>
                        </m:r>
                      </m:sup>
                    </m:sSup>
                  </m:oMath>
                </a14:m>
                <a:r>
                  <a:rPr lang="en-ZA" b="0" dirty="0"/>
                  <a:t>.</a:t>
                </a:r>
              </a:p>
            </p:txBody>
          </p:sp>
        </mc:Choice>
        <mc:Fallback xmlns="">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Using the previous results, we can prove that the two controlled-qubit circuits shown in the figure are equivalent, provided that </a:t>
                </a:r>
                <a:r>
                  <a:rPr lang="sr-Latn-RS" sz="1200" b="0" i="0">
                    <a:latin typeface="Cambria Math" panose="02040503050406030204" pitchFamily="18" charset="0"/>
                  </a:rPr>
                  <a:t>𝑈=𝑉^2</a:t>
                </a:r>
                <a:r>
                  <a:rPr lang="en-ZA" b="0" dirty="0"/>
                  <a:t>. Circuits of this type are known as </a:t>
                </a:r>
                <a:r>
                  <a:rPr lang="en-US" dirty="0"/>
                  <a:t>C</a:t>
                </a:r>
                <a:r>
                  <a:rPr lang="en-US" baseline="30000" dirty="0"/>
                  <a:t>2</a:t>
                </a:r>
                <a:r>
                  <a:rPr lang="en-US" dirty="0"/>
                  <a:t>(U)</a:t>
                </a:r>
                <a:r>
                  <a:rPr lang="en-ZA" b="0" dirty="0"/>
                  <a:t> circuits.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algn="just"/>
                <a:r>
                  <a:rPr lang="en-ZA" b="0" dirty="0"/>
                  <a:t>The proof can be carried out by tracking the state of the qubits through the circuit.</a:t>
                </a:r>
              </a:p>
              <a:p>
                <a:pPr algn="just"/>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The first V gate is activated only if the control qubit </a:t>
                </a:r>
                <a:r>
                  <a:rPr lang="sr-Latn-RS" sz="1200" b="0" i="0">
                    <a:latin typeface="Cambria Math" panose="02040503050406030204" pitchFamily="18" charset="0"/>
                  </a:rPr>
                  <a:t>𝑐</a:t>
                </a:r>
                <a:r>
                  <a:rPr lang="en-US" sz="1200" b="0" i="0">
                    <a:latin typeface="Cambria Math" panose="02040503050406030204" pitchFamily="18" charset="0"/>
                  </a:rPr>
                  <a:t>_</a:t>
                </a:r>
                <a:r>
                  <a:rPr lang="sr-Latn-RS" sz="1200" b="0" i="0">
                    <a:latin typeface="Cambria Math" panose="02040503050406030204" pitchFamily="18" charset="0"/>
                  </a:rPr>
                  <a:t>2</a:t>
                </a:r>
                <a:r>
                  <a:rPr lang="en-ZA" b="0" dirty="0"/>
                  <a:t>​ is </a:t>
                </a:r>
                <a:r>
                  <a:rPr lang="en-US" sz="1200" i="0">
                    <a:latin typeface="Cambria Math" panose="02040503050406030204" pitchFamily="18" charset="0"/>
                  </a:rPr>
                  <a:t>|</a:t>
                </a:r>
                <a:r>
                  <a:rPr lang="en-US" sz="1200" b="0" i="0">
                    <a:latin typeface="Cambria Math" panose="02040503050406030204" pitchFamily="18" charset="0"/>
                  </a:rPr>
                  <a:t>1⟩</a:t>
                </a:r>
                <a:r>
                  <a:rPr lang="en-ZA" b="0" dirty="0"/>
                  <a:t>.</a:t>
                </a:r>
              </a:p>
              <a:p>
                <a:pPr marL="171450" indent="-171450" algn="just">
                  <a:buFont typeface="Arial" panose="020B0604020202020204" pitchFamily="34" charset="0"/>
                  <a:buChar char="•"/>
                </a:pPr>
                <a:r>
                  <a:rPr lang="en-ZA" b="0" dirty="0"/>
                  <a:t>The middle V</a:t>
                </a:r>
                <a:r>
                  <a:rPr lang="en-ZA" b="0" baseline="30000" dirty="0"/>
                  <a:t>†</a:t>
                </a:r>
                <a:r>
                  <a:rPr lang="en-ZA" b="0" dirty="0"/>
                  <a:t> gate is active only if </a:t>
                </a:r>
                <a:r>
                  <a:rPr lang="sr-Latn-RS" sz="1200" b="0" i="0">
                    <a:latin typeface="Cambria Math" panose="02040503050406030204" pitchFamily="18" charset="0"/>
                  </a:rPr>
                  <a:t>𝑐</a:t>
                </a:r>
                <a:r>
                  <a:rPr lang="en-US" sz="1200" b="0" i="0">
                    <a:latin typeface="Cambria Math" panose="02040503050406030204" pitchFamily="18" charset="0"/>
                  </a:rPr>
                  <a:t>_1</a:t>
                </a:r>
                <a:r>
                  <a:rPr lang="en-US" sz="1200" b="0" i="0">
                    <a:latin typeface="Cambria Math" panose="02040503050406030204" pitchFamily="18" charset="0"/>
                    <a:ea typeface="Cambria Math" panose="02040503050406030204" pitchFamily="18" charset="0"/>
                  </a:rPr>
                  <a:t>⊕</a:t>
                </a:r>
                <a:r>
                  <a:rPr lang="sr-Latn-RS" sz="1200" b="0" i="0">
                    <a:latin typeface="Cambria Math" panose="02040503050406030204" pitchFamily="18" charset="0"/>
                  </a:rPr>
                  <a:t>𝑐</a:t>
                </a:r>
                <a:r>
                  <a:rPr lang="en-US" sz="1200" b="0" i="0">
                    <a:latin typeface="Cambria Math" panose="02040503050406030204" pitchFamily="18" charset="0"/>
                  </a:rPr>
                  <a:t>_</a:t>
                </a:r>
                <a:r>
                  <a:rPr lang="sr-Latn-RS" sz="1200" b="0" i="0">
                    <a:latin typeface="Cambria Math" panose="02040503050406030204" pitchFamily="18" charset="0"/>
                  </a:rPr>
                  <a:t>2</a:t>
                </a:r>
                <a:r>
                  <a:rPr lang="en-US" sz="1200" b="0" i="0">
                    <a:latin typeface="Cambria Math" panose="02040503050406030204" pitchFamily="18" charset="0"/>
                  </a:rPr>
                  <a:t>=1</a:t>
                </a:r>
                <a:r>
                  <a:rPr lang="en-ZA" b="0" dirty="0"/>
                  <a:t>. In other words, V</a:t>
                </a:r>
                <a:r>
                  <a:rPr lang="en-ZA" b="0" baseline="30000" dirty="0"/>
                  <a:t>†</a:t>
                </a:r>
                <a:r>
                  <a:rPr lang="en-ZA" b="0" dirty="0"/>
                  <a:t> cancels the effect of the previous V gate when </a:t>
                </a:r>
                <a:r>
                  <a:rPr lang="sr-Latn-RS" sz="1200" b="0" i="0">
                    <a:latin typeface="Cambria Math" panose="02040503050406030204" pitchFamily="18" charset="0"/>
                  </a:rPr>
                  <a:t>𝑐</a:t>
                </a:r>
                <a:r>
                  <a:rPr lang="en-US" sz="1200" b="0" i="0">
                    <a:latin typeface="Cambria Math" panose="02040503050406030204" pitchFamily="18" charset="0"/>
                  </a:rPr>
                  <a:t>_1</a:t>
                </a:r>
                <a:r>
                  <a:rPr lang="en-ZA" b="0" dirty="0"/>
                  <a:t>​ and </a:t>
                </a:r>
                <a:r>
                  <a:rPr lang="sr-Latn-RS" sz="1200" b="0" i="0">
                    <a:latin typeface="Cambria Math" panose="02040503050406030204" pitchFamily="18" charset="0"/>
                  </a:rPr>
                  <a:t>𝑐</a:t>
                </a:r>
                <a:r>
                  <a:rPr lang="en-US" sz="1200" b="0" i="0">
                    <a:latin typeface="Cambria Math" panose="02040503050406030204" pitchFamily="18" charset="0"/>
                  </a:rPr>
                  <a:t>_2</a:t>
                </a:r>
                <a:r>
                  <a:rPr lang="en-ZA" b="0" dirty="0"/>
                  <a:t>​ are different.</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The second controlled-X gate, based on a previously established equivalence, reverses the effect of the first controlled-X, restoring qubit </a:t>
                </a:r>
                <a:r>
                  <a:rPr lang="sr-Latn-RS" sz="1200" b="0" i="0">
                    <a:latin typeface="Cambria Math" panose="02040503050406030204" pitchFamily="18" charset="0"/>
                  </a:rPr>
                  <a:t>𝑐</a:t>
                </a:r>
                <a:r>
                  <a:rPr lang="en-US" sz="1200" b="0" i="0">
                    <a:latin typeface="Cambria Math" panose="02040503050406030204" pitchFamily="18" charset="0"/>
                  </a:rPr>
                  <a:t>_2</a:t>
                </a:r>
                <a:r>
                  <a:rPr lang="en-ZA" b="0" dirty="0"/>
                  <a:t>​ to its original state, which is required for any controlled operation.</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The second V gate is activated only if </a:t>
                </a:r>
                <a:r>
                  <a:rPr lang="sr-Latn-RS" sz="1200" b="0" i="0">
                    <a:latin typeface="Cambria Math" panose="02040503050406030204" pitchFamily="18" charset="0"/>
                  </a:rPr>
                  <a:t>𝑐</a:t>
                </a:r>
                <a:r>
                  <a:rPr lang="en-US" sz="1200" b="0" i="0">
                    <a:latin typeface="Cambria Math" panose="02040503050406030204" pitchFamily="18" charset="0"/>
                  </a:rPr>
                  <a:t>_1=</a:t>
                </a:r>
                <a:r>
                  <a:rPr lang="en-US" sz="1200" i="0">
                    <a:latin typeface="Cambria Math" panose="02040503050406030204" pitchFamily="18" charset="0"/>
                  </a:rPr>
                  <a:t>|</a:t>
                </a:r>
                <a:r>
                  <a:rPr lang="en-US" sz="1200" b="0" i="0">
                    <a:latin typeface="Cambria Math" panose="02040503050406030204" pitchFamily="18" charset="0"/>
                  </a:rPr>
                  <a:t>1⟩</a:t>
                </a:r>
                <a:r>
                  <a:rPr lang="en-ZA" b="0" dirty="0"/>
                  <a:t>, meaning that the second application of V, i.e., </a:t>
                </a:r>
                <a:r>
                  <a:rPr lang="sr-Latn-RS" sz="1200" b="0" i="0">
                    <a:latin typeface="Cambria Math" panose="02040503050406030204" pitchFamily="18" charset="0"/>
                  </a:rPr>
                  <a:t>𝑉^2</a:t>
                </a:r>
                <a:r>
                  <a:rPr lang="en-ZA" b="0" dirty="0"/>
                  <a:t>, is applied only when both </a:t>
                </a:r>
                <a:r>
                  <a:rPr lang="sr-Latn-RS" sz="1200" b="0" i="0">
                    <a:latin typeface="Cambria Math" panose="02040503050406030204" pitchFamily="18" charset="0"/>
                  </a:rPr>
                  <a:t>𝑐</a:t>
                </a:r>
                <a:r>
                  <a:rPr lang="en-US" sz="1200" b="0" i="0">
                    <a:latin typeface="Cambria Math" panose="02040503050406030204" pitchFamily="18" charset="0"/>
                  </a:rPr>
                  <a:t>_1</a:t>
                </a:r>
                <a:r>
                  <a:rPr lang="en-ZA" b="0" dirty="0"/>
                  <a:t>​ and </a:t>
                </a:r>
                <a:r>
                  <a:rPr lang="sr-Latn-RS" sz="1200" b="0" i="0">
                    <a:latin typeface="Cambria Math" panose="02040503050406030204" pitchFamily="18" charset="0"/>
                  </a:rPr>
                  <a:t>𝑐</a:t>
                </a:r>
                <a:r>
                  <a:rPr lang="en-US" sz="1200" b="0" i="0">
                    <a:latin typeface="Cambria Math" panose="02040503050406030204" pitchFamily="18" charset="0"/>
                  </a:rPr>
                  <a:t>_2</a:t>
                </a:r>
                <a:r>
                  <a:rPr lang="en-ZA" b="0" dirty="0"/>
                  <a:t> are </a:t>
                </a:r>
                <a:r>
                  <a:rPr lang="en-US" sz="1200" i="0">
                    <a:latin typeface="Cambria Math" panose="02040503050406030204" pitchFamily="18" charset="0"/>
                  </a:rPr>
                  <a:t>|</a:t>
                </a:r>
                <a:r>
                  <a:rPr lang="en-US" sz="1200" b="0" i="0">
                    <a:latin typeface="Cambria Math" panose="02040503050406030204" pitchFamily="18" charset="0"/>
                  </a:rPr>
                  <a:t>1⟩</a:t>
                </a:r>
                <a:r>
                  <a:rPr lang="en-ZA" b="0" dirty="0"/>
                  <a:t>.</a:t>
                </a:r>
              </a:p>
              <a:p>
                <a:pPr algn="just"/>
                <a:endParaRPr lang="en-ZA" b="0" dirty="0"/>
              </a:p>
              <a:p>
                <a:pPr algn="just"/>
                <a:r>
                  <a:rPr lang="en-ZA" b="0" dirty="0"/>
                  <a:t>This confirms that the two circuits are equivalent under the given condition.</a:t>
                </a:r>
              </a:p>
              <a:p>
                <a:pPr algn="just"/>
                <a:endParaRPr lang="en-US" b="0" baseline="-25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29</a:t>
            </a:fld>
            <a:endParaRPr lang="en-US"/>
          </a:p>
        </p:txBody>
      </p:sp>
    </p:spTree>
    <p:extLst>
      <p:ext uri="{BB962C8B-B14F-4D97-AF65-F5344CB8AC3E}">
        <p14:creationId xmlns:p14="http://schemas.microsoft.com/office/powerpoint/2010/main" val="6733634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same idea can be extended to a circuit with n−1 control qubits.</a:t>
                </a:r>
              </a:p>
              <a:p>
                <a:pPr algn="just"/>
                <a:endParaRPr lang="en-ZA" b="0" dirty="0"/>
              </a:p>
              <a:p>
                <a:pPr algn="just"/>
                <a:r>
                  <a:rPr lang="en-ZA" b="0" dirty="0"/>
                  <a:t>The principle is the same as in the two-control case. We break down the unitary U into smaller gates V, chosen so that</a:t>
                </a:r>
                <a:r>
                  <a:rPr lang="en-ZA" b="0" baseline="0" dirty="0"/>
                  <a:t> </a:t>
                </a:r>
                <a14:m>
                  <m:oMath xmlns:m="http://schemas.openxmlformats.org/officeDocument/2006/math">
                    <m:r>
                      <a:rPr lang="sr-Latn-RS" sz="1200" b="0" i="1" smtClean="0">
                        <a:latin typeface="Cambria Math" panose="02040503050406030204" pitchFamily="18" charset="0"/>
                      </a:rPr>
                      <m:t>𝑈</m:t>
                    </m:r>
                    <m:r>
                      <a:rPr lang="sr-Latn-RS" sz="1200" b="0" i="1" smtClean="0">
                        <a:latin typeface="Cambria Math" panose="02040503050406030204" pitchFamily="18" charset="0"/>
                      </a:rPr>
                      <m:t>=</m:t>
                    </m:r>
                    <m:sSup>
                      <m:sSupPr>
                        <m:ctrlPr>
                          <a:rPr lang="sr-Latn-RS" sz="1200" b="0" i="1" smtClean="0">
                            <a:latin typeface="Cambria Math" panose="02040503050406030204" pitchFamily="18" charset="0"/>
                          </a:rPr>
                        </m:ctrlPr>
                      </m:sSupPr>
                      <m:e>
                        <m:r>
                          <a:rPr lang="sr-Latn-RS" sz="1200" b="0" i="1" smtClean="0">
                            <a:latin typeface="Cambria Math" panose="02040503050406030204" pitchFamily="18" charset="0"/>
                          </a:rPr>
                          <m:t>𝑉</m:t>
                        </m:r>
                      </m:e>
                      <m:sup>
                        <m:sSup>
                          <m:sSupPr>
                            <m:ctrlPr>
                              <a:rPr lang="sr-Latn-RS" sz="1200" b="0" i="1" smtClean="0">
                                <a:latin typeface="Cambria Math" panose="02040503050406030204" pitchFamily="18" charset="0"/>
                              </a:rPr>
                            </m:ctrlPr>
                          </m:sSupPr>
                          <m:e>
                            <m:r>
                              <a:rPr lang="en-US" sz="1200" b="0" i="1" smtClean="0">
                                <a:latin typeface="Cambria Math" panose="02040503050406030204" pitchFamily="18" charset="0"/>
                              </a:rPr>
                              <m:t>2</m:t>
                            </m:r>
                          </m:e>
                          <m:sup>
                            <m:r>
                              <a:rPr lang="en-US" sz="1200" b="0" i="1" smtClean="0">
                                <a:latin typeface="Cambria Math" panose="02040503050406030204" pitchFamily="18" charset="0"/>
                              </a:rPr>
                              <m:t>(</m:t>
                            </m:r>
                            <m:r>
                              <a:rPr lang="en-US" sz="1200" b="0" i="1" smtClean="0">
                                <a:latin typeface="Cambria Math" panose="02040503050406030204" pitchFamily="18" charset="0"/>
                              </a:rPr>
                              <m:t>𝑛</m:t>
                            </m:r>
                            <m:r>
                              <a:rPr lang="en-US" sz="1200" b="0" i="1" smtClean="0">
                                <a:latin typeface="Cambria Math" panose="02040503050406030204" pitchFamily="18" charset="0"/>
                              </a:rPr>
                              <m:t>−1)</m:t>
                            </m:r>
                          </m:sup>
                        </m:sSup>
                      </m:sup>
                    </m:sSup>
                  </m:oMath>
                </a14:m>
                <a:r>
                  <a:rPr lang="en-US" sz="1200" dirty="0"/>
                  <a:t>.</a:t>
                </a:r>
                <a:r>
                  <a:rPr lang="en-US" sz="1200" b="0" dirty="0"/>
                  <a:t> </a:t>
                </a:r>
                <a:r>
                  <a:rPr lang="en-ZA" b="0" dirty="0"/>
                  <a:t>By applying controlled-V and controlled-V</a:t>
                </a:r>
                <a:r>
                  <a:rPr lang="en-ZA" b="0" baseline="30000" dirty="0"/>
                  <a:t>†</a:t>
                </a:r>
                <a:r>
                  <a:rPr lang="en-ZA" b="0" dirty="0"/>
                  <a:t> gates in the right places, the circuit makes sure that U is applied only when all control qubits are in the ∣1⟩ state.</a:t>
                </a:r>
              </a:p>
              <a:p>
                <a:pPr algn="just"/>
                <a:endParaRPr lang="en-ZA" b="0" dirty="0"/>
              </a:p>
              <a:p>
                <a:pPr algn="just"/>
                <a:r>
                  <a:rPr lang="en-ZA" dirty="0"/>
                  <a:t>We keep decomposing step by step, going deeper until we reach circuits built from double-controlled </a:t>
                </a:r>
                <a:r>
                  <a:rPr lang="en-US" dirty="0"/>
                  <a:t>C</a:t>
                </a:r>
                <a:r>
                  <a:rPr lang="en-US" baseline="30000" dirty="0"/>
                  <a:t>2</a:t>
                </a:r>
                <a:r>
                  <a:rPr lang="en-US" dirty="0"/>
                  <a:t>(U)</a:t>
                </a:r>
                <a:r>
                  <a:rPr lang="en-ZA" dirty="0"/>
                  <a:t> gates. Even though these circuits can become quite complex, the whole process can be automated by software.</a:t>
                </a:r>
              </a:p>
              <a:p>
                <a:pPr algn="just"/>
                <a:endParaRPr lang="en-ZA" b="0" dirty="0"/>
              </a:p>
            </p:txBody>
          </p:sp>
        </mc:Choice>
        <mc:Fallback xmlns="">
          <p:sp>
            <p:nvSpPr>
              <p:cNvPr id="3" name="Notes Placeholder 2"/>
              <p:cNvSpPr>
                <a:spLocks noGrp="1"/>
              </p:cNvSpPr>
              <p:nvPr>
                <p:ph type="body" idx="1"/>
              </p:nvPr>
            </p:nvSpPr>
            <p:spPr/>
            <p:txBody>
              <a:bodyPr/>
              <a:lstStyle/>
              <a:p>
                <a:pPr algn="just"/>
                <a:r>
                  <a:rPr lang="en-ZA" b="0" dirty="0"/>
                  <a:t>The previous design can be extended to a circuit with n−1n-1n−1 control qubits, though we will not provide a theoretical proof here.</a:t>
                </a:r>
              </a:p>
              <a:p>
                <a:pPr algn="just"/>
                <a:r>
                  <a:rPr lang="en-ZA" b="0" dirty="0"/>
                  <a:t>This extension follows the same principle as in the two-control case, where the unitary operator </a:t>
                </a:r>
                <a:r>
                  <a:rPr lang="sr-Latn-RS" sz="1200" b="0" i="0">
                    <a:latin typeface="Cambria Math" panose="02040503050406030204" pitchFamily="18" charset="0"/>
                  </a:rPr>
                  <a:t>𝑈</a:t>
                </a:r>
                <a:r>
                  <a:rPr lang="en-ZA" b="0" dirty="0"/>
                  <a:t> is decomposed into a sequence of intermediate gates V such that </a:t>
                </a:r>
                <a:r>
                  <a:rPr lang="sr-Latn-RS" sz="1200" b="0" i="0">
                    <a:latin typeface="Cambria Math" panose="02040503050406030204" pitchFamily="18" charset="0"/>
                  </a:rPr>
                  <a:t>𝑈=𝑉^(</a:t>
                </a:r>
                <a:r>
                  <a:rPr lang="en-US" sz="1200" b="0" i="0">
                    <a:latin typeface="Cambria Math" panose="02040503050406030204" pitchFamily="18" charset="0"/>
                  </a:rPr>
                  <a:t>2</a:t>
                </a:r>
                <a:r>
                  <a:rPr lang="sr-Latn-RS" sz="1200" b="0" i="0">
                    <a:latin typeface="Cambria Math" panose="02040503050406030204" pitchFamily="18" charset="0"/>
                  </a:rPr>
                  <a:t>^(</a:t>
                </a:r>
                <a:r>
                  <a:rPr lang="en-US" sz="1200" b="0" i="0">
                    <a:latin typeface="Cambria Math" panose="02040503050406030204" pitchFamily="18" charset="0"/>
                  </a:rPr>
                  <a:t>(𝑛−1)</a:t>
                </a:r>
                <a:r>
                  <a:rPr lang="sr-Latn-RS" sz="1200" b="0" i="0">
                    <a:latin typeface="Cambria Math" panose="02040503050406030204" pitchFamily="18" charset="0"/>
                  </a:rPr>
                  <a:t>)</a:t>
                </a:r>
                <a:r>
                  <a:rPr lang="en-US" sz="1200" b="0" i="0">
                    <a:latin typeface="Cambria Math" panose="02040503050406030204" pitchFamily="18" charset="0"/>
                  </a:rPr>
                  <a:t> </a:t>
                </a:r>
                <a:r>
                  <a:rPr lang="sr-Latn-RS" sz="1200" b="0" i="0">
                    <a:latin typeface="Cambria Math" panose="02040503050406030204" pitchFamily="18" charset="0"/>
                  </a:rPr>
                  <a:t>)</a:t>
                </a:r>
                <a:r>
                  <a:rPr lang="en-ZA" b="0" dirty="0"/>
                  <a:t>. By carefully applying controlled and inverse-controlled operations, the circuit ensures that </a:t>
                </a:r>
                <a:r>
                  <a:rPr lang="sr-Latn-RS" sz="1200" b="0" i="0">
                    <a:latin typeface="Cambria Math" panose="02040503050406030204" pitchFamily="18" charset="0"/>
                  </a:rPr>
                  <a:t>𝑈</a:t>
                </a:r>
                <a:r>
                  <a:rPr lang="en-ZA" b="0" dirty="0"/>
                  <a:t> is applied only when all control qubits are in the </a:t>
                </a:r>
                <a:r>
                  <a:rPr lang="en-US" sz="1200" i="0">
                    <a:latin typeface="Cambria Math" panose="02040503050406030204" pitchFamily="18" charset="0"/>
                  </a:rPr>
                  <a:t>|</a:t>
                </a:r>
                <a:r>
                  <a:rPr lang="en-US" sz="1200" b="0" i="0">
                    <a:latin typeface="Cambria Math" panose="02040503050406030204" pitchFamily="18" charset="0"/>
                  </a:rPr>
                  <a:t>1⟩</a:t>
                </a:r>
                <a:r>
                  <a:rPr lang="en-ZA" b="0" dirty="0"/>
                  <a:t> state.</a:t>
                </a:r>
              </a:p>
              <a:p>
                <a:pPr algn="just"/>
                <a:endParaRPr lang="en-ZA" b="0" dirty="0"/>
              </a:p>
              <a:p>
                <a:pPr algn="just"/>
                <a:r>
                  <a:rPr lang="en-ZA" b="0" dirty="0"/>
                  <a:t>This generalized construction is commonly used in multi-controlled quantum gates, including the implementation of the </a:t>
                </a:r>
                <a:r>
                  <a:rPr lang="en-US" sz="1200" b="0" i="0">
                    <a:latin typeface="Cambria Math" panose="02040503050406030204" pitchFamily="18" charset="0"/>
                  </a:rPr>
                  <a:t>𝐶</a:t>
                </a:r>
                <a:r>
                  <a:rPr lang="sr-Latn-RS" sz="1200" b="0" i="0">
                    <a:latin typeface="Cambria Math" panose="02040503050406030204" pitchFamily="18" charset="0"/>
                  </a:rPr>
                  <a:t>^(</a:t>
                </a:r>
                <a:r>
                  <a:rPr lang="en-US" sz="1200" b="0" i="0">
                    <a:latin typeface="Cambria Math" panose="02040503050406030204" pitchFamily="18" charset="0"/>
                  </a:rPr>
                  <a:t>(𝑛−1)</a:t>
                </a:r>
                <a:r>
                  <a:rPr lang="sr-Latn-RS" sz="1200" b="0" i="0">
                    <a:latin typeface="Cambria Math" panose="02040503050406030204" pitchFamily="18" charset="0"/>
                  </a:rPr>
                  <a:t>)</a:t>
                </a:r>
                <a:r>
                  <a:rPr lang="en-ZA" b="0" dirty="0"/>
                  <a:t> circuit.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30</a:t>
            </a:fld>
            <a:endParaRPr lang="en-US"/>
          </a:p>
        </p:txBody>
      </p:sp>
    </p:spTree>
    <p:extLst>
      <p:ext uri="{BB962C8B-B14F-4D97-AF65-F5344CB8AC3E}">
        <p14:creationId xmlns:p14="http://schemas.microsoft.com/office/powerpoint/2010/main" val="17534813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As an application of the decomposition theorem, the figure shows a doubly-controlled Z gate. Since </a:t>
                </a:r>
                <a14:m>
                  <m:oMath xmlns:m="http://schemas.openxmlformats.org/officeDocument/2006/math">
                    <m:r>
                      <a:rPr lang="en-US" sz="1200" b="0" i="1" smtClean="0">
                        <a:latin typeface="Cambria Math" panose="02040503050406030204" pitchFamily="18" charset="0"/>
                      </a:rPr>
                      <m:t>𝑍</m:t>
                    </m:r>
                    <m:r>
                      <a:rPr lang="sr-Latn-RS" sz="1200" b="0" i="1" smtClean="0">
                        <a:latin typeface="Cambria Math" panose="02040503050406030204" pitchFamily="18" charset="0"/>
                      </a:rPr>
                      <m:t>=</m:t>
                    </m:r>
                    <m:sSup>
                      <m:sSupPr>
                        <m:ctrlPr>
                          <a:rPr lang="sr-Latn-RS" sz="1200" b="0" i="1" smtClean="0">
                            <a:latin typeface="Cambria Math" panose="02040503050406030204" pitchFamily="18" charset="0"/>
                          </a:rPr>
                        </m:ctrlPr>
                      </m:sSupPr>
                      <m:e>
                        <m:r>
                          <a:rPr lang="en-US" sz="1200" b="0" i="1" smtClean="0">
                            <a:latin typeface="Cambria Math" panose="02040503050406030204" pitchFamily="18" charset="0"/>
                          </a:rPr>
                          <m:t>𝑆</m:t>
                        </m:r>
                      </m:e>
                      <m:sup>
                        <m:r>
                          <a:rPr lang="sr-Latn-RS" sz="1200" b="0" i="1" smtClean="0">
                            <a:latin typeface="Cambria Math" panose="02040503050406030204" pitchFamily="18" charset="0"/>
                          </a:rPr>
                          <m:t>2</m:t>
                        </m:r>
                      </m:sup>
                    </m:sSup>
                  </m:oMath>
                </a14:m>
                <a:r>
                  <a:rPr lang="en-ZA" b="0" dirty="0"/>
                  <a:t>, the condition of the theorem is satisfied. This means we can use S and S</a:t>
                </a:r>
                <a:r>
                  <a:rPr lang="en-ZA" b="0" baseline="30000" dirty="0"/>
                  <a:t>†</a:t>
                </a:r>
                <a:r>
                  <a:rPr lang="en-ZA" b="0" dirty="0"/>
                  <a:t> gates as the intermediate operators V and V</a:t>
                </a:r>
                <a:r>
                  <a:rPr lang="en-ZA" b="0" baseline="30000" dirty="0"/>
                  <a:t>†</a:t>
                </a:r>
                <a:r>
                  <a:rPr lang="en-ZA" b="0" dirty="0"/>
                  <a:t>.</a:t>
                </a:r>
              </a:p>
              <a:p>
                <a:pPr algn="just"/>
                <a:endParaRPr lang="en-ZA" b="0" dirty="0"/>
              </a:p>
              <a:p>
                <a:pPr algn="just"/>
                <a:r>
                  <a:rPr lang="en-ZA" b="0" dirty="0"/>
                  <a:t>To prove the equivalence, we check the action of the circuit for all possible control states:</a:t>
                </a:r>
              </a:p>
              <a:p>
                <a:pPr marL="171450" indent="-171450" algn="just">
                  <a:buFont typeface="Arial" panose="020B0604020202020204" pitchFamily="34" charset="0"/>
                  <a:buChar char="•"/>
                </a:pPr>
                <a14:m>
                  <m:oMath xmlns:m="http://schemas.openxmlformats.org/officeDocument/2006/math">
                    <m:d>
                      <m:dPr>
                        <m:begChr m:val="|"/>
                        <m:endChr m:val="⟩"/>
                        <m:ctrlPr>
                          <a:rPr lang="en-ZA" sz="1200" i="1" kern="1200" smtClean="0">
                            <a:solidFill>
                              <a:schemeClr val="tx1"/>
                            </a:solidFill>
                            <a:effectLst/>
                            <a:latin typeface="Cambria Math" panose="02040503050406030204" pitchFamily="18" charset="0"/>
                            <a:ea typeface="+mn-ea"/>
                            <a:cs typeface="+mn-cs"/>
                          </a:rPr>
                        </m:ctrlPr>
                      </m:dPr>
                      <m:e>
                        <m:sSub>
                          <m:sSubPr>
                            <m:ctrlPr>
                              <a:rPr lang="en-ZA" sz="1200" i="1" kern="1200" smtClean="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panose="02040503050406030204" pitchFamily="18" charset="0"/>
                                <a:ea typeface="+mn-ea"/>
                                <a:cs typeface="+mn-cs"/>
                              </a:rPr>
                              <m:t>𝑐</m:t>
                            </m:r>
                          </m:e>
                          <m:sub>
                            <m:r>
                              <a:rPr lang="sr-Latn-RS" sz="1200" i="1" kern="1200">
                                <a:solidFill>
                                  <a:schemeClr val="tx1"/>
                                </a:solidFill>
                                <a:effectLst/>
                                <a:latin typeface="Cambria Math" panose="02040503050406030204" pitchFamily="18" charset="0"/>
                                <a:ea typeface="+mn-ea"/>
                                <a:cs typeface="+mn-cs"/>
                              </a:rPr>
                              <m:t>1</m:t>
                            </m:r>
                          </m:sub>
                        </m:sSub>
                        <m:sSub>
                          <m:sSubPr>
                            <m:ctrlPr>
                              <a:rPr lang="en-ZA"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panose="02040503050406030204" pitchFamily="18" charset="0"/>
                                <a:ea typeface="+mn-ea"/>
                                <a:cs typeface="+mn-cs"/>
                              </a:rPr>
                              <m:t>𝑐</m:t>
                            </m:r>
                          </m:e>
                          <m:sub>
                            <m:r>
                              <a:rPr lang="sr-Latn-RS" sz="1200" i="1" kern="1200">
                                <a:solidFill>
                                  <a:schemeClr val="tx1"/>
                                </a:solidFill>
                                <a:effectLst/>
                                <a:latin typeface="Cambria Math" panose="02040503050406030204" pitchFamily="18" charset="0"/>
                                <a:ea typeface="+mn-ea"/>
                                <a:cs typeface="+mn-cs"/>
                              </a:rPr>
                              <m:t>2</m:t>
                            </m:r>
                          </m:sub>
                        </m:sSub>
                      </m:e>
                    </m:d>
                  </m:oMath>
                </a14:m>
                <a:r>
                  <a:rPr lang="en-US" sz="1200" kern="1200" dirty="0">
                    <a:solidFill>
                      <a:schemeClr val="tx1"/>
                    </a:solidFill>
                    <a:effectLst/>
                    <a:latin typeface="+mn-lt"/>
                    <a:ea typeface="+mn-ea"/>
                    <a:cs typeface="+mn-cs"/>
                  </a:rPr>
                  <a:t> </a:t>
                </a:r>
                <a14:m>
                  <m:oMath xmlns:m="http://schemas.openxmlformats.org/officeDocument/2006/math">
                    <m:r>
                      <a:rPr lang="sr-Latn-RS" sz="1200" i="1" kern="1200">
                        <a:solidFill>
                          <a:schemeClr val="tx1"/>
                        </a:solidFill>
                        <a:effectLst/>
                        <a:latin typeface="Cambria Math" panose="02040503050406030204" pitchFamily="18" charset="0"/>
                        <a:ea typeface="+mn-ea"/>
                        <a:cs typeface="+mn-cs"/>
                      </a:rPr>
                      <m:t>=</m:t>
                    </m:r>
                    <m:d>
                      <m:dPr>
                        <m:begChr m:val="|"/>
                        <m:endChr m:val="⟩"/>
                        <m:ctrlPr>
                          <a:rPr lang="en-ZA" sz="1200" i="1" kern="1200">
                            <a:solidFill>
                              <a:schemeClr val="tx1"/>
                            </a:solidFill>
                            <a:effectLst/>
                            <a:latin typeface="Cambria Math" panose="02040503050406030204" pitchFamily="18" charset="0"/>
                            <a:ea typeface="+mn-ea"/>
                            <a:cs typeface="+mn-cs"/>
                          </a:rPr>
                        </m:ctrlPr>
                      </m:dPr>
                      <m:e>
                        <m:r>
                          <a:rPr lang="sr-Latn-RS" sz="1200" i="1" kern="1200">
                            <a:solidFill>
                              <a:schemeClr val="tx1"/>
                            </a:solidFill>
                            <a:effectLst/>
                            <a:latin typeface="Cambria Math" panose="02040503050406030204" pitchFamily="18" charset="0"/>
                            <a:ea typeface="+mn-ea"/>
                            <a:cs typeface="+mn-cs"/>
                          </a:rPr>
                          <m:t>00</m:t>
                        </m:r>
                      </m:e>
                    </m:d>
                  </m:oMath>
                </a14:m>
                <a:r>
                  <a:rPr lang="en-ZA" b="0" dirty="0"/>
                  <a:t>: None of the controlled gates act, so the target is unchanged.</a:t>
                </a:r>
              </a:p>
              <a:p>
                <a:pPr marL="171450" indent="-171450" algn="just">
                  <a:buFont typeface="Arial" panose="020B0604020202020204" pitchFamily="34" charset="0"/>
                  <a:buChar char="•"/>
                </a:pPr>
                <a14:m>
                  <m:oMath xmlns:m="http://schemas.openxmlformats.org/officeDocument/2006/math">
                    <m:d>
                      <m:dPr>
                        <m:begChr m:val="|"/>
                        <m:endChr m:val="⟩"/>
                        <m:ctrlPr>
                          <a:rPr lang="en-ZA" sz="1200" i="1" kern="1200" smtClean="0">
                            <a:solidFill>
                              <a:schemeClr val="tx1"/>
                            </a:solidFill>
                            <a:effectLst/>
                            <a:latin typeface="Cambria Math" panose="02040503050406030204" pitchFamily="18" charset="0"/>
                            <a:ea typeface="+mn-ea"/>
                            <a:cs typeface="+mn-cs"/>
                          </a:rPr>
                        </m:ctrlPr>
                      </m:dPr>
                      <m:e>
                        <m:sSub>
                          <m:sSubPr>
                            <m:ctrlPr>
                              <a:rPr lang="en-ZA" sz="1200" i="1" kern="1200" smtClean="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panose="02040503050406030204" pitchFamily="18" charset="0"/>
                                <a:ea typeface="+mn-ea"/>
                                <a:cs typeface="+mn-cs"/>
                              </a:rPr>
                              <m:t>𝑐</m:t>
                            </m:r>
                          </m:e>
                          <m:sub>
                            <m:r>
                              <a:rPr lang="sr-Latn-RS" sz="1200" i="1" kern="1200">
                                <a:solidFill>
                                  <a:schemeClr val="tx1"/>
                                </a:solidFill>
                                <a:effectLst/>
                                <a:latin typeface="Cambria Math" panose="02040503050406030204" pitchFamily="18" charset="0"/>
                                <a:ea typeface="+mn-ea"/>
                                <a:cs typeface="+mn-cs"/>
                              </a:rPr>
                              <m:t>1</m:t>
                            </m:r>
                          </m:sub>
                        </m:sSub>
                        <m:sSub>
                          <m:sSubPr>
                            <m:ctrlPr>
                              <a:rPr lang="en-ZA"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panose="02040503050406030204" pitchFamily="18" charset="0"/>
                                <a:ea typeface="+mn-ea"/>
                                <a:cs typeface="+mn-cs"/>
                              </a:rPr>
                              <m:t>𝑐</m:t>
                            </m:r>
                          </m:e>
                          <m:sub>
                            <m:r>
                              <a:rPr lang="sr-Latn-RS" sz="1200" i="1" kern="1200">
                                <a:solidFill>
                                  <a:schemeClr val="tx1"/>
                                </a:solidFill>
                                <a:effectLst/>
                                <a:latin typeface="Cambria Math" panose="02040503050406030204" pitchFamily="18" charset="0"/>
                                <a:ea typeface="+mn-ea"/>
                                <a:cs typeface="+mn-cs"/>
                              </a:rPr>
                              <m:t>2</m:t>
                            </m:r>
                          </m:sub>
                        </m:sSub>
                      </m:e>
                    </m:d>
                  </m:oMath>
                </a14:m>
                <a:r>
                  <a:rPr lang="en-US" sz="1200" kern="1200" dirty="0">
                    <a:solidFill>
                      <a:schemeClr val="tx1"/>
                    </a:solidFill>
                    <a:effectLst/>
                    <a:latin typeface="+mn-lt"/>
                    <a:ea typeface="+mn-ea"/>
                    <a:cs typeface="+mn-cs"/>
                  </a:rPr>
                  <a:t> </a:t>
                </a:r>
                <a14:m>
                  <m:oMath xmlns:m="http://schemas.openxmlformats.org/officeDocument/2006/math">
                    <m:r>
                      <a:rPr lang="sr-Latn-RS" sz="1200" i="1" kern="1200">
                        <a:solidFill>
                          <a:schemeClr val="tx1"/>
                        </a:solidFill>
                        <a:effectLst/>
                        <a:latin typeface="Cambria Math" panose="02040503050406030204" pitchFamily="18" charset="0"/>
                        <a:ea typeface="+mn-ea"/>
                        <a:cs typeface="+mn-cs"/>
                      </a:rPr>
                      <m:t>=</m:t>
                    </m:r>
                    <m:d>
                      <m:dPr>
                        <m:begChr m:val="|"/>
                        <m:endChr m:val="⟩"/>
                        <m:ctrlPr>
                          <a:rPr lang="en-ZA" sz="1200" i="1" kern="1200">
                            <a:solidFill>
                              <a:schemeClr val="tx1"/>
                            </a:solidFill>
                            <a:effectLst/>
                            <a:latin typeface="Cambria Math" panose="02040503050406030204" pitchFamily="18" charset="0"/>
                            <a:ea typeface="+mn-ea"/>
                            <a:cs typeface="+mn-cs"/>
                          </a:rPr>
                        </m:ctrlPr>
                      </m:dPr>
                      <m:e>
                        <m:r>
                          <a:rPr lang="sr-Latn-RS" sz="1200" i="1" kern="1200">
                            <a:solidFill>
                              <a:schemeClr val="tx1"/>
                            </a:solidFill>
                            <a:effectLst/>
                            <a:latin typeface="Cambria Math" panose="02040503050406030204" pitchFamily="18" charset="0"/>
                            <a:ea typeface="+mn-ea"/>
                            <a:cs typeface="+mn-cs"/>
                          </a:rPr>
                          <m:t>0</m:t>
                        </m:r>
                        <m:r>
                          <a:rPr lang="en-US" sz="1200" b="0" i="1" kern="1200" smtClean="0">
                            <a:solidFill>
                              <a:schemeClr val="tx1"/>
                            </a:solidFill>
                            <a:effectLst/>
                            <a:latin typeface="Cambria Math" panose="02040503050406030204" pitchFamily="18" charset="0"/>
                            <a:ea typeface="+mn-ea"/>
                            <a:cs typeface="+mn-cs"/>
                          </a:rPr>
                          <m:t>1</m:t>
                        </m:r>
                      </m:e>
                    </m:d>
                  </m:oMath>
                </a14:m>
                <a:r>
                  <a:rPr lang="en-ZA" b="0" dirty="0"/>
                  <a:t>: The S gate acts on the target, but the following S</a:t>
                </a:r>
                <a:r>
                  <a:rPr lang="en-ZA" b="0" baseline="30000" dirty="0"/>
                  <a:t>†</a:t>
                </a:r>
                <a:r>
                  <a:rPr lang="en-ZA" b="0" dirty="0"/>
                  <a:t> cancels it.</a:t>
                </a:r>
              </a:p>
              <a:p>
                <a:pPr marL="171450" indent="-171450" algn="just">
                  <a:buFont typeface="Arial" panose="020B0604020202020204" pitchFamily="34" charset="0"/>
                  <a:buChar char="•"/>
                </a:pPr>
                <a14:m>
                  <m:oMath xmlns:m="http://schemas.openxmlformats.org/officeDocument/2006/math">
                    <m:d>
                      <m:dPr>
                        <m:begChr m:val="|"/>
                        <m:endChr m:val="⟩"/>
                        <m:ctrlPr>
                          <a:rPr lang="en-ZA" sz="1200" i="1" kern="1200" smtClean="0">
                            <a:solidFill>
                              <a:schemeClr val="tx1"/>
                            </a:solidFill>
                            <a:effectLst/>
                            <a:latin typeface="Cambria Math" panose="02040503050406030204" pitchFamily="18" charset="0"/>
                            <a:ea typeface="+mn-ea"/>
                            <a:cs typeface="+mn-cs"/>
                          </a:rPr>
                        </m:ctrlPr>
                      </m:dPr>
                      <m:e>
                        <m:sSub>
                          <m:sSubPr>
                            <m:ctrlPr>
                              <a:rPr lang="en-ZA" sz="1200" i="1" kern="1200" smtClean="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panose="02040503050406030204" pitchFamily="18" charset="0"/>
                                <a:ea typeface="+mn-ea"/>
                                <a:cs typeface="+mn-cs"/>
                              </a:rPr>
                              <m:t>𝑐</m:t>
                            </m:r>
                          </m:e>
                          <m:sub>
                            <m:r>
                              <a:rPr lang="sr-Latn-RS" sz="1200" i="1" kern="1200">
                                <a:solidFill>
                                  <a:schemeClr val="tx1"/>
                                </a:solidFill>
                                <a:effectLst/>
                                <a:latin typeface="Cambria Math" panose="02040503050406030204" pitchFamily="18" charset="0"/>
                                <a:ea typeface="+mn-ea"/>
                                <a:cs typeface="+mn-cs"/>
                              </a:rPr>
                              <m:t>1</m:t>
                            </m:r>
                          </m:sub>
                        </m:sSub>
                        <m:sSub>
                          <m:sSubPr>
                            <m:ctrlPr>
                              <a:rPr lang="en-ZA"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panose="02040503050406030204" pitchFamily="18" charset="0"/>
                                <a:ea typeface="+mn-ea"/>
                                <a:cs typeface="+mn-cs"/>
                              </a:rPr>
                              <m:t>𝑐</m:t>
                            </m:r>
                          </m:e>
                          <m:sub>
                            <m:r>
                              <a:rPr lang="sr-Latn-RS" sz="1200" i="1" kern="1200">
                                <a:solidFill>
                                  <a:schemeClr val="tx1"/>
                                </a:solidFill>
                                <a:effectLst/>
                                <a:latin typeface="Cambria Math" panose="02040503050406030204" pitchFamily="18" charset="0"/>
                                <a:ea typeface="+mn-ea"/>
                                <a:cs typeface="+mn-cs"/>
                              </a:rPr>
                              <m:t>2</m:t>
                            </m:r>
                          </m:sub>
                        </m:sSub>
                      </m:e>
                    </m:d>
                  </m:oMath>
                </a14:m>
                <a:r>
                  <a:rPr lang="en-US" sz="1200" kern="1200" dirty="0">
                    <a:solidFill>
                      <a:schemeClr val="tx1"/>
                    </a:solidFill>
                    <a:effectLst/>
                    <a:latin typeface="+mn-lt"/>
                    <a:ea typeface="+mn-ea"/>
                    <a:cs typeface="+mn-cs"/>
                  </a:rPr>
                  <a:t> </a:t>
                </a:r>
                <a14:m>
                  <m:oMath xmlns:m="http://schemas.openxmlformats.org/officeDocument/2006/math">
                    <m:r>
                      <a:rPr lang="sr-Latn-RS" sz="1200" i="1" kern="1200">
                        <a:solidFill>
                          <a:schemeClr val="tx1"/>
                        </a:solidFill>
                        <a:effectLst/>
                        <a:latin typeface="Cambria Math" panose="02040503050406030204" pitchFamily="18" charset="0"/>
                        <a:ea typeface="+mn-ea"/>
                        <a:cs typeface="+mn-cs"/>
                      </a:rPr>
                      <m:t>=</m:t>
                    </m:r>
                    <m:d>
                      <m:dPr>
                        <m:begChr m:val="|"/>
                        <m:endChr m:val="⟩"/>
                        <m:ctrlPr>
                          <a:rPr lang="en-ZA" sz="1200" i="1" kern="1200">
                            <a:solidFill>
                              <a:schemeClr val="tx1"/>
                            </a:solidFill>
                            <a:effectLst/>
                            <a:latin typeface="Cambria Math" panose="02040503050406030204" pitchFamily="18" charset="0"/>
                            <a:ea typeface="+mn-ea"/>
                            <a:cs typeface="+mn-cs"/>
                          </a:rPr>
                        </m:ctrlPr>
                      </m:dPr>
                      <m:e>
                        <m:r>
                          <a:rPr lang="en-US" sz="1200" b="0" i="1" kern="1200" smtClean="0">
                            <a:solidFill>
                              <a:schemeClr val="tx1"/>
                            </a:solidFill>
                            <a:effectLst/>
                            <a:latin typeface="Cambria Math" panose="02040503050406030204" pitchFamily="18" charset="0"/>
                            <a:ea typeface="+mn-ea"/>
                            <a:cs typeface="+mn-cs"/>
                          </a:rPr>
                          <m:t>1</m:t>
                        </m:r>
                        <m:r>
                          <a:rPr lang="sr-Latn-RS" sz="1200" i="1" kern="1200">
                            <a:solidFill>
                              <a:schemeClr val="tx1"/>
                            </a:solidFill>
                            <a:effectLst/>
                            <a:latin typeface="Cambria Math" panose="02040503050406030204" pitchFamily="18" charset="0"/>
                            <a:ea typeface="+mn-ea"/>
                            <a:cs typeface="+mn-cs"/>
                          </a:rPr>
                          <m:t>0</m:t>
                        </m:r>
                      </m:e>
                    </m:d>
                  </m:oMath>
                </a14:m>
                <a:r>
                  <a:rPr lang="en-ZA" b="0" dirty="0"/>
                  <a:t>: The first CNOT flips </a:t>
                </a:r>
                <a14:m>
                  <m:oMath xmlns:m="http://schemas.openxmlformats.org/officeDocument/2006/math">
                    <m:sSub>
                      <m:sSubPr>
                        <m:ctrlPr>
                          <a:rPr lang="en-ZA" sz="1200" i="1" kern="1200" smtClean="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panose="02040503050406030204" pitchFamily="18" charset="0"/>
                            <a:ea typeface="+mn-ea"/>
                            <a:cs typeface="+mn-cs"/>
                          </a:rPr>
                          <m:t>𝑐</m:t>
                        </m:r>
                      </m:e>
                      <m:sub>
                        <m:r>
                          <a:rPr lang="sr-Latn-RS" sz="1200" i="1" kern="1200">
                            <a:solidFill>
                              <a:schemeClr val="tx1"/>
                            </a:solidFill>
                            <a:effectLst/>
                            <a:latin typeface="Cambria Math" panose="02040503050406030204" pitchFamily="18" charset="0"/>
                            <a:ea typeface="+mn-ea"/>
                            <a:cs typeface="+mn-cs"/>
                          </a:rPr>
                          <m:t>2</m:t>
                        </m:r>
                      </m:sub>
                    </m:sSub>
                  </m:oMath>
                </a14:m>
                <a:r>
                  <a:rPr lang="en-ZA" b="0" dirty="0"/>
                  <a:t> to ∣1⟩, triggering S</a:t>
                </a:r>
                <a:r>
                  <a:rPr lang="en-ZA" b="0" baseline="30000" dirty="0"/>
                  <a:t>†</a:t>
                </a:r>
                <a:r>
                  <a:rPr lang="en-ZA" b="0" dirty="0"/>
                  <a:t>, but this is then </a:t>
                </a:r>
                <a:r>
                  <a:rPr lang="en-ZA" b="0" dirty="0" err="1"/>
                  <a:t>canceled</a:t>
                </a:r>
                <a:r>
                  <a:rPr lang="en-ZA" b="0" dirty="0"/>
                  <a:t> by the final S.</a:t>
                </a:r>
              </a:p>
              <a:p>
                <a:pPr marL="171450" indent="-171450" algn="just">
                  <a:buFont typeface="Arial" panose="020B0604020202020204" pitchFamily="34" charset="0"/>
                  <a:buChar char="•"/>
                </a:pPr>
                <a14:m>
                  <m:oMath xmlns:m="http://schemas.openxmlformats.org/officeDocument/2006/math">
                    <m:d>
                      <m:dPr>
                        <m:begChr m:val="|"/>
                        <m:endChr m:val="⟩"/>
                        <m:ctrlPr>
                          <a:rPr lang="en-ZA" sz="1200" i="1" kern="1200" smtClean="0">
                            <a:solidFill>
                              <a:schemeClr val="tx1"/>
                            </a:solidFill>
                            <a:effectLst/>
                            <a:latin typeface="Cambria Math" panose="02040503050406030204" pitchFamily="18" charset="0"/>
                            <a:ea typeface="+mn-ea"/>
                            <a:cs typeface="+mn-cs"/>
                          </a:rPr>
                        </m:ctrlPr>
                      </m:dPr>
                      <m:e>
                        <m:sSub>
                          <m:sSubPr>
                            <m:ctrlPr>
                              <a:rPr lang="en-ZA" sz="1200" i="1" kern="1200" smtClean="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panose="02040503050406030204" pitchFamily="18" charset="0"/>
                                <a:ea typeface="+mn-ea"/>
                                <a:cs typeface="+mn-cs"/>
                              </a:rPr>
                              <m:t>𝑐</m:t>
                            </m:r>
                          </m:e>
                          <m:sub>
                            <m:r>
                              <a:rPr lang="sr-Latn-RS" sz="1200" i="1" kern="1200">
                                <a:solidFill>
                                  <a:schemeClr val="tx1"/>
                                </a:solidFill>
                                <a:effectLst/>
                                <a:latin typeface="Cambria Math" panose="02040503050406030204" pitchFamily="18" charset="0"/>
                                <a:ea typeface="+mn-ea"/>
                                <a:cs typeface="+mn-cs"/>
                              </a:rPr>
                              <m:t>1</m:t>
                            </m:r>
                          </m:sub>
                        </m:sSub>
                        <m:sSub>
                          <m:sSubPr>
                            <m:ctrlPr>
                              <a:rPr lang="en-ZA"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panose="02040503050406030204" pitchFamily="18" charset="0"/>
                                <a:ea typeface="+mn-ea"/>
                                <a:cs typeface="+mn-cs"/>
                              </a:rPr>
                              <m:t>𝑐</m:t>
                            </m:r>
                          </m:e>
                          <m:sub>
                            <m:r>
                              <a:rPr lang="sr-Latn-RS" sz="1200" i="1" kern="1200">
                                <a:solidFill>
                                  <a:schemeClr val="tx1"/>
                                </a:solidFill>
                                <a:effectLst/>
                                <a:latin typeface="Cambria Math" panose="02040503050406030204" pitchFamily="18" charset="0"/>
                                <a:ea typeface="+mn-ea"/>
                                <a:cs typeface="+mn-cs"/>
                              </a:rPr>
                              <m:t>2</m:t>
                            </m:r>
                          </m:sub>
                        </m:sSub>
                      </m:e>
                    </m:d>
                  </m:oMath>
                </a14:m>
                <a:r>
                  <a:rPr lang="en-US" sz="1200" kern="1200" dirty="0">
                    <a:solidFill>
                      <a:schemeClr val="tx1"/>
                    </a:solidFill>
                    <a:effectLst/>
                    <a:latin typeface="+mn-lt"/>
                    <a:ea typeface="+mn-ea"/>
                    <a:cs typeface="+mn-cs"/>
                  </a:rPr>
                  <a:t> </a:t>
                </a:r>
                <a14:m>
                  <m:oMath xmlns:m="http://schemas.openxmlformats.org/officeDocument/2006/math">
                    <m:r>
                      <a:rPr lang="sr-Latn-RS" sz="1200" i="1" kern="1200">
                        <a:solidFill>
                          <a:schemeClr val="tx1"/>
                        </a:solidFill>
                        <a:effectLst/>
                        <a:latin typeface="Cambria Math" panose="02040503050406030204" pitchFamily="18" charset="0"/>
                        <a:ea typeface="+mn-ea"/>
                        <a:cs typeface="+mn-cs"/>
                      </a:rPr>
                      <m:t>=</m:t>
                    </m:r>
                    <m:d>
                      <m:dPr>
                        <m:begChr m:val="|"/>
                        <m:endChr m:val="⟩"/>
                        <m:ctrlPr>
                          <a:rPr lang="en-ZA" sz="1200" i="1" kern="1200">
                            <a:solidFill>
                              <a:schemeClr val="tx1"/>
                            </a:solidFill>
                            <a:effectLst/>
                            <a:latin typeface="Cambria Math" panose="02040503050406030204" pitchFamily="18" charset="0"/>
                            <a:ea typeface="+mn-ea"/>
                            <a:cs typeface="+mn-cs"/>
                          </a:rPr>
                        </m:ctrlPr>
                      </m:dPr>
                      <m:e>
                        <m:r>
                          <a:rPr lang="en-US" sz="1200" b="0" i="1" kern="1200" smtClean="0">
                            <a:solidFill>
                              <a:schemeClr val="tx1"/>
                            </a:solidFill>
                            <a:effectLst/>
                            <a:latin typeface="Cambria Math" panose="02040503050406030204" pitchFamily="18" charset="0"/>
                            <a:ea typeface="+mn-ea"/>
                            <a:cs typeface="+mn-cs"/>
                          </a:rPr>
                          <m:t>11</m:t>
                        </m:r>
                      </m:e>
                    </m:d>
                  </m:oMath>
                </a14:m>
                <a:r>
                  <a:rPr lang="en-ZA" b="0" dirty="0"/>
                  <a:t>: The first S is applied. The CNOT flips </a:t>
                </a:r>
                <a14:m>
                  <m:oMath xmlns:m="http://schemas.openxmlformats.org/officeDocument/2006/math">
                    <m:sSub>
                      <m:sSubPr>
                        <m:ctrlPr>
                          <a:rPr lang="en-ZA" sz="1200" i="1" kern="1200" smtClean="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panose="02040503050406030204" pitchFamily="18" charset="0"/>
                            <a:ea typeface="+mn-ea"/>
                            <a:cs typeface="+mn-cs"/>
                          </a:rPr>
                          <m:t>𝑐</m:t>
                        </m:r>
                      </m:e>
                      <m:sub>
                        <m:r>
                          <a:rPr lang="sr-Latn-RS" sz="1200" i="1" kern="1200">
                            <a:solidFill>
                              <a:schemeClr val="tx1"/>
                            </a:solidFill>
                            <a:effectLst/>
                            <a:latin typeface="Cambria Math" panose="02040503050406030204" pitchFamily="18" charset="0"/>
                            <a:ea typeface="+mn-ea"/>
                            <a:cs typeface="+mn-cs"/>
                          </a:rPr>
                          <m:t>2</m:t>
                        </m:r>
                      </m:sub>
                    </m:sSub>
                  </m:oMath>
                </a14:m>
                <a:r>
                  <a:rPr lang="en-ZA" b="0" dirty="0"/>
                  <a:t> to ∣0⟩, disabling S†. Finally, the last S is applied, leaving the target with an S</a:t>
                </a:r>
                <a:r>
                  <a:rPr lang="en-ZA" b="0" baseline="30000" dirty="0"/>
                  <a:t>2</a:t>
                </a:r>
                <a:r>
                  <a:rPr lang="en-ZA" b="0" dirty="0"/>
                  <a:t> operation.</a:t>
                </a:r>
              </a:p>
              <a:p>
                <a:pPr algn="just"/>
                <a:endParaRPr lang="en-ZA" b="0" dirty="0"/>
              </a:p>
              <a:p>
                <a:pPr algn="just"/>
                <a:r>
                  <a:rPr lang="en-ZA" b="0" dirty="0"/>
                  <a:t>Since </a:t>
                </a:r>
                <a14:m>
                  <m:oMath xmlns:m="http://schemas.openxmlformats.org/officeDocument/2006/math">
                    <m:r>
                      <a:rPr lang="en-US" sz="1200" b="0" i="1" smtClean="0">
                        <a:latin typeface="Cambria Math" panose="02040503050406030204" pitchFamily="18" charset="0"/>
                      </a:rPr>
                      <m:t>𝑍</m:t>
                    </m:r>
                    <m:r>
                      <a:rPr lang="sr-Latn-RS" sz="1200" b="0" i="1" smtClean="0">
                        <a:latin typeface="Cambria Math" panose="02040503050406030204" pitchFamily="18" charset="0"/>
                      </a:rPr>
                      <m:t>=</m:t>
                    </m:r>
                    <m:sSup>
                      <m:sSupPr>
                        <m:ctrlPr>
                          <a:rPr lang="sr-Latn-RS" sz="1200" b="0" i="1" smtClean="0">
                            <a:latin typeface="Cambria Math" panose="02040503050406030204" pitchFamily="18" charset="0"/>
                          </a:rPr>
                        </m:ctrlPr>
                      </m:sSupPr>
                      <m:e>
                        <m:r>
                          <a:rPr lang="en-US" sz="1200" b="0" i="1" smtClean="0">
                            <a:latin typeface="Cambria Math" panose="02040503050406030204" pitchFamily="18" charset="0"/>
                          </a:rPr>
                          <m:t>𝑆</m:t>
                        </m:r>
                      </m:e>
                      <m:sup>
                        <m:r>
                          <a:rPr lang="sr-Latn-RS" sz="1200" b="0" i="1" smtClean="0">
                            <a:latin typeface="Cambria Math" panose="02040503050406030204" pitchFamily="18" charset="0"/>
                          </a:rPr>
                          <m:t>2</m:t>
                        </m:r>
                      </m:sup>
                    </m:sSup>
                  </m:oMath>
                </a14:m>
                <a:r>
                  <a:rPr lang="en-ZA" b="0" dirty="0"/>
                  <a:t>, the target qubit receives a Z if and only if both controls are ∣1⟩.</a:t>
                </a:r>
              </a:p>
            </p:txBody>
          </p:sp>
        </mc:Choice>
        <mc:Fallback xmlns="">
          <p:sp>
            <p:nvSpPr>
              <p:cNvPr id="3" name="Notes Placeholder 2"/>
              <p:cNvSpPr>
                <a:spLocks noGrp="1"/>
              </p:cNvSpPr>
              <p:nvPr>
                <p:ph type="body" idx="1"/>
              </p:nvPr>
            </p:nvSpPr>
            <p:spPr/>
            <p:txBody>
              <a:bodyPr/>
              <a:lstStyle/>
              <a:p>
                <a:pPr algn="just"/>
                <a:r>
                  <a:rPr lang="en-ZA" b="0" dirty="0"/>
                  <a:t>As an application of the decomposition theorem, the figure shows a doubly-controlled Z gate. Since </a:t>
                </a:r>
                <a:r>
                  <a:rPr lang="en-US" sz="1200" b="0" i="0">
                    <a:latin typeface="Cambria Math" panose="02040503050406030204" pitchFamily="18" charset="0"/>
                  </a:rPr>
                  <a:t>𝑍</a:t>
                </a:r>
                <a:r>
                  <a:rPr lang="sr-Latn-RS" sz="1200" b="0" i="0">
                    <a:latin typeface="Cambria Math" panose="02040503050406030204" pitchFamily="18" charset="0"/>
                  </a:rPr>
                  <a:t>=</a:t>
                </a:r>
                <a:r>
                  <a:rPr lang="en-US" sz="1200" b="0" i="0">
                    <a:latin typeface="Cambria Math" panose="02040503050406030204" pitchFamily="18" charset="0"/>
                  </a:rPr>
                  <a:t>𝑆</a:t>
                </a:r>
                <a:r>
                  <a:rPr lang="sr-Latn-RS" sz="1200" b="0" i="0">
                    <a:latin typeface="Cambria Math" panose="02040503050406030204" pitchFamily="18" charset="0"/>
                  </a:rPr>
                  <a:t>^2</a:t>
                </a:r>
                <a:r>
                  <a:rPr lang="en-ZA" b="0" dirty="0"/>
                  <a:t>, the condition of the theorem is satisfied, allowing us to use S and S</a:t>
                </a:r>
                <a:r>
                  <a:rPr lang="en-ZA" b="0" baseline="30000" dirty="0"/>
                  <a:t>†</a:t>
                </a:r>
                <a:r>
                  <a:rPr lang="en-ZA" b="0" dirty="0"/>
                  <a:t> gates as V and V</a:t>
                </a:r>
                <a:r>
                  <a:rPr lang="en-ZA" b="0" baseline="30000" dirty="0"/>
                  <a:t>†</a:t>
                </a:r>
                <a:r>
                  <a:rPr lang="en-ZA" b="0" dirty="0"/>
                  <a:t>, respectively.</a:t>
                </a:r>
              </a:p>
              <a:p>
                <a:pPr algn="just"/>
                <a:endParaRPr lang="en-ZA" b="0" dirty="0"/>
              </a:p>
              <a:p>
                <a:r>
                  <a:rPr lang="sr-Latn-RS" sz="1200" kern="1200" dirty="0">
                    <a:solidFill>
                      <a:schemeClr val="tx1"/>
                    </a:solidFill>
                    <a:effectLst/>
                    <a:latin typeface="+mn-lt"/>
                    <a:ea typeface="+mn-ea"/>
                    <a:cs typeface="+mn-cs"/>
                  </a:rPr>
                  <a:t>To </a:t>
                </a:r>
                <a:r>
                  <a:rPr lang="sr-Latn-RS" sz="1200" kern="1200" dirty="0" err="1">
                    <a:solidFill>
                      <a:schemeClr val="tx1"/>
                    </a:solidFill>
                    <a:effectLst/>
                    <a:latin typeface="+mn-lt"/>
                    <a:ea typeface="+mn-ea"/>
                    <a:cs typeface="+mn-cs"/>
                  </a:rPr>
                  <a:t>prove</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equivalence</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we</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need</a:t>
                </a:r>
                <a:r>
                  <a:rPr lang="sr-Latn-RS" sz="1200" kern="1200" dirty="0">
                    <a:solidFill>
                      <a:schemeClr val="tx1"/>
                    </a:solidFill>
                    <a:effectLst/>
                    <a:latin typeface="+mn-lt"/>
                    <a:ea typeface="+mn-ea"/>
                    <a:cs typeface="+mn-cs"/>
                  </a:rPr>
                  <a:t> to </a:t>
                </a:r>
                <a:r>
                  <a:rPr lang="sr-Latn-RS" sz="1200" kern="1200" dirty="0" err="1">
                    <a:solidFill>
                      <a:schemeClr val="tx1"/>
                    </a:solidFill>
                    <a:effectLst/>
                    <a:latin typeface="+mn-lt"/>
                    <a:ea typeface="+mn-ea"/>
                    <a:cs typeface="+mn-cs"/>
                  </a:rPr>
                  <a:t>show</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that</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a:t>
                </a:r>
                <a:r>
                  <a:rPr lang="sr-Latn-RS" sz="1200" i="0" kern="1200">
                    <a:solidFill>
                      <a:schemeClr val="tx1"/>
                    </a:solidFill>
                    <a:effectLst/>
                    <a:latin typeface="+mn-lt"/>
                    <a:ea typeface="+mn-ea"/>
                    <a:cs typeface="+mn-cs"/>
                  </a:rPr>
                  <a:t>𝑍</a:t>
                </a:r>
                <a:r>
                  <a:rPr lang="sr-Latn-RS" sz="1200" kern="1200" dirty="0">
                    <a:solidFill>
                      <a:schemeClr val="tx1"/>
                    </a:solidFill>
                    <a:effectLst/>
                    <a:latin typeface="+mn-lt"/>
                    <a:ea typeface="+mn-ea"/>
                    <a:cs typeface="+mn-cs"/>
                  </a:rPr>
                  <a:t> operator is </a:t>
                </a:r>
                <a:r>
                  <a:rPr lang="sr-Latn-RS" sz="1200" kern="1200" dirty="0" err="1">
                    <a:solidFill>
                      <a:schemeClr val="tx1"/>
                    </a:solidFill>
                    <a:effectLst/>
                    <a:latin typeface="+mn-lt"/>
                    <a:ea typeface="+mn-ea"/>
                    <a:cs typeface="+mn-cs"/>
                  </a:rPr>
                  <a:t>applied</a:t>
                </a:r>
                <a:r>
                  <a:rPr lang="sr-Latn-RS" sz="1200" kern="1200" dirty="0">
                    <a:solidFill>
                      <a:schemeClr val="tx1"/>
                    </a:solidFill>
                    <a:effectLst/>
                    <a:latin typeface="+mn-lt"/>
                    <a:ea typeface="+mn-ea"/>
                    <a:cs typeface="+mn-cs"/>
                  </a:rPr>
                  <a:t> to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target</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qubit</a:t>
                </a:r>
                <a:r>
                  <a:rPr lang="sr-Latn-RS" sz="1200" kern="1200" dirty="0">
                    <a:solidFill>
                      <a:schemeClr val="tx1"/>
                    </a:solidFill>
                    <a:effectLst/>
                    <a:latin typeface="+mn-lt"/>
                    <a:ea typeface="+mn-ea"/>
                    <a:cs typeface="+mn-cs"/>
                  </a:rPr>
                  <a:t> </a:t>
                </a:r>
                <a:r>
                  <a:rPr lang="sr-Latn-RS" sz="1200" i="0" kern="1200">
                    <a:solidFill>
                      <a:schemeClr val="tx1"/>
                    </a:solidFill>
                    <a:effectLst/>
                    <a:latin typeface="+mn-lt"/>
                    <a:ea typeface="+mn-ea"/>
                    <a:cs typeface="+mn-cs"/>
                  </a:rPr>
                  <a:t>𝑡</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if</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and</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only</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if</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both</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control</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qubits</a:t>
                </a:r>
                <a:r>
                  <a:rPr lang="sr-Latn-RS" sz="1200" kern="1200" dirty="0">
                    <a:solidFill>
                      <a:schemeClr val="tx1"/>
                    </a:solidFill>
                    <a:effectLst/>
                    <a:latin typeface="+mn-lt"/>
                    <a:ea typeface="+mn-ea"/>
                    <a:cs typeface="+mn-cs"/>
                  </a:rPr>
                  <a:t> </a:t>
                </a:r>
                <a:r>
                  <a:rPr lang="sr-Latn-RS" sz="1200" i="0" kern="1200">
                    <a:solidFill>
                      <a:schemeClr val="tx1"/>
                    </a:solidFill>
                    <a:effectLst/>
                    <a:latin typeface="+mn-lt"/>
                    <a:ea typeface="+mn-ea"/>
                    <a:cs typeface="+mn-cs"/>
                  </a:rPr>
                  <a:t>𝑐</a:t>
                </a:r>
                <a:r>
                  <a:rPr lang="en-ZA"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1</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and</a:t>
                </a:r>
                <a:r>
                  <a:rPr lang="sr-Latn-RS" sz="1200" kern="1200" dirty="0">
                    <a:solidFill>
                      <a:schemeClr val="tx1"/>
                    </a:solidFill>
                    <a:effectLst/>
                    <a:latin typeface="+mn-lt"/>
                    <a:ea typeface="+mn-ea"/>
                    <a:cs typeface="+mn-cs"/>
                  </a:rPr>
                  <a:t> </a:t>
                </a:r>
                <a:r>
                  <a:rPr lang="sr-Latn-RS" sz="1200" i="0" kern="1200">
                    <a:solidFill>
                      <a:schemeClr val="tx1"/>
                    </a:solidFill>
                    <a:effectLst/>
                    <a:latin typeface="+mn-lt"/>
                    <a:ea typeface="+mn-ea"/>
                    <a:cs typeface="+mn-cs"/>
                  </a:rPr>
                  <a:t>𝑐</a:t>
                </a:r>
                <a:r>
                  <a:rPr lang="en-ZA"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2</a:t>
                </a:r>
                <a:r>
                  <a:rPr lang="sr-Latn-RS" sz="1200" kern="1200" dirty="0">
                    <a:solidFill>
                      <a:schemeClr val="tx1"/>
                    </a:solidFill>
                    <a:effectLst/>
                    <a:latin typeface="+mn-lt"/>
                    <a:ea typeface="+mn-ea"/>
                    <a:cs typeface="+mn-cs"/>
                  </a:rPr>
                  <a:t>​ are in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1⟩</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state</a:t>
                </a:r>
                <a:r>
                  <a:rPr lang="sr-Latn-RS" sz="1200" kern="1200" dirty="0">
                    <a:solidFill>
                      <a:schemeClr val="tx1"/>
                    </a:solidFill>
                    <a:effectLst/>
                    <a:latin typeface="+mn-lt"/>
                    <a:ea typeface="+mn-ea"/>
                    <a:cs typeface="+mn-cs"/>
                  </a:rPr>
                  <a:t>.</a:t>
                </a:r>
                <a:endParaRPr lang="en-ZA"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 </a:t>
                </a:r>
                <a:r>
                  <a:rPr lang="en-ZA" sz="1200" i="0" kern="1200">
                    <a:solidFill>
                      <a:schemeClr val="tx1"/>
                    </a:solidFill>
                    <a:effectLst/>
                    <a:latin typeface="Cambria Math" panose="02040503050406030204" pitchFamily="18" charset="0"/>
                    <a:ea typeface="+mn-ea"/>
                    <a:cs typeface="+mn-cs"/>
                  </a:rPr>
                  <a:t>|</a:t>
                </a:r>
                <a:r>
                  <a:rPr lang="sr-Latn-RS" sz="1200" i="0" kern="1200">
                    <a:solidFill>
                      <a:schemeClr val="tx1"/>
                    </a:solidFill>
                    <a:effectLst/>
                    <a:latin typeface="Cambria Math" panose="02040503050406030204" pitchFamily="18" charset="0"/>
                    <a:ea typeface="+mn-ea"/>
                    <a:cs typeface="+mn-cs"/>
                  </a:rPr>
                  <a:t>𝑐</a:t>
                </a:r>
                <a:r>
                  <a:rPr lang="en-ZA" sz="1200" i="0" kern="1200">
                    <a:solidFill>
                      <a:schemeClr val="tx1"/>
                    </a:solidFill>
                    <a:effectLst/>
                    <a:latin typeface="Cambria Math" panose="02040503050406030204" pitchFamily="18" charset="0"/>
                    <a:ea typeface="+mn-ea"/>
                    <a:cs typeface="+mn-cs"/>
                  </a:rPr>
                  <a:t>_</a:t>
                </a:r>
                <a:r>
                  <a:rPr lang="sr-Latn-RS" sz="1200" i="0" kern="1200">
                    <a:solidFill>
                      <a:schemeClr val="tx1"/>
                    </a:solidFill>
                    <a:effectLst/>
                    <a:latin typeface="Cambria Math" panose="02040503050406030204" pitchFamily="18" charset="0"/>
                    <a:ea typeface="+mn-ea"/>
                    <a:cs typeface="+mn-cs"/>
                  </a:rPr>
                  <a:t>1</a:t>
                </a:r>
                <a:r>
                  <a:rPr lang="en-ZA" sz="1200" i="0" kern="1200">
                    <a:solidFill>
                      <a:schemeClr val="tx1"/>
                    </a:solidFill>
                    <a:effectLst/>
                    <a:latin typeface="Cambria Math" panose="02040503050406030204" pitchFamily="18" charset="0"/>
                    <a:ea typeface="+mn-ea"/>
                    <a:cs typeface="+mn-cs"/>
                  </a:rPr>
                  <a:t> </a:t>
                </a:r>
                <a:r>
                  <a:rPr lang="sr-Latn-RS" sz="1200" i="0" kern="1200">
                    <a:solidFill>
                      <a:schemeClr val="tx1"/>
                    </a:solidFill>
                    <a:effectLst/>
                    <a:latin typeface="Cambria Math" panose="02040503050406030204" pitchFamily="18" charset="0"/>
                    <a:ea typeface="+mn-ea"/>
                    <a:cs typeface="+mn-cs"/>
                  </a:rPr>
                  <a:t>𝑐</a:t>
                </a:r>
                <a:r>
                  <a:rPr lang="en-ZA" sz="1200" i="0" kern="1200">
                    <a:solidFill>
                      <a:schemeClr val="tx1"/>
                    </a:solidFill>
                    <a:effectLst/>
                    <a:latin typeface="Cambria Math" panose="02040503050406030204" pitchFamily="18" charset="0"/>
                    <a:ea typeface="+mn-ea"/>
                    <a:cs typeface="+mn-cs"/>
                  </a:rPr>
                  <a:t>_</a:t>
                </a:r>
                <a:r>
                  <a:rPr lang="sr-Latn-RS" sz="1200" i="0" kern="1200">
                    <a:solidFill>
                      <a:schemeClr val="tx1"/>
                    </a:solidFill>
                    <a:effectLst/>
                    <a:latin typeface="Cambria Math" panose="02040503050406030204" pitchFamily="18" charset="0"/>
                    <a:ea typeface="+mn-ea"/>
                    <a:cs typeface="+mn-cs"/>
                  </a:rPr>
                  <a:t>2 ⟩</a:t>
                </a:r>
                <a:r>
                  <a:rPr lang="en-US" sz="1200" kern="1200" dirty="0">
                    <a:solidFill>
                      <a:schemeClr val="tx1"/>
                    </a:solidFill>
                    <a:effectLst/>
                    <a:latin typeface="+mn-lt"/>
                    <a:ea typeface="+mn-ea"/>
                    <a:cs typeface="+mn-cs"/>
                  </a:rPr>
                  <a:t> </a:t>
                </a:r>
                <a:r>
                  <a:rPr lang="sr-Latn-RS" sz="1200" i="0" kern="1200">
                    <a:solidFill>
                      <a:schemeClr val="tx1"/>
                    </a:solidFill>
                    <a:effectLst/>
                    <a:latin typeface="+mn-lt"/>
                    <a:ea typeface="+mn-ea"/>
                    <a:cs typeface="+mn-cs"/>
                  </a:rPr>
                  <a:t>=</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00⟩</a:t>
                </a:r>
                <a:r>
                  <a:rPr lang="sr-Latn-RS" sz="1200" kern="1200" dirty="0">
                    <a:solidFill>
                      <a:schemeClr val="tx1"/>
                    </a:solidFill>
                    <a:effectLst/>
                    <a:latin typeface="+mn-lt"/>
                    <a:ea typeface="+mn-ea"/>
                    <a:cs typeface="+mn-cs"/>
                  </a:rPr>
                  <a:t> : None </a:t>
                </a:r>
                <a:r>
                  <a:rPr lang="sr-Latn-RS" sz="1200" kern="1200" dirty="0" err="1">
                    <a:solidFill>
                      <a:schemeClr val="tx1"/>
                    </a:solidFill>
                    <a:effectLst/>
                    <a:latin typeface="+mn-lt"/>
                    <a:ea typeface="+mn-ea"/>
                    <a:cs typeface="+mn-cs"/>
                  </a:rPr>
                  <a:t>of</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controlled</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gates</a:t>
                </a:r>
                <a:r>
                  <a:rPr lang="sr-Latn-RS" sz="1200" kern="1200" dirty="0">
                    <a:solidFill>
                      <a:schemeClr val="tx1"/>
                    </a:solidFill>
                    <a:effectLst/>
                    <a:latin typeface="+mn-lt"/>
                    <a:ea typeface="+mn-ea"/>
                    <a:cs typeface="+mn-cs"/>
                  </a:rPr>
                  <a:t> are </a:t>
                </a:r>
                <a:r>
                  <a:rPr lang="sr-Latn-RS" sz="1200" kern="1200" dirty="0" err="1">
                    <a:solidFill>
                      <a:schemeClr val="tx1"/>
                    </a:solidFill>
                    <a:effectLst/>
                    <a:latin typeface="+mn-lt"/>
                    <a:ea typeface="+mn-ea"/>
                    <a:cs typeface="+mn-cs"/>
                  </a:rPr>
                  <a:t>applied</a:t>
                </a:r>
                <a:r>
                  <a:rPr lang="sr-Latn-RS" sz="1200" kern="1200" dirty="0">
                    <a:solidFill>
                      <a:schemeClr val="tx1"/>
                    </a:solidFill>
                    <a:effectLst/>
                    <a:latin typeface="+mn-lt"/>
                    <a:ea typeface="+mn-ea"/>
                    <a:cs typeface="+mn-cs"/>
                  </a:rPr>
                  <a:t> to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target</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qubit</a:t>
                </a:r>
                <a:r>
                  <a:rPr lang="sr-Latn-RS" sz="1200" kern="1200" dirty="0">
                    <a:solidFill>
                      <a:schemeClr val="tx1"/>
                    </a:solidFill>
                    <a:effectLst/>
                    <a:latin typeface="+mn-lt"/>
                    <a:ea typeface="+mn-ea"/>
                    <a:cs typeface="+mn-cs"/>
                  </a:rPr>
                  <a:t>.</a:t>
                </a:r>
                <a:endParaRPr lang="en-ZA"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a:t>
                </a:r>
                <a:r>
                  <a:rPr lang="en-ZA" sz="1200" i="0" kern="1200">
                    <a:solidFill>
                      <a:schemeClr val="tx1"/>
                    </a:solidFill>
                    <a:effectLst/>
                    <a:latin typeface="Cambria Math" panose="02040503050406030204" pitchFamily="18" charset="0"/>
                    <a:ea typeface="+mn-ea"/>
                    <a:cs typeface="+mn-cs"/>
                  </a:rPr>
                  <a:t>|</a:t>
                </a:r>
                <a:r>
                  <a:rPr lang="sr-Latn-RS" sz="1200" i="0" kern="1200">
                    <a:solidFill>
                      <a:schemeClr val="tx1"/>
                    </a:solidFill>
                    <a:effectLst/>
                    <a:latin typeface="Cambria Math" panose="02040503050406030204" pitchFamily="18" charset="0"/>
                    <a:ea typeface="+mn-ea"/>
                    <a:cs typeface="+mn-cs"/>
                  </a:rPr>
                  <a:t>𝑐</a:t>
                </a:r>
                <a:r>
                  <a:rPr lang="en-ZA" sz="1200" i="0" kern="1200">
                    <a:solidFill>
                      <a:schemeClr val="tx1"/>
                    </a:solidFill>
                    <a:effectLst/>
                    <a:latin typeface="Cambria Math" panose="02040503050406030204" pitchFamily="18" charset="0"/>
                    <a:ea typeface="+mn-ea"/>
                    <a:cs typeface="+mn-cs"/>
                  </a:rPr>
                  <a:t>_</a:t>
                </a:r>
                <a:r>
                  <a:rPr lang="sr-Latn-RS" sz="1200" i="0" kern="1200">
                    <a:solidFill>
                      <a:schemeClr val="tx1"/>
                    </a:solidFill>
                    <a:effectLst/>
                    <a:latin typeface="Cambria Math" panose="02040503050406030204" pitchFamily="18" charset="0"/>
                    <a:ea typeface="+mn-ea"/>
                    <a:cs typeface="+mn-cs"/>
                  </a:rPr>
                  <a:t>1</a:t>
                </a:r>
                <a:r>
                  <a:rPr lang="en-ZA" sz="1200" i="0" kern="1200">
                    <a:solidFill>
                      <a:schemeClr val="tx1"/>
                    </a:solidFill>
                    <a:effectLst/>
                    <a:latin typeface="Cambria Math" panose="02040503050406030204" pitchFamily="18" charset="0"/>
                    <a:ea typeface="+mn-ea"/>
                    <a:cs typeface="+mn-cs"/>
                  </a:rPr>
                  <a:t> </a:t>
                </a:r>
                <a:r>
                  <a:rPr lang="sr-Latn-RS" sz="1200" i="0" kern="1200">
                    <a:solidFill>
                      <a:schemeClr val="tx1"/>
                    </a:solidFill>
                    <a:effectLst/>
                    <a:latin typeface="Cambria Math" panose="02040503050406030204" pitchFamily="18" charset="0"/>
                    <a:ea typeface="+mn-ea"/>
                    <a:cs typeface="+mn-cs"/>
                  </a:rPr>
                  <a:t>𝑐</a:t>
                </a:r>
                <a:r>
                  <a:rPr lang="en-ZA" sz="1200" i="0" kern="1200">
                    <a:solidFill>
                      <a:schemeClr val="tx1"/>
                    </a:solidFill>
                    <a:effectLst/>
                    <a:latin typeface="Cambria Math" panose="02040503050406030204" pitchFamily="18" charset="0"/>
                    <a:ea typeface="+mn-ea"/>
                    <a:cs typeface="+mn-cs"/>
                  </a:rPr>
                  <a:t>_</a:t>
                </a:r>
                <a:r>
                  <a:rPr lang="sr-Latn-RS" sz="1200" i="0" kern="1200">
                    <a:solidFill>
                      <a:schemeClr val="tx1"/>
                    </a:solidFill>
                    <a:effectLst/>
                    <a:latin typeface="Cambria Math" panose="02040503050406030204" pitchFamily="18" charset="0"/>
                    <a:ea typeface="+mn-ea"/>
                    <a:cs typeface="+mn-cs"/>
                  </a:rPr>
                  <a:t>2 ⟩</a:t>
                </a:r>
                <a:r>
                  <a:rPr lang="sr-Latn-RS" sz="1200" i="0" kern="1200">
                    <a:solidFill>
                      <a:schemeClr val="tx1"/>
                    </a:solidFill>
                    <a:effectLst/>
                    <a:latin typeface="+mn-lt"/>
                    <a:ea typeface="+mn-ea"/>
                    <a:cs typeface="+mn-cs"/>
                  </a:rPr>
                  <a:t>=</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01⟩</a:t>
                </a:r>
                <a:r>
                  <a:rPr lang="sr-Latn-RS" sz="1200" kern="1200" dirty="0">
                    <a:solidFill>
                      <a:schemeClr val="tx1"/>
                    </a:solidFill>
                    <a:effectLst/>
                    <a:latin typeface="+mn-lt"/>
                    <a:ea typeface="+mn-ea"/>
                    <a:cs typeface="+mn-cs"/>
                  </a:rPr>
                  <a:t> :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S gate </a:t>
                </a:r>
                <a:r>
                  <a:rPr lang="sr-Latn-RS" sz="1200" kern="1200" dirty="0" err="1">
                    <a:solidFill>
                      <a:schemeClr val="tx1"/>
                    </a:solidFill>
                    <a:effectLst/>
                    <a:latin typeface="+mn-lt"/>
                    <a:ea typeface="+mn-ea"/>
                    <a:cs typeface="+mn-cs"/>
                  </a:rPr>
                  <a:t>acts</a:t>
                </a:r>
                <a:r>
                  <a:rPr lang="sr-Latn-RS" sz="1200" kern="1200" dirty="0">
                    <a:solidFill>
                      <a:schemeClr val="tx1"/>
                    </a:solidFill>
                    <a:effectLst/>
                    <a:latin typeface="+mn-lt"/>
                    <a:ea typeface="+mn-ea"/>
                    <a:cs typeface="+mn-cs"/>
                  </a:rPr>
                  <a:t> on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target</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qubit</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followed</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by</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S</a:t>
                </a:r>
                <a:r>
                  <a:rPr lang="sr-Latn-RS" sz="1200" kern="1200" baseline="30000" dirty="0">
                    <a:solidFill>
                      <a:schemeClr val="tx1"/>
                    </a:solidFill>
                    <a:effectLst/>
                    <a:latin typeface="+mn-lt"/>
                    <a:ea typeface="+mn-ea"/>
                    <a:cs typeface="+mn-cs"/>
                  </a:rPr>
                  <a:t>†</a:t>
                </a:r>
                <a:r>
                  <a:rPr lang="sr-Latn-RS" sz="1200" kern="1200" dirty="0">
                    <a:solidFill>
                      <a:schemeClr val="tx1"/>
                    </a:solidFill>
                    <a:effectLst/>
                    <a:latin typeface="+mn-lt"/>
                    <a:ea typeface="+mn-ea"/>
                    <a:cs typeface="+mn-cs"/>
                  </a:rPr>
                  <a:t> gate, </a:t>
                </a:r>
                <a:r>
                  <a:rPr lang="sr-Latn-RS" sz="1200" kern="1200" dirty="0" err="1">
                    <a:solidFill>
                      <a:schemeClr val="tx1"/>
                    </a:solidFill>
                    <a:effectLst/>
                    <a:latin typeface="+mn-lt"/>
                    <a:ea typeface="+mn-ea"/>
                    <a:cs typeface="+mn-cs"/>
                  </a:rPr>
                  <a:t>which</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reverses</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this</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action</a:t>
                </a:r>
                <a:r>
                  <a:rPr lang="sr-Latn-RS" sz="1200" kern="1200" dirty="0">
                    <a:solidFill>
                      <a:schemeClr val="tx1"/>
                    </a:solidFill>
                    <a:effectLst/>
                    <a:latin typeface="+mn-lt"/>
                    <a:ea typeface="+mn-ea"/>
                    <a:cs typeface="+mn-cs"/>
                  </a:rPr>
                  <a:t>.</a:t>
                </a:r>
                <a:endParaRPr lang="en-ZA"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a:t>
                </a:r>
                <a:r>
                  <a:rPr lang="en-ZA" sz="1200" i="0" kern="1200">
                    <a:solidFill>
                      <a:schemeClr val="tx1"/>
                    </a:solidFill>
                    <a:effectLst/>
                    <a:latin typeface="Cambria Math" panose="02040503050406030204" pitchFamily="18" charset="0"/>
                    <a:ea typeface="+mn-ea"/>
                    <a:cs typeface="+mn-cs"/>
                  </a:rPr>
                  <a:t>|</a:t>
                </a:r>
                <a:r>
                  <a:rPr lang="sr-Latn-RS" sz="1200" i="0" kern="1200">
                    <a:solidFill>
                      <a:schemeClr val="tx1"/>
                    </a:solidFill>
                    <a:effectLst/>
                    <a:latin typeface="Cambria Math" panose="02040503050406030204" pitchFamily="18" charset="0"/>
                    <a:ea typeface="+mn-ea"/>
                    <a:cs typeface="+mn-cs"/>
                  </a:rPr>
                  <a:t>𝑐</a:t>
                </a:r>
                <a:r>
                  <a:rPr lang="en-ZA" sz="1200" i="0" kern="1200">
                    <a:solidFill>
                      <a:schemeClr val="tx1"/>
                    </a:solidFill>
                    <a:effectLst/>
                    <a:latin typeface="Cambria Math" panose="02040503050406030204" pitchFamily="18" charset="0"/>
                    <a:ea typeface="+mn-ea"/>
                    <a:cs typeface="+mn-cs"/>
                  </a:rPr>
                  <a:t>_</a:t>
                </a:r>
                <a:r>
                  <a:rPr lang="sr-Latn-RS" sz="1200" i="0" kern="1200">
                    <a:solidFill>
                      <a:schemeClr val="tx1"/>
                    </a:solidFill>
                    <a:effectLst/>
                    <a:latin typeface="Cambria Math" panose="02040503050406030204" pitchFamily="18" charset="0"/>
                    <a:ea typeface="+mn-ea"/>
                    <a:cs typeface="+mn-cs"/>
                  </a:rPr>
                  <a:t>1</a:t>
                </a:r>
                <a:r>
                  <a:rPr lang="en-ZA" sz="1200" i="0" kern="1200">
                    <a:solidFill>
                      <a:schemeClr val="tx1"/>
                    </a:solidFill>
                    <a:effectLst/>
                    <a:latin typeface="Cambria Math" panose="02040503050406030204" pitchFamily="18" charset="0"/>
                    <a:ea typeface="+mn-ea"/>
                    <a:cs typeface="+mn-cs"/>
                  </a:rPr>
                  <a:t> </a:t>
                </a:r>
                <a:r>
                  <a:rPr lang="sr-Latn-RS" sz="1200" i="0" kern="1200">
                    <a:solidFill>
                      <a:schemeClr val="tx1"/>
                    </a:solidFill>
                    <a:effectLst/>
                    <a:latin typeface="Cambria Math" panose="02040503050406030204" pitchFamily="18" charset="0"/>
                    <a:ea typeface="+mn-ea"/>
                    <a:cs typeface="+mn-cs"/>
                  </a:rPr>
                  <a:t>𝑐</a:t>
                </a:r>
                <a:r>
                  <a:rPr lang="en-ZA" sz="1200" i="0" kern="1200">
                    <a:solidFill>
                      <a:schemeClr val="tx1"/>
                    </a:solidFill>
                    <a:effectLst/>
                    <a:latin typeface="Cambria Math" panose="02040503050406030204" pitchFamily="18" charset="0"/>
                    <a:ea typeface="+mn-ea"/>
                    <a:cs typeface="+mn-cs"/>
                  </a:rPr>
                  <a:t>_</a:t>
                </a:r>
                <a:r>
                  <a:rPr lang="sr-Latn-RS" sz="1200" i="0" kern="1200">
                    <a:solidFill>
                      <a:schemeClr val="tx1"/>
                    </a:solidFill>
                    <a:effectLst/>
                    <a:latin typeface="Cambria Math" panose="02040503050406030204" pitchFamily="18" charset="0"/>
                    <a:ea typeface="+mn-ea"/>
                    <a:cs typeface="+mn-cs"/>
                  </a:rPr>
                  <a:t>2 ⟩</a:t>
                </a:r>
                <a:r>
                  <a:rPr lang="sr-Latn-RS" sz="1200" i="0" kern="1200">
                    <a:solidFill>
                      <a:schemeClr val="tx1"/>
                    </a:solidFill>
                    <a:effectLst/>
                    <a:latin typeface="+mn-lt"/>
                    <a:ea typeface="+mn-ea"/>
                    <a:cs typeface="+mn-cs"/>
                  </a:rPr>
                  <a:t>=</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10⟩</a:t>
                </a:r>
                <a:r>
                  <a:rPr lang="sr-Latn-RS" sz="1200" kern="1200" dirty="0">
                    <a:solidFill>
                      <a:schemeClr val="tx1"/>
                    </a:solidFill>
                    <a:effectLst/>
                    <a:latin typeface="+mn-lt"/>
                    <a:ea typeface="+mn-ea"/>
                    <a:cs typeface="+mn-cs"/>
                  </a:rPr>
                  <a:t> :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first</a:t>
                </a:r>
                <a:r>
                  <a:rPr lang="sr-Latn-RS" sz="1200" kern="1200" dirty="0">
                    <a:solidFill>
                      <a:schemeClr val="tx1"/>
                    </a:solidFill>
                    <a:effectLst/>
                    <a:latin typeface="+mn-lt"/>
                    <a:ea typeface="+mn-ea"/>
                    <a:cs typeface="+mn-cs"/>
                  </a:rPr>
                  <a:t> CX gate </a:t>
                </a:r>
                <a:r>
                  <a:rPr lang="sr-Latn-RS" sz="1200" kern="1200" dirty="0" err="1">
                    <a:solidFill>
                      <a:schemeClr val="tx1"/>
                    </a:solidFill>
                    <a:effectLst/>
                    <a:latin typeface="+mn-lt"/>
                    <a:ea typeface="+mn-ea"/>
                    <a:cs typeface="+mn-cs"/>
                  </a:rPr>
                  <a:t>flips</a:t>
                </a:r>
                <a:r>
                  <a:rPr lang="sr-Latn-RS" sz="1200" kern="1200" dirty="0">
                    <a:solidFill>
                      <a:schemeClr val="tx1"/>
                    </a:solidFill>
                    <a:effectLst/>
                    <a:latin typeface="+mn-lt"/>
                    <a:ea typeface="+mn-ea"/>
                    <a:cs typeface="+mn-cs"/>
                  </a:rPr>
                  <a:t> </a:t>
                </a:r>
                <a:r>
                  <a:rPr lang="sr-Latn-RS" sz="1200" i="0" kern="1200">
                    <a:solidFill>
                      <a:schemeClr val="tx1"/>
                    </a:solidFill>
                    <a:effectLst/>
                    <a:latin typeface="+mn-lt"/>
                    <a:ea typeface="+mn-ea"/>
                    <a:cs typeface="+mn-cs"/>
                  </a:rPr>
                  <a:t>𝑐</a:t>
                </a:r>
                <a:r>
                  <a:rPr lang="en-ZA"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2</a:t>
                </a:r>
                <a:r>
                  <a:rPr lang="sr-Latn-RS" sz="1200" kern="1200" dirty="0">
                    <a:solidFill>
                      <a:schemeClr val="tx1"/>
                    </a:solidFill>
                    <a:effectLst/>
                    <a:latin typeface="+mn-lt"/>
                    <a:ea typeface="+mn-ea"/>
                    <a:cs typeface="+mn-cs"/>
                  </a:rPr>
                  <a:t>​ to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1⟩</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which</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triggers</a:t>
                </a:r>
                <a:r>
                  <a:rPr lang="sr-Latn-RS" sz="1200" kern="1200" dirty="0">
                    <a:solidFill>
                      <a:schemeClr val="tx1"/>
                    </a:solidFill>
                    <a:effectLst/>
                    <a:latin typeface="+mn-lt"/>
                    <a:ea typeface="+mn-ea"/>
                    <a:cs typeface="+mn-cs"/>
                  </a:rPr>
                  <a:t> S</a:t>
                </a:r>
                <a:r>
                  <a:rPr lang="sr-Latn-RS" sz="1200" kern="1200" baseline="30000" dirty="0">
                    <a:solidFill>
                      <a:schemeClr val="tx1"/>
                    </a:solidFill>
                    <a:effectLst/>
                    <a:latin typeface="+mn-lt"/>
                    <a:ea typeface="+mn-ea"/>
                    <a:cs typeface="+mn-cs"/>
                  </a:rPr>
                  <a:t>†</a:t>
                </a:r>
                <a:r>
                  <a:rPr lang="sr-Latn-RS" sz="1200" kern="1200" dirty="0">
                    <a:solidFill>
                      <a:schemeClr val="tx1"/>
                    </a:solidFill>
                    <a:effectLst/>
                    <a:latin typeface="+mn-lt"/>
                    <a:ea typeface="+mn-ea"/>
                    <a:cs typeface="+mn-cs"/>
                  </a:rPr>
                  <a:t>, but </a:t>
                </a:r>
                <a:r>
                  <a:rPr lang="sr-Latn-RS" sz="1200" kern="1200" dirty="0" err="1">
                    <a:solidFill>
                      <a:schemeClr val="tx1"/>
                    </a:solidFill>
                    <a:effectLst/>
                    <a:latin typeface="+mn-lt"/>
                    <a:ea typeface="+mn-ea"/>
                    <a:cs typeface="+mn-cs"/>
                  </a:rPr>
                  <a:t>this</a:t>
                </a:r>
                <a:r>
                  <a:rPr lang="sr-Latn-RS" sz="1200" kern="1200" dirty="0">
                    <a:solidFill>
                      <a:schemeClr val="tx1"/>
                    </a:solidFill>
                    <a:effectLst/>
                    <a:latin typeface="+mn-lt"/>
                    <a:ea typeface="+mn-ea"/>
                    <a:cs typeface="+mn-cs"/>
                  </a:rPr>
                  <a:t> is </a:t>
                </a:r>
                <a:r>
                  <a:rPr lang="sr-Latn-RS" sz="1200" kern="1200" dirty="0" err="1">
                    <a:solidFill>
                      <a:schemeClr val="tx1"/>
                    </a:solidFill>
                    <a:effectLst/>
                    <a:latin typeface="+mn-lt"/>
                    <a:ea typeface="+mn-ea"/>
                    <a:cs typeface="+mn-cs"/>
                  </a:rPr>
                  <a:t>canceled</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out</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by</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last S gate.</a:t>
                </a:r>
                <a:endParaRPr lang="en-ZA"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a:t>
                </a:r>
                <a:r>
                  <a:rPr lang="en-ZA" sz="1200" i="0" kern="1200">
                    <a:solidFill>
                      <a:schemeClr val="tx1"/>
                    </a:solidFill>
                    <a:effectLst/>
                    <a:latin typeface="Cambria Math" panose="02040503050406030204" pitchFamily="18" charset="0"/>
                    <a:ea typeface="+mn-ea"/>
                    <a:cs typeface="+mn-cs"/>
                  </a:rPr>
                  <a:t>|</a:t>
                </a:r>
                <a:r>
                  <a:rPr lang="sr-Latn-RS" sz="1200" i="0" kern="1200">
                    <a:solidFill>
                      <a:schemeClr val="tx1"/>
                    </a:solidFill>
                    <a:effectLst/>
                    <a:latin typeface="Cambria Math" panose="02040503050406030204" pitchFamily="18" charset="0"/>
                    <a:ea typeface="+mn-ea"/>
                    <a:cs typeface="+mn-cs"/>
                  </a:rPr>
                  <a:t>𝑐</a:t>
                </a:r>
                <a:r>
                  <a:rPr lang="en-ZA" sz="1200" i="0" kern="1200">
                    <a:solidFill>
                      <a:schemeClr val="tx1"/>
                    </a:solidFill>
                    <a:effectLst/>
                    <a:latin typeface="Cambria Math" panose="02040503050406030204" pitchFamily="18" charset="0"/>
                    <a:ea typeface="+mn-ea"/>
                    <a:cs typeface="+mn-cs"/>
                  </a:rPr>
                  <a:t>_</a:t>
                </a:r>
                <a:r>
                  <a:rPr lang="sr-Latn-RS" sz="1200" i="0" kern="1200">
                    <a:solidFill>
                      <a:schemeClr val="tx1"/>
                    </a:solidFill>
                    <a:effectLst/>
                    <a:latin typeface="Cambria Math" panose="02040503050406030204" pitchFamily="18" charset="0"/>
                    <a:ea typeface="+mn-ea"/>
                    <a:cs typeface="+mn-cs"/>
                  </a:rPr>
                  <a:t>1</a:t>
                </a:r>
                <a:r>
                  <a:rPr lang="en-ZA" sz="1200" i="0" kern="1200">
                    <a:solidFill>
                      <a:schemeClr val="tx1"/>
                    </a:solidFill>
                    <a:effectLst/>
                    <a:latin typeface="Cambria Math" panose="02040503050406030204" pitchFamily="18" charset="0"/>
                    <a:ea typeface="+mn-ea"/>
                    <a:cs typeface="+mn-cs"/>
                  </a:rPr>
                  <a:t> </a:t>
                </a:r>
                <a:r>
                  <a:rPr lang="sr-Latn-RS" sz="1200" i="0" kern="1200">
                    <a:solidFill>
                      <a:schemeClr val="tx1"/>
                    </a:solidFill>
                    <a:effectLst/>
                    <a:latin typeface="Cambria Math" panose="02040503050406030204" pitchFamily="18" charset="0"/>
                    <a:ea typeface="+mn-ea"/>
                    <a:cs typeface="+mn-cs"/>
                  </a:rPr>
                  <a:t>𝑐</a:t>
                </a:r>
                <a:r>
                  <a:rPr lang="en-ZA" sz="1200" i="0" kern="1200">
                    <a:solidFill>
                      <a:schemeClr val="tx1"/>
                    </a:solidFill>
                    <a:effectLst/>
                    <a:latin typeface="Cambria Math" panose="02040503050406030204" pitchFamily="18" charset="0"/>
                    <a:ea typeface="+mn-ea"/>
                    <a:cs typeface="+mn-cs"/>
                  </a:rPr>
                  <a:t>_</a:t>
                </a:r>
                <a:r>
                  <a:rPr lang="sr-Latn-RS" sz="1200" i="0" kern="1200">
                    <a:solidFill>
                      <a:schemeClr val="tx1"/>
                    </a:solidFill>
                    <a:effectLst/>
                    <a:latin typeface="Cambria Math" panose="02040503050406030204" pitchFamily="18" charset="0"/>
                    <a:ea typeface="+mn-ea"/>
                    <a:cs typeface="+mn-cs"/>
                  </a:rPr>
                  <a:t>2 ⟩</a:t>
                </a:r>
                <a:r>
                  <a:rPr lang="sr-Latn-RS" sz="1200" i="0" kern="1200">
                    <a:solidFill>
                      <a:schemeClr val="tx1"/>
                    </a:solidFill>
                    <a:effectLst/>
                    <a:latin typeface="+mn-lt"/>
                    <a:ea typeface="+mn-ea"/>
                    <a:cs typeface="+mn-cs"/>
                  </a:rPr>
                  <a:t>=</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11⟩</a:t>
                </a:r>
                <a:r>
                  <a:rPr lang="sr-Latn-RS" sz="1200" kern="1200" dirty="0">
                    <a:solidFill>
                      <a:schemeClr val="tx1"/>
                    </a:solidFill>
                    <a:effectLst/>
                    <a:latin typeface="+mn-lt"/>
                    <a:ea typeface="+mn-ea"/>
                    <a:cs typeface="+mn-cs"/>
                  </a:rPr>
                  <a:t> :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first</a:t>
                </a:r>
                <a:r>
                  <a:rPr lang="sr-Latn-RS" sz="1200" kern="1200" dirty="0">
                    <a:solidFill>
                      <a:schemeClr val="tx1"/>
                    </a:solidFill>
                    <a:effectLst/>
                    <a:latin typeface="+mn-lt"/>
                    <a:ea typeface="+mn-ea"/>
                    <a:cs typeface="+mn-cs"/>
                  </a:rPr>
                  <a:t> S gate is </a:t>
                </a:r>
                <a:r>
                  <a:rPr lang="sr-Latn-RS" sz="1200" kern="1200" dirty="0" err="1">
                    <a:solidFill>
                      <a:schemeClr val="tx1"/>
                    </a:solidFill>
                    <a:effectLst/>
                    <a:latin typeface="+mn-lt"/>
                    <a:ea typeface="+mn-ea"/>
                    <a:cs typeface="+mn-cs"/>
                  </a:rPr>
                  <a:t>triggered</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following</a:t>
                </a:r>
                <a:r>
                  <a:rPr lang="sr-Latn-RS" sz="1200" kern="1200" dirty="0">
                    <a:solidFill>
                      <a:schemeClr val="tx1"/>
                    </a:solidFill>
                    <a:effectLst/>
                    <a:latin typeface="+mn-lt"/>
                    <a:ea typeface="+mn-ea"/>
                    <a:cs typeface="+mn-cs"/>
                  </a:rPr>
                  <a:t> CX gate </a:t>
                </a:r>
                <a:r>
                  <a:rPr lang="sr-Latn-RS" sz="1200" kern="1200" dirty="0" err="1">
                    <a:solidFill>
                      <a:schemeClr val="tx1"/>
                    </a:solidFill>
                    <a:effectLst/>
                    <a:latin typeface="+mn-lt"/>
                    <a:ea typeface="+mn-ea"/>
                    <a:cs typeface="+mn-cs"/>
                  </a:rPr>
                  <a:t>flips</a:t>
                </a:r>
                <a:r>
                  <a:rPr lang="sr-Latn-RS" sz="1200" kern="1200" dirty="0">
                    <a:solidFill>
                      <a:schemeClr val="tx1"/>
                    </a:solidFill>
                    <a:effectLst/>
                    <a:latin typeface="+mn-lt"/>
                    <a:ea typeface="+mn-ea"/>
                    <a:cs typeface="+mn-cs"/>
                  </a:rPr>
                  <a:t> </a:t>
                </a:r>
                <a:r>
                  <a:rPr lang="sr-Latn-RS" sz="1200" i="0" kern="1200">
                    <a:solidFill>
                      <a:schemeClr val="tx1"/>
                    </a:solidFill>
                    <a:effectLst/>
                    <a:latin typeface="+mn-lt"/>
                    <a:ea typeface="+mn-ea"/>
                    <a:cs typeface="+mn-cs"/>
                  </a:rPr>
                  <a:t>𝑐</a:t>
                </a:r>
                <a:r>
                  <a:rPr lang="en-ZA"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2</a:t>
                </a:r>
                <a:r>
                  <a:rPr lang="sr-Latn-RS" sz="1200" kern="1200" dirty="0">
                    <a:solidFill>
                      <a:schemeClr val="tx1"/>
                    </a:solidFill>
                    <a:effectLst/>
                    <a:latin typeface="+mn-lt"/>
                    <a:ea typeface="+mn-ea"/>
                    <a:cs typeface="+mn-cs"/>
                  </a:rPr>
                  <a:t>​ to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0⟩</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disabling</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S</a:t>
                </a:r>
                <a:r>
                  <a:rPr lang="sr-Latn-RS" sz="1200" kern="1200" baseline="30000" dirty="0">
                    <a:solidFill>
                      <a:schemeClr val="tx1"/>
                    </a:solidFill>
                    <a:effectLst/>
                    <a:latin typeface="+mn-lt"/>
                    <a:ea typeface="+mn-ea"/>
                    <a:cs typeface="+mn-cs"/>
                  </a:rPr>
                  <a:t>†</a:t>
                </a:r>
                <a:r>
                  <a:rPr lang="sr-Latn-RS" sz="1200" kern="1200" dirty="0">
                    <a:solidFill>
                      <a:schemeClr val="tx1"/>
                    </a:solidFill>
                    <a:effectLst/>
                    <a:latin typeface="+mn-lt"/>
                    <a:ea typeface="+mn-ea"/>
                    <a:cs typeface="+mn-cs"/>
                  </a:rPr>
                  <a:t> gate. </a:t>
                </a:r>
                <a:r>
                  <a:rPr lang="sr-Latn-RS" sz="1200" kern="1200" dirty="0" err="1">
                    <a:solidFill>
                      <a:schemeClr val="tx1"/>
                    </a:solidFill>
                    <a:effectLst/>
                    <a:latin typeface="+mn-lt"/>
                    <a:ea typeface="+mn-ea"/>
                    <a:cs typeface="+mn-cs"/>
                  </a:rPr>
                  <a:t>Finally</a:t>
                </a:r>
                <a:r>
                  <a:rPr lang="sr-Latn-RS" sz="1200" kern="1200" dirty="0">
                    <a:solidFill>
                      <a:schemeClr val="tx1"/>
                    </a:solidFill>
                    <a:effectLst/>
                    <a:latin typeface="+mn-lt"/>
                    <a:ea typeface="+mn-ea"/>
                    <a:cs typeface="+mn-cs"/>
                  </a:rPr>
                  <a:t>, </a:t>
                </a:r>
                <a:r>
                  <a:rPr lang="sr-Latn-RS" sz="1200" i="0" kern="1200">
                    <a:solidFill>
                      <a:schemeClr val="tx1"/>
                    </a:solidFill>
                    <a:effectLst/>
                    <a:latin typeface="+mn-lt"/>
                    <a:ea typeface="+mn-ea"/>
                    <a:cs typeface="+mn-cs"/>
                  </a:rPr>
                  <a:t>𝑐</a:t>
                </a:r>
                <a:r>
                  <a:rPr lang="en-ZA"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1</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triggers</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last S gate, so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circuit</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performs</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an</a:t>
                </a:r>
                <a:r>
                  <a:rPr lang="sr-Latn-RS" sz="1200" kern="1200" dirty="0">
                    <a:solidFill>
                      <a:schemeClr val="tx1"/>
                    </a:solidFill>
                    <a:effectLst/>
                    <a:latin typeface="+mn-lt"/>
                    <a:ea typeface="+mn-ea"/>
                    <a:cs typeface="+mn-cs"/>
                  </a:rPr>
                  <a:t> </a:t>
                </a:r>
                <a:r>
                  <a:rPr lang="sr-Latn-RS" sz="1200" i="0" kern="1200">
                    <a:solidFill>
                      <a:schemeClr val="tx1"/>
                    </a:solidFill>
                    <a:effectLst/>
                    <a:latin typeface="+mn-lt"/>
                    <a:ea typeface="+mn-ea"/>
                    <a:cs typeface="+mn-cs"/>
                  </a:rPr>
                  <a:t>𝑆</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2</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operation</a:t>
                </a:r>
                <a:r>
                  <a:rPr lang="sr-Latn-RS" sz="1200" kern="1200" dirty="0">
                    <a:solidFill>
                      <a:schemeClr val="tx1"/>
                    </a:solidFill>
                    <a:effectLst/>
                    <a:latin typeface="+mn-lt"/>
                    <a:ea typeface="+mn-ea"/>
                    <a:cs typeface="+mn-cs"/>
                  </a:rPr>
                  <a:t> on </a:t>
                </a:r>
                <a:r>
                  <a:rPr lang="sr-Latn-RS" sz="1200" kern="1200" dirty="0" err="1">
                    <a:solidFill>
                      <a:schemeClr val="tx1"/>
                    </a:solidFill>
                    <a:effectLst/>
                    <a:latin typeface="+mn-lt"/>
                    <a:ea typeface="+mn-ea"/>
                    <a:cs typeface="+mn-cs"/>
                  </a:rPr>
                  <a:t>the</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target</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qubit</a:t>
                </a:r>
                <a:r>
                  <a:rPr lang="sr-Latn-RS" sz="1200" kern="1200" dirty="0">
                    <a:solidFill>
                      <a:schemeClr val="tx1"/>
                    </a:solidFill>
                    <a:effectLst/>
                    <a:latin typeface="+mn-lt"/>
                    <a:ea typeface="+mn-ea"/>
                    <a:cs typeface="+mn-cs"/>
                  </a:rPr>
                  <a:t>.</a:t>
                </a:r>
                <a:endParaRPr lang="en-ZA" sz="1200" kern="1200" dirty="0">
                  <a:solidFill>
                    <a:schemeClr val="tx1"/>
                  </a:solidFill>
                  <a:effectLst/>
                  <a:latin typeface="+mn-lt"/>
                  <a:ea typeface="+mn-ea"/>
                  <a:cs typeface="+mn-cs"/>
                </a:endParaRPr>
              </a:p>
              <a:p>
                <a:r>
                  <a:rPr lang="sr-Latn-RS" sz="1200" i="0" kern="1200">
                    <a:solidFill>
                      <a:schemeClr val="tx1"/>
                    </a:solidFill>
                    <a:effectLst/>
                    <a:latin typeface="+mn-lt"/>
                    <a:ea typeface="+mn-ea"/>
                    <a:cs typeface="+mn-cs"/>
                  </a:rPr>
                  <a:t>𝑆</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2=𝑆𝑆=</a:t>
                </a:r>
                <a:r>
                  <a:rPr lang="en-ZA" sz="1200" i="0" kern="1200">
                    <a:solidFill>
                      <a:schemeClr val="tx1"/>
                    </a:solidFill>
                    <a:effectLst/>
                    <a:latin typeface="+mn-lt"/>
                    <a:ea typeface="+mn-ea"/>
                    <a:cs typeface="+mn-cs"/>
                  </a:rPr>
                  <a:t>(■8(</a:t>
                </a:r>
                <a:r>
                  <a:rPr lang="sr-Latn-RS" sz="1200" i="0" kern="1200">
                    <a:solidFill>
                      <a:schemeClr val="tx1"/>
                    </a:solidFill>
                    <a:effectLst/>
                    <a:latin typeface="+mn-lt"/>
                    <a:ea typeface="+mn-ea"/>
                    <a:cs typeface="+mn-cs"/>
                  </a:rPr>
                  <a:t>1&amp;0@0&amp;𝑖))</a:t>
                </a:r>
                <a:r>
                  <a:rPr lang="en-ZA" sz="1200" i="0" kern="1200">
                    <a:solidFill>
                      <a:schemeClr val="tx1"/>
                    </a:solidFill>
                    <a:effectLst/>
                    <a:latin typeface="+mn-lt"/>
                    <a:ea typeface="+mn-ea"/>
                    <a:cs typeface="+mn-cs"/>
                  </a:rPr>
                  <a:t>(■8(</a:t>
                </a:r>
                <a:r>
                  <a:rPr lang="sr-Latn-RS" sz="1200" i="0" kern="1200">
                    <a:solidFill>
                      <a:schemeClr val="tx1"/>
                    </a:solidFill>
                    <a:effectLst/>
                    <a:latin typeface="+mn-lt"/>
                    <a:ea typeface="+mn-ea"/>
                    <a:cs typeface="+mn-cs"/>
                  </a:rPr>
                  <a:t>1&amp;0@0&amp;𝑖))=</a:t>
                </a:r>
                <a:r>
                  <a:rPr lang="en-ZA" sz="1200" i="0" kern="1200">
                    <a:solidFill>
                      <a:schemeClr val="tx1"/>
                    </a:solidFill>
                    <a:effectLst/>
                    <a:latin typeface="+mn-lt"/>
                    <a:ea typeface="+mn-ea"/>
                    <a:cs typeface="+mn-cs"/>
                  </a:rPr>
                  <a:t>(■8(</a:t>
                </a:r>
                <a:r>
                  <a:rPr lang="sr-Latn-RS" sz="1200" i="0" kern="1200">
                    <a:solidFill>
                      <a:schemeClr val="tx1"/>
                    </a:solidFill>
                    <a:effectLst/>
                    <a:latin typeface="+mn-lt"/>
                    <a:ea typeface="+mn-ea"/>
                    <a:cs typeface="+mn-cs"/>
                  </a:rPr>
                  <a:t>1&amp;0@0&amp;−1))=𝑍</a:t>
                </a:r>
                <a:endParaRPr lang="en-ZA" sz="1200" kern="1200" dirty="0">
                  <a:solidFill>
                    <a:schemeClr val="tx1"/>
                  </a:solidFill>
                  <a:effectLst/>
                  <a:latin typeface="+mn-lt"/>
                  <a:ea typeface="+mn-ea"/>
                  <a:cs typeface="+mn-cs"/>
                </a:endParaRPr>
              </a:p>
              <a:p>
                <a:pPr algn="just"/>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31</a:t>
            </a:fld>
            <a:endParaRPr lang="en-US"/>
          </a:p>
        </p:txBody>
      </p:sp>
    </p:spTree>
    <p:extLst>
      <p:ext uri="{BB962C8B-B14F-4D97-AF65-F5344CB8AC3E}">
        <p14:creationId xmlns:p14="http://schemas.microsoft.com/office/powerpoint/2010/main" val="42341543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dirty="0"/>
              <a:t>Quantum gates are combined into circuits that act like flowcharts of a quantum program. </a:t>
            </a:r>
          </a:p>
          <a:p>
            <a:pPr marL="171450" indent="-171450" algn="just">
              <a:buFont typeface="Arial" panose="020B0604020202020204" pitchFamily="34" charset="0"/>
              <a:buChar char="•"/>
            </a:pPr>
            <a:endParaRPr lang="en-ZA" dirty="0"/>
          </a:p>
          <a:p>
            <a:pPr marL="171450" indent="-171450" algn="just">
              <a:buFont typeface="Arial" panose="020B0604020202020204" pitchFamily="34" charset="0"/>
              <a:buChar char="•"/>
            </a:pPr>
            <a:r>
              <a:rPr lang="en-ZA" dirty="0"/>
              <a:t>These circuits can then be translated into program code.</a:t>
            </a:r>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32</a:t>
            </a:fld>
            <a:endParaRPr lang="en-US"/>
          </a:p>
        </p:txBody>
      </p:sp>
    </p:spTree>
    <p:extLst>
      <p:ext uri="{BB962C8B-B14F-4D97-AF65-F5344CB8AC3E}">
        <p14:creationId xmlns:p14="http://schemas.microsoft.com/office/powerpoint/2010/main" val="1913738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Quantum gates are combined to form quantum circuits, also called quantum networks. A quantum circuit shows, step by step, how a quantum algorithm is carried out.</a:t>
            </a:r>
          </a:p>
          <a:p>
            <a:pPr algn="just"/>
            <a:endParaRPr lang="en-ZA" b="0" dirty="0"/>
          </a:p>
          <a:p>
            <a:pPr algn="just"/>
            <a:r>
              <a:rPr lang="en-ZA" b="0" dirty="0"/>
              <a:t>A quantum circuit contains a quantum register and may also contain a classical register. Each qubit and classical bit is represented by its own line. </a:t>
            </a:r>
            <a:r>
              <a:rPr lang="en-ZA" dirty="0"/>
              <a:t>As we move from left to right along the circuit, we move forward in time, and the qubits pass through different quantum gates. Quantum gates that can be executed in the same time step form a circuit layer.</a:t>
            </a:r>
          </a:p>
          <a:p>
            <a:pPr algn="just"/>
            <a:endParaRPr lang="en-ZA" b="0" dirty="0"/>
          </a:p>
          <a:p>
            <a:pPr algn="just"/>
            <a:r>
              <a:rPr lang="en-ZA" b="0" dirty="0"/>
              <a:t>When a qubit is measured, the measurement result is stored in a corresponding classical bit. At the end, the values stored in the classical register give us the output of the quantum program.</a:t>
            </a:r>
          </a:p>
          <a:p>
            <a:pPr algn="just"/>
            <a:endParaRPr lang="en-ZA" b="0" dirty="0"/>
          </a:p>
          <a:p>
            <a:pPr algn="just"/>
            <a:r>
              <a:rPr lang="en-ZA" b="0" dirty="0"/>
              <a:t>By convention, the qubit lines are numbered from top to bottom, starting with index 0.</a:t>
            </a:r>
          </a:p>
        </p:txBody>
      </p:sp>
      <p:sp>
        <p:nvSpPr>
          <p:cNvPr id="4" name="Slide Number Placeholder 3"/>
          <p:cNvSpPr>
            <a:spLocks noGrp="1"/>
          </p:cNvSpPr>
          <p:nvPr>
            <p:ph type="sldNum" sz="quarter" idx="5"/>
          </p:nvPr>
        </p:nvSpPr>
        <p:spPr/>
        <p:txBody>
          <a:bodyPr/>
          <a:lstStyle/>
          <a:p>
            <a:fld id="{1B2CE5E3-B8BD-D040-AC87-D640191DD8F1}" type="slidenum">
              <a:rPr lang="en-US" smtClean="0"/>
              <a:t>33</a:t>
            </a:fld>
            <a:endParaRPr lang="en-US"/>
          </a:p>
        </p:txBody>
      </p:sp>
    </p:spTree>
    <p:extLst>
      <p:ext uri="{BB962C8B-B14F-4D97-AF65-F5344CB8AC3E}">
        <p14:creationId xmlns:p14="http://schemas.microsoft.com/office/powerpoint/2010/main" val="19363877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Quantum gates can be arranged in different configurations to build quantum circuits. When gates are applied in sequence, the overall transformation is found by multiplying their matrices in reverse order.</a:t>
                </a:r>
              </a:p>
              <a:p>
                <a:pPr algn="just"/>
                <a:endParaRPr lang="en-ZA" b="0" dirty="0"/>
              </a:p>
              <a:p>
                <a:r>
                  <a:rPr lang="en-ZA" dirty="0"/>
                  <a:t>For example, in the circuit:</a:t>
                </a:r>
              </a:p>
              <a:p>
                <a:pPr marL="171450" indent="-171450">
                  <a:buFont typeface="Arial" panose="020B0604020202020204" pitchFamily="34" charset="0"/>
                  <a:buChar char="•"/>
                </a:pPr>
                <a:r>
                  <a:rPr lang="en-ZA" dirty="0"/>
                  <a:t>The qubit ∣a⟩ first passes through gate A, so its state at the output of the gate is </a:t>
                </a:r>
                <a14:m>
                  <m:oMath xmlns:m="http://schemas.openxmlformats.org/officeDocument/2006/math">
                    <m:r>
                      <a:rPr lang="en-US" sz="1200" i="1" smtClean="0">
                        <a:latin typeface="Cambria Math" panose="02040503050406030204" pitchFamily="18" charset="0"/>
                      </a:rPr>
                      <m:t>𝐴</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oMath>
                </a14:m>
                <a:r>
                  <a:rPr lang="en-ZA" dirty="0"/>
                  <a:t>. </a:t>
                </a:r>
              </a:p>
              <a:p>
                <a:pPr marL="171450" indent="-171450">
                  <a:buFont typeface="Arial" panose="020B0604020202020204" pitchFamily="34" charset="0"/>
                  <a:buChar char="•"/>
                </a:pPr>
                <a:r>
                  <a:rPr lang="en-ZA" dirty="0"/>
                  <a:t>Gate B is then applied to this state, giving </a:t>
                </a:r>
                <a14:m>
                  <m:oMath xmlns:m="http://schemas.openxmlformats.org/officeDocument/2006/math">
                    <m:r>
                      <a:rPr lang="en-US" sz="1200" b="0" i="1" smtClean="0">
                        <a:latin typeface="Cambria Math" panose="02040503050406030204" pitchFamily="18" charset="0"/>
                      </a:rPr>
                      <m:t>𝐵</m:t>
                    </m:r>
                    <m:d>
                      <m:dPr>
                        <m:ctrlPr>
                          <a:rPr lang="en-US" sz="1200" i="1" smtClean="0">
                            <a:latin typeface="Cambria Math" panose="02040503050406030204" pitchFamily="18" charset="0"/>
                          </a:rPr>
                        </m:ctrlPr>
                      </m:dPr>
                      <m:e>
                        <m:r>
                          <a:rPr lang="en-US" sz="1200" i="1">
                            <a:latin typeface="Cambria Math" panose="02040503050406030204" pitchFamily="18" charset="0"/>
                          </a:rPr>
                          <m:t>𝐴</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e>
                    </m:d>
                  </m:oMath>
                </a14:m>
                <a:r>
                  <a:rPr lang="en-ZA" dirty="0"/>
                  <a:t>.</a:t>
                </a:r>
              </a:p>
              <a:p>
                <a:pPr marL="171450" indent="-171450">
                  <a:buFont typeface="Arial" panose="020B0604020202020204" pitchFamily="34" charset="0"/>
                  <a:buChar char="•"/>
                </a:pPr>
                <a:r>
                  <a:rPr lang="en-ZA" dirty="0"/>
                  <a:t>Finally, gate C is applied, giving </a:t>
                </a:r>
                <a14:m>
                  <m:oMath xmlns:m="http://schemas.openxmlformats.org/officeDocument/2006/math">
                    <m:r>
                      <a:rPr lang="en-US" sz="1200" i="1" smtClean="0">
                        <a:latin typeface="Cambria Math" panose="02040503050406030204" pitchFamily="18" charset="0"/>
                      </a:rPr>
                      <m:t>𝐶</m:t>
                    </m:r>
                    <m:d>
                      <m:dPr>
                        <m:ctrlPr>
                          <a:rPr lang="en-US" sz="1200" i="1">
                            <a:latin typeface="Cambria Math" panose="02040503050406030204" pitchFamily="18" charset="0"/>
                          </a:rPr>
                        </m:ctrlPr>
                      </m:dPr>
                      <m:e>
                        <m:r>
                          <a:rPr lang="en-US" sz="1200" b="0" i="0" smtClean="0">
                            <a:latin typeface="Cambria Math" panose="02040503050406030204" pitchFamily="18" charset="0"/>
                          </a:rPr>
                          <m:t>(</m:t>
                        </m:r>
                        <m:r>
                          <a:rPr lang="en-US" sz="1200" i="1">
                            <a:latin typeface="Cambria Math" panose="02040503050406030204" pitchFamily="18" charset="0"/>
                          </a:rPr>
                          <m:t>𝐵𝐴</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r>
                          <a:rPr lang="en-US" sz="1200" b="0" i="1" smtClean="0">
                            <a:latin typeface="Cambria Math" panose="02040503050406030204" pitchFamily="18" charset="0"/>
                          </a:rPr>
                          <m:t>)</m:t>
                        </m:r>
                      </m:e>
                    </m:d>
                    <m:r>
                      <a:rPr lang="en-US" sz="1200" i="0">
                        <a:latin typeface="Cambria Math" panose="02040503050406030204" pitchFamily="18" charset="0"/>
                      </a:rPr>
                      <m:t>=</m:t>
                    </m:r>
                    <m:r>
                      <a:rPr lang="en-US" sz="1200" i="1">
                        <a:latin typeface="Cambria Math" panose="02040503050406030204" pitchFamily="18" charset="0"/>
                      </a:rPr>
                      <m:t>𝐶𝐵𝐴</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oMath>
                </a14:m>
                <a:r>
                  <a:rPr lang="en-ZA" dirty="0"/>
                  <a:t>. </a:t>
                </a:r>
              </a:p>
              <a:p>
                <a:endParaRPr lang="en-ZA" dirty="0"/>
              </a:p>
              <a:p>
                <a:r>
                  <a:rPr lang="en-ZA" dirty="0"/>
                  <a:t>Although the gates appear from left to right in the order A, B, C, the overall transformation is therefore CBA, and the final state is </a:t>
                </a:r>
                <a14:m>
                  <m:oMath xmlns:m="http://schemas.openxmlformats.org/officeDocument/2006/math">
                    <m:r>
                      <a:rPr lang="en-US" sz="1200" i="1" smtClean="0">
                        <a:latin typeface="Cambria Math" panose="02040503050406030204" pitchFamily="18" charset="0"/>
                      </a:rPr>
                      <m:t>𝐶𝐵𝐴</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oMath>
                </a14:m>
                <a:r>
                  <a:rPr lang="en-ZA" dirty="0"/>
                  <a:t>. The first gate in the circuit is therefore the matrix closest to the state vector.</a:t>
                </a:r>
              </a:p>
            </p:txBody>
          </p:sp>
        </mc:Choice>
        <mc:Fallback xmlns="">
          <p:sp>
            <p:nvSpPr>
              <p:cNvPr id="3" name="Notes Placeholder 2"/>
              <p:cNvSpPr>
                <a:spLocks noGrp="1"/>
              </p:cNvSpPr>
              <p:nvPr>
                <p:ph type="body" idx="1"/>
              </p:nvPr>
            </p:nvSpPr>
            <p:spPr/>
            <p:txBody>
              <a:bodyPr/>
              <a:lstStyle/>
              <a:p>
                <a:r>
                  <a:rPr lang="sr-Latn-RS" sz="1200" kern="1200" dirty="0">
                    <a:solidFill>
                      <a:schemeClr val="tx1"/>
                    </a:solidFill>
                    <a:effectLst/>
                    <a:latin typeface="+mn-lt"/>
                    <a:ea typeface="+mn-ea"/>
                    <a:cs typeface="+mn-cs"/>
                  </a:rPr>
                  <a:t>Na slici je prikazana je serijska veza elementarnih kvantnih kola. Transformacije koju nad kubitom izvodi niz elementarnih kvantnih kola izračunava se kao proizvod pojedinačnih transformacija u obrnutom redosledu. </a:t>
                </a:r>
              </a:p>
              <a:p>
                <a:endParaRPr lang="sr-Latn-RS" sz="1200" kern="1200" dirty="0">
                  <a:solidFill>
                    <a:schemeClr val="tx1"/>
                  </a:solidFill>
                  <a:effectLst/>
                  <a:latin typeface="+mn-lt"/>
                  <a:ea typeface="+mn-ea"/>
                  <a:cs typeface="+mn-cs"/>
                </a:endParaRPr>
              </a:p>
              <a:p>
                <a:r>
                  <a:rPr lang="sr-Latn-RS" sz="1200" kern="1200" dirty="0">
                    <a:solidFill>
                      <a:schemeClr val="tx1"/>
                    </a:solidFill>
                    <a:effectLst/>
                    <a:latin typeface="+mn-lt"/>
                    <a:ea typeface="+mn-ea"/>
                    <a:cs typeface="+mn-cs"/>
                  </a:rPr>
                  <a:t>Operator </a:t>
                </a:r>
                <a:r>
                  <a:rPr lang="sr-Latn-RS" sz="1200" i="0" kern="1200">
                    <a:solidFill>
                      <a:schemeClr val="tx1"/>
                    </a:solidFill>
                    <a:effectLst/>
                    <a:latin typeface="+mn-lt"/>
                    <a:ea typeface="+mn-ea"/>
                    <a:cs typeface="+mn-cs"/>
                  </a:rPr>
                  <a:t>𝐴</a:t>
                </a:r>
                <a:r>
                  <a:rPr lang="sr-Latn-RS" sz="1200" kern="1200" dirty="0">
                    <a:solidFill>
                      <a:schemeClr val="tx1"/>
                    </a:solidFill>
                    <a:effectLst/>
                    <a:latin typeface="+mn-lt"/>
                    <a:ea typeface="+mn-ea"/>
                    <a:cs typeface="+mn-cs"/>
                  </a:rPr>
                  <a:t> na slici levo deluje na kubit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𝑎⟩</a:t>
                </a:r>
                <a:r>
                  <a:rPr lang="sr-Latn-RS" sz="1200" kern="1200" dirty="0">
                    <a:solidFill>
                      <a:schemeClr val="tx1"/>
                    </a:solidFill>
                    <a:effectLst/>
                    <a:latin typeface="+mn-lt"/>
                    <a:ea typeface="+mn-ea"/>
                    <a:cs typeface="+mn-cs"/>
                  </a:rPr>
                  <a:t>. Na rezultat operacije </a:t>
                </a:r>
                <a:r>
                  <a:rPr lang="sr-Latn-RS" sz="1200" i="0" kern="1200">
                    <a:solidFill>
                      <a:schemeClr val="tx1"/>
                    </a:solidFill>
                    <a:effectLst/>
                    <a:latin typeface="+mn-lt"/>
                    <a:ea typeface="+mn-ea"/>
                    <a:cs typeface="+mn-cs"/>
                  </a:rPr>
                  <a:t>𝐴</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𝑎⟩</a:t>
                </a:r>
                <a:r>
                  <a:rPr lang="sr-Latn-RS" sz="1200" kern="1200" dirty="0">
                    <a:solidFill>
                      <a:schemeClr val="tx1"/>
                    </a:solidFill>
                    <a:effectLst/>
                    <a:latin typeface="+mn-lt"/>
                    <a:ea typeface="+mn-ea"/>
                    <a:cs typeface="+mn-cs"/>
                  </a:rPr>
                  <a:t> primenjuje se operator </a:t>
                </a:r>
                <a:r>
                  <a:rPr lang="sr-Latn-RS" sz="1200" i="0" kern="1200">
                    <a:solidFill>
                      <a:schemeClr val="tx1"/>
                    </a:solidFill>
                    <a:effectLst/>
                    <a:latin typeface="+mn-lt"/>
                    <a:ea typeface="+mn-ea"/>
                    <a:cs typeface="+mn-cs"/>
                  </a:rPr>
                  <a:t>𝐵</a:t>
                </a:r>
                <a:r>
                  <a:rPr lang="sr-Latn-RS" sz="1200" kern="1200" dirty="0">
                    <a:solidFill>
                      <a:schemeClr val="tx1"/>
                    </a:solidFill>
                    <a:effectLst/>
                    <a:latin typeface="+mn-lt"/>
                    <a:ea typeface="+mn-ea"/>
                    <a:cs typeface="+mn-cs"/>
                  </a:rPr>
                  <a:t> i konačno, na rezultat te operacije primenjuje se operator </a:t>
                </a:r>
                <a:r>
                  <a:rPr lang="sr-Latn-RS" sz="1200" i="0" kern="1200">
                    <a:solidFill>
                      <a:schemeClr val="tx1"/>
                    </a:solidFill>
                    <a:effectLst/>
                    <a:latin typeface="+mn-lt"/>
                    <a:ea typeface="+mn-ea"/>
                    <a:cs typeface="+mn-cs"/>
                  </a:rPr>
                  <a:t>𝐶</a:t>
                </a:r>
                <a:r>
                  <a:rPr lang="sr-Latn-RS" sz="1200" kern="1200" dirty="0">
                    <a:solidFill>
                      <a:schemeClr val="tx1"/>
                    </a:solidFill>
                    <a:effectLst/>
                    <a:latin typeface="+mn-lt"/>
                    <a:ea typeface="+mn-ea"/>
                    <a:cs typeface="+mn-cs"/>
                  </a:rPr>
                  <a:t>. </a:t>
                </a: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34</a:t>
            </a:fld>
            <a:endParaRPr lang="en-US"/>
          </a:p>
        </p:txBody>
      </p:sp>
    </p:spTree>
    <p:extLst>
      <p:ext uri="{BB962C8B-B14F-4D97-AF65-F5344CB8AC3E}">
        <p14:creationId xmlns:p14="http://schemas.microsoft.com/office/powerpoint/2010/main" val="39314708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solidFill>
                      <a:schemeClr val="tx1"/>
                    </a:solidFill>
                  </a:rPr>
                  <a:t>In a parallel configuration, several quantum gates act on different qubits at the same time. For example, if the qubits start in states ∣a⟩, ∣b⟩, and ∣c⟩ then gates A, B, and C act on their respective qubits independently. Gate A acts on ∣a⟩, gate B on ∣b⟩, and gate C on ∣c⟩.</a:t>
                </a:r>
              </a:p>
              <a:p>
                <a:pPr algn="just"/>
                <a:endParaRPr lang="en-ZA" b="0" dirty="0">
                  <a:solidFill>
                    <a:schemeClr val="tx1"/>
                  </a:solidFill>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b="0" dirty="0">
                    <a:solidFill>
                      <a:schemeClr val="tx1"/>
                    </a:solidFill>
                  </a:rPr>
                  <a:t>The combined output is the Kronecker product of the three individual outputs:</a:t>
                </a:r>
                <a:br>
                  <a:rPr lang="en-ZA" b="0" dirty="0">
                    <a:solidFill>
                      <a:schemeClr val="tx1"/>
                    </a:solidFill>
                  </a:rPr>
                </a:br>
                <a:br>
                  <a:rPr lang="en-US" sz="1200" i="1" dirty="0">
                    <a:solidFill>
                      <a:schemeClr val="tx1"/>
                    </a:solidFill>
                    <a:latin typeface="Cambria Math" panose="02040503050406030204" pitchFamily="18" charset="0"/>
                  </a:rPr>
                </a:br>
                <a14:m>
                  <m:oMath xmlns:m="http://schemas.openxmlformats.org/officeDocument/2006/math">
                    <m:r>
                      <a:rPr lang="en-US" sz="1200" i="1" smtClean="0">
                        <a:solidFill>
                          <a:schemeClr val="tx1"/>
                        </a:solidFill>
                        <a:latin typeface="Cambria Math" panose="02040503050406030204" pitchFamily="18" charset="0"/>
                      </a:rPr>
                      <m:t>𝐴</m:t>
                    </m:r>
                    <m:d>
                      <m:dPr>
                        <m:begChr m:val="|"/>
                        <m:endChr m:val="⟩"/>
                        <m:ctrlPr>
                          <a:rPr lang="en-US" sz="1200" i="1">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𝑎</m:t>
                        </m:r>
                      </m:e>
                    </m:d>
                    <m:r>
                      <a:rPr lang="en-US" sz="1200" i="0">
                        <a:solidFill>
                          <a:schemeClr val="tx1"/>
                        </a:solidFill>
                        <a:latin typeface="Cambria Math" panose="02040503050406030204" pitchFamily="18" charset="0"/>
                      </a:rPr>
                      <m:t>⊗ </m:t>
                    </m:r>
                    <m:r>
                      <a:rPr lang="en-US" sz="1200" i="1">
                        <a:solidFill>
                          <a:schemeClr val="tx1"/>
                        </a:solidFill>
                        <a:latin typeface="Cambria Math" panose="02040503050406030204" pitchFamily="18" charset="0"/>
                      </a:rPr>
                      <m:t>𝐵</m:t>
                    </m:r>
                    <m:d>
                      <m:dPr>
                        <m:begChr m:val="|"/>
                        <m:endChr m:val="⟩"/>
                        <m:ctrlPr>
                          <a:rPr lang="en-US" sz="1200" i="1">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𝑏</m:t>
                        </m:r>
                      </m:e>
                    </m:d>
                    <m:r>
                      <a:rPr lang="en-US" sz="1200" i="0">
                        <a:solidFill>
                          <a:schemeClr val="tx1"/>
                        </a:solidFill>
                        <a:latin typeface="Cambria Math" panose="02040503050406030204" pitchFamily="18" charset="0"/>
                      </a:rPr>
                      <m:t>⊗ </m:t>
                    </m:r>
                    <m:r>
                      <a:rPr lang="en-US" sz="1200" i="1">
                        <a:solidFill>
                          <a:schemeClr val="tx1"/>
                        </a:solidFill>
                        <a:latin typeface="Cambria Math" panose="02040503050406030204" pitchFamily="18" charset="0"/>
                      </a:rPr>
                      <m:t>𝐶</m:t>
                    </m:r>
                    <m:d>
                      <m:dPr>
                        <m:begChr m:val="|"/>
                        <m:endChr m:val="⟩"/>
                        <m:ctrlPr>
                          <a:rPr lang="en-US" sz="1200" i="1">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𝑐</m:t>
                        </m:r>
                      </m:e>
                    </m:d>
                  </m:oMath>
                </a14:m>
                <a:endParaRPr lang="en-ZA" b="0" dirty="0">
                  <a:solidFill>
                    <a:schemeClr val="tx1"/>
                  </a:solidFill>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ZA" b="0" dirty="0">
                  <a:solidFill>
                    <a:schemeClr val="tx1"/>
                  </a:solidFill>
                </a:endParaRPr>
              </a:p>
              <a:p>
                <a:pPr marL="228600" indent="-228600" algn="l">
                  <a:buFont typeface="+mj-lt"/>
                  <a:buAutoNum type="arabicPeriod"/>
                </a:pPr>
                <a:r>
                  <a:rPr lang="en-ZA" b="0" dirty="0">
                    <a:solidFill>
                      <a:schemeClr val="tx1"/>
                    </a:solidFill>
                  </a:rPr>
                  <a:t>This expression can be rearranged by grouping the gate matrices and the state vectors:</a:t>
                </a:r>
                <a:br>
                  <a:rPr lang="en-ZA" b="0" dirty="0">
                    <a:solidFill>
                      <a:schemeClr val="tx1"/>
                    </a:solidFill>
                  </a:rPr>
                </a:br>
                <a:br>
                  <a:rPr lang="en-ZA" b="0" dirty="0">
                    <a:solidFill>
                      <a:schemeClr val="tx1"/>
                    </a:solidFill>
                  </a:rPr>
                </a:br>
                <a14:m>
                  <m:oMath xmlns:m="http://schemas.openxmlformats.org/officeDocument/2006/math">
                    <m:d>
                      <m:dPr>
                        <m:ctrlPr>
                          <a:rPr lang="sr-Latn-RS" sz="1200" i="1" smtClean="0">
                            <a:solidFill>
                              <a:schemeClr val="tx1"/>
                            </a:solidFill>
                            <a:latin typeface="Cambria Math" panose="02040503050406030204" pitchFamily="18" charset="0"/>
                          </a:rPr>
                        </m:ctrlPr>
                      </m:dPr>
                      <m:e>
                        <m:r>
                          <a:rPr lang="sr-Latn-RS" sz="1200" i="1">
                            <a:solidFill>
                              <a:schemeClr val="tx1"/>
                            </a:solidFill>
                            <a:latin typeface="Cambria Math" panose="02040503050406030204" pitchFamily="18" charset="0"/>
                          </a:rPr>
                          <m:t>𝐴</m:t>
                        </m:r>
                        <m:r>
                          <a:rPr lang="sr-Latn-RS" sz="1200" i="1">
                            <a:solidFill>
                              <a:schemeClr val="tx1"/>
                            </a:solidFill>
                            <a:latin typeface="Cambria Math" panose="02040503050406030204" pitchFamily="18" charset="0"/>
                          </a:rPr>
                          <m:t>⊗</m:t>
                        </m:r>
                        <m:r>
                          <a:rPr lang="sr-Latn-RS" sz="1200" i="1">
                            <a:solidFill>
                              <a:schemeClr val="tx1"/>
                            </a:solidFill>
                            <a:latin typeface="Cambria Math" panose="02040503050406030204" pitchFamily="18" charset="0"/>
                          </a:rPr>
                          <m:t>𝐵</m:t>
                        </m:r>
                        <m:r>
                          <a:rPr lang="sr-Latn-RS" sz="1200" i="1">
                            <a:solidFill>
                              <a:schemeClr val="tx1"/>
                            </a:solidFill>
                            <a:latin typeface="Cambria Math" panose="02040503050406030204" pitchFamily="18" charset="0"/>
                          </a:rPr>
                          <m:t>⊗</m:t>
                        </m:r>
                        <m:r>
                          <a:rPr lang="sr-Latn-RS" sz="1200" i="1">
                            <a:solidFill>
                              <a:schemeClr val="tx1"/>
                            </a:solidFill>
                            <a:latin typeface="Cambria Math" panose="02040503050406030204" pitchFamily="18" charset="0"/>
                          </a:rPr>
                          <m:t>𝐶</m:t>
                        </m:r>
                      </m:e>
                    </m:d>
                    <m:d>
                      <m:dPr>
                        <m:ctrlPr>
                          <a:rPr lang="sr-Latn-RS" sz="1200" b="0" i="1" smtClean="0">
                            <a:solidFill>
                              <a:schemeClr val="tx1"/>
                            </a:solidFill>
                            <a:latin typeface="Cambria Math" panose="02040503050406030204" pitchFamily="18" charset="0"/>
                          </a:rPr>
                        </m:ctrlPr>
                      </m:dPr>
                      <m:e>
                        <m:d>
                          <m:dPr>
                            <m:begChr m:val="|"/>
                            <m:endChr m:val="⟩"/>
                            <m:ctrlPr>
                              <a:rPr lang="en-ZA" sz="1200" i="1" smtClean="0">
                                <a:solidFill>
                                  <a:schemeClr val="tx1"/>
                                </a:solidFill>
                                <a:latin typeface="Cambria Math" panose="02040503050406030204" pitchFamily="18" charset="0"/>
                              </a:rPr>
                            </m:ctrlPr>
                          </m:dPr>
                          <m:e>
                            <m:r>
                              <a:rPr lang="sr-Latn-RS" sz="1200" i="1">
                                <a:solidFill>
                                  <a:schemeClr val="tx1"/>
                                </a:solidFill>
                                <a:latin typeface="Cambria Math" panose="02040503050406030204" pitchFamily="18" charset="0"/>
                              </a:rPr>
                              <m:t>𝑎</m:t>
                            </m:r>
                          </m:e>
                        </m:d>
                        <m:r>
                          <a:rPr lang="sr-Latn-RS" sz="1200" i="1">
                            <a:solidFill>
                              <a:schemeClr val="tx1"/>
                            </a:solidFill>
                            <a:latin typeface="Cambria Math" panose="02040503050406030204" pitchFamily="18" charset="0"/>
                          </a:rPr>
                          <m:t>⊗</m:t>
                        </m:r>
                        <m:d>
                          <m:dPr>
                            <m:begChr m:val="|"/>
                            <m:endChr m:val="⟩"/>
                            <m:ctrlPr>
                              <a:rPr lang="en-ZA" sz="1200" i="1">
                                <a:solidFill>
                                  <a:schemeClr val="tx1"/>
                                </a:solidFill>
                                <a:latin typeface="Cambria Math" panose="02040503050406030204" pitchFamily="18" charset="0"/>
                              </a:rPr>
                            </m:ctrlPr>
                          </m:dPr>
                          <m:e>
                            <m:r>
                              <a:rPr lang="sr-Latn-RS" sz="1200" i="1">
                                <a:solidFill>
                                  <a:schemeClr val="tx1"/>
                                </a:solidFill>
                                <a:latin typeface="Cambria Math" panose="02040503050406030204" pitchFamily="18" charset="0"/>
                              </a:rPr>
                              <m:t>𝑏</m:t>
                            </m:r>
                          </m:e>
                        </m:d>
                        <m:r>
                          <a:rPr lang="sr-Latn-RS" sz="1200" i="1">
                            <a:solidFill>
                              <a:schemeClr val="tx1"/>
                            </a:solidFill>
                            <a:latin typeface="Cambria Math" panose="02040503050406030204" pitchFamily="18" charset="0"/>
                          </a:rPr>
                          <m:t>⊗</m:t>
                        </m:r>
                        <m:d>
                          <m:dPr>
                            <m:begChr m:val="|"/>
                            <m:endChr m:val="⟩"/>
                            <m:ctrlPr>
                              <a:rPr lang="en-ZA" sz="1200" i="1">
                                <a:solidFill>
                                  <a:schemeClr val="tx1"/>
                                </a:solidFill>
                                <a:latin typeface="Cambria Math" panose="02040503050406030204" pitchFamily="18" charset="0"/>
                              </a:rPr>
                            </m:ctrlPr>
                          </m:dPr>
                          <m:e>
                            <m:r>
                              <a:rPr lang="sr-Latn-RS" sz="1200" i="1">
                                <a:solidFill>
                                  <a:schemeClr val="tx1"/>
                                </a:solidFill>
                                <a:latin typeface="Cambria Math" panose="02040503050406030204" pitchFamily="18" charset="0"/>
                              </a:rPr>
                              <m:t>𝑐</m:t>
                            </m:r>
                          </m:e>
                        </m:d>
                      </m:e>
                    </m:d>
                  </m:oMath>
                </a14:m>
                <a:br>
                  <a:rPr lang="en-US" sz="1200" b="0" dirty="0">
                    <a:solidFill>
                      <a:schemeClr val="tx1"/>
                    </a:solidFill>
                  </a:rPr>
                </a:br>
                <a:br>
                  <a:rPr lang="en-ZA" b="0" dirty="0">
                    <a:solidFill>
                      <a:schemeClr val="tx1"/>
                    </a:solidFill>
                  </a:rPr>
                </a:br>
                <a:r>
                  <a:rPr lang="en-ZA" b="0" dirty="0">
                    <a:solidFill>
                      <a:schemeClr val="tx1"/>
                    </a:solidFill>
                  </a:rPr>
                  <a:t>The Kronecker product between ket vectors is often omitted in Dirac notation, so the joint state can be written more simply as </a:t>
                </a:r>
                <a14:m>
                  <m:oMath xmlns:m="http://schemas.openxmlformats.org/officeDocument/2006/math">
                    <m:d>
                      <m:dPr>
                        <m:begChr m:val="|"/>
                        <m:endChr m:val="⟩"/>
                        <m:ctrlPr>
                          <a:rPr lang="en-ZA" sz="1200" i="1" smtClean="0">
                            <a:solidFill>
                              <a:schemeClr val="tx1"/>
                            </a:solidFill>
                            <a:latin typeface="Cambria Math" panose="02040503050406030204" pitchFamily="18" charset="0"/>
                          </a:rPr>
                        </m:ctrlPr>
                      </m:dPr>
                      <m:e>
                        <m:r>
                          <a:rPr lang="sr-Latn-RS" sz="1200" i="1">
                            <a:solidFill>
                              <a:schemeClr val="tx1"/>
                            </a:solidFill>
                            <a:latin typeface="Cambria Math" panose="02040503050406030204" pitchFamily="18" charset="0"/>
                          </a:rPr>
                          <m:t>𝑎</m:t>
                        </m:r>
                      </m:e>
                    </m:d>
                    <m:d>
                      <m:dPr>
                        <m:begChr m:val="|"/>
                        <m:endChr m:val="⟩"/>
                        <m:ctrlPr>
                          <a:rPr lang="en-ZA" sz="1200" i="1">
                            <a:solidFill>
                              <a:schemeClr val="tx1"/>
                            </a:solidFill>
                            <a:latin typeface="Cambria Math" panose="02040503050406030204" pitchFamily="18" charset="0"/>
                          </a:rPr>
                        </m:ctrlPr>
                      </m:dPr>
                      <m:e>
                        <m:r>
                          <a:rPr lang="sr-Latn-RS" sz="1200" i="1">
                            <a:solidFill>
                              <a:schemeClr val="tx1"/>
                            </a:solidFill>
                            <a:latin typeface="Cambria Math" panose="02040503050406030204" pitchFamily="18" charset="0"/>
                          </a:rPr>
                          <m:t>𝑏</m:t>
                        </m:r>
                      </m:e>
                    </m:d>
                    <m:d>
                      <m:dPr>
                        <m:begChr m:val="|"/>
                        <m:endChr m:val="⟩"/>
                        <m:ctrlPr>
                          <a:rPr lang="en-ZA" sz="1200" i="1">
                            <a:solidFill>
                              <a:schemeClr val="tx1"/>
                            </a:solidFill>
                            <a:latin typeface="Cambria Math" panose="02040503050406030204" pitchFamily="18" charset="0"/>
                          </a:rPr>
                        </m:ctrlPr>
                      </m:dPr>
                      <m:e>
                        <m:r>
                          <a:rPr lang="sr-Latn-RS" sz="1200" i="1">
                            <a:solidFill>
                              <a:schemeClr val="tx1"/>
                            </a:solidFill>
                            <a:latin typeface="Cambria Math" panose="02040503050406030204" pitchFamily="18" charset="0"/>
                          </a:rPr>
                          <m:t>𝑐</m:t>
                        </m:r>
                      </m:e>
                    </m:d>
                  </m:oMath>
                </a14:m>
                <a:r>
                  <a:rPr lang="en-ZA" b="0" dirty="0">
                    <a:solidFill>
                      <a:schemeClr val="tx1"/>
                    </a:solidFill>
                  </a:rPr>
                  <a:t> or </a:t>
                </a:r>
                <a14:m>
                  <m:oMath xmlns:m="http://schemas.openxmlformats.org/officeDocument/2006/math">
                    <m:d>
                      <m:dPr>
                        <m:begChr m:val="|"/>
                        <m:endChr m:val="⟩"/>
                        <m:ctrlPr>
                          <a:rPr lang="en-ZA" sz="1200" i="1" smtClean="0">
                            <a:solidFill>
                              <a:schemeClr val="tx1"/>
                            </a:solidFill>
                            <a:latin typeface="Cambria Math" panose="02040503050406030204" pitchFamily="18" charset="0"/>
                          </a:rPr>
                        </m:ctrlPr>
                      </m:dPr>
                      <m:e>
                        <m:r>
                          <a:rPr lang="sr-Latn-RS" sz="1200" i="1">
                            <a:solidFill>
                              <a:schemeClr val="tx1"/>
                            </a:solidFill>
                            <a:latin typeface="Cambria Math" panose="02040503050406030204" pitchFamily="18" charset="0"/>
                          </a:rPr>
                          <m:t>𝑎𝑏𝑐</m:t>
                        </m:r>
                      </m:e>
                    </m:d>
                  </m:oMath>
                </a14:m>
                <a:r>
                  <a:rPr lang="en-ZA" b="0" dirty="0">
                    <a:solidFill>
                      <a:schemeClr val="tx1"/>
                    </a:solidFill>
                  </a:rPr>
                  <a:t>. Therefore, the parallel configuration can be written as</a:t>
                </a:r>
                <a:br>
                  <a:rPr lang="en-ZA" b="0" dirty="0">
                    <a:solidFill>
                      <a:schemeClr val="tx1"/>
                    </a:solidFill>
                  </a:rPr>
                </a:br>
                <a:br>
                  <a:rPr lang="en-ZA" b="0" dirty="0">
                    <a:solidFill>
                      <a:schemeClr val="tx1"/>
                    </a:solidFill>
                  </a:rPr>
                </a:br>
                <a14:m>
                  <m:oMath xmlns:m="http://schemas.openxmlformats.org/officeDocument/2006/math">
                    <m:d>
                      <m:dPr>
                        <m:ctrlPr>
                          <a:rPr lang="sr-Latn-RS" sz="1200" i="1" smtClean="0">
                            <a:solidFill>
                              <a:schemeClr val="tx1"/>
                            </a:solidFill>
                            <a:latin typeface="Cambria Math" panose="02040503050406030204" pitchFamily="18" charset="0"/>
                          </a:rPr>
                        </m:ctrlPr>
                      </m:dPr>
                      <m:e>
                        <m:r>
                          <a:rPr lang="sr-Latn-RS" sz="1200" i="1">
                            <a:solidFill>
                              <a:schemeClr val="tx1"/>
                            </a:solidFill>
                            <a:latin typeface="Cambria Math" panose="02040503050406030204" pitchFamily="18" charset="0"/>
                          </a:rPr>
                          <m:t>𝐴</m:t>
                        </m:r>
                        <m:r>
                          <a:rPr lang="sr-Latn-RS" sz="1200" i="1">
                            <a:solidFill>
                              <a:schemeClr val="tx1"/>
                            </a:solidFill>
                            <a:latin typeface="Cambria Math" panose="02040503050406030204" pitchFamily="18" charset="0"/>
                          </a:rPr>
                          <m:t>⊗</m:t>
                        </m:r>
                        <m:r>
                          <a:rPr lang="sr-Latn-RS" sz="1200" i="1">
                            <a:solidFill>
                              <a:schemeClr val="tx1"/>
                            </a:solidFill>
                            <a:latin typeface="Cambria Math" panose="02040503050406030204" pitchFamily="18" charset="0"/>
                          </a:rPr>
                          <m:t>𝐵</m:t>
                        </m:r>
                        <m:r>
                          <a:rPr lang="sr-Latn-RS" sz="1200" i="1">
                            <a:solidFill>
                              <a:schemeClr val="tx1"/>
                            </a:solidFill>
                            <a:latin typeface="Cambria Math" panose="02040503050406030204" pitchFamily="18" charset="0"/>
                          </a:rPr>
                          <m:t>⊗</m:t>
                        </m:r>
                        <m:r>
                          <a:rPr lang="sr-Latn-RS" sz="1200" i="1">
                            <a:solidFill>
                              <a:schemeClr val="tx1"/>
                            </a:solidFill>
                            <a:latin typeface="Cambria Math" panose="02040503050406030204" pitchFamily="18" charset="0"/>
                          </a:rPr>
                          <m:t>𝐶</m:t>
                        </m:r>
                      </m:e>
                    </m:d>
                    <m:d>
                      <m:dPr>
                        <m:begChr m:val="|"/>
                        <m:endChr m:val="⟩"/>
                        <m:ctrlPr>
                          <a:rPr lang="en-ZA" sz="1200" i="1" smtClean="0">
                            <a:solidFill>
                              <a:schemeClr val="tx1"/>
                            </a:solidFill>
                            <a:latin typeface="Cambria Math" panose="02040503050406030204" pitchFamily="18" charset="0"/>
                          </a:rPr>
                        </m:ctrlPr>
                      </m:dPr>
                      <m:e>
                        <m:r>
                          <a:rPr lang="sr-Latn-RS" sz="1200" i="1">
                            <a:solidFill>
                              <a:schemeClr val="tx1"/>
                            </a:solidFill>
                            <a:latin typeface="Cambria Math" panose="02040503050406030204" pitchFamily="18" charset="0"/>
                          </a:rPr>
                          <m:t>𝑎𝑏𝑐</m:t>
                        </m:r>
                      </m:e>
                    </m:d>
                  </m:oMath>
                </a14:m>
                <a:endParaRPr lang="en-ZA" b="0" dirty="0">
                  <a:solidFill>
                    <a:schemeClr val="tx1"/>
                  </a:solidFill>
                </a:endParaRP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sz="1200" kern="1200" dirty="0">
                    <a:solidFill>
                      <a:schemeClr val="tx1"/>
                    </a:solidFill>
                    <a:effectLst/>
                    <a:latin typeface="+mn-lt"/>
                    <a:ea typeface="+mn-ea"/>
                    <a:cs typeface="+mn-cs"/>
                  </a:rPr>
                  <a:t>U slučaju paralelne konfiguracije sa slike u sredini, na svaki od kubita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𝑎⟩</a:t>
                </a:r>
                <a:r>
                  <a:rPr lang="sr-Latn-RS" sz="1200" kern="1200" dirty="0">
                    <a:solidFill>
                      <a:schemeClr val="tx1"/>
                    </a:solidFill>
                    <a:effectLst/>
                    <a:latin typeface="+mn-lt"/>
                    <a:ea typeface="+mn-ea"/>
                    <a:cs typeface="+mn-cs"/>
                  </a:rPr>
                  <a:t>,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𝑏⟩</a:t>
                </a:r>
                <a:r>
                  <a:rPr lang="sr-Latn-RS" sz="1200" kern="1200" dirty="0">
                    <a:solidFill>
                      <a:schemeClr val="tx1"/>
                    </a:solidFill>
                    <a:effectLst/>
                    <a:latin typeface="+mn-lt"/>
                    <a:ea typeface="+mn-ea"/>
                    <a:cs typeface="+mn-cs"/>
                  </a:rPr>
                  <a:t> i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𝑐⟩</a:t>
                </a:r>
                <a:r>
                  <a:rPr lang="sr-Latn-RS" sz="1200" kern="1200" dirty="0">
                    <a:solidFill>
                      <a:schemeClr val="tx1"/>
                    </a:solidFill>
                    <a:effectLst/>
                    <a:latin typeface="+mn-lt"/>
                    <a:ea typeface="+mn-ea"/>
                    <a:cs typeface="+mn-cs"/>
                  </a:rPr>
                  <a:t> u paraleli deluju operatori </a:t>
                </a:r>
                <a:r>
                  <a:rPr lang="sr-Latn-RS" sz="1200" i="0" kern="1200">
                    <a:solidFill>
                      <a:schemeClr val="tx1"/>
                    </a:solidFill>
                    <a:effectLst/>
                    <a:latin typeface="+mn-lt"/>
                    <a:ea typeface="+mn-ea"/>
                    <a:cs typeface="+mn-cs"/>
                  </a:rPr>
                  <a:t>𝐴</a:t>
                </a:r>
                <a:r>
                  <a:rPr lang="sr-Latn-RS" sz="1200" kern="1200" dirty="0">
                    <a:solidFill>
                      <a:schemeClr val="tx1"/>
                    </a:solidFill>
                    <a:effectLst/>
                    <a:latin typeface="+mn-lt"/>
                    <a:ea typeface="+mn-ea"/>
                    <a:cs typeface="+mn-cs"/>
                  </a:rPr>
                  <a:t>, </a:t>
                </a:r>
                <a:r>
                  <a:rPr lang="sr-Latn-RS" sz="1200" i="0" kern="1200">
                    <a:solidFill>
                      <a:schemeClr val="tx1"/>
                    </a:solidFill>
                    <a:effectLst/>
                    <a:latin typeface="+mn-lt"/>
                    <a:ea typeface="+mn-ea"/>
                    <a:cs typeface="+mn-cs"/>
                  </a:rPr>
                  <a:t>𝐵</a:t>
                </a:r>
                <a:r>
                  <a:rPr lang="sr-Latn-RS" sz="1200" kern="1200" dirty="0">
                    <a:solidFill>
                      <a:schemeClr val="tx1"/>
                    </a:solidFill>
                    <a:effectLst/>
                    <a:latin typeface="+mn-lt"/>
                    <a:ea typeface="+mn-ea"/>
                    <a:cs typeface="+mn-cs"/>
                  </a:rPr>
                  <a:t> i</a:t>
                </a:r>
                <a:r>
                  <a:rPr lang="sr-Latn-RS" sz="1200" i="0" kern="1200">
                    <a:solidFill>
                      <a:schemeClr val="tx1"/>
                    </a:solidFill>
                    <a:effectLst/>
                    <a:latin typeface="+mn-lt"/>
                    <a:ea typeface="+mn-ea"/>
                    <a:cs typeface="+mn-cs"/>
                  </a:rPr>
                  <a:t> 𝐶</a:t>
                </a:r>
                <a:r>
                  <a:rPr lang="sr-Latn-RS" sz="1200" kern="1200" dirty="0">
                    <a:solidFill>
                      <a:schemeClr val="tx1"/>
                    </a:solidFill>
                    <a:effectLst/>
                    <a:latin typeface="+mn-lt"/>
                    <a:ea typeface="+mn-ea"/>
                    <a:cs typeface="+mn-cs"/>
                  </a:rPr>
                  <a:t>. Vektori stanja svakog od kubita posle delovanja operatora su </a:t>
                </a:r>
                <a:r>
                  <a:rPr lang="sr-Latn-RS" sz="1200" i="0" kern="1200">
                    <a:solidFill>
                      <a:schemeClr val="tx1"/>
                    </a:solidFill>
                    <a:effectLst/>
                    <a:latin typeface="+mn-lt"/>
                    <a:ea typeface="+mn-ea"/>
                    <a:cs typeface="+mn-cs"/>
                  </a:rPr>
                  <a:t>𝐴</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𝑎⟩,  𝐵</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𝑏⟩</a:t>
                </a:r>
                <a:r>
                  <a:rPr lang="sr-Latn-RS" sz="1200" kern="1200" dirty="0">
                    <a:solidFill>
                      <a:schemeClr val="tx1"/>
                    </a:solidFill>
                    <a:effectLst/>
                    <a:latin typeface="+mn-lt"/>
                    <a:ea typeface="+mn-ea"/>
                    <a:cs typeface="+mn-cs"/>
                  </a:rPr>
                  <a:t> i </a:t>
                </a:r>
                <a:r>
                  <a:rPr lang="sr-Latn-RS" sz="1200" i="0" kern="1200">
                    <a:solidFill>
                      <a:schemeClr val="tx1"/>
                    </a:solidFill>
                    <a:effectLst/>
                    <a:latin typeface="+mn-lt"/>
                    <a:ea typeface="+mn-ea"/>
                    <a:cs typeface="+mn-cs"/>
                  </a:rPr>
                  <a:t>𝐶</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𝑐⟩</a:t>
                </a:r>
                <a:r>
                  <a:rPr lang="sr-Latn-RS" sz="1200" kern="1200" dirty="0">
                    <a:solidFill>
                      <a:schemeClr val="tx1"/>
                    </a:solidFill>
                    <a:effectLst/>
                    <a:latin typeface="+mn-lt"/>
                    <a:ea typeface="+mn-ea"/>
                    <a:cs typeface="+mn-cs"/>
                  </a:rPr>
                  <a:t>. Kako se kombinovano stanje više kubita opisuje Kronekerovim proizvodom, dobijamo da se</a:t>
                </a:r>
                <a:r>
                  <a:rPr lang="sr-Latn-RS" sz="1200" kern="1200" baseline="0" dirty="0">
                    <a:solidFill>
                      <a:schemeClr val="tx1"/>
                    </a:solidFill>
                    <a:effectLst/>
                    <a:latin typeface="+mn-lt"/>
                    <a:ea typeface="+mn-ea"/>
                    <a:cs typeface="+mn-cs"/>
                  </a:rPr>
                  <a:t> ukupan efekat elementarnih kola koja deluju u paraleli može izraziti </a:t>
                </a:r>
                <a:r>
                  <a:rPr lang="sr-Latn-RS" sz="1200" kern="1200" baseline="0" dirty="0" err="1">
                    <a:solidFill>
                      <a:schemeClr val="tx1"/>
                    </a:solidFill>
                    <a:effectLst/>
                    <a:latin typeface="+mn-lt"/>
                    <a:ea typeface="+mn-ea"/>
                    <a:cs typeface="+mn-cs"/>
                  </a:rPr>
                  <a:t>kronekerovim</a:t>
                </a:r>
                <a:r>
                  <a:rPr lang="sr-Latn-RS" sz="1200" kern="1200" baseline="0" dirty="0">
                    <a:solidFill>
                      <a:schemeClr val="tx1"/>
                    </a:solidFill>
                    <a:effectLst/>
                    <a:latin typeface="+mn-lt"/>
                    <a:ea typeface="+mn-ea"/>
                    <a:cs typeface="+mn-cs"/>
                  </a:rPr>
                  <a:t> proizvodom njihovih operatora koji deluju na </a:t>
                </a:r>
                <a:r>
                  <a:rPr lang="sr-Latn-RS" sz="1200" kern="1200" baseline="0" dirty="0" err="1">
                    <a:solidFill>
                      <a:schemeClr val="tx1"/>
                    </a:solidFill>
                    <a:effectLst/>
                    <a:latin typeface="+mn-lt"/>
                    <a:ea typeface="+mn-ea"/>
                    <a:cs typeface="+mn-cs"/>
                  </a:rPr>
                  <a:t>Kronekerov</a:t>
                </a:r>
                <a:r>
                  <a:rPr lang="sr-Latn-RS" sz="1200" kern="1200" baseline="0" dirty="0">
                    <a:solidFill>
                      <a:schemeClr val="tx1"/>
                    </a:solidFill>
                    <a:effectLst/>
                    <a:latin typeface="+mn-lt"/>
                    <a:ea typeface="+mn-ea"/>
                    <a:cs typeface="+mn-cs"/>
                  </a:rPr>
                  <a:t> proizvod kubita. (setimo se da se znak za </a:t>
                </a:r>
                <a:r>
                  <a:rPr lang="sr-Latn-RS" sz="1200" kern="1200" baseline="0" dirty="0" err="1">
                    <a:solidFill>
                      <a:schemeClr val="tx1"/>
                    </a:solidFill>
                    <a:effectLst/>
                    <a:latin typeface="+mn-lt"/>
                    <a:ea typeface="+mn-ea"/>
                    <a:cs typeface="+mn-cs"/>
                  </a:rPr>
                  <a:t>Koronekerov</a:t>
                </a:r>
                <a:r>
                  <a:rPr lang="sr-Latn-RS" sz="1200" kern="1200" baseline="0" dirty="0">
                    <a:solidFill>
                      <a:schemeClr val="tx1"/>
                    </a:solidFill>
                    <a:effectLst/>
                    <a:latin typeface="+mn-lt"/>
                    <a:ea typeface="+mn-ea"/>
                    <a:cs typeface="+mn-cs"/>
                  </a:rPr>
                  <a:t> proizvod ket vektora podrazumeva u </a:t>
                </a:r>
                <a:r>
                  <a:rPr lang="sr-Latn-RS" sz="1200" kern="1200" baseline="0" dirty="0" err="1">
                    <a:solidFill>
                      <a:schemeClr val="tx1"/>
                    </a:solidFill>
                    <a:effectLst/>
                    <a:latin typeface="+mn-lt"/>
                    <a:ea typeface="+mn-ea"/>
                    <a:cs typeface="+mn-cs"/>
                  </a:rPr>
                  <a:t>Dirakovoj</a:t>
                </a:r>
                <a:r>
                  <a:rPr lang="sr-Latn-RS" sz="1200" kern="1200" baseline="0" dirty="0">
                    <a:solidFill>
                      <a:schemeClr val="tx1"/>
                    </a:solidFill>
                    <a:effectLst/>
                    <a:latin typeface="+mn-lt"/>
                    <a:ea typeface="+mn-ea"/>
                    <a:cs typeface="+mn-cs"/>
                  </a:rPr>
                  <a:t> notaciji.)</a:t>
                </a:r>
                <a:endParaRPr lang="en-ZA" sz="1200" kern="1200" dirty="0">
                  <a:solidFill>
                    <a:schemeClr val="tx1"/>
                  </a:solidFill>
                  <a:effectLst/>
                  <a:latin typeface="+mn-lt"/>
                  <a:ea typeface="+mn-ea"/>
                  <a:cs typeface="+mn-cs"/>
                </a:endParaRPr>
              </a:p>
              <a:p>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35</a:t>
            </a:fld>
            <a:endParaRPr lang="en-US"/>
          </a:p>
        </p:txBody>
      </p:sp>
    </p:spTree>
    <p:extLst>
      <p:ext uri="{BB962C8B-B14F-4D97-AF65-F5344CB8AC3E}">
        <p14:creationId xmlns:p14="http://schemas.microsoft.com/office/powerpoint/2010/main" val="16423002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In a quantum circuit, some qubits may pass through gates while others remain unchanged during the same time slot. To keep the mathematical representation consistent, the identity operator </a:t>
                </a:r>
                <a:r>
                  <a:rPr lang="en-US" sz="1200" i="1" dirty="0">
                    <a:solidFill>
                      <a:schemeClr val="tx1"/>
                    </a:solidFill>
                    <a:latin typeface="Times" pitchFamily="2" charset="0"/>
                  </a:rPr>
                  <a:t>I</a:t>
                </a:r>
                <a:r>
                  <a:rPr lang="en-ZA" b="0" dirty="0"/>
                  <a:t> is applied to qubits in the same circuit layer that do not have another gate applied to them. The identity does not change the qubit state; it simply keeps the tensor-product representation complete.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algn="just"/>
                <a:r>
                  <a:rPr lang="en-ZA" b="0" dirty="0"/>
                  <a:t>In this diagram, the output state is </a:t>
                </a:r>
                <a14:m>
                  <m:oMath xmlns:m="http://schemas.openxmlformats.org/officeDocument/2006/math">
                    <m:d>
                      <m:dPr>
                        <m:ctrlPr>
                          <a:rPr lang="sr-Latn-RS" sz="1200" b="0" i="1" smtClean="0">
                            <a:latin typeface="Cambria Math" panose="02040503050406030204" pitchFamily="18" charset="0"/>
                          </a:rPr>
                        </m:ctrlPr>
                      </m:dPr>
                      <m:e>
                        <m:r>
                          <a:rPr lang="sr-Latn-RS" sz="1200" b="0" i="1" smtClean="0">
                            <a:latin typeface="Cambria Math" panose="02040503050406030204" pitchFamily="18" charset="0"/>
                          </a:rPr>
                          <m:t>𝐴</m:t>
                        </m:r>
                        <m:r>
                          <a:rPr lang="en-US" sz="1200">
                            <a:latin typeface="Cambria Math" panose="02040503050406030204" pitchFamily="18" charset="0"/>
                          </a:rPr>
                          <m:t>⊗</m:t>
                        </m:r>
                        <m:r>
                          <a:rPr lang="sr-Latn-RS" sz="1200" b="0" i="1" smtClean="0">
                            <a:latin typeface="Cambria Math" panose="02040503050406030204" pitchFamily="18" charset="0"/>
                          </a:rPr>
                          <m:t>𝐼</m:t>
                        </m:r>
                      </m:e>
                    </m:d>
                    <m:r>
                      <a:rPr lang="sr-Latn-RS" sz="1200" b="0" i="0" smtClean="0">
                        <a:latin typeface="Cambria Math" panose="02040503050406030204" pitchFamily="18" charset="0"/>
                      </a:rPr>
                      <m:t> </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r>
                          <a:rPr lang="sr-Latn-RS" sz="1200" b="0" i="1" smtClean="0">
                            <a:latin typeface="Cambria Math" panose="02040503050406030204" pitchFamily="18" charset="0"/>
                          </a:rPr>
                          <m:t>𝑏</m:t>
                        </m:r>
                      </m:e>
                    </m:d>
                  </m:oMath>
                </a14:m>
                <a:r>
                  <a:rPr lang="en-ZA" b="0" dirty="0"/>
                  <a:t>. Gate </a:t>
                </a:r>
                <a14:m>
                  <m:oMath xmlns:m="http://schemas.openxmlformats.org/officeDocument/2006/math">
                    <m:r>
                      <a:rPr lang="sr-Latn-RS" sz="1200" b="0" i="1" smtClean="0">
                        <a:latin typeface="Cambria Math" panose="02040503050406030204" pitchFamily="18" charset="0"/>
                      </a:rPr>
                      <m:t>𝐴</m:t>
                    </m:r>
                  </m:oMath>
                </a14:m>
                <a:r>
                  <a:rPr lang="en-ZA" b="0" dirty="0"/>
                  <a:t> acts on the first qubit, while the identity </a:t>
                </a:r>
                <a14:m>
                  <m:oMath xmlns:m="http://schemas.openxmlformats.org/officeDocument/2006/math">
                    <m:r>
                      <a:rPr lang="en-US" sz="1200" b="0" i="1" smtClean="0">
                        <a:latin typeface="Cambria Math" panose="02040503050406030204" pitchFamily="18" charset="0"/>
                      </a:rPr>
                      <m:t>𝐼</m:t>
                    </m:r>
                  </m:oMath>
                </a14:m>
                <a:r>
                  <a:rPr lang="en-ZA" b="0" dirty="0"/>
                  <a:t> leaves the second qubit unchanged. This allows the entire circuit layer to be represented by a single operator: </a:t>
                </a:r>
                <a14:m>
                  <m:oMath xmlns:m="http://schemas.openxmlformats.org/officeDocument/2006/math">
                    <m:r>
                      <a:rPr lang="sr-Latn-RS" sz="1200" b="0" i="1" smtClean="0">
                        <a:latin typeface="Cambria Math" panose="02040503050406030204" pitchFamily="18" charset="0"/>
                      </a:rPr>
                      <m:t>𝐴</m:t>
                    </m:r>
                    <m:r>
                      <a:rPr lang="en-US" sz="1200">
                        <a:latin typeface="Cambria Math" panose="02040503050406030204" pitchFamily="18" charset="0"/>
                      </a:rPr>
                      <m:t>⊗</m:t>
                    </m:r>
                    <m:r>
                      <a:rPr lang="sr-Latn-RS" sz="1200" b="0" i="1" smtClean="0">
                        <a:latin typeface="Cambria Math" panose="02040503050406030204" pitchFamily="18" charset="0"/>
                      </a:rPr>
                      <m:t>𝐼</m:t>
                    </m:r>
                  </m:oMath>
                </a14:m>
                <a:endParaRPr lang="en-ZA" b="0" dirty="0"/>
              </a:p>
            </p:txBody>
          </p:sp>
        </mc:Choice>
        <mc:Fallback xmlns="">
          <p:sp>
            <p:nvSpPr>
              <p:cNvPr id="3" name="Notes Placeholder 2"/>
              <p:cNvSpPr>
                <a:spLocks noGrp="1"/>
              </p:cNvSpPr>
              <p:nvPr>
                <p:ph type="body" idx="1"/>
              </p:nvPr>
            </p:nvSpPr>
            <p:spPr/>
            <p:txBody>
              <a:bodyPr/>
              <a:lstStyle/>
              <a:p>
                <a:pPr algn="just"/>
                <a:r>
                  <a:rPr lang="en-ZA" dirty="0"/>
                  <a:t>In real quantum circuits,</a:t>
                </a:r>
                <a:r>
                  <a:rPr lang="en-ZA" b="0" dirty="0"/>
                  <a:t>, some qubits may pass through gates, while others remain unchanged. To keep the mathematical formalism consistent, </a:t>
                </a:r>
                <a:r>
                  <a:rPr lang="en-ZA" dirty="0"/>
                  <a:t>we use the </a:t>
                </a:r>
                <a:r>
                  <a:rPr lang="en-ZA" b="1" dirty="0"/>
                  <a:t>identity operator</a:t>
                </a:r>
                <a:r>
                  <a:rPr lang="en-ZA" dirty="0"/>
                  <a:t> on qubits that</a:t>
                </a:r>
                <a:r>
                  <a:rPr lang="en-ZA" b="0" dirty="0"/>
                  <a:t> do not interact with gates. </a:t>
                </a:r>
                <a:r>
                  <a:rPr lang="en-ZA" dirty="0"/>
                  <a:t>The identity doesn’t change the qubit’s state, it just makes sure our tensor product notation stays correct.</a:t>
                </a:r>
                <a:endParaRPr lang="en-ZA" b="0" dirty="0"/>
              </a:p>
              <a:p>
                <a:pPr algn="just"/>
                <a:endParaRPr lang="en-ZA" b="0" dirty="0"/>
              </a:p>
              <a:p>
                <a:pPr algn="just"/>
                <a:r>
                  <a:rPr lang="en-ZA" b="0" dirty="0"/>
                  <a:t>In this diagram, the output state is written as </a:t>
                </a:r>
                <a:r>
                  <a:rPr lang="sr-Latn-RS" sz="1200" b="0" i="0">
                    <a:latin typeface="Cambria Math" panose="02040503050406030204" pitchFamily="18" charset="0"/>
                  </a:rPr>
                  <a:t>(𝐴</a:t>
                </a:r>
                <a:r>
                  <a:rPr lang="en-US" sz="1200" i="0">
                    <a:latin typeface="Cambria Math" panose="02040503050406030204" pitchFamily="18" charset="0"/>
                  </a:rPr>
                  <a:t>⊗</a:t>
                </a:r>
                <a:r>
                  <a:rPr lang="sr-Latn-RS" sz="1200" b="0" i="0">
                    <a:latin typeface="Cambria Math" panose="02040503050406030204" pitchFamily="18" charset="0"/>
                  </a:rPr>
                  <a:t>𝐼)  </a:t>
                </a:r>
                <a:r>
                  <a:rPr lang="en-US" sz="1200" i="0">
                    <a:latin typeface="Cambria Math" panose="02040503050406030204" pitchFamily="18" charset="0"/>
                  </a:rPr>
                  <a:t>|𝑎</a:t>
                </a:r>
                <a:r>
                  <a:rPr lang="sr-Latn-RS" sz="1200" b="0" i="0">
                    <a:latin typeface="Cambria Math" panose="02040503050406030204" pitchFamily="18" charset="0"/>
                  </a:rPr>
                  <a:t>𝑏⟩</a:t>
                </a:r>
                <a:r>
                  <a:rPr lang="en-ZA" b="0" dirty="0"/>
                  <a:t>. </a:t>
                </a:r>
                <a:r>
                  <a:rPr lang="en-ZA" dirty="0"/>
                  <a:t>Gate A changes the first qubit, while the identity </a:t>
                </a:r>
                <a:r>
                  <a:rPr lang="sr-Latn-RS" sz="1200" b="0" i="0">
                    <a:latin typeface="Cambria Math" panose="02040503050406030204" pitchFamily="18" charset="0"/>
                  </a:rPr>
                  <a:t>𝐼</a:t>
                </a:r>
                <a:r>
                  <a:rPr lang="en-ZA" dirty="0"/>
                  <a:t> keeps the second qubit the same, so the whole expression still fits the proper tensor product form.</a:t>
                </a:r>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36</a:t>
            </a:fld>
            <a:endParaRPr lang="en-US"/>
          </a:p>
        </p:txBody>
      </p:sp>
    </p:spTree>
    <p:extLst>
      <p:ext uri="{BB962C8B-B14F-4D97-AF65-F5344CB8AC3E}">
        <p14:creationId xmlns:p14="http://schemas.microsoft.com/office/powerpoint/2010/main" val="17618392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When a quantum circuit contains gates arranged both sequentially and in parallel, its overall transformation is found using matrix multiplication for gates in sequence and the Kronecker product for gates acting in parallel.</a:t>
                </a:r>
              </a:p>
              <a:p>
                <a:endParaRPr lang="en-ZA" b="0" dirty="0"/>
              </a:p>
              <a:p>
                <a:r>
                  <a:rPr lang="en-ZA" b="0" dirty="0"/>
                  <a:t>In this example:</a:t>
                </a:r>
              </a:p>
              <a:p>
                <a:pPr marL="171450" indent="-171450">
                  <a:buFont typeface="Arial" panose="020B0604020202020204" pitchFamily="34" charset="0"/>
                  <a:buChar char="•"/>
                </a:pPr>
                <a:r>
                  <a:rPr lang="en-ZA" b="0" dirty="0"/>
                  <a:t>Qubit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𝑎</m:t>
                        </m:r>
                      </m:e>
                    </m:d>
                  </m:oMath>
                </a14:m>
                <a:r>
                  <a:rPr lang="en-ZA" b="0" dirty="0"/>
                  <a:t> passes through gate </a:t>
                </a:r>
                <a14:m>
                  <m:oMath xmlns:m="http://schemas.openxmlformats.org/officeDocument/2006/math">
                    <m:r>
                      <a:rPr lang="en-US" sz="1200" b="0" i="1" smtClean="0">
                        <a:latin typeface="Cambria Math" panose="02040503050406030204" pitchFamily="18" charset="0"/>
                      </a:rPr>
                      <m:t>𝐴</m:t>
                    </m:r>
                  </m:oMath>
                </a14:m>
                <a:r>
                  <a:rPr lang="en-ZA" b="0" dirty="0"/>
                  <a:t> and then gate </a:t>
                </a:r>
                <a14:m>
                  <m:oMath xmlns:m="http://schemas.openxmlformats.org/officeDocument/2006/math">
                    <m:r>
                      <a:rPr lang="en-US" sz="1200" b="0" i="1" smtClean="0">
                        <a:latin typeface="Cambria Math" panose="02040503050406030204" pitchFamily="18" charset="0"/>
                      </a:rPr>
                      <m:t>𝐵</m:t>
                    </m:r>
                  </m:oMath>
                </a14:m>
                <a:r>
                  <a:rPr lang="en-ZA" b="0" dirty="0"/>
                  <a:t>, so its transformation is </a:t>
                </a:r>
                <a14:m>
                  <m:oMath xmlns:m="http://schemas.openxmlformats.org/officeDocument/2006/math">
                    <m:r>
                      <a:rPr lang="sr-Latn-RS" sz="1200" b="0" i="1" smtClean="0">
                        <a:latin typeface="Cambria Math" panose="02040503050406030204" pitchFamily="18" charset="0"/>
                      </a:rPr>
                      <m:t>𝐵𝐴</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oMath>
                </a14:m>
                <a:r>
                  <a:rPr lang="en-ZA" b="0" dirty="0"/>
                  <a:t>.</a:t>
                </a:r>
              </a:p>
              <a:p>
                <a:pPr marL="171450" indent="-171450">
                  <a:buFont typeface="Arial" panose="020B0604020202020204" pitchFamily="34" charset="0"/>
                  <a:buChar char="•"/>
                </a:pPr>
                <a:r>
                  <a:rPr lang="en-ZA" b="0" dirty="0"/>
                  <a:t>Qubit </a:t>
                </a:r>
                <a14:m>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𝑏</m:t>
                        </m:r>
                      </m:e>
                    </m:d>
                  </m:oMath>
                </a14:m>
                <a:r>
                  <a:rPr lang="en-ZA" b="0" dirty="0"/>
                  <a:t> passes through gate </a:t>
                </a:r>
                <a14:m>
                  <m:oMath xmlns:m="http://schemas.openxmlformats.org/officeDocument/2006/math">
                    <m:r>
                      <a:rPr lang="en-US" sz="1200" i="1" smtClean="0">
                        <a:latin typeface="Cambria Math" panose="02040503050406030204" pitchFamily="18" charset="0"/>
                      </a:rPr>
                      <m:t>𝑋</m:t>
                    </m:r>
                  </m:oMath>
                </a14:m>
                <a:r>
                  <a:rPr lang="en-ZA" b="0" dirty="0"/>
                  <a:t>, so its transformation is </a:t>
                </a:r>
                <a14:m>
                  <m:oMath xmlns:m="http://schemas.openxmlformats.org/officeDocument/2006/math">
                    <m:r>
                      <a:rPr lang="en-US" sz="1200" b="0" i="1" smtClean="0">
                        <a:latin typeface="Cambria Math" panose="02040503050406030204" pitchFamily="18" charset="0"/>
                      </a:rPr>
                      <m:t>𝑋</m:t>
                    </m:r>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𝑏</m:t>
                        </m:r>
                      </m:e>
                    </m:d>
                  </m:oMath>
                </a14:m>
                <a:r>
                  <a:rPr lang="en-ZA" b="0" dirty="0"/>
                  <a:t>.</a:t>
                </a:r>
              </a:p>
              <a:p>
                <a:pPr marL="171450" indent="-171450">
                  <a:buFont typeface="Arial" panose="020B0604020202020204" pitchFamily="34" charset="0"/>
                  <a:buChar char="•"/>
                </a:pPr>
                <a:r>
                  <a:rPr lang="en-ZA" b="0" dirty="0"/>
                  <a:t>The overall operator is obtained by taking the Kronecker product of the operators </a:t>
                </a:r>
                <a14:m>
                  <m:oMath xmlns:m="http://schemas.openxmlformats.org/officeDocument/2006/math">
                    <m:r>
                      <a:rPr lang="en-US" sz="1200" b="0" i="1" smtClean="0">
                        <a:latin typeface="Cambria Math" panose="02040503050406030204" pitchFamily="18" charset="0"/>
                      </a:rPr>
                      <m:t>𝐵𝐴</m:t>
                    </m:r>
                  </m:oMath>
                </a14:m>
                <a:r>
                  <a:rPr lang="en-ZA" b="0" dirty="0"/>
                  <a:t> and </a:t>
                </a:r>
                <a14:m>
                  <m:oMath xmlns:m="http://schemas.openxmlformats.org/officeDocument/2006/math">
                    <m:r>
                      <a:rPr lang="en-US" sz="1200" b="0" i="1" smtClean="0">
                        <a:latin typeface="Cambria Math" panose="02040503050406030204" pitchFamily="18" charset="0"/>
                      </a:rPr>
                      <m:t>𝑋</m:t>
                    </m:r>
                  </m:oMath>
                </a14:m>
                <a:r>
                  <a:rPr lang="en-ZA" b="0" dirty="0"/>
                  <a:t>: </a:t>
                </a:r>
                <a14:m>
                  <m:oMath xmlns:m="http://schemas.openxmlformats.org/officeDocument/2006/math">
                    <m:r>
                      <a:rPr lang="en-US" sz="1200" i="1" smtClean="0">
                        <a:latin typeface="Cambria Math" panose="02040503050406030204" pitchFamily="18" charset="0"/>
                      </a:rPr>
                      <m:t>𝐵𝐴</m:t>
                    </m:r>
                    <m:r>
                      <a:rPr lang="en-US" sz="1200">
                        <a:latin typeface="Cambria Math" panose="02040503050406030204" pitchFamily="18" charset="0"/>
                      </a:rPr>
                      <m:t>⊗</m:t>
                    </m:r>
                    <m:r>
                      <m:rPr>
                        <m:sty m:val="p"/>
                      </m:rPr>
                      <a:rPr lang="en-US" sz="1200" b="0" i="0" smtClean="0">
                        <a:latin typeface="Cambria Math" panose="02040503050406030204" pitchFamily="18" charset="0"/>
                      </a:rPr>
                      <m:t>X</m:t>
                    </m:r>
                  </m:oMath>
                </a14:m>
                <a:endParaRPr lang="en-ZA"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Applying this operator to the initial two-qubit state ∣ab⟩ gives the final state: </a:t>
                </a:r>
                <a14:m>
                  <m:oMath xmlns:m="http://schemas.openxmlformats.org/officeDocument/2006/math">
                    <m:r>
                      <a:rPr lang="en-US" sz="1200" smtClean="0">
                        <a:latin typeface="Cambria Math" panose="02040503050406030204" pitchFamily="18" charset="0"/>
                      </a:rPr>
                      <m:t>(</m:t>
                    </m:r>
                    <m:r>
                      <a:rPr lang="en-US" sz="1200" i="1">
                        <a:latin typeface="Cambria Math" panose="02040503050406030204" pitchFamily="18" charset="0"/>
                      </a:rPr>
                      <m:t>𝐵𝐴</m:t>
                    </m:r>
                    <m:r>
                      <a:rPr lang="en-US" sz="1200">
                        <a:latin typeface="Cambria Math" panose="02040503050406030204" pitchFamily="18" charset="0"/>
                      </a:rPr>
                      <m:t>⊗</m:t>
                    </m:r>
                    <m:r>
                      <m:rPr>
                        <m:sty m:val="p"/>
                      </m:rPr>
                      <a:rPr lang="en-US" sz="1200" b="0" i="0" smtClean="0">
                        <a:latin typeface="Cambria Math" panose="02040503050406030204" pitchFamily="18" charset="0"/>
                      </a:rPr>
                      <m:t>X</m:t>
                    </m:r>
                    <m:r>
                      <a:rPr lang="en-US" sz="120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r>
                          <a:rPr lang="sr-Latn-RS" sz="1200" b="0" i="1" smtClean="0">
                            <a:latin typeface="Cambria Math" panose="02040503050406030204" pitchFamily="18" charset="0"/>
                          </a:rPr>
                          <m:t>𝑏</m:t>
                        </m:r>
                      </m:e>
                    </m:d>
                  </m:oMath>
                </a14:m>
                <a:endParaRPr lang="en-US" sz="1200" dirty="0"/>
              </a:p>
            </p:txBody>
          </p:sp>
        </mc:Choice>
        <mc:Fallback xmlns="">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sr-Latn-RS" sz="1200" kern="1200" dirty="0">
                    <a:solidFill>
                      <a:schemeClr val="tx1"/>
                    </a:solidFill>
                    <a:effectLst/>
                    <a:latin typeface="+mn-lt"/>
                    <a:ea typeface="+mn-ea"/>
                    <a:cs typeface="+mn-cs"/>
                  </a:rPr>
                  <a:t>Ukupan efekat kombinovane, serijsko-paralelne veze, opisuje se kombinacijom matričnog i </a:t>
                </a:r>
                <a:r>
                  <a:rPr lang="sr-Latn-RS" sz="1200" kern="1200" dirty="0" err="1">
                    <a:solidFill>
                      <a:schemeClr val="tx1"/>
                    </a:solidFill>
                    <a:effectLst/>
                    <a:latin typeface="+mn-lt"/>
                    <a:ea typeface="+mn-ea"/>
                    <a:cs typeface="+mn-cs"/>
                  </a:rPr>
                  <a:t>Kronekerovog</a:t>
                </a:r>
                <a:r>
                  <a:rPr lang="sr-Latn-RS" sz="1200" kern="1200" dirty="0">
                    <a:solidFill>
                      <a:schemeClr val="tx1"/>
                    </a:solidFill>
                    <a:effectLst/>
                    <a:latin typeface="+mn-lt"/>
                    <a:ea typeface="+mn-ea"/>
                    <a:cs typeface="+mn-cs"/>
                  </a:rPr>
                  <a:t> proizvoda.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sr-Latn-RS" sz="1200" kern="1200" dirty="0">
                  <a:solidFill>
                    <a:schemeClr val="tx1"/>
                  </a:solidFill>
                  <a:effectLst/>
                  <a:latin typeface="+mn-lt"/>
                  <a:ea typeface="+mn-ea"/>
                  <a:cs typeface="+mn-cs"/>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sr-Latn-RS" sz="1200" kern="1200" dirty="0">
                    <a:solidFill>
                      <a:schemeClr val="tx1"/>
                    </a:solidFill>
                    <a:effectLst/>
                    <a:latin typeface="+mn-lt"/>
                    <a:ea typeface="+mn-ea"/>
                    <a:cs typeface="+mn-cs"/>
                  </a:rPr>
                  <a:t>U primeru, na kubit |𝑎⟩ deluju operatori A i </a:t>
                </a:r>
                <a:r>
                  <a:rPr lang="sr-Latn-RS" sz="1200" kern="1200" dirty="0" err="1">
                    <a:solidFill>
                      <a:schemeClr val="tx1"/>
                    </a:solidFill>
                    <a:effectLst/>
                    <a:latin typeface="+mn-lt"/>
                    <a:ea typeface="+mn-ea"/>
                    <a:cs typeface="+mn-cs"/>
                  </a:rPr>
                  <a:t>B</a:t>
                </a:r>
                <a:r>
                  <a:rPr lang="sr-Latn-RS" sz="1200" kern="1200" dirty="0">
                    <a:solidFill>
                      <a:schemeClr val="tx1"/>
                    </a:solidFill>
                    <a:effectLst/>
                    <a:latin typeface="+mn-lt"/>
                    <a:ea typeface="+mn-ea"/>
                    <a:cs typeface="+mn-cs"/>
                  </a:rPr>
                  <a:t>, što se predstavlja proizvodom BA|𝑎⟩. </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sr-Latn-RS" sz="1200" kern="1200" dirty="0">
                    <a:solidFill>
                      <a:schemeClr val="tx1"/>
                    </a:solidFill>
                    <a:effectLst/>
                    <a:latin typeface="+mn-lt"/>
                    <a:ea typeface="+mn-ea"/>
                    <a:cs typeface="+mn-cs"/>
                  </a:rPr>
                  <a:t>Na kubit |</a:t>
                </a:r>
                <a:r>
                  <a:rPr lang="sr-Latn-RS" sz="1200" kern="1200" dirty="0" err="1">
                    <a:solidFill>
                      <a:schemeClr val="tx1"/>
                    </a:solidFill>
                    <a:effectLst/>
                    <a:latin typeface="+mn-lt"/>
                    <a:ea typeface="+mn-ea"/>
                    <a:cs typeface="+mn-cs"/>
                  </a:rPr>
                  <a:t>b</a:t>
                </a:r>
                <a:r>
                  <a:rPr lang="sr-Latn-RS" sz="1200" kern="1200" dirty="0">
                    <a:solidFill>
                      <a:schemeClr val="tx1"/>
                    </a:solidFill>
                    <a:effectLst/>
                    <a:latin typeface="+mn-lt"/>
                    <a:ea typeface="+mn-ea"/>
                    <a:cs typeface="+mn-cs"/>
                  </a:rPr>
                  <a:t>⟩ deluje operator C, što se predstavlja proizvodom </a:t>
                </a:r>
                <a:r>
                  <a:rPr lang="sr-Latn-RS" sz="1200" kern="1200" dirty="0" err="1">
                    <a:solidFill>
                      <a:schemeClr val="tx1"/>
                    </a:solidFill>
                    <a:effectLst/>
                    <a:latin typeface="+mn-lt"/>
                    <a:ea typeface="+mn-ea"/>
                    <a:cs typeface="+mn-cs"/>
                  </a:rPr>
                  <a:t>C|b</a:t>
                </a:r>
                <a:r>
                  <a:rPr lang="sr-Latn-RS" sz="1200" kern="1200" dirty="0">
                    <a:solidFill>
                      <a:schemeClr val="tx1"/>
                    </a:solidFill>
                    <a:effectLst/>
                    <a:latin typeface="+mn-lt"/>
                    <a:ea typeface="+mn-ea"/>
                    <a:cs typeface="+mn-cs"/>
                  </a:rPr>
                  <a:t>⟩. </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sr-Latn-RS" sz="1200" kern="1200" dirty="0">
                    <a:solidFill>
                      <a:schemeClr val="tx1"/>
                    </a:solidFill>
                    <a:effectLst/>
                    <a:latin typeface="+mn-lt"/>
                    <a:ea typeface="+mn-ea"/>
                    <a:cs typeface="+mn-cs"/>
                  </a:rPr>
                  <a:t>Vektor stanja na kraju kola dat je Kronekerovim proizvodom kombinacije operatora BA i operatora C (</a:t>
                </a:r>
                <a:r>
                  <a:rPr lang="en-US" sz="1200" i="0">
                    <a:latin typeface="Cambria Math" panose="02040503050406030204" pitchFamily="18" charset="0"/>
                  </a:rPr>
                  <a:t>𝐵𝐴⊗𝐶)</a:t>
                </a:r>
                <a:r>
                  <a:rPr lang="sr-Latn-RS" sz="1200" kern="1200" dirty="0">
                    <a:solidFill>
                      <a:schemeClr val="tx1"/>
                    </a:solidFill>
                    <a:effectLst/>
                    <a:latin typeface="+mn-lt"/>
                    <a:ea typeface="+mn-ea"/>
                    <a:cs typeface="+mn-cs"/>
                  </a:rPr>
                  <a:t>), pomnoženim Kronekerovim proizvodom vektora </a:t>
                </a:r>
                <a:r>
                  <a:rPr lang="en-US" sz="1200" i="0">
                    <a:latin typeface="Cambria Math" panose="02040503050406030204" pitchFamily="18" charset="0"/>
                  </a:rPr>
                  <a:t>|𝑎⟩</a:t>
                </a:r>
                <a:r>
                  <a:rPr lang="sr-Latn-RS" sz="1200" kern="1200" dirty="0">
                    <a:solidFill>
                      <a:schemeClr val="tx1"/>
                    </a:solidFill>
                    <a:effectLst/>
                    <a:latin typeface="+mn-lt"/>
                    <a:ea typeface="+mn-ea"/>
                    <a:cs typeface="+mn-cs"/>
                  </a:rPr>
                  <a:t> i </a:t>
                </a:r>
                <a:r>
                  <a:rPr lang="en-US" sz="1200" i="0">
                    <a:latin typeface="Cambria Math" panose="02040503050406030204" pitchFamily="18" charset="0"/>
                  </a:rPr>
                  <a:t>|𝑏⟩</a:t>
                </a:r>
                <a:r>
                  <a:rPr lang="sr-Latn-RS" sz="1200" kern="1200" dirty="0">
                    <a:solidFill>
                      <a:schemeClr val="tx1"/>
                    </a:solidFill>
                    <a:effectLst/>
                    <a:latin typeface="+mn-lt"/>
                    <a:ea typeface="+mn-ea"/>
                    <a:cs typeface="+mn-cs"/>
                  </a:rPr>
                  <a:t>.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sr-Latn-RS" sz="1200" kern="120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sr-Latn-RS" sz="1200" kern="1200" dirty="0">
                    <a:solidFill>
                      <a:schemeClr val="tx1"/>
                    </a:solidFill>
                    <a:effectLst/>
                    <a:latin typeface="+mn-lt"/>
                    <a:ea typeface="+mn-ea"/>
                    <a:cs typeface="+mn-cs"/>
                  </a:rPr>
                  <a:t>Dodatni operator I nije potreban jer su operatori A i </a:t>
                </a:r>
                <a:r>
                  <a:rPr lang="sr-Latn-RS" sz="1200" kern="1200" dirty="0" err="1">
                    <a:solidFill>
                      <a:schemeClr val="tx1"/>
                    </a:solidFill>
                    <a:effectLst/>
                    <a:latin typeface="+mn-lt"/>
                    <a:ea typeface="+mn-ea"/>
                    <a:cs typeface="+mn-cs"/>
                  </a:rPr>
                  <a:t>B</a:t>
                </a:r>
                <a:r>
                  <a:rPr lang="sr-Latn-RS" sz="1200" kern="1200" dirty="0">
                    <a:solidFill>
                      <a:schemeClr val="tx1"/>
                    </a:solidFill>
                    <a:effectLst/>
                    <a:latin typeface="+mn-lt"/>
                    <a:ea typeface="+mn-ea"/>
                    <a:cs typeface="+mn-cs"/>
                  </a:rPr>
                  <a:t> zamenjeni njihovim proizvodom BA, tako da, matematički posmatrano, imamo dva paralelna operatora.</a:t>
                </a: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37</a:t>
            </a:fld>
            <a:endParaRPr lang="en-US"/>
          </a:p>
        </p:txBody>
      </p:sp>
    </p:spTree>
    <p:extLst>
      <p:ext uri="{BB962C8B-B14F-4D97-AF65-F5344CB8AC3E}">
        <p14:creationId xmlns:p14="http://schemas.microsoft.com/office/powerpoint/2010/main" val="1141438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Consider the state of a qubit initialized to ∣0⟩ as it passes through the X, Z, and Y gates.</a:t>
                </a:r>
              </a:p>
              <a:p>
                <a:endParaRPr lang="en-ZA" b="0" dirty="0"/>
              </a:p>
              <a:p>
                <a:pPr marL="171450" indent="-171450">
                  <a:buFont typeface="Arial" panose="020B0604020202020204" pitchFamily="34" charset="0"/>
                  <a:buChar char="•"/>
                </a:pPr>
                <a:r>
                  <a:rPr lang="en-ZA" b="0" dirty="0"/>
                  <a:t>The Pauli-X gate flips the qubit from ∣0⟩ to ∣1⟩. </a:t>
                </a:r>
              </a:p>
              <a:p>
                <a:pPr marL="171450" indent="-171450">
                  <a:buFont typeface="Arial" panose="020B0604020202020204" pitchFamily="34" charset="0"/>
                  <a:buChar char="•"/>
                </a:pPr>
                <a:r>
                  <a:rPr lang="en-ZA" b="0" dirty="0"/>
                  <a:t>The Pauli-Z gate changes the phase of ∣1⟩, giving −∣1⟩. </a:t>
                </a:r>
              </a:p>
              <a:p>
                <a:pPr marL="171450" indent="-171450">
                  <a:buFont typeface="Arial" panose="020B0604020202020204" pitchFamily="34" charset="0"/>
                  <a:buChar char="•"/>
                </a:pPr>
                <a:r>
                  <a:rPr lang="en-ZA" b="0" dirty="0"/>
                  <a:t>Finally, the Pauli-Y gate acts on −∣1⟩, producing the final state </a:t>
                </a:r>
                <a:r>
                  <a:rPr lang="en-ZA" b="0" i="1" dirty="0"/>
                  <a:t>i</a:t>
                </a:r>
                <a:r>
                  <a:rPr lang="en-ZA" b="0" dirty="0"/>
                  <a:t>∣0⟩. </a:t>
                </a:r>
              </a:p>
              <a:p>
                <a:endParaRPr lang="en-ZA" b="0" dirty="0"/>
              </a:p>
              <a:p>
                <a:r>
                  <a:rPr lang="en-ZA" b="0" dirty="0"/>
                  <a:t>So, </a:t>
                </a:r>
              </a:p>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groupChr>
                        <m:groupChrPr>
                          <m:chr m:val="→"/>
                          <m:vertJc m:val="bot"/>
                          <m:ctrlPr>
                            <a:rPr lang="en-US" sz="1200" i="1" smtClean="0">
                              <a:latin typeface="Cambria Math" panose="02040503050406030204" pitchFamily="18" charset="0"/>
                            </a:rPr>
                          </m:ctrlPr>
                        </m:groupChrPr>
                        <m:e>
                          <m:r>
                            <m:rPr>
                              <m:brk m:alnAt="2"/>
                            </m:rPr>
                            <a:rPr lang="en-US" sz="1200" b="0" i="1" smtClean="0">
                              <a:latin typeface="Cambria Math" panose="02040503050406030204" pitchFamily="18" charset="0"/>
                            </a:rPr>
                            <m:t>𝑋</m:t>
                          </m:r>
                        </m:e>
                      </m:groupChr>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1</m:t>
                          </m:r>
                        </m:e>
                      </m:d>
                      <m:groupChr>
                        <m:groupChrPr>
                          <m:chr m:val="→"/>
                          <m:vertJc m:val="bot"/>
                          <m:ctrlPr>
                            <a:rPr lang="en-US" sz="1200" i="1" smtClean="0">
                              <a:latin typeface="Cambria Math" panose="02040503050406030204" pitchFamily="18" charset="0"/>
                            </a:rPr>
                          </m:ctrlPr>
                        </m:groupChrPr>
                        <m:e>
                          <m:r>
                            <m:rPr>
                              <m:brk m:alnAt="2"/>
                            </m:rPr>
                            <a:rPr lang="en-US" sz="1200" b="0" i="1" smtClean="0">
                              <a:latin typeface="Cambria Math" panose="02040503050406030204" pitchFamily="18" charset="0"/>
                            </a:rPr>
                            <m:t>𝑍</m:t>
                          </m:r>
                        </m:e>
                      </m:groupChr>
                      <m:r>
                        <a:rPr lang="en-US" sz="1200" b="0" i="1" smtClean="0">
                          <a:latin typeface="Cambria Math" panose="02040503050406030204" pitchFamily="18" charset="0"/>
                        </a:rPr>
                        <m:t>−</m:t>
                      </m:r>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1</m:t>
                          </m:r>
                        </m:e>
                      </m:d>
                      <m:groupChr>
                        <m:groupChrPr>
                          <m:chr m:val="→"/>
                          <m:vertJc m:val="bot"/>
                          <m:ctrlPr>
                            <a:rPr lang="en-US" sz="1200" i="1" smtClean="0">
                              <a:latin typeface="Cambria Math" panose="02040503050406030204" pitchFamily="18" charset="0"/>
                            </a:rPr>
                          </m:ctrlPr>
                        </m:groupChrPr>
                        <m:e>
                          <m:r>
                            <m:rPr>
                              <m:brk m:alnAt="2"/>
                            </m:rPr>
                            <a:rPr lang="en-US" sz="1200" b="0" i="1" smtClean="0">
                              <a:latin typeface="Cambria Math" panose="02040503050406030204" pitchFamily="18" charset="0"/>
                            </a:rPr>
                            <m:t>𝑌</m:t>
                          </m:r>
                        </m:e>
                      </m:groupChr>
                      <m:r>
                        <a:rPr lang="en-US" sz="1200" b="0" i="1" smtClean="0">
                          <a:latin typeface="Cambria Math" panose="02040503050406030204" pitchFamily="18" charset="0"/>
                        </a:rPr>
                        <m:t>𝑖</m:t>
                      </m:r>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ZA" b="0" dirty="0"/>
              </a:p>
              <a:p>
                <a:endParaRPr lang="en-ZA" b="0" dirty="0"/>
              </a:p>
              <a:p>
                <a:r>
                  <a:rPr lang="en-ZA" b="0" dirty="0"/>
                  <a:t>This result can also be confirmed by matrix multiplication, where the matrices are multiplied in reverse order compared with the left-to-right order of gates in the circuit: </a:t>
                </a:r>
                <a14:m>
                  <m:oMath xmlns:m="http://schemas.openxmlformats.org/officeDocument/2006/math">
                    <m:r>
                      <m:rPr>
                        <m:brk m:alnAt="2"/>
                      </m:rPr>
                      <a:rPr lang="en-US" sz="1200" b="0" i="1" smtClean="0">
                        <a:latin typeface="Cambria Math" panose="02040503050406030204" pitchFamily="18" charset="0"/>
                      </a:rPr>
                      <m:t>𝑌</m:t>
                    </m:r>
                    <m:r>
                      <a:rPr lang="en-US" sz="1200" b="0" i="1" smtClean="0">
                        <a:latin typeface="Cambria Math" panose="02040503050406030204" pitchFamily="18" charset="0"/>
                      </a:rPr>
                      <m:t>𝑍𝑋</m:t>
                    </m:r>
                    <m:r>
                      <a:rPr lang="en-US" sz="1200" b="0" i="1" smtClean="0">
                        <a:latin typeface="Cambria Math" panose="02040503050406030204" pitchFamily="18" charset="0"/>
                      </a:rPr>
                      <m:t>=</m:t>
                    </m:r>
                    <m:r>
                      <a:rPr lang="en-US" sz="1200" b="0" i="1" smtClean="0">
                        <a:latin typeface="Cambria Math" panose="02040503050406030204" pitchFamily="18" charset="0"/>
                      </a:rPr>
                      <m:t>𝑖</m:t>
                    </m:r>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a14:m>
                <a:r>
                  <a:rPr lang="en-ZA" b="0" dirty="0"/>
                  <a:t>.</a:t>
                </a:r>
              </a:p>
            </p:txBody>
          </p:sp>
        </mc:Choice>
        <mc:Fallback xmlns="">
          <p:sp>
            <p:nvSpPr>
              <p:cNvPr id="3" name="Notes Placeholder 2"/>
              <p:cNvSpPr>
                <a:spLocks noGrp="1"/>
              </p:cNvSpPr>
              <p:nvPr>
                <p:ph type="body" idx="1"/>
              </p:nvPr>
            </p:nvSpPr>
            <p:spPr/>
            <p:txBody>
              <a:bodyPr/>
              <a:lstStyle/>
              <a:p>
                <a:r>
                  <a:rPr lang="en-ZA" b="0" dirty="0"/>
                  <a:t>Let’s trace the state of a qubit initialized to ∣0⟩ as it passes through the X, Z, and Y gates.</a:t>
                </a:r>
              </a:p>
              <a:p>
                <a:endParaRPr lang="en-ZA" b="0" dirty="0"/>
              </a:p>
              <a:p>
                <a:pPr marL="171450" indent="-171450">
                  <a:buFont typeface="Arial" panose="020B0604020202020204" pitchFamily="34" charset="0"/>
                  <a:buChar char="•"/>
                </a:pPr>
                <a:r>
                  <a:rPr lang="en-ZA" b="0" dirty="0"/>
                  <a:t>The Pauli-X gate flips the qubit from ∣0⟩ to ∣1⟩. </a:t>
                </a:r>
              </a:p>
              <a:p>
                <a:pPr marL="171450" indent="-171450">
                  <a:buFont typeface="Arial" panose="020B0604020202020204" pitchFamily="34" charset="0"/>
                  <a:buChar char="•"/>
                </a:pPr>
                <a:r>
                  <a:rPr lang="en-ZA" b="0" dirty="0"/>
                  <a:t>The Pauli-Z gate changes the phase of ∣1⟩, giving −∣1⟩. </a:t>
                </a:r>
              </a:p>
              <a:p>
                <a:pPr marL="171450" indent="-171450">
                  <a:buFont typeface="Arial" panose="020B0604020202020204" pitchFamily="34" charset="0"/>
                  <a:buChar char="•"/>
                </a:pPr>
                <a:r>
                  <a:rPr lang="en-ZA" b="0" dirty="0"/>
                  <a:t>Finally, the Pauli-Y gate acts on −∣1⟩, producing the final state </a:t>
                </a:r>
                <a:r>
                  <a:rPr lang="en-ZA" b="0" i="1" dirty="0"/>
                  <a:t>i</a:t>
                </a:r>
                <a:r>
                  <a:rPr lang="en-ZA" b="0" dirty="0"/>
                  <a:t>∣0⟩. </a:t>
                </a:r>
              </a:p>
              <a:p>
                <a:endParaRPr lang="en-ZA" b="0" dirty="0"/>
              </a:p>
              <a:p>
                <a:r>
                  <a:rPr lang="en-ZA" b="0" dirty="0"/>
                  <a:t>So, </a:t>
                </a:r>
              </a:p>
              <a:p>
                <a:r>
                  <a:rPr lang="en-US" sz="1200" i="0">
                    <a:latin typeface="Cambria Math" panose="02040503050406030204" pitchFamily="18" charset="0"/>
                  </a:rPr>
                  <a:t>|</a:t>
                </a:r>
                <a:r>
                  <a:rPr lang="en-US" sz="1200" b="0" i="0">
                    <a:latin typeface="Cambria Math" panose="02040503050406030204" pitchFamily="18" charset="0"/>
                  </a:rPr>
                  <a:t>0⟩ </a:t>
                </a:r>
                <a:r>
                  <a:rPr lang="en-US" sz="1200" i="0">
                    <a:latin typeface="Cambria Math" panose="02040503050406030204" pitchFamily="18" charset="0"/>
                  </a:rPr>
                  <a:t>→┴</a:t>
                </a:r>
                <a:r>
                  <a:rPr lang="en-US" sz="1200" b="0" i="0">
                    <a:latin typeface="Cambria Math" panose="02040503050406030204" pitchFamily="18" charset="0"/>
                  </a:rPr>
                  <a:t>𝑋 </a:t>
                </a:r>
                <a:r>
                  <a:rPr lang="en-US" sz="1200" i="0">
                    <a:latin typeface="Cambria Math" panose="02040503050406030204" pitchFamily="18" charset="0"/>
                  </a:rPr>
                  <a:t>|</a:t>
                </a:r>
                <a:r>
                  <a:rPr lang="en-US" sz="1200" b="0" i="0">
                    <a:latin typeface="Cambria Math" panose="02040503050406030204" pitchFamily="18" charset="0"/>
                  </a:rPr>
                  <a:t>1⟩ </a:t>
                </a:r>
                <a:r>
                  <a:rPr lang="en-US" sz="1200" i="0">
                    <a:latin typeface="Cambria Math" panose="02040503050406030204" pitchFamily="18" charset="0"/>
                  </a:rPr>
                  <a:t>→</a:t>
                </a:r>
                <a:r>
                  <a:rPr lang="en-US" sz="1200" b="0" i="0">
                    <a:latin typeface="Cambria Math" panose="02040503050406030204" pitchFamily="18" charset="0"/>
                  </a:rPr>
                  <a:t>┴𝑍−</a:t>
                </a:r>
                <a:r>
                  <a:rPr lang="en-US" sz="1200" i="0">
                    <a:latin typeface="Cambria Math" panose="02040503050406030204" pitchFamily="18" charset="0"/>
                  </a:rPr>
                  <a:t>|</a:t>
                </a:r>
                <a:r>
                  <a:rPr lang="en-US" sz="1200" b="0" i="0">
                    <a:latin typeface="Cambria Math" panose="02040503050406030204" pitchFamily="18" charset="0"/>
                  </a:rPr>
                  <a:t>1⟩ </a:t>
                </a:r>
                <a:r>
                  <a:rPr lang="en-US" sz="1200" i="0">
                    <a:latin typeface="Cambria Math" panose="02040503050406030204" pitchFamily="18" charset="0"/>
                  </a:rPr>
                  <a:t>→</a:t>
                </a:r>
                <a:r>
                  <a:rPr lang="en-US" sz="1200" b="0" i="0">
                    <a:latin typeface="Cambria Math" panose="02040503050406030204" pitchFamily="18" charset="0"/>
                  </a:rPr>
                  <a:t>┴𝑌 𝑖</a:t>
                </a:r>
                <a:r>
                  <a:rPr lang="en-US" sz="1200" i="0">
                    <a:latin typeface="Cambria Math" panose="02040503050406030204" pitchFamily="18" charset="0"/>
                  </a:rPr>
                  <a:t>|</a:t>
                </a:r>
                <a:r>
                  <a:rPr lang="en-US" sz="1200" b="0" i="0">
                    <a:latin typeface="Cambria Math" panose="02040503050406030204" pitchFamily="18" charset="0"/>
                  </a:rPr>
                  <a:t>0⟩</a:t>
                </a:r>
                <a:endParaRPr lang="en-ZA" b="0" dirty="0"/>
              </a:p>
              <a:p>
                <a:endParaRPr lang="en-ZA" b="0" dirty="0"/>
              </a:p>
              <a:p>
                <a:r>
                  <a:rPr lang="en-ZA" b="0" dirty="0"/>
                  <a:t>This result can also be confirmed by matrix multiplication, where the matrices are multiplied in reverse order compared with the left-to-right order of gates in the circuit: </a:t>
                </a:r>
                <a:r>
                  <a:rPr lang="en-US" sz="1200" b="0" i="0">
                    <a:latin typeface="Cambria Math" panose="02040503050406030204" pitchFamily="18" charset="0"/>
                  </a:rPr>
                  <a:t>𝑌𝑍𝑋=𝑖</a:t>
                </a:r>
                <a:r>
                  <a:rPr lang="en-US" sz="1200" i="0">
                    <a:latin typeface="Cambria Math" panose="02040503050406030204" pitchFamily="18" charset="0"/>
                  </a:rPr>
                  <a:t>|</a:t>
                </a:r>
                <a:r>
                  <a:rPr lang="en-US" sz="1200" b="0" i="0">
                    <a:latin typeface="Cambria Math" panose="02040503050406030204" pitchFamily="18" charset="0"/>
                  </a:rPr>
                  <a:t>0⟩</a:t>
                </a:r>
                <a:r>
                  <a:rPr lang="en-ZA" b="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38</a:t>
            </a:fld>
            <a:endParaRPr lang="en-US"/>
          </a:p>
        </p:txBody>
      </p:sp>
    </p:spTree>
    <p:extLst>
      <p:ext uri="{BB962C8B-B14F-4D97-AF65-F5344CB8AC3E}">
        <p14:creationId xmlns:p14="http://schemas.microsoft.com/office/powerpoint/2010/main" val="14037209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Consider now a two-qubit circuit and trace the state of a two-qubit register initialized to ∣00⟩.</a:t>
                </a:r>
              </a:p>
              <a:p>
                <a:pPr algn="just"/>
                <a:endParaRPr lang="en-ZA" dirty="0"/>
              </a:p>
              <a:p>
                <a:pPr marL="171450" indent="-171450">
                  <a:buFont typeface="Arial" panose="020B0604020202020204" pitchFamily="34" charset="0"/>
                  <a:buChar char="•"/>
                </a:pPr>
                <a:r>
                  <a:rPr lang="en-ZA" dirty="0"/>
                  <a:t>In the first circuit layer, the X and H gates act in parallel. The X gate changes the first qubit from ∣0⟩ to ∣1⟩, while the Hadamard gate transforms the second qubit into an equal superposition: </a:t>
                </a:r>
                <a:br>
                  <a:rPr lang="en-ZA" dirty="0"/>
                </a:br>
                <a14:m>
                  <m:oMath xmlns:m="http://schemas.openxmlformats.org/officeDocument/2006/math">
                    <m:d>
                      <m:dPr>
                        <m:ctrlPr>
                          <a:rPr lang="en-US" sz="1200" b="0" i="1" smtClean="0">
                            <a:latin typeface="Cambria Math" panose="02040503050406030204" pitchFamily="18" charset="0"/>
                          </a:rPr>
                        </m:ctrlPr>
                      </m:dPr>
                      <m:e>
                        <m:r>
                          <m:rPr>
                            <m:brk m:alnAt="2"/>
                          </m:rPr>
                          <a:rPr lang="en-US" sz="1200" b="0" i="1" smtClean="0">
                            <a:latin typeface="Cambria Math" panose="02040503050406030204" pitchFamily="18" charset="0"/>
                          </a:rPr>
                          <m:t>𝑋</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rPr>
                          <m:t>𝐻</m:t>
                        </m:r>
                      </m:e>
                    </m:d>
                    <m:d>
                      <m:dPr>
                        <m:begChr m:val="|"/>
                        <m:endChr m:val="⟩"/>
                        <m:ctrlPr>
                          <a:rPr lang="en-ZA" sz="1200" i="1" smtClean="0">
                            <a:latin typeface="Cambria Math" panose="02040503050406030204" pitchFamily="18" charset="0"/>
                          </a:rPr>
                        </m:ctrlPr>
                      </m:dPr>
                      <m:e>
                        <m:r>
                          <a:rPr lang="en-US" sz="1200" i="1">
                            <a:latin typeface="Cambria Math" panose="02040503050406030204" pitchFamily="18" charset="0"/>
                          </a:rPr>
                          <m:t>0</m:t>
                        </m:r>
                        <m:r>
                          <a:rPr lang="en-US" sz="1200" b="0" i="1" smtClean="0">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ZA" sz="1200" i="1" smtClean="0">
                            <a:latin typeface="Cambria Math" panose="02040503050406030204" pitchFamily="18" charset="0"/>
                          </a:rPr>
                        </m:ctrlPr>
                      </m:dPr>
                      <m:e>
                        <m:r>
                          <a:rPr lang="en-US" sz="1200" b="0" i="1" smtClean="0">
                            <a:latin typeface="Cambria Math" panose="02040503050406030204" pitchFamily="18" charset="0"/>
                          </a:rPr>
                          <m:t>1</m:t>
                        </m:r>
                      </m:e>
                    </m:d>
                    <m:r>
                      <a:rPr lang="en-US" sz="1200" b="0" i="1" smtClean="0">
                        <a:latin typeface="Cambria Math" panose="02040503050406030204" pitchFamily="18" charset="0"/>
                        <a:ea typeface="Cambria Math" panose="02040503050406030204" pitchFamily="18" charset="0"/>
                      </a:rPr>
                      <m:t>⨂</m:t>
                    </m:r>
                    <m:f>
                      <m:fPr>
                        <m:ctrlPr>
                          <a:rPr lang="en-US" sz="1200" i="1" smtClean="0">
                            <a:latin typeface="Cambria Math" panose="02040503050406030204" pitchFamily="18" charset="0"/>
                          </a:rPr>
                        </m:ctrlPr>
                      </m:fPr>
                      <m:num>
                        <m:d>
                          <m:dPr>
                            <m:begChr m:val="|"/>
                            <m:endChr m:val="⟩"/>
                            <m:ctrlPr>
                              <a:rPr lang="en-ZA" sz="1200" i="1">
                                <a:latin typeface="Cambria Math" panose="02040503050406030204" pitchFamily="18" charset="0"/>
                              </a:rPr>
                            </m:ctrlPr>
                          </m:dPr>
                          <m:e>
                            <m:r>
                              <a:rPr lang="en-US" sz="1200" i="1">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ZA" sz="1200" i="1">
                                <a:latin typeface="Cambria Math" panose="02040503050406030204" pitchFamily="18" charset="0"/>
                              </a:rPr>
                            </m:ctrlPr>
                          </m:dPr>
                          <m:e>
                            <m:r>
                              <a:rPr lang="en-US" sz="1200" b="0" i="1" smtClean="0">
                                <a:latin typeface="Cambria Math" panose="02040503050406030204" pitchFamily="18" charset="0"/>
                              </a:rPr>
                              <m:t>1</m:t>
                            </m:r>
                          </m:e>
                        </m:d>
                      </m:num>
                      <m:den>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2</m:t>
                            </m:r>
                          </m:e>
                        </m:rad>
                      </m:den>
                    </m:f>
                    <m:r>
                      <a:rPr lang="en-US" sz="1200" b="0" i="1" smtClean="0">
                        <a:latin typeface="Cambria Math" panose="02040503050406030204" pitchFamily="18" charset="0"/>
                      </a:rPr>
                      <m:t>=</m:t>
                    </m:r>
                    <m:f>
                      <m:fPr>
                        <m:ctrlPr>
                          <a:rPr lang="en-US" sz="1200" i="1" smtClean="0">
                            <a:latin typeface="Cambria Math" panose="02040503050406030204" pitchFamily="18" charset="0"/>
                          </a:rPr>
                        </m:ctrlPr>
                      </m:fPr>
                      <m:num>
                        <m:d>
                          <m:dPr>
                            <m:begChr m:val="|"/>
                            <m:endChr m:val="⟩"/>
                            <m:ctrlPr>
                              <a:rPr lang="en-ZA" sz="1200" i="1">
                                <a:latin typeface="Cambria Math" panose="02040503050406030204" pitchFamily="18" charset="0"/>
                              </a:rPr>
                            </m:ctrlPr>
                          </m:dPr>
                          <m:e>
                            <m:r>
                              <a:rPr lang="en-US" sz="1200" b="0" i="1" smtClean="0">
                                <a:latin typeface="Cambria Math" panose="02040503050406030204" pitchFamily="18" charset="0"/>
                              </a:rPr>
                              <m:t>1</m:t>
                            </m:r>
                            <m:r>
                              <a:rPr lang="en-US" sz="1200" i="1">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ZA" sz="1200" i="1">
                                <a:latin typeface="Cambria Math" panose="02040503050406030204" pitchFamily="18" charset="0"/>
                              </a:rPr>
                            </m:ctrlPr>
                          </m:dPr>
                          <m:e>
                            <m:r>
                              <a:rPr lang="en-US" sz="1200" b="0" i="1" smtClean="0">
                                <a:latin typeface="Cambria Math" panose="02040503050406030204" pitchFamily="18" charset="0"/>
                              </a:rPr>
                              <m:t>11</m:t>
                            </m:r>
                          </m:e>
                        </m:d>
                      </m:num>
                      <m:den>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2</m:t>
                            </m:r>
                          </m:e>
                        </m:rad>
                      </m:den>
                    </m:f>
                  </m:oMath>
                </a14:m>
                <a:endParaRPr lang="en-ZA" dirty="0"/>
              </a:p>
              <a:p>
                <a:pPr marL="171450" indent="-171450">
                  <a:buFont typeface="Arial" panose="020B0604020202020204" pitchFamily="34" charset="0"/>
                  <a:buChar char="•"/>
                </a:pPr>
                <a:r>
                  <a:rPr lang="en-ZA" dirty="0"/>
                  <a:t>Next, the CZ gate acts on the two qubits. The CZ gate introduces a phase factor of −1 only to the ∣11⟩ component, while the ∣10⟩ component remains unchanged. Therefore,</a:t>
                </a:r>
                <a:br>
                  <a:rPr lang="en-ZA" dirty="0"/>
                </a:br>
                <a14:m>
                  <m:oMath xmlns:m="http://schemas.openxmlformats.org/officeDocument/2006/math">
                    <m:r>
                      <m:rPr>
                        <m:brk m:alnAt="2"/>
                      </m:rPr>
                      <a:rPr lang="en-US" sz="1200" b="0" i="1" smtClean="0">
                        <a:latin typeface="Cambria Math" panose="02040503050406030204" pitchFamily="18" charset="0"/>
                      </a:rPr>
                      <m:t>𝐶</m:t>
                    </m:r>
                    <m:r>
                      <a:rPr lang="en-US" sz="1200" b="0" i="1" smtClean="0">
                        <a:latin typeface="Cambria Math" panose="02040503050406030204" pitchFamily="18" charset="0"/>
                      </a:rPr>
                      <m:t>𝑍</m:t>
                    </m:r>
                    <m:d>
                      <m:dPr>
                        <m:ctrlPr>
                          <a:rPr lang="en-US" sz="1200" b="0" i="1" smtClean="0">
                            <a:latin typeface="Cambria Math" panose="02040503050406030204" pitchFamily="18" charset="0"/>
                          </a:rPr>
                        </m:ctrlPr>
                      </m:dPr>
                      <m:e>
                        <m:f>
                          <m:fPr>
                            <m:ctrlPr>
                              <a:rPr lang="en-US" sz="1200" i="1" smtClean="0">
                                <a:latin typeface="Cambria Math" panose="02040503050406030204" pitchFamily="18" charset="0"/>
                              </a:rPr>
                            </m:ctrlPr>
                          </m:fPr>
                          <m:num>
                            <m:d>
                              <m:dPr>
                                <m:begChr m:val="|"/>
                                <m:endChr m:val="⟩"/>
                                <m:ctrlPr>
                                  <a:rPr lang="en-ZA" sz="1200" i="1">
                                    <a:latin typeface="Cambria Math" panose="02040503050406030204" pitchFamily="18" charset="0"/>
                                  </a:rPr>
                                </m:ctrlPr>
                              </m:dPr>
                              <m:e>
                                <m:r>
                                  <a:rPr lang="en-US" sz="1200" b="0" i="1" smtClean="0">
                                    <a:latin typeface="Cambria Math" panose="02040503050406030204" pitchFamily="18" charset="0"/>
                                  </a:rPr>
                                  <m:t>1</m:t>
                                </m:r>
                                <m:r>
                                  <a:rPr lang="en-US" sz="1200" i="1">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ZA" sz="1200" i="1">
                                    <a:latin typeface="Cambria Math" panose="02040503050406030204" pitchFamily="18" charset="0"/>
                                  </a:rPr>
                                </m:ctrlPr>
                              </m:dPr>
                              <m:e>
                                <m:r>
                                  <a:rPr lang="en-US" sz="1200" b="0" i="1" smtClean="0">
                                    <a:latin typeface="Cambria Math" panose="02040503050406030204" pitchFamily="18" charset="0"/>
                                  </a:rPr>
                                  <m:t>11</m:t>
                                </m:r>
                              </m:e>
                            </m:d>
                          </m:num>
                          <m:den>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2</m:t>
                                </m:r>
                              </m:e>
                            </m:rad>
                          </m:den>
                        </m:f>
                      </m:e>
                    </m:d>
                    <m:r>
                      <a:rPr lang="en-US" sz="1200" b="0" i="1" smtClean="0">
                        <a:latin typeface="Cambria Math" panose="02040503050406030204" pitchFamily="18" charset="0"/>
                      </a:rPr>
                      <m:t>=</m:t>
                    </m:r>
                    <m:f>
                      <m:fPr>
                        <m:ctrlPr>
                          <a:rPr lang="en-US" sz="1200" i="1" smtClean="0">
                            <a:latin typeface="Cambria Math" panose="02040503050406030204" pitchFamily="18" charset="0"/>
                          </a:rPr>
                        </m:ctrlPr>
                      </m:fPr>
                      <m:num>
                        <m:d>
                          <m:dPr>
                            <m:begChr m:val="|"/>
                            <m:endChr m:val="⟩"/>
                            <m:ctrlPr>
                              <a:rPr lang="en-ZA" sz="1200" i="1">
                                <a:latin typeface="Cambria Math" panose="02040503050406030204" pitchFamily="18" charset="0"/>
                              </a:rPr>
                            </m:ctrlPr>
                          </m:dPr>
                          <m:e>
                            <m:r>
                              <a:rPr lang="en-US" sz="1200" b="0" i="1" smtClean="0">
                                <a:latin typeface="Cambria Math" panose="02040503050406030204" pitchFamily="18" charset="0"/>
                              </a:rPr>
                              <m:t>1</m:t>
                            </m:r>
                            <m:r>
                              <a:rPr lang="en-US" sz="1200" i="1">
                                <a:latin typeface="Cambria Math" panose="02040503050406030204" pitchFamily="18" charset="0"/>
                              </a:rPr>
                              <m:t>0</m:t>
                            </m:r>
                          </m:e>
                        </m:d>
                        <m:r>
                          <a:rPr lang="en-US" sz="1200" i="1">
                            <a:latin typeface="Cambria Math" panose="02040503050406030204" pitchFamily="18" charset="0"/>
                          </a:rPr>
                          <m:t>−</m:t>
                        </m:r>
                        <m:d>
                          <m:dPr>
                            <m:begChr m:val="|"/>
                            <m:endChr m:val="⟩"/>
                            <m:ctrlPr>
                              <a:rPr lang="en-ZA" sz="1200" i="1">
                                <a:latin typeface="Cambria Math" panose="02040503050406030204" pitchFamily="18" charset="0"/>
                              </a:rPr>
                            </m:ctrlPr>
                          </m:dPr>
                          <m:e>
                            <m:r>
                              <a:rPr lang="en-US" sz="1200" b="0" i="1" smtClean="0">
                                <a:latin typeface="Cambria Math" panose="02040503050406030204" pitchFamily="18" charset="0"/>
                              </a:rPr>
                              <m:t>1</m:t>
                            </m:r>
                            <m:r>
                              <a:rPr lang="en-US" sz="1200" i="1">
                                <a:latin typeface="Cambria Math" panose="02040503050406030204" pitchFamily="18" charset="0"/>
                              </a:rPr>
                              <m:t>1</m:t>
                            </m:r>
                          </m:e>
                        </m:d>
                      </m:num>
                      <m:den>
                        <m:rad>
                          <m:radPr>
                            <m:degHide m:val="on"/>
                            <m:ctrlPr>
                              <a:rPr lang="en-US" sz="1200" i="1">
                                <a:latin typeface="Cambria Math" panose="02040503050406030204" pitchFamily="18" charset="0"/>
                              </a:rPr>
                            </m:ctrlPr>
                          </m:radPr>
                          <m:deg/>
                          <m:e>
                            <m:r>
                              <a:rPr lang="en-US" sz="1200" i="1">
                                <a:latin typeface="Cambria Math" panose="02040503050406030204" pitchFamily="18" charset="0"/>
                              </a:rPr>
                              <m:t>2</m:t>
                            </m:r>
                          </m:e>
                        </m:rad>
                      </m:den>
                    </m:f>
                  </m:oMath>
                </a14:m>
                <a:endParaRPr lang="en-ZA" dirty="0"/>
              </a:p>
              <a:p>
                <a:pPr/>
                <a:r>
                  <a:rPr lang="en-ZA" dirty="0"/>
                  <a:t>The complete transformation is therefore</a:t>
                </a:r>
                <a:br>
                  <a:rPr lang="en-ZA" dirty="0"/>
                </a:br>
                <a14:m>
                  <m:oMathPara xmlns:m="http://schemas.openxmlformats.org/officeDocument/2006/math">
                    <m:oMathParaPr>
                      <m:jc m:val="centerGroup"/>
                    </m:oMathParaPr>
                    <m:oMath xmlns:m="http://schemas.openxmlformats.org/officeDocument/2006/math">
                      <m:d>
                        <m:dPr>
                          <m:begChr m:val="|"/>
                          <m:endChr m:val="⟩"/>
                          <m:ctrlPr>
                            <a:rPr lang="en-ZA" sz="1200" i="1" smtClean="0">
                              <a:latin typeface="Cambria Math" panose="02040503050406030204" pitchFamily="18" charset="0"/>
                            </a:rPr>
                          </m:ctrlPr>
                        </m:dPr>
                        <m:e>
                          <m:r>
                            <a:rPr lang="en-US" sz="1200" i="1">
                              <a:latin typeface="Cambria Math" panose="02040503050406030204" pitchFamily="18" charset="0"/>
                            </a:rPr>
                            <m:t>0</m:t>
                          </m:r>
                          <m:r>
                            <a:rPr lang="en-US" sz="1200" b="0" i="1" smtClean="0">
                              <a:latin typeface="Cambria Math" panose="02040503050406030204" pitchFamily="18" charset="0"/>
                            </a:rPr>
                            <m:t>0</m:t>
                          </m:r>
                        </m:e>
                      </m:d>
                      <m:groupChr>
                        <m:groupChrPr>
                          <m:chr m:val="→"/>
                          <m:vertJc m:val="bot"/>
                          <m:ctrlPr>
                            <a:rPr lang="en-US" sz="1200" i="1" smtClean="0">
                              <a:latin typeface="Cambria Math" panose="02040503050406030204" pitchFamily="18" charset="0"/>
                            </a:rPr>
                          </m:ctrlPr>
                        </m:groupChrPr>
                        <m:e>
                          <m:r>
                            <m:rPr>
                              <m:brk m:alnAt="2"/>
                            </m:rPr>
                            <a:rPr lang="en-US" sz="1200" b="0" i="1" smtClean="0">
                              <a:latin typeface="Cambria Math" panose="02040503050406030204" pitchFamily="18" charset="0"/>
                            </a:rPr>
                            <m:t>𝑋</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rPr>
                            <m:t>𝐻</m:t>
                          </m:r>
                        </m:e>
                      </m:groupChr>
                      <m:f>
                        <m:fPr>
                          <m:ctrlPr>
                            <a:rPr lang="en-US" sz="1200" i="1" smtClean="0">
                              <a:latin typeface="Cambria Math" panose="02040503050406030204" pitchFamily="18" charset="0"/>
                            </a:rPr>
                          </m:ctrlPr>
                        </m:fPr>
                        <m:num>
                          <m:d>
                            <m:dPr>
                              <m:begChr m:val="|"/>
                              <m:endChr m:val="⟩"/>
                              <m:ctrlPr>
                                <a:rPr lang="en-ZA" sz="1200" i="1">
                                  <a:latin typeface="Cambria Math" panose="02040503050406030204" pitchFamily="18" charset="0"/>
                                </a:rPr>
                              </m:ctrlPr>
                            </m:dPr>
                            <m:e>
                              <m:r>
                                <a:rPr lang="en-US" sz="1200" b="0" i="1" smtClean="0">
                                  <a:latin typeface="Cambria Math" panose="02040503050406030204" pitchFamily="18" charset="0"/>
                                </a:rPr>
                                <m:t>1</m:t>
                              </m:r>
                              <m:r>
                                <a:rPr lang="en-US" sz="1200" i="1">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ZA" sz="1200" i="1">
                                  <a:latin typeface="Cambria Math" panose="02040503050406030204" pitchFamily="18" charset="0"/>
                                </a:rPr>
                              </m:ctrlPr>
                            </m:dPr>
                            <m:e>
                              <m:r>
                                <a:rPr lang="en-US" sz="1200" b="0" i="1" smtClean="0">
                                  <a:latin typeface="Cambria Math" panose="02040503050406030204" pitchFamily="18" charset="0"/>
                                </a:rPr>
                                <m:t>11</m:t>
                              </m:r>
                            </m:e>
                          </m:d>
                        </m:num>
                        <m:den>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2</m:t>
                              </m:r>
                            </m:e>
                          </m:rad>
                        </m:den>
                      </m:f>
                      <m:groupChr>
                        <m:groupChrPr>
                          <m:chr m:val="→"/>
                          <m:vertJc m:val="bot"/>
                          <m:ctrlPr>
                            <a:rPr lang="en-US" sz="1200" i="1">
                              <a:latin typeface="Cambria Math" panose="02040503050406030204" pitchFamily="18" charset="0"/>
                            </a:rPr>
                          </m:ctrlPr>
                        </m:groupChrPr>
                        <m:e>
                          <m:r>
                            <m:rPr>
                              <m:brk m:alnAt="2"/>
                            </m:rPr>
                            <a:rPr lang="en-US" sz="1200" b="0" i="1" smtClean="0">
                              <a:latin typeface="Cambria Math" panose="02040503050406030204" pitchFamily="18" charset="0"/>
                            </a:rPr>
                            <m:t>𝐶</m:t>
                          </m:r>
                          <m:r>
                            <a:rPr lang="en-US" sz="1200" b="0" i="1" smtClean="0">
                              <a:latin typeface="Cambria Math" panose="02040503050406030204" pitchFamily="18" charset="0"/>
                            </a:rPr>
                            <m:t>𝑍</m:t>
                          </m:r>
                        </m:e>
                      </m:groupChr>
                      <m:f>
                        <m:fPr>
                          <m:ctrlPr>
                            <a:rPr lang="en-US" sz="1200" i="1">
                              <a:latin typeface="Cambria Math" panose="02040503050406030204" pitchFamily="18" charset="0"/>
                            </a:rPr>
                          </m:ctrlPr>
                        </m:fPr>
                        <m:num>
                          <m:d>
                            <m:dPr>
                              <m:begChr m:val="|"/>
                              <m:endChr m:val="⟩"/>
                              <m:ctrlPr>
                                <a:rPr lang="en-ZA" sz="1200" i="1">
                                  <a:latin typeface="Cambria Math" panose="02040503050406030204" pitchFamily="18" charset="0"/>
                                </a:rPr>
                              </m:ctrlPr>
                            </m:dPr>
                            <m:e>
                              <m:r>
                                <a:rPr lang="en-US" sz="1200" b="0" i="1" smtClean="0">
                                  <a:latin typeface="Cambria Math" panose="02040503050406030204" pitchFamily="18" charset="0"/>
                                </a:rPr>
                                <m:t>1</m:t>
                              </m:r>
                              <m:r>
                                <a:rPr lang="en-US" sz="1200" i="1">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ZA" sz="1200" i="1">
                                  <a:latin typeface="Cambria Math" panose="02040503050406030204" pitchFamily="18" charset="0"/>
                                </a:rPr>
                              </m:ctrlPr>
                            </m:dPr>
                            <m:e>
                              <m:r>
                                <a:rPr lang="en-US" sz="1200" b="0" i="1" smtClean="0">
                                  <a:latin typeface="Cambria Math" panose="02040503050406030204" pitchFamily="18" charset="0"/>
                                </a:rPr>
                                <m:t>1</m:t>
                              </m:r>
                              <m:r>
                                <a:rPr lang="en-US" sz="1200" i="1">
                                  <a:latin typeface="Cambria Math" panose="02040503050406030204" pitchFamily="18" charset="0"/>
                                </a:rPr>
                                <m:t>1</m:t>
                              </m:r>
                            </m:e>
                          </m:d>
                        </m:num>
                        <m:den>
                          <m:rad>
                            <m:radPr>
                              <m:degHide m:val="on"/>
                              <m:ctrlPr>
                                <a:rPr lang="en-US" sz="1200" i="1">
                                  <a:latin typeface="Cambria Math" panose="02040503050406030204" pitchFamily="18" charset="0"/>
                                </a:rPr>
                              </m:ctrlPr>
                            </m:radPr>
                            <m:deg/>
                            <m:e>
                              <m:r>
                                <a:rPr lang="en-US" sz="1200" i="1">
                                  <a:latin typeface="Cambria Math" panose="02040503050406030204" pitchFamily="18" charset="0"/>
                                </a:rPr>
                                <m:t>2</m:t>
                              </m:r>
                            </m:e>
                          </m:rad>
                        </m:den>
                      </m:f>
                    </m:oMath>
                  </m:oMathPara>
                </a14:m>
                <a:endParaRPr lang="en-ZA" dirty="0"/>
              </a:p>
              <a:p>
                <a:endParaRPr lang="en-ZA" dirty="0"/>
              </a:p>
              <a:p>
                <a:r>
                  <a:rPr lang="en-ZA" b="0" dirty="0"/>
                  <a:t>This example nicely illustrates how parallel single-qubit gates and a two-qubit controlled gate can be combined in the same quantum circuit.</a:t>
                </a:r>
              </a:p>
              <a:p>
                <a:endParaRPr lang="en-ZA" b="0" dirty="0"/>
              </a:p>
              <a:p>
                <a:r>
                  <a:rPr lang="en-ZA" dirty="0"/>
                  <a:t>The same result can be confirmed using matrix multiplication. The overall circuit transformation is </a:t>
                </a:r>
                <a14:m>
                  <m:oMath xmlns:m="http://schemas.openxmlformats.org/officeDocument/2006/math">
                    <m:r>
                      <a:rPr lang="en-US" i="1" smtClean="0">
                        <a:latin typeface="Cambria Math" panose="02040503050406030204" pitchFamily="18" charset="0"/>
                      </a:rPr>
                      <m:t>𝐶𝑍</m:t>
                    </m:r>
                    <m:d>
                      <m:dPr>
                        <m:ctrlPr>
                          <a:rPr lang="en-US" i="1">
                            <a:latin typeface="Cambria Math" panose="02040503050406030204" pitchFamily="18" charset="0"/>
                          </a:rPr>
                        </m:ctrlPr>
                      </m:dPr>
                      <m:e>
                        <m:r>
                          <m:rPr>
                            <m:brk m:alnAt="2"/>
                          </m:rPr>
                          <a:rPr lang="en-US" i="1">
                            <a:latin typeface="Cambria Math" panose="02040503050406030204" pitchFamily="18" charset="0"/>
                          </a:rPr>
                          <m:t>𝑋</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𝐻</m:t>
                        </m:r>
                      </m:e>
                    </m:d>
                  </m:oMath>
                </a14:m>
                <a:r>
                  <a:rPr lang="en-ZA" b="0" dirty="0"/>
                  <a:t> </a:t>
                </a:r>
                <a:r>
                  <a:rPr lang="en-ZA" dirty="0"/>
                  <a:t>and applying it to the initial state gives </a:t>
                </a:r>
              </a:p>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𝐶𝑍</m:t>
                      </m:r>
                      <m:d>
                        <m:dPr>
                          <m:ctrlPr>
                            <a:rPr lang="en-US" i="1">
                              <a:latin typeface="Cambria Math" panose="02040503050406030204" pitchFamily="18" charset="0"/>
                            </a:rPr>
                          </m:ctrlPr>
                        </m:dPr>
                        <m:e>
                          <m:r>
                            <m:rPr>
                              <m:brk m:alnAt="2"/>
                            </m:rPr>
                            <a:rPr lang="en-US" i="1">
                              <a:latin typeface="Cambria Math" panose="02040503050406030204" pitchFamily="18" charset="0"/>
                            </a:rPr>
                            <m:t>𝑋</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𝐻</m:t>
                          </m:r>
                        </m:e>
                      </m:d>
                      <m:d>
                        <m:dPr>
                          <m:begChr m:val="|"/>
                          <m:endChr m:val="⟩"/>
                          <m:ctrlPr>
                            <a:rPr lang="en-ZA" i="1">
                              <a:latin typeface="Cambria Math" panose="02040503050406030204" pitchFamily="18" charset="0"/>
                            </a:rPr>
                          </m:ctrlPr>
                        </m:dPr>
                        <m:e>
                          <m:r>
                            <a:rPr lang="en-US" i="1">
                              <a:latin typeface="Cambria Math" panose="02040503050406030204" pitchFamily="18" charset="0"/>
                            </a:rPr>
                            <m:t>00</m:t>
                          </m:r>
                        </m:e>
                      </m:d>
                      <m:r>
                        <a:rPr lang="en-US" b="0" i="1" smtClean="0">
                          <a:latin typeface="Cambria Math" panose="02040503050406030204" pitchFamily="18" charset="0"/>
                        </a:rPr>
                        <m:t>=</m:t>
                      </m:r>
                      <m:f>
                        <m:fPr>
                          <m:ctrlPr>
                            <a:rPr lang="en-US" sz="1200" i="1" smtClean="0">
                              <a:latin typeface="Cambria Math" panose="02040503050406030204" pitchFamily="18" charset="0"/>
                            </a:rPr>
                          </m:ctrlPr>
                        </m:fPr>
                        <m:num>
                          <m:r>
                            <a:rPr lang="en-US" sz="1200">
                              <a:latin typeface="Cambria Math" panose="02040503050406030204" pitchFamily="18" charset="0"/>
                            </a:rPr>
                            <m:t>1</m:t>
                          </m:r>
                        </m:num>
                        <m:den>
                          <m:rad>
                            <m:radPr>
                              <m:degHide m:val="on"/>
                              <m:ctrlPr>
                                <a:rPr lang="en-US" sz="1200" i="1">
                                  <a:latin typeface="Cambria Math" panose="02040503050406030204" pitchFamily="18" charset="0"/>
                                </a:rPr>
                              </m:ctrlPr>
                            </m:radPr>
                            <m:deg/>
                            <m:e>
                              <m:r>
                                <a:rPr lang="en-US" sz="1200">
                                  <a:latin typeface="Cambria Math" panose="02040503050406030204" pitchFamily="18" charset="0"/>
                                </a:rPr>
                                <m:t>2</m:t>
                              </m:r>
                            </m:e>
                          </m:rad>
                        </m:den>
                      </m:f>
                      <m:d>
                        <m:dPr>
                          <m:ctrlPr>
                            <a:rPr lang="sr-Latn-RS" sz="1200" i="1">
                              <a:latin typeface="Cambria Math" panose="02040503050406030204" pitchFamily="18" charset="0"/>
                              <a:ea typeface="Cambria Math" panose="02040503050406030204" pitchFamily="18" charset="0"/>
                            </a:rPr>
                          </m:ctrlPr>
                        </m:dPr>
                        <m:e>
                          <m:m>
                            <m:mPr>
                              <m:mcs>
                                <m:mc>
                                  <m:mcPr>
                                    <m:count m:val="1"/>
                                    <m:mcJc m:val="center"/>
                                  </m:mcPr>
                                </m:mc>
                              </m:mcs>
                              <m:ctrlPr>
                                <a:rPr lang="sr-Latn-RS" sz="1200" i="1">
                                  <a:latin typeface="Cambria Math" panose="02040503050406030204" pitchFamily="18" charset="0"/>
                                  <a:ea typeface="Cambria Math" panose="02040503050406030204" pitchFamily="18" charset="0"/>
                                </a:rPr>
                              </m:ctrlPr>
                            </m:mPr>
                            <m:mr>
                              <m:e>
                                <m:r>
                                  <m:rPr>
                                    <m:brk m:alnAt="7"/>
                                  </m:rPr>
                                  <a:rPr lang="en-US" sz="1200" b="0" i="1" smtClean="0">
                                    <a:latin typeface="Cambria Math" panose="02040503050406030204" pitchFamily="18" charset="0"/>
                                    <a:ea typeface="Cambria Math" panose="02040503050406030204" pitchFamily="18" charset="0"/>
                                  </a:rPr>
                                  <m:t>0</m:t>
                                </m:r>
                              </m:e>
                            </m:mr>
                            <m:mr>
                              <m:e>
                                <m:r>
                                  <a:rPr lang="en-US" sz="1200" i="1">
                                    <a:latin typeface="Cambria Math" panose="02040503050406030204" pitchFamily="18" charset="0"/>
                                    <a:ea typeface="Cambria Math" panose="02040503050406030204" pitchFamily="18" charset="0"/>
                                  </a:rPr>
                                  <m:t>0</m:t>
                                </m:r>
                              </m:e>
                            </m:mr>
                            <m:mr>
                              <m:e>
                                <m:r>
                                  <a:rPr lang="en-US" sz="1200" b="0" i="1" smtClean="0">
                                    <a:latin typeface="Cambria Math" panose="02040503050406030204" pitchFamily="18" charset="0"/>
                                    <a:ea typeface="Cambria Math" panose="02040503050406030204" pitchFamily="18" charset="0"/>
                                  </a:rPr>
                                  <m:t>1</m:t>
                                </m:r>
                              </m:e>
                            </m:mr>
                            <m:mr>
                              <m:e>
                                <m:r>
                                  <a:rPr lang="en-US" sz="1200" b="0" i="1" smtClean="0">
                                    <a:latin typeface="Cambria Math" panose="02040503050406030204" pitchFamily="18" charset="0"/>
                                    <a:ea typeface="Cambria Math" panose="02040503050406030204" pitchFamily="18" charset="0"/>
                                  </a:rPr>
                                  <m:t>−1</m:t>
                                </m:r>
                              </m:e>
                            </m:mr>
                          </m:m>
                        </m:e>
                      </m:d>
                      <m:r>
                        <a:rPr lang="en-US" sz="1200" b="0" i="1" smtClean="0">
                          <a:latin typeface="Cambria Math" panose="02040503050406030204" pitchFamily="18" charset="0"/>
                          <a:ea typeface="Cambria Math" panose="02040503050406030204" pitchFamily="18" charset="0"/>
                        </a:rPr>
                        <m:t>=</m:t>
                      </m:r>
                      <m:f>
                        <m:fPr>
                          <m:ctrlPr>
                            <a:rPr lang="en-US" sz="1200" i="1" smtClean="0">
                              <a:latin typeface="Cambria Math" panose="02040503050406030204" pitchFamily="18" charset="0"/>
                            </a:rPr>
                          </m:ctrlPr>
                        </m:fPr>
                        <m:num>
                          <m:d>
                            <m:dPr>
                              <m:begChr m:val="|"/>
                              <m:endChr m:val="⟩"/>
                              <m:ctrlPr>
                                <a:rPr lang="en-ZA" sz="1200" i="1">
                                  <a:latin typeface="Cambria Math" panose="02040503050406030204" pitchFamily="18" charset="0"/>
                                </a:rPr>
                              </m:ctrlPr>
                            </m:dPr>
                            <m:e>
                              <m:r>
                                <a:rPr lang="en-US" sz="1200" b="0" i="1" smtClean="0">
                                  <a:latin typeface="Cambria Math" panose="02040503050406030204" pitchFamily="18" charset="0"/>
                                </a:rPr>
                                <m:t>1</m:t>
                              </m:r>
                              <m:r>
                                <a:rPr lang="en-US" sz="1200" i="1">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ZA" sz="1200" i="1">
                                  <a:latin typeface="Cambria Math" panose="02040503050406030204" pitchFamily="18" charset="0"/>
                                </a:rPr>
                              </m:ctrlPr>
                            </m:dPr>
                            <m:e>
                              <m:r>
                                <a:rPr lang="en-US" sz="1200" b="0" i="1" smtClean="0">
                                  <a:latin typeface="Cambria Math" panose="02040503050406030204" pitchFamily="18" charset="0"/>
                                </a:rPr>
                                <m:t>1</m:t>
                              </m:r>
                              <m:r>
                                <a:rPr lang="en-US" sz="1200" i="1">
                                  <a:latin typeface="Cambria Math" panose="02040503050406030204" pitchFamily="18" charset="0"/>
                                </a:rPr>
                                <m:t>1</m:t>
                              </m:r>
                            </m:e>
                          </m:d>
                        </m:num>
                        <m:den>
                          <m:rad>
                            <m:radPr>
                              <m:degHide m:val="on"/>
                              <m:ctrlPr>
                                <a:rPr lang="en-US" sz="1200" i="1">
                                  <a:latin typeface="Cambria Math" panose="02040503050406030204" pitchFamily="18" charset="0"/>
                                </a:rPr>
                              </m:ctrlPr>
                            </m:radPr>
                            <m:deg/>
                            <m:e>
                              <m:r>
                                <a:rPr lang="en-US" sz="1200" i="1">
                                  <a:latin typeface="Cambria Math" panose="02040503050406030204" pitchFamily="18" charset="0"/>
                                </a:rPr>
                                <m:t>2</m:t>
                              </m:r>
                            </m:e>
                          </m:rad>
                        </m:den>
                      </m:f>
                    </m:oMath>
                  </m:oMathPara>
                </a14:m>
                <a:endParaRPr lang="en-ZA" b="0" dirty="0"/>
              </a:p>
              <a:p>
                <a:pPr algn="just"/>
                <a:endParaRPr lang="en-ZA" dirty="0"/>
              </a:p>
              <a:p>
                <a:pPr algn="just"/>
                <a:endParaRPr lang="en-ZA" dirty="0"/>
              </a:p>
              <a:p>
                <a:pPr algn="just"/>
                <a:endParaRPr lang="en-ZA" dirty="0"/>
              </a:p>
            </p:txBody>
          </p:sp>
        </mc:Choice>
        <mc:Fallback xmlns="">
          <p:sp>
            <p:nvSpPr>
              <p:cNvPr id="3" name="Notes Placeholder 2"/>
              <p:cNvSpPr>
                <a:spLocks noGrp="1"/>
              </p:cNvSpPr>
              <p:nvPr>
                <p:ph type="body" idx="1"/>
              </p:nvPr>
            </p:nvSpPr>
            <p:spPr/>
            <p:txBody>
              <a:bodyPr/>
              <a:lstStyle/>
              <a:p>
                <a:pPr algn="just"/>
                <a:r>
                  <a:rPr lang="en-ZA" dirty="0"/>
                  <a:t>Let’s trace the state of a two-qubit register initialized to ∣00⟩.</a:t>
                </a:r>
              </a:p>
              <a:p>
                <a:pPr algn="just"/>
                <a:endParaRPr lang="en-ZA" dirty="0"/>
              </a:p>
              <a:p>
                <a:pPr marL="171450" indent="-171450">
                  <a:buFont typeface="Arial" panose="020B0604020202020204" pitchFamily="34" charset="0"/>
                  <a:buChar char="•"/>
                </a:pPr>
                <a:r>
                  <a:rPr lang="en-ZA" dirty="0"/>
                  <a:t>In the first circuit layer, the X and H gates act in parallel. The X gate changes the first qubit from ∣0⟩ to ∣1⟩, while the Hadamard gate transforms the second qubit into an equal superposition: </a:t>
                </a:r>
                <a:br>
                  <a:rPr lang="en-ZA" dirty="0"/>
                </a:br>
                <a:r>
                  <a:rPr lang="en-US" sz="1200" b="0" i="0">
                    <a:latin typeface="Cambria Math" panose="02040503050406030204" pitchFamily="18" charset="0"/>
                  </a:rPr>
                  <a:t>(𝑋</a:t>
                </a:r>
                <a:r>
                  <a:rPr lang="en-U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rPr>
                  <a:t>𝐻)</a:t>
                </a:r>
                <a:r>
                  <a:rPr lang="en-ZA" sz="1200" i="0">
                    <a:latin typeface="Cambria Math" panose="02040503050406030204" pitchFamily="18" charset="0"/>
                  </a:rPr>
                  <a:t>|</a:t>
                </a:r>
                <a:r>
                  <a:rPr lang="en-US" sz="1200" i="0">
                    <a:latin typeface="Cambria Math" panose="02040503050406030204" pitchFamily="18" charset="0"/>
                  </a:rPr>
                  <a:t>0</a:t>
                </a:r>
                <a:r>
                  <a:rPr lang="en-US" sz="1200" b="0" i="0">
                    <a:latin typeface="Cambria Math" panose="02040503050406030204" pitchFamily="18" charset="0"/>
                  </a:rPr>
                  <a:t>0⟩=</a:t>
                </a:r>
                <a:r>
                  <a:rPr lang="en-ZA" sz="1200" i="0">
                    <a:latin typeface="Cambria Math" panose="02040503050406030204" pitchFamily="18" charset="0"/>
                  </a:rPr>
                  <a:t>|</a:t>
                </a:r>
                <a:r>
                  <a:rPr lang="en-US" sz="1200" b="0" i="0">
                    <a:latin typeface="Cambria Math" panose="02040503050406030204" pitchFamily="18" charset="0"/>
                  </a:rPr>
                  <a:t>1⟩</a:t>
                </a:r>
                <a:r>
                  <a:rPr lang="en-US" sz="1200" b="0" i="0">
                    <a:latin typeface="Cambria Math" panose="02040503050406030204" pitchFamily="18" charset="0"/>
                    <a:ea typeface="Cambria Math" panose="02040503050406030204" pitchFamily="18" charset="0"/>
                  </a:rPr>
                  <a:t>⨂</a:t>
                </a:r>
                <a:r>
                  <a:rPr lang="en-US" sz="1200" i="0">
                    <a:latin typeface="Cambria Math" panose="02040503050406030204" pitchFamily="18" charset="0"/>
                  </a:rPr>
                  <a:t>(</a:t>
                </a:r>
                <a:r>
                  <a:rPr lang="en-ZA" sz="1200" i="0">
                    <a:latin typeface="Cambria Math" panose="02040503050406030204" pitchFamily="18" charset="0"/>
                  </a:rPr>
                  <a:t>├|</a:t>
                </a:r>
                <a:r>
                  <a:rPr lang="en-US" sz="1200" i="0">
                    <a:latin typeface="Cambria Math" panose="02040503050406030204" pitchFamily="18" charset="0"/>
                  </a:rPr>
                  <a:t>0⟩</a:t>
                </a:r>
                <a:r>
                  <a:rPr lang="en-US" sz="1200" b="0" i="0">
                    <a:latin typeface="Cambria Math" panose="02040503050406030204" pitchFamily="18" charset="0"/>
                  </a:rPr>
                  <a:t>+</a:t>
                </a:r>
                <a:r>
                  <a:rPr lang="en-ZA" sz="1200" b="0" i="0">
                    <a:latin typeface="Cambria Math" panose="02040503050406030204" pitchFamily="18" charset="0"/>
                  </a:rPr>
                  <a:t>├|</a:t>
                </a:r>
                <a:r>
                  <a:rPr lang="en-US" sz="1200" b="0" i="0">
                    <a:latin typeface="Cambria Math" panose="02040503050406030204" pitchFamily="18" charset="0"/>
                  </a:rPr>
                  <a:t>1⟩)/√2=</a:t>
                </a:r>
                <a:r>
                  <a:rPr lang="en-US" sz="1200" i="0">
                    <a:latin typeface="Cambria Math" panose="02040503050406030204" pitchFamily="18" charset="0"/>
                  </a:rPr>
                  <a:t>(</a:t>
                </a:r>
                <a:r>
                  <a:rPr lang="en-ZA" sz="1200" i="0">
                    <a:latin typeface="Cambria Math" panose="02040503050406030204" pitchFamily="18" charset="0"/>
                  </a:rPr>
                  <a:t>├|</a:t>
                </a:r>
                <a:r>
                  <a:rPr lang="en-US" sz="1200" b="0" i="0">
                    <a:latin typeface="Cambria Math" panose="02040503050406030204" pitchFamily="18" charset="0"/>
                  </a:rPr>
                  <a:t>1</a:t>
                </a:r>
                <a:r>
                  <a:rPr lang="en-US" sz="1200" i="0">
                    <a:latin typeface="Cambria Math" panose="02040503050406030204" pitchFamily="18" charset="0"/>
                  </a:rPr>
                  <a:t>0⟩</a:t>
                </a:r>
                <a:r>
                  <a:rPr lang="en-US" sz="1200" b="0" i="0">
                    <a:latin typeface="Cambria Math" panose="02040503050406030204" pitchFamily="18" charset="0"/>
                  </a:rPr>
                  <a:t>+</a:t>
                </a:r>
                <a:r>
                  <a:rPr lang="en-ZA" sz="1200" b="0" i="0">
                    <a:latin typeface="Cambria Math" panose="02040503050406030204" pitchFamily="18" charset="0"/>
                  </a:rPr>
                  <a:t>├|</a:t>
                </a:r>
                <a:r>
                  <a:rPr lang="en-US" sz="1200" b="0" i="0">
                    <a:latin typeface="Cambria Math" panose="02040503050406030204" pitchFamily="18" charset="0"/>
                  </a:rPr>
                  <a:t>11⟩)/√2</a:t>
                </a:r>
                <a:endParaRPr lang="en-ZA" dirty="0"/>
              </a:p>
              <a:p>
                <a:pPr marL="171450" indent="-171450">
                  <a:buFont typeface="Arial" panose="020B0604020202020204" pitchFamily="34" charset="0"/>
                  <a:buChar char="•"/>
                </a:pPr>
                <a:r>
                  <a:rPr lang="en-ZA" dirty="0"/>
                  <a:t>Next, the CZ gate acts on the two qubits. The CZ gate introduces a phase factor of −1 only to the ∣11⟩ component, while the ∣10⟩ component remains unchanged. Therefore,</a:t>
                </a:r>
                <a:br>
                  <a:rPr lang="en-ZA" dirty="0"/>
                </a:br>
                <a:r>
                  <a:rPr lang="en-US" sz="1200" b="0" i="0">
                    <a:latin typeface="Cambria Math" panose="02040503050406030204" pitchFamily="18" charset="0"/>
                  </a:rPr>
                  <a:t>𝐶𝑍((</a:t>
                </a:r>
                <a:r>
                  <a:rPr lang="en-ZA" sz="1200" b="0" i="0">
                    <a:latin typeface="Cambria Math" panose="02040503050406030204" pitchFamily="18" charset="0"/>
                  </a:rPr>
                  <a:t>├|</a:t>
                </a:r>
                <a:r>
                  <a:rPr lang="en-US" sz="1200" b="0" i="0">
                    <a:latin typeface="Cambria Math" panose="02040503050406030204" pitchFamily="18" charset="0"/>
                  </a:rPr>
                  <a:t>1</a:t>
                </a:r>
                <a:r>
                  <a:rPr lang="en-US" sz="1200" i="0">
                    <a:latin typeface="Cambria Math" panose="02040503050406030204" pitchFamily="18" charset="0"/>
                  </a:rPr>
                  <a:t>0⟩</a:t>
                </a:r>
                <a:r>
                  <a:rPr lang="en-US" sz="1200" b="0" i="0">
                    <a:latin typeface="Cambria Math" panose="02040503050406030204" pitchFamily="18" charset="0"/>
                  </a:rPr>
                  <a:t>+</a:t>
                </a:r>
                <a:r>
                  <a:rPr lang="en-ZA" sz="1200" b="0" i="0">
                    <a:latin typeface="Cambria Math" panose="02040503050406030204" pitchFamily="18" charset="0"/>
                  </a:rPr>
                  <a:t>├|</a:t>
                </a:r>
                <a:r>
                  <a:rPr lang="en-US" sz="1200" b="0" i="0">
                    <a:latin typeface="Cambria Math" panose="02040503050406030204" pitchFamily="18" charset="0"/>
                  </a:rPr>
                  <a:t>11⟩)/√2)=</a:t>
                </a:r>
                <a:r>
                  <a:rPr lang="en-US" sz="1200" i="0">
                    <a:latin typeface="Cambria Math" panose="02040503050406030204" pitchFamily="18" charset="0"/>
                  </a:rPr>
                  <a:t>(</a:t>
                </a:r>
                <a:r>
                  <a:rPr lang="en-ZA" sz="1200" i="0">
                    <a:latin typeface="Cambria Math" panose="02040503050406030204" pitchFamily="18" charset="0"/>
                  </a:rPr>
                  <a:t>├|</a:t>
                </a:r>
                <a:r>
                  <a:rPr lang="en-US" sz="1200" b="0" i="0">
                    <a:latin typeface="Cambria Math" panose="02040503050406030204" pitchFamily="18" charset="0"/>
                  </a:rPr>
                  <a:t>1</a:t>
                </a:r>
                <a:r>
                  <a:rPr lang="en-US" sz="1200" i="0">
                    <a:latin typeface="Cambria Math" panose="02040503050406030204" pitchFamily="18" charset="0"/>
                  </a:rPr>
                  <a:t>0⟩−</a:t>
                </a:r>
                <a:r>
                  <a:rPr lang="en-ZA" sz="1200" i="0">
                    <a:latin typeface="Cambria Math" panose="02040503050406030204" pitchFamily="18" charset="0"/>
                  </a:rPr>
                  <a:t>├|</a:t>
                </a:r>
                <a:r>
                  <a:rPr lang="en-US" sz="1200" b="0" i="0">
                    <a:latin typeface="Cambria Math" panose="02040503050406030204" pitchFamily="18" charset="0"/>
                  </a:rPr>
                  <a:t>1</a:t>
                </a:r>
                <a:r>
                  <a:rPr lang="en-US" sz="1200" i="0">
                    <a:latin typeface="Cambria Math" panose="02040503050406030204" pitchFamily="18" charset="0"/>
                  </a:rPr>
                  <a:t>1⟩)/√2</a:t>
                </a:r>
                <a:endParaRPr lang="en-ZA" dirty="0"/>
              </a:p>
              <a:p>
                <a:r>
                  <a:rPr lang="en-ZA" dirty="0"/>
                  <a:t>The complete transformation is therefore</a:t>
                </a:r>
                <a:br>
                  <a:rPr lang="en-ZA" dirty="0"/>
                </a:br>
                <a:r>
                  <a:rPr lang="en-ZA" sz="1200" i="0">
                    <a:latin typeface="Cambria Math" panose="02040503050406030204" pitchFamily="18" charset="0"/>
                  </a:rPr>
                  <a:t>|</a:t>
                </a:r>
                <a:r>
                  <a:rPr lang="en-US" sz="1200" i="0">
                    <a:latin typeface="Cambria Math" panose="02040503050406030204" pitchFamily="18" charset="0"/>
                  </a:rPr>
                  <a:t>0</a:t>
                </a:r>
                <a:r>
                  <a:rPr lang="en-US" sz="1200" b="0" i="0">
                    <a:latin typeface="Cambria Math" panose="02040503050406030204" pitchFamily="18" charset="0"/>
                  </a:rPr>
                  <a:t>0⟩ </a:t>
                </a:r>
                <a:r>
                  <a:rPr lang="en-US" sz="1200" i="0">
                    <a:latin typeface="Cambria Math" panose="02040503050406030204" pitchFamily="18" charset="0"/>
                  </a:rPr>
                  <a:t>→</a:t>
                </a:r>
                <a:r>
                  <a:rPr lang="en-US" sz="1200" b="0" i="0">
                    <a:latin typeface="Cambria Math" panose="02040503050406030204" pitchFamily="18" charset="0"/>
                  </a:rPr>
                  <a:t>┴(𝑋</a:t>
                </a:r>
                <a:r>
                  <a:rPr lang="en-U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rPr>
                  <a:t>𝐻) </a:t>
                </a:r>
                <a:r>
                  <a:rPr lang="en-ZA" sz="1200" i="0">
                    <a:latin typeface="Cambria Math" panose="02040503050406030204" pitchFamily="18" charset="0"/>
                  </a:rPr>
                  <a:t> </a:t>
                </a:r>
                <a:r>
                  <a:rPr lang="en-US" sz="1200" i="0">
                    <a:latin typeface="Cambria Math" panose="02040503050406030204" pitchFamily="18" charset="0"/>
                  </a:rPr>
                  <a:t>(</a:t>
                </a:r>
                <a:r>
                  <a:rPr lang="en-ZA" sz="1200" i="0">
                    <a:latin typeface="Cambria Math" panose="02040503050406030204" pitchFamily="18" charset="0"/>
                  </a:rPr>
                  <a:t>├|</a:t>
                </a:r>
                <a:r>
                  <a:rPr lang="en-US" sz="1200" b="0" i="0">
                    <a:latin typeface="Cambria Math" panose="02040503050406030204" pitchFamily="18" charset="0"/>
                  </a:rPr>
                  <a:t>1</a:t>
                </a:r>
                <a:r>
                  <a:rPr lang="en-US" sz="1200" i="0">
                    <a:latin typeface="Cambria Math" panose="02040503050406030204" pitchFamily="18" charset="0"/>
                  </a:rPr>
                  <a:t>0⟩</a:t>
                </a:r>
                <a:r>
                  <a:rPr lang="en-US" sz="1200" b="0" i="0">
                    <a:latin typeface="Cambria Math" panose="02040503050406030204" pitchFamily="18" charset="0"/>
                  </a:rPr>
                  <a:t>+</a:t>
                </a:r>
                <a:r>
                  <a:rPr lang="en-ZA" sz="1200" b="0" i="0">
                    <a:latin typeface="Cambria Math" panose="02040503050406030204" pitchFamily="18" charset="0"/>
                  </a:rPr>
                  <a:t>├|</a:t>
                </a:r>
                <a:r>
                  <a:rPr lang="en-US" sz="1200" b="0" i="0">
                    <a:latin typeface="Cambria Math" panose="02040503050406030204" pitchFamily="18" charset="0"/>
                  </a:rPr>
                  <a:t>11⟩)/√2 </a:t>
                </a:r>
                <a:r>
                  <a:rPr lang="en-US" sz="1200" i="0">
                    <a:latin typeface="Cambria Math" panose="02040503050406030204" pitchFamily="18" charset="0"/>
                  </a:rPr>
                  <a:t>→</a:t>
                </a:r>
                <a:r>
                  <a:rPr lang="en-US" sz="1200" b="0" i="0">
                    <a:latin typeface="Cambria Math" panose="02040503050406030204" pitchFamily="18" charset="0"/>
                  </a:rPr>
                  <a:t>┴𝐶𝑍 </a:t>
                </a:r>
                <a:r>
                  <a:rPr lang="en-ZA" sz="1200" i="0">
                    <a:latin typeface="Cambria Math" panose="02040503050406030204" pitchFamily="18" charset="0"/>
                  </a:rPr>
                  <a:t> </a:t>
                </a:r>
                <a:r>
                  <a:rPr lang="en-US" sz="1200" i="0">
                    <a:latin typeface="Cambria Math" panose="02040503050406030204" pitchFamily="18" charset="0"/>
                  </a:rPr>
                  <a:t>(</a:t>
                </a:r>
                <a:r>
                  <a:rPr lang="en-ZA" sz="1200" i="0">
                    <a:latin typeface="Cambria Math" panose="02040503050406030204" pitchFamily="18" charset="0"/>
                  </a:rPr>
                  <a:t>├|</a:t>
                </a:r>
                <a:r>
                  <a:rPr lang="en-US" sz="1200" b="0" i="0">
                    <a:latin typeface="Cambria Math" panose="02040503050406030204" pitchFamily="18" charset="0"/>
                  </a:rPr>
                  <a:t>1</a:t>
                </a:r>
                <a:r>
                  <a:rPr lang="en-US" sz="1200" i="0">
                    <a:latin typeface="Cambria Math" panose="02040503050406030204" pitchFamily="18" charset="0"/>
                  </a:rPr>
                  <a:t>0⟩</a:t>
                </a:r>
                <a:r>
                  <a:rPr lang="en-US" sz="1200" b="0" i="0">
                    <a:latin typeface="Cambria Math" panose="02040503050406030204" pitchFamily="18" charset="0"/>
                  </a:rPr>
                  <a:t>−</a:t>
                </a:r>
                <a:r>
                  <a:rPr lang="en-ZA" sz="1200" b="0" i="0">
                    <a:latin typeface="Cambria Math" panose="02040503050406030204" pitchFamily="18" charset="0"/>
                  </a:rPr>
                  <a:t>├|</a:t>
                </a:r>
                <a:r>
                  <a:rPr lang="en-US" sz="1200" b="0" i="0">
                    <a:latin typeface="Cambria Math" panose="02040503050406030204" pitchFamily="18" charset="0"/>
                  </a:rPr>
                  <a:t>1</a:t>
                </a:r>
                <a:r>
                  <a:rPr lang="en-US" sz="1200" i="0">
                    <a:latin typeface="Cambria Math" panose="02040503050406030204" pitchFamily="18" charset="0"/>
                  </a:rPr>
                  <a:t>1⟩)/√2</a:t>
                </a:r>
                <a:endParaRPr lang="en-ZA" dirty="0"/>
              </a:p>
              <a:p>
                <a:endParaRPr lang="en-ZA" dirty="0"/>
              </a:p>
              <a:p>
                <a:r>
                  <a:rPr lang="en-ZA" b="0" dirty="0"/>
                  <a:t>This example nicely illustrates how parallel single-qubit gates and a two-qubit controlled gate can be combined in the same quantum circuit.</a:t>
                </a:r>
              </a:p>
              <a:p>
                <a:endParaRPr lang="en-ZA" b="0" dirty="0"/>
              </a:p>
              <a:p>
                <a:r>
                  <a:rPr lang="en-ZA" dirty="0"/>
                  <a:t>The same result can be confirmed using matrix multiplication. The overall circuit transformation is </a:t>
                </a:r>
                <a:r>
                  <a:rPr lang="en-US" i="0">
                    <a:latin typeface="Cambria Math" panose="02040503050406030204" pitchFamily="18" charset="0"/>
                  </a:rPr>
                  <a:t>𝐶𝑍(𝑋</a:t>
                </a:r>
                <a:r>
                  <a:rPr lang="en-US" i="0">
                    <a:latin typeface="Cambria Math" panose="02040503050406030204" pitchFamily="18" charset="0"/>
                    <a:ea typeface="Cambria Math" panose="02040503050406030204" pitchFamily="18" charset="0"/>
                  </a:rPr>
                  <a:t>⨂</a:t>
                </a:r>
                <a:r>
                  <a:rPr lang="en-US" i="0">
                    <a:latin typeface="Cambria Math" panose="02040503050406030204" pitchFamily="18" charset="0"/>
                  </a:rPr>
                  <a:t>𝐻)</a:t>
                </a:r>
                <a:r>
                  <a:rPr lang="en-ZA" b="0" dirty="0"/>
                  <a:t> </a:t>
                </a:r>
                <a:r>
                  <a:rPr lang="en-ZA" dirty="0"/>
                  <a:t>and applying it to the initial state gives </a:t>
                </a:r>
              </a:p>
              <a:p>
                <a:r>
                  <a:rPr lang="en-US" i="0">
                    <a:latin typeface="Cambria Math" panose="02040503050406030204" pitchFamily="18" charset="0"/>
                  </a:rPr>
                  <a:t>𝐶𝑍(𝑋</a:t>
                </a:r>
                <a:r>
                  <a:rPr lang="en-US" i="0">
                    <a:latin typeface="Cambria Math" panose="02040503050406030204" pitchFamily="18" charset="0"/>
                    <a:ea typeface="Cambria Math" panose="02040503050406030204" pitchFamily="18" charset="0"/>
                  </a:rPr>
                  <a:t>⨂</a:t>
                </a:r>
                <a:r>
                  <a:rPr lang="en-US" i="0">
                    <a:latin typeface="Cambria Math" panose="02040503050406030204" pitchFamily="18" charset="0"/>
                  </a:rPr>
                  <a:t>𝐻)</a:t>
                </a:r>
                <a:r>
                  <a:rPr lang="en-ZA" i="0">
                    <a:latin typeface="Cambria Math" panose="02040503050406030204" pitchFamily="18" charset="0"/>
                  </a:rPr>
                  <a:t>|</a:t>
                </a:r>
                <a:r>
                  <a:rPr lang="en-US" i="0">
                    <a:latin typeface="Cambria Math" panose="02040503050406030204" pitchFamily="18" charset="0"/>
                  </a:rPr>
                  <a:t>00⟩</a:t>
                </a:r>
                <a:r>
                  <a:rPr lang="en-US" b="0" i="0">
                    <a:latin typeface="Cambria Math" panose="02040503050406030204" pitchFamily="18" charset="0"/>
                  </a:rPr>
                  <a:t>=</a:t>
                </a:r>
                <a:r>
                  <a:rPr lang="en-US" sz="1200" i="0">
                    <a:latin typeface="Cambria Math" panose="02040503050406030204" pitchFamily="18" charset="0"/>
                  </a:rPr>
                  <a:t>1/√2</a:t>
                </a:r>
                <a:r>
                  <a:rPr lang="sr-Latn-RS" sz="1200" i="0">
                    <a:latin typeface="Cambria Math" panose="02040503050406030204" pitchFamily="18" charset="0"/>
                    <a:ea typeface="Cambria Math" panose="02040503050406030204" pitchFamily="18" charset="0"/>
                  </a:rPr>
                  <a:t> (■8(</a:t>
                </a:r>
                <a:r>
                  <a:rPr lang="en-US" sz="1200" b="0" i="0">
                    <a:latin typeface="Cambria Math" panose="02040503050406030204" pitchFamily="18" charset="0"/>
                    <a:ea typeface="Cambria Math" panose="02040503050406030204" pitchFamily="18" charset="0"/>
                  </a:rPr>
                  <a:t>0@</a:t>
                </a:r>
                <a:r>
                  <a:rPr lang="en-US" sz="1200" i="0">
                    <a:latin typeface="Cambria Math" panose="02040503050406030204" pitchFamily="18" charset="0"/>
                    <a:ea typeface="Cambria Math" panose="02040503050406030204" pitchFamily="18" charset="0"/>
                  </a:rPr>
                  <a:t>0@</a:t>
                </a:r>
                <a:r>
                  <a:rPr lang="en-US" sz="1200" b="0" i="0">
                    <a:latin typeface="Cambria Math" panose="02040503050406030204" pitchFamily="18" charset="0"/>
                    <a:ea typeface="Cambria Math" panose="02040503050406030204" pitchFamily="18" charset="0"/>
                  </a:rPr>
                  <a:t>1@−1))=</a:t>
                </a:r>
                <a:r>
                  <a:rPr lang="en-US" sz="1200" i="0">
                    <a:latin typeface="Cambria Math" panose="02040503050406030204" pitchFamily="18" charset="0"/>
                  </a:rPr>
                  <a:t>(</a:t>
                </a:r>
                <a:r>
                  <a:rPr lang="en-ZA" sz="1200" i="0">
                    <a:latin typeface="Cambria Math" panose="02040503050406030204" pitchFamily="18" charset="0"/>
                  </a:rPr>
                  <a:t>├|</a:t>
                </a:r>
                <a:r>
                  <a:rPr lang="en-US" sz="1200" b="0" i="0">
                    <a:latin typeface="Cambria Math" panose="02040503050406030204" pitchFamily="18" charset="0"/>
                  </a:rPr>
                  <a:t>1</a:t>
                </a:r>
                <a:r>
                  <a:rPr lang="en-US" sz="1200" i="0">
                    <a:latin typeface="Cambria Math" panose="02040503050406030204" pitchFamily="18" charset="0"/>
                  </a:rPr>
                  <a:t>0⟩</a:t>
                </a:r>
                <a:r>
                  <a:rPr lang="en-US" sz="1200" b="0" i="0">
                    <a:latin typeface="Cambria Math" panose="02040503050406030204" pitchFamily="18" charset="0"/>
                  </a:rPr>
                  <a:t>−</a:t>
                </a:r>
                <a:r>
                  <a:rPr lang="en-ZA" sz="1200" b="0" i="0">
                    <a:latin typeface="Cambria Math" panose="02040503050406030204" pitchFamily="18" charset="0"/>
                  </a:rPr>
                  <a:t>├|</a:t>
                </a:r>
                <a:r>
                  <a:rPr lang="en-US" sz="1200" b="0" i="0">
                    <a:latin typeface="Cambria Math" panose="02040503050406030204" pitchFamily="18" charset="0"/>
                  </a:rPr>
                  <a:t>1</a:t>
                </a:r>
                <a:r>
                  <a:rPr lang="en-US" sz="1200" i="0">
                    <a:latin typeface="Cambria Math" panose="02040503050406030204" pitchFamily="18" charset="0"/>
                  </a:rPr>
                  <a:t>1⟩)/√2</a:t>
                </a:r>
                <a:endParaRPr lang="en-ZA" b="0" dirty="0"/>
              </a:p>
              <a:p>
                <a:pPr algn="just"/>
                <a:endParaRPr lang="en-ZA" dirty="0"/>
              </a:p>
              <a:p>
                <a:pPr algn="just"/>
                <a:endParaRPr lang="en-ZA" dirty="0"/>
              </a:p>
              <a:p>
                <a:pPr algn="just"/>
                <a:endParaRPr lang="en-ZA"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39</a:t>
            </a:fld>
            <a:endParaRPr lang="en-US"/>
          </a:p>
        </p:txBody>
      </p:sp>
    </p:spTree>
    <p:extLst>
      <p:ext uri="{BB962C8B-B14F-4D97-AF65-F5344CB8AC3E}">
        <p14:creationId xmlns:p14="http://schemas.microsoft.com/office/powerpoint/2010/main" val="37784072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A special class of algorithms are quantum error correction (QEC) algorithms. Like the previously mentioned algorithms, they are most often used as components within larger quantum programs.</a:t>
            </a:r>
          </a:p>
          <a:p>
            <a:pPr algn="just"/>
            <a:endParaRPr lang="en-ZA" b="0" dirty="0"/>
          </a:p>
          <a:p>
            <a:pPr algn="just"/>
            <a:r>
              <a:rPr lang="en-ZA" b="0" dirty="0"/>
              <a:t>Error correction is especially important, as qubits are highly sensitive to various types of noise and interference, for example, fluctuations in temperature or electromagnetic disturbances. Due to these effects, a qubit can typically maintain its quantum state for only a few milliseconds (in the case of some physical systems), or even less.</a:t>
            </a:r>
          </a:p>
          <a:p>
            <a:pPr algn="just"/>
            <a:endParaRPr lang="en-ZA" b="0" dirty="0"/>
          </a:p>
          <a:p>
            <a:pPr algn="just"/>
            <a:r>
              <a:rPr lang="en-ZA" b="0" dirty="0"/>
              <a:t>This limitation means that quantum programs must be executed within very short time windows to avoid decoherence. As quantum hardware continues to improve, coherence times are gradually increasing, allowing for longer and more complex computations.</a:t>
            </a:r>
          </a:p>
        </p:txBody>
      </p:sp>
      <p:sp>
        <p:nvSpPr>
          <p:cNvPr id="4" name="Slide Number Placeholder 3"/>
          <p:cNvSpPr>
            <a:spLocks noGrp="1"/>
          </p:cNvSpPr>
          <p:nvPr>
            <p:ph type="sldNum" sz="quarter" idx="5"/>
          </p:nvPr>
        </p:nvSpPr>
        <p:spPr/>
        <p:txBody>
          <a:bodyPr/>
          <a:lstStyle/>
          <a:p>
            <a:fld id="{1B2CE5E3-B8BD-D040-AC87-D640191DD8F1}" type="slidenum">
              <a:rPr lang="en-US" smtClean="0"/>
              <a:t>40</a:t>
            </a:fld>
            <a:endParaRPr lang="en-US"/>
          </a:p>
        </p:txBody>
      </p:sp>
    </p:spTree>
    <p:extLst>
      <p:ext uri="{BB962C8B-B14F-4D97-AF65-F5344CB8AC3E}">
        <p14:creationId xmlns:p14="http://schemas.microsoft.com/office/powerpoint/2010/main" val="38470871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As an example, the figure shows a circuit that creates a 4-qubit GHZ state. The top histogram comes from a simulator. It shows the two outcomes of an ideal GHZ state, each appearing with almost equal probability.</a:t>
                </a:r>
              </a:p>
              <a:p>
                <a:pPr algn="just"/>
                <a:endParaRPr lang="en-ZA" b="0" dirty="0"/>
              </a:p>
              <a:p>
                <a:pPr algn="just"/>
                <a:r>
                  <a:rPr lang="en-ZA" b="0" dirty="0"/>
                  <a:t>The bottom histogram comes from real hardware. Here, the results are less ideal, mainly because of noise and imperfections in the device.</a:t>
                </a:r>
              </a:p>
              <a:p>
                <a:pPr algn="just"/>
                <a:endParaRPr lang="en-ZA" b="0" dirty="0"/>
              </a:p>
              <a:p>
                <a:pPr algn="just"/>
                <a:r>
                  <a:rPr lang="en-ZA" b="0" dirty="0"/>
                  <a:t>To study such effects, </a:t>
                </a:r>
                <a:r>
                  <a:rPr lang="en-ZA" b="0" dirty="0" err="1"/>
                  <a:t>Qiskit</a:t>
                </a:r>
                <a:r>
                  <a:rPr lang="en-ZA" b="0" dirty="0"/>
                  <a:t> has a module that can add artificial noise into simulations. This lets us test and optimize algorithms under more realistic conditions, even without running them on a real quantum computer.</a:t>
                </a:r>
              </a:p>
              <a:p>
                <a:pPr algn="just"/>
                <a:endParaRPr lang="en-ZA" b="0" dirty="0"/>
              </a:p>
              <a:p>
                <a:pPr algn="just"/>
                <a:r>
                  <a:rPr lang="en-ZA" b="0" dirty="0"/>
                  <a:t>Some errors can be reduced by choosing better gates or optimizing the circuit layout, while more serious errors need special techniques such as error detection and correction.</a:t>
                </a:r>
              </a:p>
            </p:txBody>
          </p:sp>
        </mc:Choice>
        <mc:Fallback xmlns="">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In addition to external influences, quantum state degradation can also occur due to the processing itself, i.e., the application of quantum gates. As an example, the figure shows a quantum circuit for generating a 4-qubit GHZ state (</a:t>
                </a:r>
                <a:r>
                  <a:rPr lang="en-US" sz="1200" i="0">
                    <a:solidFill>
                      <a:srgbClr val="002060"/>
                    </a:solidFill>
                    <a:latin typeface="Cambria Math" panose="02040503050406030204" pitchFamily="18" charset="0"/>
                    <a:ea typeface="Cambria Math" panose="02040503050406030204" pitchFamily="18" charset="0"/>
                  </a:rPr>
                  <a:t>├ |</a:t>
                </a:r>
                <a:r>
                  <a:rPr lang="sr-Latn-RS" sz="1200" i="0">
                    <a:solidFill>
                      <a:srgbClr val="002060"/>
                    </a:solidFill>
                    <a:latin typeface="Cambria Math" panose="02040503050406030204" pitchFamily="18" charset="0"/>
                    <a:ea typeface="Cambria Math" panose="02040503050406030204" pitchFamily="18" charset="0"/>
                  </a:rPr>
                  <a:t>𝐺𝐻𝑍⟩</a:t>
                </a:r>
                <a:r>
                  <a:rPr lang="en-US" sz="1200" i="0">
                    <a:solidFill>
                      <a:srgbClr val="002060"/>
                    </a:solidFill>
                    <a:latin typeface="Cambria Math" panose="02040503050406030204" pitchFamily="18" charset="0"/>
                    <a:ea typeface="Cambria Math" panose="02040503050406030204" pitchFamily="18" charset="0"/>
                  </a:rPr>
                  <a:t>_</a:t>
                </a:r>
                <a:r>
                  <a:rPr lang="sr-Latn-RS" sz="1200" b="0" i="0">
                    <a:solidFill>
                      <a:srgbClr val="002060"/>
                    </a:solidFill>
                    <a:latin typeface="Cambria Math" panose="02040503050406030204" pitchFamily="18" charset="0"/>
                    <a:ea typeface="Cambria Math" panose="02040503050406030204" pitchFamily="18" charset="0"/>
                  </a:rPr>
                  <a:t>4</a:t>
                </a:r>
                <a:r>
                  <a:rPr lang="en-ZA" b="0" dirty="0"/>
                  <a:t>).</a:t>
                </a:r>
              </a:p>
              <a:p>
                <a:pPr algn="just"/>
                <a:endParaRPr lang="en-ZA" b="0" dirty="0"/>
              </a:p>
              <a:p>
                <a:pPr algn="just"/>
                <a:r>
                  <a:rPr lang="en-ZA" b="0" dirty="0"/>
                  <a:t>The top histogram displays the measurement results obtained from a quantum simulator. It shows that the two theoretically expected outcomes were measured with approximately equal probability, as expected for an ideal GHZ state.</a:t>
                </a:r>
              </a:p>
              <a:p>
                <a:pPr algn="just"/>
                <a:endParaRPr lang="en-ZA" b="0" dirty="0"/>
              </a:p>
              <a:p>
                <a:pPr algn="just"/>
                <a:r>
                  <a:rPr lang="en-ZA" b="0" dirty="0"/>
                  <a:t>The bottom histogram shows the output of the same circuit executed on real quantum hardware. It is evident that the result is no longer ideal, primarily due to noise and imperfections in the physical device.</a:t>
                </a:r>
              </a:p>
              <a:p>
                <a:pPr algn="just"/>
                <a:endParaRPr lang="en-ZA" b="0" dirty="0"/>
              </a:p>
              <a:p>
                <a:pPr algn="just"/>
                <a:r>
                  <a:rPr lang="en-ZA" b="0" dirty="0"/>
                  <a:t>To account for such execution errors in simulations, </a:t>
                </a:r>
                <a:r>
                  <a:rPr lang="en-ZA" b="0" dirty="0" err="1"/>
                  <a:t>Qiskit</a:t>
                </a:r>
                <a:r>
                  <a:rPr lang="en-ZA" b="0" dirty="0"/>
                  <a:t> includes a special module that can artificially inject noise into simulations. This allows programmers to optimize algorithms under realistic, noisy conditions — even without access to real hardware.</a:t>
                </a:r>
              </a:p>
              <a:p>
                <a:pPr algn="just"/>
                <a:endParaRPr lang="en-ZA" b="0" dirty="0"/>
              </a:p>
              <a:p>
                <a:pPr algn="just"/>
                <a:r>
                  <a:rPr lang="en-ZA" b="0" dirty="0"/>
                  <a:t>Some errors can be mitigated by carefully choosing quantum gates or optimizing the circuit layout, while others require the application of dedicated error detection and correction methods.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41</a:t>
            </a:fld>
            <a:endParaRPr lang="en-US"/>
          </a:p>
        </p:txBody>
      </p:sp>
    </p:spTree>
    <p:extLst>
      <p:ext uri="{BB962C8B-B14F-4D97-AF65-F5344CB8AC3E}">
        <p14:creationId xmlns:p14="http://schemas.microsoft.com/office/powerpoint/2010/main" val="33219947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Let’s Start with a Simple Classical Error Correction Model. As a simple example, we’ll use data transmission.</a:t>
            </a:r>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Suppose a stream of bits is transmitted over a single line. </a:t>
            </a:r>
            <a:r>
              <a:rPr lang="en-ZA" dirty="0"/>
              <a:t>If the probability of a bit flipping is P, then the probability of transmission without errors is 1−P.</a:t>
            </a:r>
            <a:endParaRPr lang="en-ZA" b="0" dirty="0"/>
          </a:p>
          <a:p>
            <a:pPr algn="just"/>
            <a:endParaRPr lang="en-ZA" b="0" dirty="0"/>
          </a:p>
          <a:p>
            <a:pPr marL="228600" indent="-228600" algn="l">
              <a:buFont typeface="+mj-lt"/>
              <a:buAutoNum type="arabicPeriod"/>
            </a:pPr>
            <a:r>
              <a:rPr lang="en-ZA" dirty="0"/>
              <a:t>The simplest form of error correction is the repetition, or redundant, code.</a:t>
            </a:r>
            <a:r>
              <a:rPr lang="en-ZA" b="0" dirty="0"/>
              <a:t> As the name suggests, each bit is sent multiple times. </a:t>
            </a:r>
            <a:r>
              <a:rPr lang="en-ZA" dirty="0"/>
              <a:t>For example, with three repetitions, 0 is encoded as 000 and 1 as 111. These sequences are called the logical zero and logical one.</a:t>
            </a:r>
          </a:p>
          <a:p>
            <a:pPr marL="228600" indent="-228600" algn="l">
              <a:buFont typeface="+mj-lt"/>
              <a:buAutoNum type="arabicPeriod"/>
            </a:pPr>
            <a:endParaRPr lang="en-ZA" b="0" dirty="0"/>
          </a:p>
          <a:p>
            <a:pPr marL="228600" indent="-228600" algn="l">
              <a:buFont typeface="+mj-lt"/>
              <a:buAutoNum type="arabicPeriod"/>
            </a:pPr>
            <a:r>
              <a:rPr lang="en-ZA" b="0" dirty="0"/>
              <a:t>If the probability of a single bit-flip is P, then the probability that all three bits are flipped is P</a:t>
            </a:r>
            <a:r>
              <a:rPr lang="en-ZA" b="0" baseline="30000" dirty="0"/>
              <a:t>3</a:t>
            </a:r>
            <a:r>
              <a:rPr lang="en-ZA" b="0" dirty="0"/>
              <a:t>. The probability that no bit is flipped is (1−P)</a:t>
            </a:r>
            <a:r>
              <a:rPr lang="en-ZA" b="0" baseline="30000" dirty="0"/>
              <a:t>3</a:t>
            </a:r>
            <a:r>
              <a:rPr lang="en-ZA" b="0" dirty="0"/>
              <a:t>. In between these two extremes are the cases where one or two bits are flipped.</a:t>
            </a:r>
          </a:p>
          <a:p>
            <a:pPr marL="228600" indent="-228600" algn="l">
              <a:buFont typeface="+mj-lt"/>
              <a:buAutoNum type="arabicPeriod"/>
            </a:pPr>
            <a:endParaRPr lang="en-ZA" b="0" dirty="0"/>
          </a:p>
          <a:p>
            <a:pPr marL="228600" indent="-228600" algn="l">
              <a:buFont typeface="+mj-lt"/>
              <a:buAutoNum type="arabicPeriod"/>
            </a:pPr>
            <a:r>
              <a:rPr lang="en-ZA" b="0" dirty="0"/>
              <a:t>We can group the possible outcomes into two categories:</a:t>
            </a:r>
          </a:p>
          <a:p>
            <a:pPr marL="171450" indent="-171450" algn="l">
              <a:buFont typeface="Arial" panose="020B0604020202020204" pitchFamily="34" charset="0"/>
              <a:buChar char="•"/>
            </a:pPr>
            <a:r>
              <a:rPr lang="en-ZA" b="0" dirty="0"/>
              <a:t>Correctable errors: Transmission with zero or one flipped bit. These can be corrected using majority voting, where the bit value occurring more frequently is taken as correct.</a:t>
            </a:r>
          </a:p>
          <a:p>
            <a:pPr marL="171450" indent="-171450" algn="l">
              <a:buFont typeface="Arial" panose="020B0604020202020204" pitchFamily="34" charset="0"/>
              <a:buChar char="•"/>
            </a:pPr>
            <a:r>
              <a:rPr lang="en-ZA" b="0" dirty="0" err="1"/>
              <a:t>Uncorrectable</a:t>
            </a:r>
            <a:r>
              <a:rPr lang="en-ZA" b="0" dirty="0"/>
              <a:t> errors: Cases where two or all three bits are flipped. These lead to incorrect decoding.</a:t>
            </a:r>
            <a:br>
              <a:rPr lang="en-ZA" b="0" dirty="0"/>
            </a:br>
            <a:r>
              <a:rPr lang="en-ZA" b="0" dirty="0"/>
              <a:t>The total probability for each group is obtained by summing the individual probabilities within that group.</a:t>
            </a:r>
            <a:br>
              <a:rPr lang="en-ZA" b="0" dirty="0"/>
            </a:br>
            <a:r>
              <a:rPr lang="en-ZA" b="0" dirty="0"/>
              <a:t>The effective error probability (highlighted in red) can be approximated by P</a:t>
            </a:r>
            <a:r>
              <a:rPr lang="en-ZA" b="0" baseline="30000" dirty="0"/>
              <a:t>2</a:t>
            </a:r>
            <a:r>
              <a:rPr lang="en-ZA" b="0" dirty="0"/>
              <a:t>, which is significantly smaller than the original error rate P.</a:t>
            </a:r>
          </a:p>
          <a:p>
            <a:pPr marL="171450" indent="-171450" algn="l">
              <a:buFont typeface="Arial" panose="020B0604020202020204" pitchFamily="34" charset="0"/>
              <a:buChar char="•"/>
            </a:pPr>
            <a:endParaRPr lang="en-ZA" b="0" dirty="0"/>
          </a:p>
          <a:p>
            <a:pPr marL="228600" indent="-228600" algn="l">
              <a:buFont typeface="+mj-lt"/>
              <a:buAutoNum type="arabicPeriod" startAt="4"/>
            </a:pPr>
            <a:r>
              <a:rPr lang="en-ZA" b="0" dirty="0"/>
              <a:t>For example, if the bit-flip probability without error correction is 1%, then using a 3-bit repetition code reduces the error rate to roughly 0.03%, which is 30 times smaller.</a:t>
            </a:r>
          </a:p>
        </p:txBody>
      </p:sp>
      <p:sp>
        <p:nvSpPr>
          <p:cNvPr id="4" name="Slide Number Placeholder 3"/>
          <p:cNvSpPr>
            <a:spLocks noGrp="1"/>
          </p:cNvSpPr>
          <p:nvPr>
            <p:ph type="sldNum" sz="quarter" idx="5"/>
          </p:nvPr>
        </p:nvSpPr>
        <p:spPr/>
        <p:txBody>
          <a:bodyPr/>
          <a:lstStyle/>
          <a:p>
            <a:fld id="{1B2CE5E3-B8BD-D040-AC87-D640191DD8F1}" type="slidenum">
              <a:rPr lang="en-US" smtClean="0"/>
              <a:t>42</a:t>
            </a:fld>
            <a:endParaRPr lang="en-US"/>
          </a:p>
        </p:txBody>
      </p:sp>
    </p:spTree>
    <p:extLst>
      <p:ext uri="{BB962C8B-B14F-4D97-AF65-F5344CB8AC3E}">
        <p14:creationId xmlns:p14="http://schemas.microsoft.com/office/powerpoint/2010/main" val="9576834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i="0" dirty="0"/>
                  <a:t>Unlike classical bits, which can only flip between 0 and 1, a qubit can suffer from a whole range of continuous errors. Think of a qubit on the Bloch sphere: any small rotation </a:t>
                </a:r>
                <a14:m>
                  <m:oMath xmlns:m="http://schemas.openxmlformats.org/officeDocument/2006/math">
                    <m:r>
                      <m:rPr>
                        <m:sty m:val="p"/>
                      </m:rPr>
                      <a:rPr lang="en-US" sz="1200" i="0" smtClean="0">
                        <a:latin typeface="Cambria Math" panose="02040503050406030204" pitchFamily="18" charset="0"/>
                      </a:rPr>
                      <m:t>δθ</m:t>
                    </m:r>
                  </m:oMath>
                </a14:m>
                <a:r>
                  <a:rPr lang="en-ZA" i="0" dirty="0"/>
                  <a:t> and </a:t>
                </a:r>
                <a14:m>
                  <m:oMath xmlns:m="http://schemas.openxmlformats.org/officeDocument/2006/math">
                    <m:r>
                      <m:rPr>
                        <m:sty m:val="p"/>
                      </m:rPr>
                      <a:rPr lang="en-US" sz="1200" i="0" smtClean="0">
                        <a:latin typeface="Cambria Math" panose="02040503050406030204" pitchFamily="18" charset="0"/>
                      </a:rPr>
                      <m:t>δφ</m:t>
                    </m:r>
                  </m:oMath>
                </a14:m>
                <a:r>
                  <a:rPr lang="en-ZA" i="0" dirty="0"/>
                  <a:t> by a unitary operator </a:t>
                </a:r>
                <a14:m>
                  <m:oMath xmlns:m="http://schemas.openxmlformats.org/officeDocument/2006/math">
                    <m:r>
                      <m:rPr>
                        <m:sty m:val="p"/>
                      </m:rPr>
                      <a:rPr lang="en-US" sz="1200" i="0" smtClean="0">
                        <a:latin typeface="Cambria Math" panose="02040503050406030204" pitchFamily="18" charset="0"/>
                      </a:rPr>
                      <m:t>U</m:t>
                    </m:r>
                  </m:oMath>
                </a14:m>
                <a:r>
                  <a:rPr lang="en-ZA" i="0" dirty="0"/>
                  <a:t> can represent an error, and these rotations can take on infinitely many values.</a:t>
                </a:r>
              </a:p>
              <a:p>
                <a:pPr algn="just"/>
                <a:endParaRPr lang="en-ZA" b="0" i="0" dirty="0"/>
              </a:p>
              <a:p>
                <a:pPr marL="228600" indent="-228600" algn="just">
                  <a:buFont typeface="+mj-lt"/>
                  <a:buAutoNum type="arabicPeriod"/>
                </a:pPr>
                <a:r>
                  <a:rPr lang="en-ZA" i="0" dirty="0"/>
                  <a:t>If such errors don’t destroy the quantum state completely, that is, if there’s no decoherence, we can rewrite the error operator </a:t>
                </a:r>
                <a14:m>
                  <m:oMath xmlns:m="http://schemas.openxmlformats.org/officeDocument/2006/math">
                    <m:r>
                      <m:rPr>
                        <m:sty m:val="p"/>
                      </m:rPr>
                      <a:rPr lang="en-US" sz="1200" i="0" smtClean="0">
                        <a:latin typeface="Cambria Math" panose="02040503050406030204" pitchFamily="18" charset="0"/>
                      </a:rPr>
                      <m:t>U</m:t>
                    </m:r>
                  </m:oMath>
                </a14:m>
                <a:r>
                  <a:rPr lang="en-ZA" i="0" dirty="0"/>
                  <a:t> in terms of the Pauli operators </a:t>
                </a:r>
                <a14:m>
                  <m:oMath xmlns:m="http://schemas.openxmlformats.org/officeDocument/2006/math">
                    <m:r>
                      <a:rPr lang="en-US" sz="1200" i="1" smtClean="0">
                        <a:latin typeface="Cambria Math" panose="02040503050406030204" pitchFamily="18" charset="0"/>
                      </a:rPr>
                      <m:t>𝐼</m:t>
                    </m:r>
                  </m:oMath>
                </a14:m>
                <a:r>
                  <a:rPr lang="en-ZA" b="0" i="1" dirty="0"/>
                  <a:t>, </a:t>
                </a:r>
                <a14:m>
                  <m:oMath xmlns:m="http://schemas.openxmlformats.org/officeDocument/2006/math">
                    <m:r>
                      <a:rPr lang="en-US" sz="1200" b="0" i="1" smtClean="0">
                        <a:latin typeface="Cambria Math" panose="02040503050406030204" pitchFamily="18" charset="0"/>
                      </a:rPr>
                      <m:t>𝑋</m:t>
                    </m:r>
                  </m:oMath>
                </a14:m>
                <a:r>
                  <a:rPr lang="en-ZA" b="0" i="1" dirty="0"/>
                  <a:t>, </a:t>
                </a:r>
                <a14:m>
                  <m:oMath xmlns:m="http://schemas.openxmlformats.org/officeDocument/2006/math">
                    <m:r>
                      <a:rPr lang="en-US" sz="1200" b="0" i="1" smtClean="0">
                        <a:latin typeface="Cambria Math" panose="02040503050406030204" pitchFamily="18" charset="0"/>
                      </a:rPr>
                      <m:t>𝑌</m:t>
                    </m:r>
                  </m:oMath>
                </a14:m>
                <a:r>
                  <a:rPr lang="en-ZA" b="0" i="0" dirty="0"/>
                  <a:t>, and </a:t>
                </a:r>
                <a14:m>
                  <m:oMath xmlns:m="http://schemas.openxmlformats.org/officeDocument/2006/math">
                    <m:r>
                      <m:rPr>
                        <m:sty m:val="p"/>
                      </m:rPr>
                      <a:rPr lang="en-US" sz="1200" b="0" i="0" smtClean="0">
                        <a:latin typeface="Cambria Math" panose="02040503050406030204" pitchFamily="18" charset="0"/>
                      </a:rPr>
                      <m:t>Z</m:t>
                    </m:r>
                  </m:oMath>
                </a14:m>
                <a:r>
                  <a:rPr lang="en-ZA" i="0" dirty="0"/>
                  <a:t>. Since </a:t>
                </a:r>
                <a14:m>
                  <m:oMath xmlns:m="http://schemas.openxmlformats.org/officeDocument/2006/math">
                    <m:r>
                      <a:rPr lang="sr-Latn-RS" sz="1200" i="1" smtClean="0">
                        <a:latin typeface="Cambria Math" panose="02040503050406030204" pitchFamily="18" charset="0"/>
                      </a:rPr>
                      <m:t>𝑌</m:t>
                    </m:r>
                    <m:r>
                      <a:rPr lang="sr-Latn-RS" sz="1200" i="1" smtClean="0">
                        <a:latin typeface="Cambria Math" panose="02040503050406030204" pitchFamily="18" charset="0"/>
                      </a:rPr>
                      <m:t>=</m:t>
                    </m:r>
                    <m:r>
                      <a:rPr lang="sr-Latn-RS" sz="1200" i="1" smtClean="0">
                        <a:latin typeface="Cambria Math" panose="02040503050406030204" pitchFamily="18" charset="0"/>
                      </a:rPr>
                      <m:t>𝑖𝑋𝑍</m:t>
                    </m:r>
                  </m:oMath>
                </a14:m>
                <a:r>
                  <a:rPr lang="en-ZA" i="0" dirty="0"/>
                  <a:t>, this description often simplifies to just the set </a:t>
                </a:r>
                <a14:m>
                  <m:oMath xmlns:m="http://schemas.openxmlformats.org/officeDocument/2006/math">
                    <m:r>
                      <a:rPr lang="en-US" sz="1200" b="0" i="0" smtClean="0">
                        <a:latin typeface="Cambria Math" panose="02040503050406030204" pitchFamily="18" charset="0"/>
                      </a:rPr>
                      <m:t>{</m:t>
                    </m:r>
                    <m:r>
                      <a:rPr lang="en-US" sz="1200" b="0" i="1" smtClean="0">
                        <a:latin typeface="Cambria Math" panose="02040503050406030204" pitchFamily="18" charset="0"/>
                      </a:rPr>
                      <m:t>𝐼</m:t>
                    </m:r>
                    <m:r>
                      <a:rPr lang="en-US" sz="1200" b="0" i="1" smtClean="0">
                        <a:latin typeface="Cambria Math" panose="02040503050406030204" pitchFamily="18" charset="0"/>
                      </a:rPr>
                      <m:t>,</m:t>
                    </m:r>
                    <m:r>
                      <a:rPr lang="en-US" sz="1200" b="0" i="1" smtClean="0">
                        <a:latin typeface="Cambria Math" panose="02040503050406030204" pitchFamily="18" charset="0"/>
                      </a:rPr>
                      <m:t>𝑋</m:t>
                    </m:r>
                    <m:r>
                      <a:rPr lang="en-US" sz="1200" b="0" i="1" smtClean="0">
                        <a:latin typeface="Cambria Math" panose="02040503050406030204" pitchFamily="18" charset="0"/>
                      </a:rPr>
                      <m:t>,</m:t>
                    </m:r>
                    <m:r>
                      <a:rPr lang="en-US" sz="1200" b="0" i="1" smtClean="0">
                        <a:latin typeface="Cambria Math" panose="02040503050406030204" pitchFamily="18" charset="0"/>
                      </a:rPr>
                      <m:t>𝑍</m:t>
                    </m:r>
                    <m:r>
                      <a:rPr lang="en-US" sz="1200" b="0" i="0" smtClean="0">
                        <a:latin typeface="Cambria Math" panose="02040503050406030204" pitchFamily="18" charset="0"/>
                      </a:rPr>
                      <m:t>}</m:t>
                    </m:r>
                  </m:oMath>
                </a14:m>
                <a:r>
                  <a:rPr lang="en-ZA" i="0" dirty="0"/>
                  <a:t>. This step is called the digitalization of quantum errors.</a:t>
                </a:r>
              </a:p>
              <a:p>
                <a:pPr marL="228600" indent="-228600" algn="just">
                  <a:buFont typeface="+mj-lt"/>
                  <a:buAutoNum type="arabicPeriod"/>
                </a:pPr>
                <a:endParaRPr lang="en-ZA" b="0" i="0" dirty="0"/>
              </a:p>
              <a:p>
                <a:pPr marL="228600" indent="-228600">
                  <a:buFont typeface="+mj-lt"/>
                  <a:buAutoNum type="arabicPeriod"/>
                </a:pPr>
                <a:r>
                  <a:rPr lang="en-ZA" b="0" dirty="0"/>
                  <a:t>So in practice, quantum errors are treated as two main types:</a:t>
                </a:r>
              </a:p>
              <a:p>
                <a:pPr marL="628650" lvl="1" indent="-171450">
                  <a:buFont typeface="Arial" panose="020B0604020202020204" pitchFamily="34" charset="0"/>
                  <a:buChar char="•"/>
                </a:pPr>
                <a:r>
                  <a:rPr lang="en-ZA" b="0" dirty="0"/>
                  <a:t>Pauli X errors (bit-flip), where </a:t>
                </a:r>
                <a14:m>
                  <m:oMath xmlns:m="http://schemas.openxmlformats.org/officeDocument/2006/math">
                    <m:d>
                      <m:dPr>
                        <m:begChr m:val="|"/>
                        <m:endChr m:val="⟩"/>
                        <m:ctrlPr>
                          <a:rPr lang="en-US" sz="1200" i="1" smtClean="0">
                            <a:latin typeface="Cambria Math" panose="02040503050406030204" pitchFamily="18" charset="0"/>
                          </a:rPr>
                        </m:ctrlPr>
                      </m:dPr>
                      <m:e>
                        <m:r>
                          <a:rPr lang="en-US" sz="1200" b="0" i="0" smtClean="0">
                            <a:latin typeface="Cambria Math" panose="02040503050406030204" pitchFamily="18" charset="0"/>
                          </a:rPr>
                          <m:t>0</m:t>
                        </m:r>
                      </m:e>
                    </m:d>
                  </m:oMath>
                </a14:m>
                <a:r>
                  <a:rPr lang="en-ZA" b="0" dirty="0"/>
                  <a:t> and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1</m:t>
                        </m:r>
                      </m:e>
                    </m:d>
                  </m:oMath>
                </a14:m>
                <a:r>
                  <a:rPr lang="en-ZA" b="0" dirty="0"/>
                  <a:t> are swapped, and</a:t>
                </a:r>
              </a:p>
              <a:p>
                <a:pPr marL="628650" lvl="1" indent="-171450">
                  <a:buFont typeface="Arial" panose="020B0604020202020204" pitchFamily="34" charset="0"/>
                  <a:buChar char="•"/>
                </a:pPr>
                <a:r>
                  <a:rPr lang="en-ZA" b="0" dirty="0"/>
                  <a:t>Pauli Z errors (phase-flip), where the relative phase changes, for example </a:t>
                </a:r>
                <a14:m>
                  <m:oMath xmlns:m="http://schemas.openxmlformats.org/officeDocument/2006/math">
                    <m:d>
                      <m:dPr>
                        <m:begChr m:val="|"/>
                        <m:endChr m:val="⟩"/>
                        <m:ctrlPr>
                          <a:rPr lang="en-US" sz="1200" i="1" smtClean="0">
                            <a:latin typeface="Cambria Math" panose="02040503050406030204" pitchFamily="18" charset="0"/>
                          </a:rPr>
                        </m:ctrlPr>
                      </m:dPr>
                      <m:e>
                        <m:r>
                          <a:rPr lang="en-US" sz="1200" b="0" i="0" smtClean="0">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US" sz="1200" i="1" smtClean="0">
                            <a:latin typeface="Cambria Math" panose="02040503050406030204" pitchFamily="18" charset="0"/>
                          </a:rPr>
                        </m:ctrlPr>
                      </m:dPr>
                      <m:e>
                        <m:r>
                          <a:rPr lang="en-US" sz="1200" b="0" i="0" smtClean="0">
                            <a:latin typeface="Cambria Math" panose="02040503050406030204" pitchFamily="18" charset="0"/>
                          </a:rPr>
                          <m:t>1</m:t>
                        </m:r>
                      </m:e>
                    </m:d>
                  </m:oMath>
                </a14:m>
                <a:r>
                  <a:rPr lang="en-ZA" dirty="0"/>
                  <a:t> </a:t>
                </a:r>
                <a:r>
                  <a:rPr lang="en-ZA" b="0" dirty="0"/>
                  <a:t> turning into </a:t>
                </a:r>
                <a14:m>
                  <m:oMath xmlns:m="http://schemas.openxmlformats.org/officeDocument/2006/math">
                    <m:d>
                      <m:dPr>
                        <m:begChr m:val="|"/>
                        <m:endChr m:val="⟩"/>
                        <m:ctrlPr>
                          <a:rPr lang="en-US" sz="1200" i="1" smtClean="0">
                            <a:latin typeface="Cambria Math" panose="02040503050406030204" pitchFamily="18" charset="0"/>
                          </a:rPr>
                        </m:ctrlPr>
                      </m:dPr>
                      <m:e>
                        <m:r>
                          <a:rPr lang="en-US" sz="1200" b="0" i="0" smtClean="0">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US" sz="1200" i="1" smtClean="0">
                            <a:latin typeface="Cambria Math" panose="02040503050406030204" pitchFamily="18" charset="0"/>
                          </a:rPr>
                        </m:ctrlPr>
                      </m:dPr>
                      <m:e>
                        <m:r>
                          <a:rPr lang="en-US" sz="1200" b="0" i="0" smtClean="0">
                            <a:latin typeface="Cambria Math" panose="02040503050406030204" pitchFamily="18" charset="0"/>
                          </a:rPr>
                          <m:t>1</m:t>
                        </m:r>
                      </m:e>
                    </m:d>
                  </m:oMath>
                </a14:m>
                <a:r>
                  <a:rPr lang="en-ZA" b="0" dirty="0"/>
                  <a:t>.</a:t>
                </a:r>
              </a:p>
              <a:p>
                <a:pPr marL="228600" indent="-228600" algn="just">
                  <a:buFont typeface="+mj-lt"/>
                  <a:buAutoNum type="arabicPeriod"/>
                </a:pPr>
                <a:endParaRPr lang="en-ZA" b="0" i="0" dirty="0"/>
              </a:p>
            </p:txBody>
          </p:sp>
        </mc:Choice>
        <mc:Fallback xmlns="">
          <p:sp>
            <p:nvSpPr>
              <p:cNvPr id="3" name="Notes Placeholder 2"/>
              <p:cNvSpPr>
                <a:spLocks noGrp="1"/>
              </p:cNvSpPr>
              <p:nvPr>
                <p:ph type="body" idx="1"/>
              </p:nvPr>
            </p:nvSpPr>
            <p:spPr/>
            <p:txBody>
              <a:bodyPr/>
              <a:lstStyle/>
              <a:p>
                <a:pPr algn="just"/>
                <a:r>
                  <a:rPr lang="en-ZA" b="0" dirty="0"/>
                  <a:t>Unlike classical data, a qubit is subject to continuous types of errors, rather than discrete ones. Consider a qubit represented on the Bloch sphere, affected by a unitary operator </a:t>
                </a:r>
                <a:r>
                  <a:rPr lang="en-US" sz="1200" i="0">
                    <a:latin typeface="Cambria Math" panose="02040503050406030204" pitchFamily="18" charset="0"/>
                  </a:rPr>
                  <a:t>𝑈</a:t>
                </a:r>
                <a:r>
                  <a:rPr lang="en-ZA" b="0" dirty="0"/>
                  <a:t>, which models a general quantum error.</a:t>
                </a:r>
              </a:p>
              <a:p>
                <a:pPr algn="just"/>
                <a:endParaRPr lang="en-ZA" b="0" dirty="0"/>
              </a:p>
              <a:p>
                <a:pPr algn="just"/>
                <a:r>
                  <a:rPr lang="en-ZA" dirty="0"/>
                  <a:t>The operator </a:t>
                </a:r>
                <a:r>
                  <a:rPr lang="en-US" sz="1200" i="0">
                    <a:latin typeface="Cambria Math" panose="02040503050406030204" pitchFamily="18" charset="0"/>
                  </a:rPr>
                  <a:t>𝑈(𝛿𝜃,𝛿𝜑)</a:t>
                </a:r>
                <a:r>
                  <a:rPr lang="el-GR" dirty="0"/>
                  <a:t> </a:t>
                </a:r>
                <a:r>
                  <a:rPr lang="en-ZA" dirty="0"/>
                  <a:t>describes a general unitary rotation on the Bloch sphere. Since the parameters </a:t>
                </a:r>
                <a:r>
                  <a:rPr lang="en-US" sz="1200" i="0">
                    <a:latin typeface="Cambria Math" panose="02040503050406030204" pitchFamily="18" charset="0"/>
                  </a:rPr>
                  <a:t>𝛿𝜃</a:t>
                </a:r>
                <a:r>
                  <a:rPr lang="el-GR" dirty="0"/>
                  <a:t> </a:t>
                </a:r>
                <a:r>
                  <a:rPr lang="en-ZA" dirty="0"/>
                  <a:t>and </a:t>
                </a:r>
                <a:r>
                  <a:rPr lang="en-US" sz="1200" i="0">
                    <a:latin typeface="Cambria Math" panose="02040503050406030204" pitchFamily="18" charset="0"/>
                  </a:rPr>
                  <a:t>𝛿𝜑</a:t>
                </a:r>
                <a:r>
                  <a:rPr lang="el-GR" dirty="0"/>
                  <a:t> </a:t>
                </a:r>
                <a:r>
                  <a:rPr lang="en-ZA" dirty="0"/>
                  <a:t>can take on a continuous range of values, the resulting errors are also </a:t>
                </a:r>
                <a:r>
                  <a:rPr lang="en-ZA" b="0" dirty="0"/>
                  <a:t>continuous in nature</a:t>
                </a:r>
                <a:r>
                  <a:rPr lang="en-ZA" dirty="0"/>
                  <a:t>, rather than discrete flips.</a:t>
                </a:r>
                <a:r>
                  <a:rPr lang="en-ZA" b="0" dirty="0"/>
                  <a:t> This is fundamentally different from classical bit-flip errors, where a 0 is simply turned into a 1 or vice versa.</a:t>
                </a:r>
              </a:p>
              <a:p>
                <a:pPr algn="just"/>
                <a:endParaRPr lang="en-ZA" b="0" dirty="0"/>
              </a:p>
              <a:p>
                <a:pPr algn="just"/>
                <a:r>
                  <a:rPr lang="en-ZA" b="0" dirty="0"/>
                  <a:t>However, if such errors do not lead to decoherence, that is, the loss of the qubit's quantum state, it is possible to perform a Pauli decomposition of the error operator </a:t>
                </a:r>
                <a:r>
                  <a:rPr lang="en-US" sz="1200" i="0">
                    <a:latin typeface="Cambria Math" panose="02040503050406030204" pitchFamily="18" charset="0"/>
                  </a:rPr>
                  <a:t>𝑈</a:t>
                </a:r>
                <a:r>
                  <a:rPr lang="en-ZA" b="0" dirty="0"/>
                  <a:t>.</a:t>
                </a:r>
              </a:p>
              <a:p>
                <a:pPr algn="just"/>
                <a:endParaRPr lang="en-ZA" b="0" dirty="0"/>
              </a:p>
              <a:p>
                <a:pPr algn="just"/>
                <a:r>
                  <a:rPr lang="en-ZA" b="0" dirty="0"/>
                  <a:t>These so-called coherent errors can be described in terms of the Pauli operators: </a:t>
                </a:r>
                <a:r>
                  <a:rPr lang="en-US" sz="1200" i="0">
                    <a:latin typeface="Cambria Math" panose="02040503050406030204" pitchFamily="18" charset="0"/>
                  </a:rPr>
                  <a:t>𝐼</a:t>
                </a:r>
                <a:r>
                  <a:rPr lang="en-ZA" b="0" dirty="0"/>
                  <a:t>, </a:t>
                </a:r>
                <a:r>
                  <a:rPr lang="en-US" sz="1200" b="0" i="0">
                    <a:latin typeface="Cambria Math" panose="02040503050406030204" pitchFamily="18" charset="0"/>
                  </a:rPr>
                  <a:t>𝑋</a:t>
                </a:r>
                <a:r>
                  <a:rPr lang="en-ZA" b="0" dirty="0"/>
                  <a:t>, </a:t>
                </a:r>
                <a:r>
                  <a:rPr lang="en-US" sz="1200" b="0" i="0">
                    <a:latin typeface="Cambria Math" panose="02040503050406030204" pitchFamily="18" charset="0"/>
                  </a:rPr>
                  <a:t>𝑌</a:t>
                </a:r>
                <a:r>
                  <a:rPr lang="en-ZA" b="0" dirty="0"/>
                  <a:t>, and </a:t>
                </a:r>
                <a:r>
                  <a:rPr lang="en-US" sz="1200" b="0" i="0">
                    <a:latin typeface="Cambria Math" panose="02040503050406030204" pitchFamily="18" charset="0"/>
                  </a:rPr>
                  <a:t>𝑍</a:t>
                </a:r>
                <a:r>
                  <a:rPr lang="en-ZA" b="0" dirty="0"/>
                  <a:t>. Given that </a:t>
                </a:r>
                <a:r>
                  <a:rPr lang="sr-Latn-RS" sz="1200" i="0">
                    <a:latin typeface="Cambria Math" panose="02040503050406030204" pitchFamily="18" charset="0"/>
                  </a:rPr>
                  <a:t>𝑌=𝑖𝑋𝑍</a:t>
                </a:r>
                <a:r>
                  <a:rPr lang="en-ZA" b="0" dirty="0"/>
                  <a:t>, the error model can often be simplified to use only the Pauli set </a:t>
                </a:r>
                <a:r>
                  <a:rPr lang="en-US" sz="1200" b="0" i="0">
                    <a:latin typeface="Cambria Math" panose="02040503050406030204" pitchFamily="18" charset="0"/>
                  </a:rPr>
                  <a:t>{I,X,Z}</a:t>
                </a:r>
                <a:r>
                  <a:rPr lang="en-ZA" b="0" dirty="0"/>
                  <a:t>. This process is known as the digitalization of quantum errors.</a:t>
                </a:r>
              </a:p>
              <a:p>
                <a:pPr algn="just"/>
                <a:endParaRPr lang="en-ZA" b="0" dirty="0"/>
              </a:p>
              <a:p>
                <a:pPr algn="just"/>
                <a:r>
                  <a:rPr lang="en-ZA" b="0" dirty="0"/>
                  <a:t>Accordingly, quantum errors are classified as:</a:t>
                </a:r>
              </a:p>
              <a:p>
                <a:pPr marL="171450" indent="-171450" algn="just">
                  <a:buFont typeface="Arial" panose="020B0604020202020204" pitchFamily="34" charset="0"/>
                  <a:buChar char="•"/>
                </a:pPr>
                <a:r>
                  <a:rPr lang="en-ZA" b="0" dirty="0"/>
                  <a:t>Pauli X errors (bit-flip errors),</a:t>
                </a:r>
              </a:p>
              <a:p>
                <a:pPr marL="171450" indent="-171450" algn="just">
                  <a:buFont typeface="Arial" panose="020B0604020202020204" pitchFamily="34" charset="0"/>
                  <a:buChar char="•"/>
                </a:pPr>
                <a:r>
                  <a:rPr lang="en-ZA" b="0" dirty="0"/>
                  <a:t>and Pauli Z errors (phase-flip errors).</a:t>
                </a:r>
              </a:p>
              <a:p>
                <a:pPr marL="171450" indent="-171450" algn="just">
                  <a:buFont typeface="Arial" panose="020B0604020202020204" pitchFamily="34" charset="0"/>
                  <a:buChar char="•"/>
                </a:pPr>
                <a:endParaRPr lang="en-ZA" b="0" dirty="0"/>
              </a:p>
              <a:p>
                <a:pPr algn="just"/>
                <a:r>
                  <a:rPr lang="en-ZA" b="0" dirty="0"/>
                  <a:t>In other words, quantum error correction reduces to correcting:</a:t>
                </a:r>
              </a:p>
              <a:p>
                <a:pPr marL="171450" indent="-171450" algn="just">
                  <a:buFont typeface="Arial" panose="020B0604020202020204" pitchFamily="34" charset="0"/>
                  <a:buChar char="•"/>
                </a:pPr>
                <a:r>
                  <a:rPr lang="en-ZA" b="0" dirty="0"/>
                  <a:t>discrete changes in basis states, such as </a:t>
                </a:r>
                <a:r>
                  <a:rPr lang="en-US" sz="1200" i="0">
                    <a:latin typeface="Cambria Math" panose="02040503050406030204" pitchFamily="18" charset="0"/>
                  </a:rPr>
                  <a:t>|</a:t>
                </a:r>
                <a:r>
                  <a:rPr lang="en-US" sz="1200" b="0" i="0">
                    <a:latin typeface="Cambria Math" panose="02040503050406030204" pitchFamily="18" charset="0"/>
                  </a:rPr>
                  <a:t>0⟩</a:t>
                </a:r>
                <a:r>
                  <a:rPr lang="en-US" sz="1200" i="0">
                    <a:latin typeface="Cambria Math" panose="02040503050406030204" pitchFamily="18" charset="0"/>
                    <a:ea typeface="Cambria Math" panose="02040503050406030204" pitchFamily="18" charset="0"/>
                  </a:rPr>
                  <a:t>↔</a:t>
                </a:r>
                <a:r>
                  <a:rPr lang="en-US" sz="1200" i="0">
                    <a:latin typeface="Cambria Math" panose="02040503050406030204" pitchFamily="18" charset="0"/>
                  </a:rPr>
                  <a:t>|1⟩</a:t>
                </a:r>
                <a:r>
                  <a:rPr lang="en-ZA" b="0" dirty="0"/>
                  <a:t>, and</a:t>
                </a:r>
              </a:p>
              <a:p>
                <a:pPr marL="171450" indent="-171450" algn="just">
                  <a:buFont typeface="Arial" panose="020B0604020202020204" pitchFamily="34" charset="0"/>
                  <a:buChar char="•"/>
                </a:pPr>
                <a:r>
                  <a:rPr lang="en-ZA" b="0" dirty="0"/>
                  <a:t>discrete changes in relative phase, such as </a:t>
                </a:r>
                <a:r>
                  <a:rPr lang="en-ZA" dirty="0"/>
                  <a:t>mapping </a:t>
                </a:r>
                <a:r>
                  <a:rPr lang="en-US" sz="1200" i="0">
                    <a:latin typeface="Cambria Math" panose="02040503050406030204" pitchFamily="18" charset="0"/>
                  </a:rPr>
                  <a:t>|</a:t>
                </a:r>
                <a:r>
                  <a:rPr lang="en-US" sz="1200" b="0" i="0">
                    <a:latin typeface="Cambria Math" panose="02040503050406030204" pitchFamily="18" charset="0"/>
                  </a:rPr>
                  <a:t>0⟩+</a:t>
                </a:r>
                <a:r>
                  <a:rPr lang="en-US" sz="1200" i="0">
                    <a:latin typeface="Cambria Math" panose="02040503050406030204" pitchFamily="18" charset="0"/>
                  </a:rPr>
                  <a:t>|</a:t>
                </a:r>
                <a:r>
                  <a:rPr lang="en-US" sz="1200" b="0" i="0">
                    <a:latin typeface="Cambria Math" panose="02040503050406030204" pitchFamily="18" charset="0"/>
                  </a:rPr>
                  <a:t>1⟩</a:t>
                </a:r>
                <a:r>
                  <a:rPr lang="en-ZA" dirty="0"/>
                  <a:t> to  </a:t>
                </a:r>
                <a:r>
                  <a:rPr lang="en-US" sz="1200" i="0">
                    <a:latin typeface="Cambria Math" panose="02040503050406030204" pitchFamily="18" charset="0"/>
                  </a:rPr>
                  <a:t>|</a:t>
                </a:r>
                <a:r>
                  <a:rPr lang="en-US" sz="1200" b="0" i="0">
                    <a:latin typeface="Cambria Math" panose="02040503050406030204" pitchFamily="18" charset="0"/>
                  </a:rPr>
                  <a:t>0⟩−</a:t>
                </a:r>
                <a:r>
                  <a:rPr lang="en-US" sz="1200" i="0">
                    <a:latin typeface="Cambria Math" panose="02040503050406030204" pitchFamily="18" charset="0"/>
                  </a:rPr>
                  <a:t>|</a:t>
                </a:r>
                <a:r>
                  <a:rPr lang="en-US" sz="1200" b="0" i="0">
                    <a:latin typeface="Cambria Math" panose="02040503050406030204" pitchFamily="18" charset="0"/>
                  </a:rPr>
                  <a:t>1⟩</a:t>
                </a:r>
                <a:r>
                  <a:rPr lang="en-ZA" dirty="0"/>
                  <a:t> under a Z error.</a:t>
                </a:r>
                <a:endParaRPr lang="el-GR"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43</a:t>
            </a:fld>
            <a:endParaRPr lang="en-US"/>
          </a:p>
        </p:txBody>
      </p:sp>
    </p:spTree>
    <p:extLst>
      <p:ext uri="{BB962C8B-B14F-4D97-AF65-F5344CB8AC3E}">
        <p14:creationId xmlns:p14="http://schemas.microsoft.com/office/powerpoint/2010/main" val="32340235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Since quantum errors can be reduced to a small set of basic types, we can apply ideas similar to classical repetition codes. However, the no-cloning theorem tells us that we cannot directly copy an unknown quantum state, so we need other strategies.</a:t>
                </a:r>
              </a:p>
              <a:p>
                <a:pPr algn="just"/>
                <a:endParaRPr lang="en-ZA" b="0" dirty="0"/>
              </a:p>
              <a:p>
                <a:pPr algn="just"/>
                <a:r>
                  <a:rPr lang="en-ZA" b="0" dirty="0"/>
                  <a:t>The figure shows one such approach. A qubit in an unknown state ∣S⟩ enters an encoding circuit, which maps it into a larger space of several qubits. Together, these qubits form a logical qubit — a single “virtual” qubit built from many physical ones, designed to be more resistant to errors. In the example, one logical qubit is encoded using three physical qubits.</a:t>
                </a:r>
              </a:p>
              <a:p>
                <a:pPr algn="just"/>
                <a:endParaRPr lang="en-ZA" b="0" dirty="0"/>
              </a:p>
              <a:p>
                <a:pPr algn="just"/>
                <a:r>
                  <a:rPr lang="en-ZA" b="0" dirty="0"/>
                  <a:t>Noise or hardware imperfections are represented by an error operation acting on the encoded state. The qubits then go through an error correction module, which detects and fixes the problem, before passing through a decoding circuit that reconstructs the original state ∣S⟩.</a:t>
                </a:r>
              </a:p>
              <a:p>
                <a:pPr algn="just"/>
                <a:endParaRPr lang="en-ZA" b="0" dirty="0"/>
              </a:p>
              <a:p>
                <a:pPr algn="just"/>
                <a:r>
                  <a:rPr lang="en-ZA" b="0" dirty="0"/>
                  <a:t>From the programmer’s point of view, this logical qubit still behaves just like a single qubit,  but under the hood, it’s really several qubits working together to protect the information.</a:t>
                </a:r>
              </a:p>
            </p:txBody>
          </p:sp>
        </mc:Choice>
        <mc:Fallback xmlns="">
          <p:sp>
            <p:nvSpPr>
              <p:cNvPr id="3" name="Notes Placeholder 2"/>
              <p:cNvSpPr>
                <a:spLocks noGrp="1"/>
              </p:cNvSpPr>
              <p:nvPr>
                <p:ph type="body" idx="1"/>
              </p:nvPr>
            </p:nvSpPr>
            <p:spPr/>
            <p:txBody>
              <a:bodyPr/>
              <a:lstStyle/>
              <a:p>
                <a:pPr algn="just"/>
                <a:r>
                  <a:rPr lang="en-ZA" b="0" dirty="0"/>
                  <a:t>Since quantum errors can be digitized, it becomes possible to apply techniques analogous to repetition codes. However, the no-cloning theorem prohibits directly copying an unknown quantum state, so alternative strategies must be used.</a:t>
                </a:r>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The figure illustrates one such approach. </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A qubit in an unknown state </a:t>
                </a:r>
                <a:r>
                  <a:rPr lang="en-US" sz="1200" i="0">
                    <a:latin typeface="Cambria Math" panose="02040503050406030204" pitchFamily="18" charset="0"/>
                  </a:rPr>
                  <a:t>|</a:t>
                </a:r>
                <a:r>
                  <a:rPr lang="en-US" sz="1200" b="0" i="0">
                    <a:latin typeface="Cambria Math" panose="02040503050406030204" pitchFamily="18" charset="0"/>
                  </a:rPr>
                  <a:t>S⟩</a:t>
                </a:r>
                <a:r>
                  <a:rPr lang="en-ZA" b="0" dirty="0"/>
                  <a:t> is input into an encoding circuit, which applies a unitary transformation E. This transformation maps the original 2-dimensional Hilbert space of a single qubit into a higher-dimensional space involving multiple qubits. These qubits collectively form a logical qubit — a composite state that is more robust against certain types of </a:t>
                </a:r>
                <a:r>
                  <a:rPr lang="en-ZA" b="0" dirty="0" err="1"/>
                  <a:t>errors.In</a:t>
                </a:r>
                <a:r>
                  <a:rPr lang="en-ZA" b="0" dirty="0"/>
                  <a:t> the example shown, one logical qubit is encoded using three physical qubits.</a:t>
                </a:r>
              </a:p>
              <a:p>
                <a:pPr marL="171450" indent="-171450" algn="just">
                  <a:buFont typeface="Arial" panose="020B0604020202020204" pitchFamily="34" charset="0"/>
                  <a:buChar char="•"/>
                </a:pPr>
                <a:r>
                  <a:rPr lang="en-ZA" b="0" dirty="0"/>
                  <a:t>The error introduced by the channel or hardware is </a:t>
                </a:r>
                <a:r>
                  <a:rPr lang="en-ZA" b="0" dirty="0" err="1"/>
                  <a:t>modeled</a:t>
                </a:r>
                <a:r>
                  <a:rPr lang="en-ZA" b="0" dirty="0"/>
                  <a:t> as a unitary transformation Err.</a:t>
                </a:r>
              </a:p>
              <a:p>
                <a:pPr marL="171450" indent="-171450" algn="just">
                  <a:buFont typeface="Arial" panose="020B0604020202020204" pitchFamily="34" charset="0"/>
                  <a:buChar char="•"/>
                </a:pPr>
                <a:r>
                  <a:rPr lang="en-ZA" b="0" dirty="0"/>
                  <a:t>The qubits then pass through an error correction Co module, which detects and corrects the error.</a:t>
                </a:r>
              </a:p>
              <a:p>
                <a:pPr marL="171450" indent="-171450" algn="just">
                  <a:buFont typeface="Arial" panose="020B0604020202020204" pitchFamily="34" charset="0"/>
                  <a:buChar char="•"/>
                </a:pPr>
                <a:r>
                  <a:rPr lang="en-ZA" b="0" dirty="0"/>
                  <a:t>Finally, the decoding circuit is applied, reconstructing the original qubit state </a:t>
                </a:r>
                <a:r>
                  <a:rPr lang="en-US" sz="1200" i="0">
                    <a:latin typeface="Cambria Math" panose="02040503050406030204" pitchFamily="18" charset="0"/>
                  </a:rPr>
                  <a:t>|</a:t>
                </a:r>
                <a:r>
                  <a:rPr lang="en-US" sz="1200" b="0" i="0">
                    <a:latin typeface="Cambria Math" panose="02040503050406030204" pitchFamily="18" charset="0"/>
                  </a:rPr>
                  <a:t>S⟩</a:t>
                </a:r>
                <a:r>
                  <a:rPr lang="en-ZA" b="0" dirty="0"/>
                  <a:t> at the output, ideally without error.</a:t>
                </a:r>
              </a:p>
              <a:p>
                <a:pPr algn="just"/>
                <a:endParaRPr lang="en-ZA" b="0" dirty="0"/>
              </a:p>
              <a:p>
                <a:pPr algn="just"/>
                <a:r>
                  <a:rPr lang="en-ZA" b="0" dirty="0"/>
                  <a:t>From the programmer’s perspective, this logical qubit behaves like a single qubit, but in reality, it consists of several physical qubits undergoing encoding, protection, and decoding.</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44</a:t>
            </a:fld>
            <a:endParaRPr lang="en-US"/>
          </a:p>
        </p:txBody>
      </p:sp>
    </p:spTree>
    <p:extLst>
      <p:ext uri="{BB962C8B-B14F-4D97-AF65-F5344CB8AC3E}">
        <p14:creationId xmlns:p14="http://schemas.microsoft.com/office/powerpoint/2010/main" val="26189280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Let’s have a look at a possible implementation of a 3-qubit quantum repetition code, which can correct a single bit-flip error.</a:t>
                </a:r>
              </a:p>
              <a:p>
                <a:pPr algn="just"/>
                <a:endParaRPr lang="en-ZA" b="0" dirty="0"/>
              </a:p>
              <a:p>
                <a:pPr marL="228600" indent="-228600" algn="just">
                  <a:buFont typeface="+mj-lt"/>
                  <a:buAutoNum type="arabicPeriod"/>
                </a:pPr>
                <a:r>
                  <a:rPr lang="en-ZA" dirty="0"/>
                  <a:t>Suppose the input to the encoding circuit is a qubit in the superposition a∣0⟩+b∣1⟩. The circuit encodes this state as a∣000⟩+b∣111⟩.</a:t>
                </a:r>
              </a:p>
              <a:p>
                <a:pPr marL="228600" indent="-228600" algn="just">
                  <a:buFont typeface="+mj-lt"/>
                  <a:buAutoNum type="arabicPeriod"/>
                </a:pPr>
                <a:endParaRPr lang="en-ZA" dirty="0"/>
              </a:p>
              <a:p>
                <a:pPr marL="228600" indent="-228600" algn="just">
                  <a:buFont typeface="+mj-lt"/>
                  <a:buAutoNum type="arabicPeriod"/>
                </a:pPr>
                <a:r>
                  <a:rPr lang="en-ZA" dirty="0"/>
                  <a:t>In doing so, it maps the qubit from a 2-dimensional Hilbert space into an 8-dimensional one. The information is now stored across three physical qubits, which together form a single logical qubit.</a:t>
                </a:r>
              </a:p>
              <a:p>
                <a:pPr marL="228600" indent="-228600" algn="just">
                  <a:buFont typeface="+mj-lt"/>
                  <a:buAutoNum type="arabicPeriod"/>
                </a:pPr>
                <a:endParaRPr lang="en-ZA" dirty="0"/>
              </a:p>
              <a:p>
                <a:pPr marL="228600" indent="-228600" algn="just">
                  <a:buFont typeface="+mj-lt"/>
                  <a:buAutoNum type="arabicPeriod"/>
                </a:pPr>
                <a:r>
                  <a:rPr lang="en-ZA" dirty="0"/>
                  <a:t>We now introduce a simple model for single-qubit bit-flip errors that can occur during transmission or computation. In this model, there are four possible cases:</a:t>
                </a:r>
              </a:p>
              <a:p>
                <a:pPr marL="228600" indent="-228600" algn="just">
                  <a:buFont typeface="+mj-lt"/>
                  <a:buAutoNum type="arabicPeriod"/>
                </a:pPr>
                <a:endParaRPr lang="en-ZA" b="0" dirty="0"/>
              </a:p>
              <a:p>
                <a:pPr marL="685800" marR="0" lvl="1"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b="0" dirty="0"/>
                  <a:t>E₀ (no error): The qubit passes through the circuit unchanged. This corresponds to applying the identity operator to all three qubits: </a:t>
                </a:r>
                <a14:m>
                  <m:oMath xmlns:m="http://schemas.openxmlformats.org/officeDocument/2006/math">
                    <m:r>
                      <a:rPr lang="sr-Latn-RS" sz="1200" b="0" i="1" smtClean="0">
                        <a:latin typeface="Cambria Math" panose="02040503050406030204" pitchFamily="18" charset="0"/>
                        <a:ea typeface="Cambria Math" panose="02040503050406030204" pitchFamily="18" charset="0"/>
                      </a:rPr>
                      <m:t>𝐼</m:t>
                    </m:r>
                    <m:r>
                      <a:rPr lang="sr-Latn-RS" sz="1200" b="0" i="1" smtClean="0">
                        <a:latin typeface="Cambria Math" panose="02040503050406030204" pitchFamily="18" charset="0"/>
                        <a:ea typeface="Cambria Math" panose="02040503050406030204" pitchFamily="18" charset="0"/>
                      </a:rPr>
                      <m:t>⨂</m:t>
                    </m:r>
                    <m:r>
                      <a:rPr lang="sr-Latn-RS" sz="1200" b="0" i="1" smtClean="0">
                        <a:latin typeface="Cambria Math" panose="02040503050406030204" pitchFamily="18" charset="0"/>
                        <a:ea typeface="Cambria Math" panose="02040503050406030204" pitchFamily="18" charset="0"/>
                      </a:rPr>
                      <m:t>𝐼</m:t>
                    </m:r>
                    <m:r>
                      <a:rPr lang="sr-Latn-RS" sz="1200" b="0" i="1" smtClean="0">
                        <a:latin typeface="Cambria Math" panose="02040503050406030204" pitchFamily="18" charset="0"/>
                        <a:ea typeface="Cambria Math" panose="02040503050406030204" pitchFamily="18" charset="0"/>
                      </a:rPr>
                      <m:t>⨂</m:t>
                    </m:r>
                    <m:r>
                      <a:rPr lang="sr-Latn-RS" sz="1200" b="0" i="1" smtClean="0">
                        <a:latin typeface="Cambria Math" panose="02040503050406030204" pitchFamily="18" charset="0"/>
                        <a:ea typeface="Cambria Math" panose="02040503050406030204" pitchFamily="18" charset="0"/>
                      </a:rPr>
                      <m:t>𝐼</m:t>
                    </m:r>
                  </m:oMath>
                </a14:m>
                <a:endParaRPr lang="en-US" b="0" dirty="0"/>
              </a:p>
              <a:p>
                <a:pPr marL="685800" marR="0" lvl="1"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b="0" dirty="0"/>
                  <a:t>E₁ (bit-flip on qubit 1): A Pauli-X gate is applied to the first qubit: </a:t>
                </a:r>
                <a14:m>
                  <m:oMath xmlns:m="http://schemas.openxmlformats.org/officeDocument/2006/math">
                    <m:r>
                      <a:rPr lang="en-US" sz="1200" b="0" i="1" smtClean="0">
                        <a:latin typeface="Cambria Math" panose="02040503050406030204" pitchFamily="18" charset="0"/>
                        <a:ea typeface="Cambria Math" panose="02040503050406030204" pitchFamily="18" charset="0"/>
                      </a:rPr>
                      <m:t>𝑋</m:t>
                    </m:r>
                    <m:r>
                      <a:rPr lang="sr-Latn-RS" sz="1200" b="0" i="1" smtClean="0">
                        <a:latin typeface="Cambria Math" panose="02040503050406030204" pitchFamily="18" charset="0"/>
                        <a:ea typeface="Cambria Math" panose="02040503050406030204" pitchFamily="18" charset="0"/>
                      </a:rPr>
                      <m:t>⨂</m:t>
                    </m:r>
                    <m:r>
                      <a:rPr lang="sr-Latn-RS" sz="1200" b="0" i="1" smtClean="0">
                        <a:latin typeface="Cambria Math" panose="02040503050406030204" pitchFamily="18" charset="0"/>
                        <a:ea typeface="Cambria Math" panose="02040503050406030204" pitchFamily="18" charset="0"/>
                      </a:rPr>
                      <m:t>𝐼</m:t>
                    </m:r>
                    <m:r>
                      <a:rPr lang="sr-Latn-RS" sz="1200" b="0" i="1" smtClean="0">
                        <a:latin typeface="Cambria Math" panose="02040503050406030204" pitchFamily="18" charset="0"/>
                        <a:ea typeface="Cambria Math" panose="02040503050406030204" pitchFamily="18" charset="0"/>
                      </a:rPr>
                      <m:t>⨂</m:t>
                    </m:r>
                    <m:r>
                      <a:rPr lang="sr-Latn-RS" sz="1200" b="0" i="1" smtClean="0">
                        <a:latin typeface="Cambria Math" panose="02040503050406030204" pitchFamily="18" charset="0"/>
                        <a:ea typeface="Cambria Math" panose="02040503050406030204" pitchFamily="18" charset="0"/>
                      </a:rPr>
                      <m:t>𝐼</m:t>
                    </m:r>
                  </m:oMath>
                </a14:m>
                <a:endParaRPr lang="en-US" b="0" dirty="0"/>
              </a:p>
              <a:p>
                <a:pPr marL="685800" marR="0" lvl="1"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b="0" dirty="0"/>
                  <a:t>E₂ (bit-flip on qubit 2): A Pauli-X gate is applied to the second qubit: I</a:t>
                </a:r>
                <a14:m>
                  <m:oMath xmlns:m="http://schemas.openxmlformats.org/officeDocument/2006/math">
                    <m:r>
                      <a:rPr lang="sr-Latn-R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𝑋</m:t>
                    </m:r>
                    <m:r>
                      <a:rPr lang="sr-Latn-RS" sz="1200" b="0" i="1" smtClean="0">
                        <a:latin typeface="Cambria Math" panose="02040503050406030204" pitchFamily="18" charset="0"/>
                        <a:ea typeface="Cambria Math" panose="02040503050406030204" pitchFamily="18" charset="0"/>
                      </a:rPr>
                      <m:t>⨂</m:t>
                    </m:r>
                    <m:r>
                      <a:rPr lang="sr-Latn-RS" sz="1200" b="0" i="1" smtClean="0">
                        <a:latin typeface="Cambria Math" panose="02040503050406030204" pitchFamily="18" charset="0"/>
                        <a:ea typeface="Cambria Math" panose="02040503050406030204" pitchFamily="18" charset="0"/>
                      </a:rPr>
                      <m:t>𝐼</m:t>
                    </m:r>
                  </m:oMath>
                </a14:m>
                <a:endParaRPr lang="en-US" b="0" dirty="0"/>
              </a:p>
              <a:p>
                <a:pPr marL="685800" marR="0" lvl="1"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b="0" dirty="0"/>
                  <a:t>E</a:t>
                </a:r>
                <a:r>
                  <a:rPr lang="en-ZA" b="0" baseline="-25000" dirty="0"/>
                  <a:t>3</a:t>
                </a:r>
                <a:r>
                  <a:rPr lang="en-ZA" b="0" dirty="0"/>
                  <a:t> (bit-flip on qubit 3): A Pauli-X gate is applied to the third qubit: I</a:t>
                </a:r>
                <a14:m>
                  <m:oMath xmlns:m="http://schemas.openxmlformats.org/officeDocument/2006/math">
                    <m:r>
                      <a:rPr lang="sr-Latn-R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𝐼</m:t>
                    </m:r>
                    <m:r>
                      <a:rPr lang="sr-Latn-R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𝑋</m:t>
                    </m:r>
                  </m:oMath>
                </a14:m>
                <a:endParaRPr lang="en-US" b="0" dirty="0"/>
              </a:p>
              <a:p>
                <a:pPr marL="685800" marR="0" lvl="1"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en-US" b="0"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dirty="0"/>
                  <a:t>Each error maps the encoded state into a different orthogonal subspace of the 3-qubit Hilbert space. These subspaces can be pictured as separate regions of a ‘code space square’.</a:t>
                </a:r>
                <a:endParaRPr lang="en-US" b="0"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en-US" b="0"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dirty="0"/>
                  <a:t>To locate the error, we perform two measurements, S1 and S2​. These measurements are called syndrome measurements, as they reveal which error has occurred.</a:t>
                </a:r>
                <a:endParaRPr lang="en-ZA" b="0"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en-ZA" b="0"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b="0" dirty="0"/>
                  <a:t>S1​ compares qubits 1 and 2 and </a:t>
                </a:r>
                <a:r>
                  <a:rPr lang="en-ZA" dirty="0"/>
                  <a:t>S2 </a:t>
                </a:r>
                <a:r>
                  <a:rPr lang="en-ZA" b="0" dirty="0"/>
                  <a:t>qubits 2 and 3.</a:t>
                </a:r>
              </a:p>
              <a:p>
                <a:pPr marL="628650" lvl="1" indent="-171450" algn="l">
                  <a:buFont typeface="Arial" panose="020B0604020202020204" pitchFamily="34" charset="0"/>
                  <a:buChar char="•"/>
                </a:pPr>
                <a:r>
                  <a:rPr lang="en-ZA" b="0" dirty="0"/>
                  <a:t>If both qubits are equal (00 or 11), the target qubit remains in state</a:t>
                </a:r>
                <a14:m>
                  <m:oMath xmlns:m="http://schemas.openxmlformats.org/officeDocument/2006/math">
                    <m:r>
                      <a:rPr lang="en-US" sz="1200" b="0" i="0" smtClean="0">
                        <a:latin typeface="Cambria Math" panose="02040503050406030204" pitchFamily="18" charset="0"/>
                        <a:ea typeface="Cambria Math" panose="02040503050406030204" pitchFamily="18" charset="0"/>
                      </a:rPr>
                      <m:t> </m:t>
                    </m:r>
                    <m:d>
                      <m:dPr>
                        <m:begChr m:val=""/>
                        <m:endChr m:val="⟩"/>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|0</m:t>
                        </m:r>
                      </m:e>
                    </m:d>
                  </m:oMath>
                </a14:m>
                <a:r>
                  <a:rPr lang="en-ZA" b="0" dirty="0"/>
                  <a:t>, and we get </a:t>
                </a:r>
                <a:r>
                  <a:rPr lang="en-US" sz="1200" b="0" dirty="0"/>
                  <a:t>S</a:t>
                </a:r>
                <a:r>
                  <a:rPr lang="en-ZA" b="0" dirty="0"/>
                  <a:t>=0.</a:t>
                </a:r>
              </a:p>
              <a:p>
                <a:pPr marL="628650" lvl="1" indent="-171450" algn="l">
                  <a:buFont typeface="Arial" panose="020B0604020202020204" pitchFamily="34" charset="0"/>
                  <a:buChar char="•"/>
                </a:pPr>
                <a:r>
                  <a:rPr lang="en-ZA" b="0" dirty="0"/>
                  <a:t>If they differ (01 or 10), the target flips to </a:t>
                </a:r>
                <a14:m>
                  <m:oMath xmlns:m="http://schemas.openxmlformats.org/officeDocument/2006/math">
                    <m:d>
                      <m:dPr>
                        <m:begChr m:val=""/>
                        <m:endChr m:val="⟩"/>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|1</m:t>
                        </m:r>
                      </m:e>
                    </m:d>
                  </m:oMath>
                </a14:m>
                <a:r>
                  <a:rPr lang="en-ZA" b="0" dirty="0"/>
                  <a:t>, giving </a:t>
                </a:r>
                <a:r>
                  <a:rPr lang="en-US" sz="1200" b="0" dirty="0"/>
                  <a:t>S</a:t>
                </a:r>
                <a:r>
                  <a:rPr lang="en-ZA" b="0" dirty="0"/>
                  <a:t>=1.</a:t>
                </a:r>
              </a:p>
              <a:p>
                <a:pPr marL="228600" lvl="0" indent="-228600" algn="l">
                  <a:buFont typeface="+mj-lt"/>
                  <a:buAutoNum type="arabicPeriod"/>
                </a:pPr>
                <a:endParaRPr lang="en-ZA" b="0" dirty="0"/>
              </a:p>
              <a:p>
                <a:pPr marL="228600" lvl="0" indent="-228600" algn="l">
                  <a:buFont typeface="+mj-lt"/>
                  <a:buAutoNum type="arabicPeriod"/>
                </a:pPr>
                <a:r>
                  <a:rPr lang="en-ZA" b="0" dirty="0"/>
                  <a:t>Based on the measurement results, we can construct a correction table that specifies which Pauli-X gate should be applied to correct the qubit state. From the code space square, we can observe the following:</a:t>
                </a:r>
              </a:p>
              <a:p>
                <a:pPr marL="628650" lvl="1" indent="-171450" algn="just">
                  <a:buFont typeface="Arial" panose="020B0604020202020204" pitchFamily="34" charset="0"/>
                  <a:buChar char="•"/>
                </a:pPr>
                <a:r>
                  <a:rPr lang="en-ZA" b="0" dirty="0"/>
                  <a:t>If </a:t>
                </a:r>
                <a:r>
                  <a:rPr lang="en-US" sz="1200" b="0" dirty="0"/>
                  <a:t>S</a:t>
                </a:r>
                <a:r>
                  <a:rPr lang="en-US" sz="1200" b="0" baseline="-25000" dirty="0"/>
                  <a:t>1</a:t>
                </a:r>
                <a:r>
                  <a:rPr lang="en-ZA" b="0" dirty="0"/>
                  <a:t>​</a:t>
                </a:r>
                <a:r>
                  <a:rPr lang="en-US" sz="1200" b="0" dirty="0"/>
                  <a:t>S</a:t>
                </a:r>
                <a:r>
                  <a:rPr lang="en-US" sz="1200" b="0" baseline="-25000" dirty="0"/>
                  <a:t>2</a:t>
                </a:r>
                <a:r>
                  <a:rPr lang="en-ZA" b="0" dirty="0"/>
                  <a:t>,=00 no error has occurred, and no correction is needed.</a:t>
                </a:r>
              </a:p>
              <a:p>
                <a:pPr marL="628650" lvl="1" indent="-171450" algn="just">
                  <a:buFont typeface="Arial" panose="020B0604020202020204" pitchFamily="34" charset="0"/>
                  <a:buChar char="•"/>
                </a:pPr>
                <a:r>
                  <a:rPr lang="en-ZA" b="0" dirty="0"/>
                  <a:t>If </a:t>
                </a:r>
                <a:r>
                  <a:rPr lang="en-US" sz="1200" b="0" dirty="0"/>
                  <a:t>S</a:t>
                </a:r>
                <a:r>
                  <a:rPr lang="en-US" sz="1200" b="0" baseline="-25000" dirty="0"/>
                  <a:t>1</a:t>
                </a:r>
                <a:r>
                  <a:rPr lang="en-ZA" b="0" dirty="0"/>
                  <a:t>​</a:t>
                </a:r>
                <a:r>
                  <a:rPr lang="en-US" sz="1200" b="0" dirty="0"/>
                  <a:t>S</a:t>
                </a:r>
                <a:r>
                  <a:rPr lang="en-US" sz="1200" b="0" baseline="-25000" dirty="0"/>
                  <a:t>2</a:t>
                </a:r>
                <a:r>
                  <a:rPr lang="en-ZA" b="0" dirty="0"/>
                  <a:t>,​=01, an error occurred on qubit 3, and a Pauli-X gate should be applied to the third qubit.</a:t>
                </a:r>
              </a:p>
              <a:p>
                <a:pPr marL="628650" lvl="1" indent="-171450" algn="just">
                  <a:buFont typeface="Arial" panose="020B0604020202020204" pitchFamily="34" charset="0"/>
                  <a:buChar char="•"/>
                </a:pPr>
                <a:r>
                  <a:rPr lang="en-ZA" b="0" dirty="0"/>
                  <a:t>If </a:t>
                </a:r>
                <a:r>
                  <a:rPr lang="en-US" sz="1200" b="0" dirty="0"/>
                  <a:t>S</a:t>
                </a:r>
                <a:r>
                  <a:rPr lang="en-US" sz="1200" b="0" baseline="-25000" dirty="0"/>
                  <a:t>1</a:t>
                </a:r>
                <a:r>
                  <a:rPr lang="en-ZA" b="0" dirty="0"/>
                  <a:t>​</a:t>
                </a:r>
                <a:r>
                  <a:rPr lang="en-US" sz="1200" b="0" dirty="0"/>
                  <a:t>S</a:t>
                </a:r>
                <a:r>
                  <a:rPr lang="en-US" sz="1200" b="0" baseline="-25000" dirty="0"/>
                  <a:t>2</a:t>
                </a:r>
                <a:r>
                  <a:rPr lang="en-ZA" b="0" dirty="0"/>
                  <a:t>,=10, an error occurred on qubit 1, and the correction is to apply a Pauli-X gate to the first qubit.</a:t>
                </a:r>
              </a:p>
              <a:p>
                <a:pPr marL="628650" lvl="1" indent="-171450" algn="just">
                  <a:buFont typeface="Arial" panose="020B0604020202020204" pitchFamily="34" charset="0"/>
                  <a:buChar char="•"/>
                </a:pPr>
                <a:r>
                  <a:rPr lang="en-ZA" b="0" dirty="0"/>
                  <a:t>If </a:t>
                </a:r>
                <a:r>
                  <a:rPr lang="en-US" sz="1200" b="0" dirty="0"/>
                  <a:t>S</a:t>
                </a:r>
                <a:r>
                  <a:rPr lang="en-US" sz="1200" b="0" baseline="-25000" dirty="0"/>
                  <a:t>1</a:t>
                </a:r>
                <a:r>
                  <a:rPr lang="en-ZA" b="0" dirty="0"/>
                  <a:t>​</a:t>
                </a:r>
                <a:r>
                  <a:rPr lang="en-US" sz="1200" b="0" dirty="0"/>
                  <a:t>S</a:t>
                </a:r>
                <a:r>
                  <a:rPr lang="en-US" sz="1200" b="0" baseline="-25000" dirty="0"/>
                  <a:t>2</a:t>
                </a:r>
                <a:r>
                  <a:rPr lang="en-ZA" b="0" dirty="0"/>
                  <a:t>,=11, an error occurred on qubit 2, and a Pauli-X gate should be applied to the second qubit.</a:t>
                </a:r>
              </a:p>
              <a:p>
                <a:pPr marL="228600" lvl="0" indent="-228600" algn="just">
                  <a:buFont typeface="+mj-lt"/>
                  <a:buAutoNum type="arabicPeriod"/>
                </a:pPr>
                <a:endParaRPr lang="en-ZA" b="0" dirty="0"/>
              </a:p>
              <a:p>
                <a:pPr marL="228600" lvl="0" indent="-228600" algn="just">
                  <a:buFont typeface="+mj-lt"/>
                  <a:buAutoNum type="arabicPeriod"/>
                </a:pPr>
                <a:r>
                  <a:rPr lang="en-ZA" b="0" dirty="0"/>
                  <a:t>Once the correction is performed, the decoding circuit is applied. Since all operations in this code are unitary, the decoding circuit is the inverse of the encoding circuit, and can be implemented using the same quantum circuit in reverse.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US" b="0" dirty="0"/>
                  <a:t>Reference:</a:t>
                </a:r>
              </a:p>
              <a:p>
                <a:pPr rtl="0"/>
                <a:r>
                  <a:rPr lang="en-US" b="0" dirty="0"/>
                  <a:t>Artur </a:t>
                </a:r>
                <a:r>
                  <a:rPr lang="en-US" b="0" dirty="0" err="1"/>
                  <a:t>Ekert</a:t>
                </a:r>
                <a:r>
                  <a:rPr lang="en-US" b="0" dirty="0"/>
                  <a:t>, “</a:t>
                </a:r>
                <a:r>
                  <a:rPr lang="en-ZA" b="0" dirty="0"/>
                  <a:t>IQIS Lecture 8.3 — Three-qubit repetition code for bit-flip errors”,</a:t>
                </a:r>
                <a:br>
                  <a:rPr lang="en-ZA" b="0" dirty="0"/>
                </a:br>
                <a:r>
                  <a:rPr lang="en-ZA" b="0" dirty="0"/>
                  <a:t>https://</a:t>
                </a:r>
                <a:r>
                  <a:rPr lang="en-ZA" b="0" dirty="0" err="1"/>
                  <a:t>youtu.be</a:t>
                </a:r>
                <a:r>
                  <a:rPr lang="en-ZA" b="0" dirty="0"/>
                  <a:t>/9mr9c35xJ2g?si=4sqOG5OQIz0jIICx</a:t>
                </a:r>
              </a:p>
            </p:txBody>
          </p:sp>
        </mc:Choice>
        <mc:Fallback xmlns="">
          <p:sp>
            <p:nvSpPr>
              <p:cNvPr id="3" name="Notes Placeholder 2"/>
              <p:cNvSpPr>
                <a:spLocks noGrp="1"/>
              </p:cNvSpPr>
              <p:nvPr>
                <p:ph type="body" idx="1"/>
              </p:nvPr>
            </p:nvSpPr>
            <p:spPr/>
            <p:txBody>
              <a:bodyPr/>
              <a:lstStyle/>
              <a:p>
                <a:pPr algn="just"/>
                <a:r>
                  <a:rPr lang="en-ZA" b="0" dirty="0"/>
                  <a:t>Let us now examine a more concrete version of the quantum circuit previously shown. The circuit implements a 3-qubit quantum repetition code, which can correct a single bit-flip error.</a:t>
                </a:r>
              </a:p>
              <a:p>
                <a:pPr algn="just"/>
                <a:endParaRPr lang="en-ZA" b="0" dirty="0"/>
              </a:p>
              <a:p>
                <a:pPr algn="just"/>
                <a:r>
                  <a:rPr lang="en-ZA" b="0" dirty="0"/>
                  <a:t>Suppose the input to the encoding circuit is a qubit in a general superposition state</a:t>
                </a:r>
                <a:r>
                  <a:rPr lang="en-ZA" b="0" baseline="0" dirty="0"/>
                  <a:t> </a:t>
                </a:r>
                <a:r>
                  <a:rPr lang="en-US" sz="1200" b="0" i="0">
                    <a:latin typeface="Cambria Math" panose="02040503050406030204" pitchFamily="18" charset="0"/>
                    <a:ea typeface="Cambria Math" panose="02040503050406030204" pitchFamily="18" charset="0"/>
                  </a:rPr>
                  <a:t>├ 𝑎|0⟩+├ 𝑏|1⟩</a:t>
                </a:r>
                <a:r>
                  <a:rPr lang="en-ZA" b="0" dirty="0"/>
                  <a:t>. The encoding circuit transforms this state into</a:t>
                </a:r>
                <a:r>
                  <a:rPr lang="en-ZA" b="0" baseline="0" dirty="0"/>
                  <a:t> </a:t>
                </a:r>
                <a:r>
                  <a:rPr lang="en-US" sz="1200" b="0" i="0">
                    <a:latin typeface="Cambria Math" panose="02040503050406030204" pitchFamily="18" charset="0"/>
                    <a:ea typeface="Cambria Math" panose="02040503050406030204" pitchFamily="18" charset="0"/>
                  </a:rPr>
                  <a:t>├ 𝑎|000⟩+├ 𝑏|111⟩</a:t>
                </a:r>
                <a:r>
                  <a:rPr lang="en-US" sz="1200" b="0" dirty="0"/>
                  <a:t>. </a:t>
                </a:r>
                <a:r>
                  <a:rPr lang="en-ZA" b="0" dirty="0"/>
                  <a:t>This unitary transformation maps the qubit from a 2-dimensional Hilbert space to an 8-dimensional Hilbert space. The resulting state is now redundantly encoded in three physical qubits, forming a logical qubit that is resistant to bit-flip errors.</a:t>
                </a:r>
                <a:endParaRPr lang="en-US" b="0"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err="1"/>
                  <a:t>Modeling</a:t>
                </a:r>
                <a:r>
                  <a:rPr lang="en-ZA" b="0" dirty="0"/>
                  <a:t> Bit-Flip Errors</a:t>
                </a:r>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We now define a model for single-qubit bit-flip errors that may occur during transmission or quantum processing. There are four possible cases: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b="0" dirty="0"/>
                  <a:t>E₀ (no error): The qubit passes through the circuit unchanged. This corresponds to applying the identity operator to all three qubits: </a:t>
                </a:r>
                <a:r>
                  <a:rPr lang="sr-Latn-RS" sz="1200" b="0" i="0">
                    <a:latin typeface="Cambria Math" panose="02040503050406030204" pitchFamily="18" charset="0"/>
                    <a:ea typeface="Cambria Math" panose="02040503050406030204" pitchFamily="18" charset="0"/>
                  </a:rPr>
                  <a:t>𝐼⨂𝐼⨂𝐼</a:t>
                </a:r>
                <a:endParaRPr lang="en-US" b="0"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b="0" dirty="0"/>
                  <a:t>E₁ (bit-flip on qubit 1): A Pauli-X gate is applied to the first qubit: </a:t>
                </a:r>
                <a:r>
                  <a:rPr lang="en-US" sz="1200" b="0" i="0">
                    <a:latin typeface="Cambria Math" panose="02040503050406030204" pitchFamily="18" charset="0"/>
                    <a:ea typeface="Cambria Math" panose="02040503050406030204" pitchFamily="18" charset="0"/>
                  </a:rPr>
                  <a:t>𝑋</a:t>
                </a:r>
                <a:r>
                  <a:rPr lang="sr-Latn-RS" sz="1200" b="0" i="0">
                    <a:latin typeface="Cambria Math" panose="02040503050406030204" pitchFamily="18" charset="0"/>
                    <a:ea typeface="Cambria Math" panose="02040503050406030204" pitchFamily="18" charset="0"/>
                  </a:rPr>
                  <a:t>⨂𝐼⨂𝐼</a:t>
                </a:r>
                <a:endParaRPr lang="en-US" b="0"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b="0" dirty="0"/>
                  <a:t>E₂ (bit-flip on qubit 2): A Pauli-X gate is applied to the second qubit: I</a:t>
                </a:r>
                <a:r>
                  <a:rPr lang="sr-Latn-R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𝑋</a:t>
                </a:r>
                <a:r>
                  <a:rPr lang="sr-Latn-RS" sz="1200" b="0" i="0">
                    <a:latin typeface="Cambria Math" panose="02040503050406030204" pitchFamily="18" charset="0"/>
                    <a:ea typeface="Cambria Math" panose="02040503050406030204" pitchFamily="18" charset="0"/>
                  </a:rPr>
                  <a:t>⨂𝐼</a:t>
                </a:r>
                <a:endParaRPr lang="en-US" b="0"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b="0" dirty="0"/>
                  <a:t>E</a:t>
                </a:r>
                <a:r>
                  <a:rPr lang="en-ZA" b="0" baseline="-25000" dirty="0"/>
                  <a:t>3</a:t>
                </a:r>
                <a:r>
                  <a:rPr lang="en-ZA" b="0" dirty="0"/>
                  <a:t> (bit-flip on qubit 3): A Pauli-X gate is applied to the third qubit: I</a:t>
                </a:r>
                <a:r>
                  <a:rPr lang="sr-Latn-R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𝐼</a:t>
                </a:r>
                <a:r>
                  <a:rPr lang="sr-Latn-R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𝑋</a:t>
                </a:r>
                <a:endParaRPr lang="en-US" b="0"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en-US" b="0" dirty="0"/>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ZA" b="0" dirty="0"/>
                  <a:t>Each of these error scenarios maps the original encoded state to a different orthogonal subspace of the 3-qubit Hilbert space. These subspaces can be visualized as distinct quadrants of a conceptual "code space square." Measurement can distinguish among these subspaces due to their orthogonality.</a:t>
                </a:r>
                <a:endParaRPr lang="en-US" b="0"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Error Syndrome Detection via Measurement</a:t>
                </a:r>
                <a:endParaRPr lang="en-US"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To locate the error, we perform two syndrome measurements, </a:t>
                </a:r>
                <a:r>
                  <a:rPr lang="en-US" sz="1200" b="0" dirty="0"/>
                  <a:t>S</a:t>
                </a:r>
                <a:r>
                  <a:rPr lang="en-US" sz="1200" b="0" baseline="-25000" dirty="0"/>
                  <a:t>1</a:t>
                </a:r>
                <a:r>
                  <a:rPr lang="en-ZA" b="0" dirty="0"/>
                  <a:t>​ and </a:t>
                </a:r>
                <a:r>
                  <a:rPr lang="en-US" sz="1200" b="0" dirty="0"/>
                  <a:t>S</a:t>
                </a:r>
                <a:r>
                  <a:rPr lang="en-US" sz="1200" b="0" baseline="-25000" dirty="0"/>
                  <a:t>2</a:t>
                </a:r>
                <a:r>
                  <a:rPr lang="en-ZA" sz="1200" b="0" baseline="-25000" dirty="0"/>
                  <a:t>. </a:t>
                </a:r>
                <a:endParaRPr lang="en-ZA" b="0" dirty="0"/>
              </a:p>
              <a:p>
                <a:pPr marL="228600" indent="-228600" algn="just">
                  <a:buFont typeface="+mj-lt"/>
                  <a:buAutoNum type="arabicPeriod"/>
                </a:pPr>
                <a:r>
                  <a:rPr lang="en-ZA" b="0" dirty="0"/>
                  <a:t>S1​ compares qubits 1 and 2 (e.g., using a CNOT gate with an ancillary qubit initialized to </a:t>
                </a:r>
                <a:r>
                  <a:rPr lang="en-US" sz="1200" b="0" dirty="0"/>
                  <a:t>|0</a:t>
                </a:r>
                <a:r>
                  <a:rPr lang="en-ZA" b="0" dirty="0"/>
                  <a:t>).</a:t>
                </a:r>
              </a:p>
              <a:p>
                <a:pPr marL="628650" lvl="1" indent="-171450" algn="just">
                  <a:buFont typeface="Arial" panose="020B0604020202020204" pitchFamily="34" charset="0"/>
                  <a:buChar char="•"/>
                </a:pPr>
                <a:r>
                  <a:rPr lang="en-ZA" b="0" dirty="0"/>
                  <a:t>If both qubits are equal (00 or 11), the ancilla remains in state</a:t>
                </a:r>
                <a:r>
                  <a:rPr lang="en-US" sz="1200" b="0" i="0">
                    <a:latin typeface="Cambria Math" panose="02040503050406030204" pitchFamily="18" charset="0"/>
                    <a:ea typeface="Cambria Math" panose="02040503050406030204" pitchFamily="18" charset="0"/>
                  </a:rPr>
                  <a:t> ├ |0⟩</a:t>
                </a:r>
                <a:r>
                  <a:rPr lang="en-ZA" b="0" dirty="0"/>
                  <a:t>, and we get </a:t>
                </a:r>
                <a:r>
                  <a:rPr lang="en-US" sz="1200" b="0" dirty="0"/>
                  <a:t>S</a:t>
                </a:r>
                <a:r>
                  <a:rPr lang="en-US" sz="1200" b="0" baseline="-25000" dirty="0"/>
                  <a:t>1</a:t>
                </a:r>
                <a:r>
                  <a:rPr lang="en-ZA" b="0" dirty="0"/>
                  <a:t>=0.</a:t>
                </a:r>
              </a:p>
              <a:p>
                <a:pPr marL="628650" lvl="1" indent="-171450" algn="just">
                  <a:buFont typeface="Arial" panose="020B0604020202020204" pitchFamily="34" charset="0"/>
                  <a:buChar char="•"/>
                </a:pPr>
                <a:r>
                  <a:rPr lang="en-ZA" b="0" dirty="0"/>
                  <a:t>If they differ (01 or 10), the ancilla flips to </a:t>
                </a:r>
                <a:r>
                  <a:rPr lang="en-US" sz="1200" b="0" i="0">
                    <a:latin typeface="Cambria Math" panose="02040503050406030204" pitchFamily="18" charset="0"/>
                    <a:ea typeface="Cambria Math" panose="02040503050406030204" pitchFamily="18" charset="0"/>
                  </a:rPr>
                  <a:t>├ |1⟩</a:t>
                </a:r>
                <a:r>
                  <a:rPr lang="en-ZA" b="0" dirty="0"/>
                  <a:t>, giving </a:t>
                </a:r>
                <a:r>
                  <a:rPr lang="en-US" sz="1200" b="0" dirty="0"/>
                  <a:t>S</a:t>
                </a:r>
                <a:r>
                  <a:rPr lang="en-US" sz="1200" b="0" baseline="-25000" dirty="0"/>
                  <a:t>1</a:t>
                </a:r>
                <a:r>
                  <a:rPr lang="en-ZA" b="0" dirty="0"/>
                  <a:t>=1.</a:t>
                </a:r>
              </a:p>
              <a:p>
                <a:pPr marL="228600" indent="-228600" algn="just">
                  <a:buFont typeface="+mj-lt"/>
                  <a:buAutoNum type="arabicPeriod"/>
                </a:pPr>
                <a:r>
                  <a:rPr lang="en-US" sz="1200" b="0" dirty="0"/>
                  <a:t>S</a:t>
                </a:r>
                <a:r>
                  <a:rPr lang="en-US" sz="1200" b="0" baseline="-25000" dirty="0"/>
                  <a:t>2</a:t>
                </a:r>
                <a:r>
                  <a:rPr lang="en-ZA" b="0" dirty="0"/>
                  <a:t>​ compares qubits 2 and 3 using the same logic.</a:t>
                </a:r>
              </a:p>
              <a:p>
                <a:pPr marL="0" indent="0" algn="just">
                  <a:buFont typeface="+mj-lt"/>
                  <a:buNone/>
                </a:pPr>
                <a:endParaRPr lang="en-ZA" b="0" dirty="0"/>
              </a:p>
              <a:p>
                <a:pPr algn="just"/>
                <a:r>
                  <a:rPr lang="en-ZA" b="0" dirty="0"/>
                  <a:t>The pair (</a:t>
                </a:r>
                <a:r>
                  <a:rPr lang="en-US" sz="1200" b="0" dirty="0"/>
                  <a:t>S</a:t>
                </a:r>
                <a:r>
                  <a:rPr lang="en-US" sz="1200" b="0" baseline="-25000" dirty="0"/>
                  <a:t>1</a:t>
                </a:r>
                <a:r>
                  <a:rPr lang="en-ZA" b="0" dirty="0"/>
                  <a:t>​,</a:t>
                </a:r>
                <a:r>
                  <a:rPr lang="en-US" sz="1200" b="0" dirty="0"/>
                  <a:t> S</a:t>
                </a:r>
                <a:r>
                  <a:rPr lang="en-US" sz="1200" b="0" baseline="-25000" dirty="0"/>
                  <a:t>2</a:t>
                </a:r>
                <a:r>
                  <a:rPr lang="en-ZA" b="0" dirty="0"/>
                  <a:t>) is called the error syndrome, and uniquely identifies the error location. Based on the measurement results, we can construct a correction table that specifies which Pauli-X gate should be applied to correct the qubit state. From the structure of the code space, we observe the following:</a:t>
                </a:r>
              </a:p>
              <a:p>
                <a:pPr marL="171450" indent="-171450" algn="just">
                  <a:buFont typeface="Arial" panose="020B0604020202020204" pitchFamily="34" charset="0"/>
                  <a:buChar char="•"/>
                </a:pPr>
                <a:r>
                  <a:rPr lang="en-ZA" b="0" dirty="0"/>
                  <a:t>If the syndrome measurement yields </a:t>
                </a:r>
                <a:r>
                  <a:rPr lang="en-US" sz="1200" b="0" dirty="0"/>
                  <a:t>S</a:t>
                </a:r>
                <a:r>
                  <a:rPr lang="en-US" sz="1200" b="0" baseline="-25000" dirty="0"/>
                  <a:t>1</a:t>
                </a:r>
                <a:r>
                  <a:rPr lang="en-ZA" b="0" dirty="0"/>
                  <a:t>​</a:t>
                </a:r>
                <a:r>
                  <a:rPr lang="en-US" sz="1200" b="0" dirty="0"/>
                  <a:t>S</a:t>
                </a:r>
                <a:r>
                  <a:rPr lang="en-US" sz="1200" b="0" baseline="-25000" dirty="0"/>
                  <a:t>2</a:t>
                </a:r>
                <a:r>
                  <a:rPr lang="en-ZA" b="0" dirty="0"/>
                  <a:t>,=00 no error has occurred, and no correction is needed.</a:t>
                </a:r>
              </a:p>
              <a:p>
                <a:pPr marL="171450" indent="-171450" algn="just">
                  <a:buFont typeface="Arial" panose="020B0604020202020204" pitchFamily="34" charset="0"/>
                  <a:buChar char="•"/>
                </a:pPr>
                <a:r>
                  <a:rPr lang="en-ZA" b="0" dirty="0"/>
                  <a:t>If </a:t>
                </a:r>
                <a:r>
                  <a:rPr lang="en-US" sz="1200" b="0" dirty="0"/>
                  <a:t>S</a:t>
                </a:r>
                <a:r>
                  <a:rPr lang="en-US" sz="1200" b="0" baseline="-25000" dirty="0"/>
                  <a:t>1</a:t>
                </a:r>
                <a:r>
                  <a:rPr lang="en-ZA" b="0" dirty="0"/>
                  <a:t>​</a:t>
                </a:r>
                <a:r>
                  <a:rPr lang="en-US" sz="1200" b="0" dirty="0"/>
                  <a:t>S</a:t>
                </a:r>
                <a:r>
                  <a:rPr lang="en-US" sz="1200" b="0" baseline="-25000" dirty="0"/>
                  <a:t>2</a:t>
                </a:r>
                <a:r>
                  <a:rPr lang="en-ZA" b="0" dirty="0"/>
                  <a:t>,​=01, an error occurred on qubit 3, and a Pauli-X gate should be applied to the third qubit.</a:t>
                </a:r>
              </a:p>
              <a:p>
                <a:pPr marL="171450" indent="-171450" algn="just">
                  <a:buFont typeface="Arial" panose="020B0604020202020204" pitchFamily="34" charset="0"/>
                  <a:buChar char="•"/>
                </a:pPr>
                <a:r>
                  <a:rPr lang="en-ZA" b="0" dirty="0"/>
                  <a:t>If </a:t>
                </a:r>
                <a:r>
                  <a:rPr lang="en-US" sz="1200" b="0" dirty="0"/>
                  <a:t>S</a:t>
                </a:r>
                <a:r>
                  <a:rPr lang="en-US" sz="1200" b="0" baseline="-25000" dirty="0"/>
                  <a:t>1</a:t>
                </a:r>
                <a:r>
                  <a:rPr lang="en-ZA" b="0" dirty="0"/>
                  <a:t>​</a:t>
                </a:r>
                <a:r>
                  <a:rPr lang="en-US" sz="1200" b="0" dirty="0"/>
                  <a:t>S</a:t>
                </a:r>
                <a:r>
                  <a:rPr lang="en-US" sz="1200" b="0" baseline="-25000" dirty="0"/>
                  <a:t>2</a:t>
                </a:r>
                <a:r>
                  <a:rPr lang="en-ZA" b="0" dirty="0"/>
                  <a:t>,=10, an error occurred on qubit 1, and the correction is to apply a Pauli-X gate to the first qubit.</a:t>
                </a:r>
              </a:p>
              <a:p>
                <a:pPr marL="171450" indent="-171450" algn="just">
                  <a:buFont typeface="Arial" panose="020B0604020202020204" pitchFamily="34" charset="0"/>
                  <a:buChar char="•"/>
                </a:pPr>
                <a:r>
                  <a:rPr lang="en-ZA" b="0" dirty="0"/>
                  <a:t>If </a:t>
                </a:r>
                <a:r>
                  <a:rPr lang="en-US" sz="1200" b="0" dirty="0"/>
                  <a:t>S</a:t>
                </a:r>
                <a:r>
                  <a:rPr lang="en-US" sz="1200" b="0" baseline="-25000" dirty="0"/>
                  <a:t>1</a:t>
                </a:r>
                <a:r>
                  <a:rPr lang="en-ZA" b="0" dirty="0"/>
                  <a:t>​</a:t>
                </a:r>
                <a:r>
                  <a:rPr lang="en-US" sz="1200" b="0" dirty="0"/>
                  <a:t>S</a:t>
                </a:r>
                <a:r>
                  <a:rPr lang="en-US" sz="1200" b="0" baseline="-25000" dirty="0"/>
                  <a:t>2</a:t>
                </a:r>
                <a:r>
                  <a:rPr lang="en-ZA" b="0" dirty="0"/>
                  <a:t>,=11, an error occurred on qubit 2, and a Pauli-X gate should be applied to the second qubit.</a:t>
                </a:r>
              </a:p>
              <a:p>
                <a:pPr marL="0" indent="0" algn="just">
                  <a:buFont typeface="+mj-lt"/>
                  <a:buNone/>
                </a:pPr>
                <a:endParaRPr lang="en-ZA" b="0" dirty="0"/>
              </a:p>
              <a:p>
                <a:pPr algn="just"/>
                <a:r>
                  <a:rPr lang="en-ZA" b="0" dirty="0"/>
                  <a:t>Correction and Decoding</a:t>
                </a:r>
              </a:p>
              <a:p>
                <a:pPr algn="just"/>
                <a:r>
                  <a:rPr lang="en-ZA" b="0" dirty="0"/>
                  <a:t>Based on the syndrome values, the appropriate Pauli-X correction gate is applied to the erroneous qubit. Once the correction is performed, the decoding circuit is applied.</a:t>
                </a:r>
              </a:p>
              <a:p>
                <a:pPr algn="just"/>
                <a:r>
                  <a:rPr lang="en-ZA" b="0" dirty="0"/>
                  <a:t>Since all operations in this code are unitary, the decoding circuit is the inverse of the encoding circuit, and can be implemented using the same quantum circuit in reverse.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45</a:t>
            </a:fld>
            <a:endParaRPr lang="en-US"/>
          </a:p>
        </p:txBody>
      </p:sp>
    </p:spTree>
    <p:extLst>
      <p:ext uri="{BB962C8B-B14F-4D97-AF65-F5344CB8AC3E}">
        <p14:creationId xmlns:p14="http://schemas.microsoft.com/office/powerpoint/2010/main" val="39427300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Now let’s look at a phase flip, which is a sign change in a superposition that is </a:t>
                </a:r>
                <a:r>
                  <a:rPr lang="en-ZA" dirty="0" err="1"/>
                  <a:t>modeled</a:t>
                </a:r>
                <a:r>
                  <a:rPr lang="en-ZA" dirty="0"/>
                  <a:t> by the Pauli-Z gate.</a:t>
                </a:r>
              </a:p>
              <a:p>
                <a:pPr algn="just"/>
                <a:endParaRPr lang="en-ZA" b="0" dirty="0"/>
              </a:p>
              <a:p>
                <a:pPr marL="228600" indent="-228600" algn="just">
                  <a:buFont typeface="+mj-lt"/>
                  <a:buAutoNum type="arabicPeriod"/>
                </a:pPr>
                <a:r>
                  <a:rPr lang="en-ZA" b="0" dirty="0"/>
                  <a:t>We know that the Pauli-Z gate can be written as Z=H⋅X⋅H. This tells us that a phase-flip error can be handled with the same circuit we used for bit-flip errors, as long as we insert Hadamard gates before and after the error. From the circuit’s point of view, it still looks like a bit-flip correction, but in reality the effect is to correct a phase flip.</a:t>
                </a:r>
              </a:p>
              <a:p>
                <a:pPr marL="228600" indent="-228600" algn="just">
                  <a:buFont typeface="+mj-lt"/>
                  <a:buAutoNum type="arabicPeriod"/>
                </a:pPr>
                <a:endParaRPr lang="en-ZA" b="0" dirty="0"/>
              </a:p>
              <a:p>
                <a:pPr marL="228600" indent="-228600" algn="just">
                  <a:buFont typeface="+mj-lt"/>
                  <a:buAutoNum type="arabicPeriod"/>
                </a:pPr>
                <a:r>
                  <a:rPr lang="en-ZA" dirty="0"/>
                  <a:t>Because of this transformation, the logical encoding changes as well. Each qubit in the code is now in the state ∣+⟩ or ∣−⟩. To emphasize the analogy with the bit-flip code, we denote these states with a hat symbol.</a:t>
                </a:r>
              </a:p>
              <a:p>
                <a:pPr marL="228600" indent="-228600" algn="just">
                  <a:buFont typeface="+mj-lt"/>
                  <a:buAutoNum type="arabicPeriod"/>
                </a:pPr>
                <a:endParaRPr lang="en-ZA" b="0" dirty="0"/>
              </a:p>
              <a:p>
                <a:pPr marL="228600" indent="-228600" algn="just">
                  <a:buFont typeface="+mj-lt"/>
                  <a:buAutoNum type="arabicPeriod"/>
                </a:pPr>
                <a:r>
                  <a:rPr lang="en-ZA" b="0" dirty="0"/>
                  <a:t>Just as before, the same procedure is used for syndrome extraction and error correction. Apart from the extra </a:t>
                </a:r>
                <a:r>
                  <a:rPr lang="en-ZA" b="0" dirty="0" err="1"/>
                  <a:t>Hadamards</a:t>
                </a:r>
                <a:r>
                  <a:rPr lang="en-ZA" b="0" dirty="0"/>
                  <a:t>, nothing needs to change in the detection or correction logic.</a:t>
                </a:r>
              </a:p>
              <a:p>
                <a:pPr marL="228600" indent="-228600" algn="just">
                  <a:buFont typeface="+mj-lt"/>
                  <a:buAutoNum type="arabicPeriod"/>
                </a:pPr>
                <a:endParaRPr lang="en-ZA" b="0" dirty="0"/>
              </a:p>
              <a:p>
                <a:pPr marL="0" indent="0" algn="just">
                  <a:buFont typeface="+mj-lt"/>
                  <a:buNone/>
                </a:pPr>
                <a:r>
                  <a:rPr lang="en-ZA" b="0" dirty="0"/>
                  <a:t>Reference:</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ZA" b="0" dirty="0"/>
                  <a:t>Artur </a:t>
                </a:r>
                <a:r>
                  <a:rPr lang="en-ZA" b="0" dirty="0" err="1"/>
                  <a:t>Ekert</a:t>
                </a:r>
                <a:r>
                  <a:rPr lang="en-ZA" b="0" dirty="0"/>
                  <a:t>, “IQIS Lecture 8.4 — Three-qubit repetition code for phase-flip errors”,</a:t>
                </a:r>
                <a:br>
                  <a:rPr lang="en-ZA" b="0" dirty="0"/>
                </a:br>
                <a:r>
                  <a:rPr lang="en-ZA" b="0" dirty="0"/>
                  <a:t>https://</a:t>
                </a:r>
                <a:r>
                  <a:rPr lang="en-ZA" b="0" dirty="0" err="1"/>
                  <a:t>youtu.be</a:t>
                </a:r>
                <a:r>
                  <a:rPr lang="en-ZA" b="0" dirty="0"/>
                  <a:t>/</a:t>
                </a:r>
                <a:r>
                  <a:rPr lang="en-ZA" b="0" dirty="0" err="1"/>
                  <a:t>az_JPhNpWFo?si</a:t>
                </a:r>
                <a:r>
                  <a:rPr lang="en-ZA" b="0" dirty="0"/>
                  <a:t>=2IPscTqMef8l2mH1</a:t>
                </a:r>
              </a:p>
            </p:txBody>
          </p:sp>
        </mc:Choice>
        <mc:Fallback xmlns="">
          <p:sp>
            <p:nvSpPr>
              <p:cNvPr id="3" name="Notes Placeholder 2"/>
              <p:cNvSpPr>
                <a:spLocks noGrp="1"/>
              </p:cNvSpPr>
              <p:nvPr>
                <p:ph type="body" idx="1"/>
              </p:nvPr>
            </p:nvSpPr>
            <p:spPr/>
            <p:txBody>
              <a:bodyPr/>
              <a:lstStyle/>
              <a:p>
                <a:pPr algn="just"/>
                <a:r>
                  <a:rPr lang="en-ZA" b="0" dirty="0"/>
                  <a:t>Let us now consider the case where a phase flip has occurred — that is, a sign change in the amplitude of a component within a superposition.</a:t>
                </a:r>
              </a:p>
              <a:p>
                <a:pPr algn="just"/>
                <a:endParaRPr lang="en-ZA" b="0" dirty="0"/>
              </a:p>
              <a:p>
                <a:pPr algn="just"/>
                <a:r>
                  <a:rPr lang="en-ZA" b="0" dirty="0"/>
                  <a:t>As we have seen earlier, the Pauli-Z gate can be expressed as the sequence of gates Z=H⋅X⋅H. This means that a phase-flip error can be corrected using the same quantum circuit as for bit-flip errors, but with Hadamard gates applied before and after the error model. From the perspective of the rest of the circuit, the correction still appears as a bit-flip correction, even though the overall operation effectively performs phase-flip correction.</a:t>
                </a:r>
              </a:p>
              <a:p>
                <a:pPr algn="just"/>
                <a:endParaRPr lang="en-ZA" b="0" dirty="0"/>
              </a:p>
              <a:p>
                <a:pPr algn="just"/>
                <a:r>
                  <a:rPr lang="en-ZA" b="0" dirty="0"/>
                  <a:t>As a consequence of this transformation, the logical encoding is also affected. </a:t>
                </a:r>
                <a:r>
                  <a:rPr lang="en-ZA" dirty="0"/>
                  <a:t>Each qubit in the encoded state is now in the state </a:t>
                </a:r>
                <a:r>
                  <a:rPr lang="en-US" sz="1200" i="0">
                    <a:latin typeface="Cambria Math" panose="02040503050406030204" pitchFamily="18" charset="0"/>
                    <a:ea typeface="Cambria Math" panose="02040503050406030204" pitchFamily="18" charset="0"/>
                  </a:rPr>
                  <a:t>├ |</a:t>
                </a:r>
                <a:r>
                  <a:rPr lang="en-US" sz="1200" b="0" i="0">
                    <a:latin typeface="Cambria Math" panose="02040503050406030204" pitchFamily="18" charset="0"/>
                    <a:ea typeface="Cambria Math" panose="02040503050406030204" pitchFamily="18" charset="0"/>
                  </a:rPr>
                  <a:t>+⟩</a:t>
                </a:r>
                <a:r>
                  <a:rPr lang="en-ZA" b="0" dirty="0"/>
                  <a:t> or </a:t>
                </a:r>
                <a:r>
                  <a:rPr lang="en-US" sz="1200" i="0">
                    <a:latin typeface="Cambria Math" panose="02040503050406030204" pitchFamily="18" charset="0"/>
                    <a:ea typeface="Cambria Math" panose="02040503050406030204" pitchFamily="18" charset="0"/>
                  </a:rPr>
                  <a:t>├ |</a:t>
                </a:r>
                <a:r>
                  <a:rPr lang="en-US" sz="1200" b="0" i="0">
                    <a:latin typeface="Cambria Math" panose="02040503050406030204" pitchFamily="18" charset="0"/>
                    <a:ea typeface="Cambria Math" panose="02040503050406030204" pitchFamily="18" charset="0"/>
                  </a:rPr>
                  <a:t>−⟩</a:t>
                </a:r>
                <a:r>
                  <a:rPr lang="en-ZA" dirty="0"/>
                  <a:t>, which we denote using a hat </a:t>
                </a:r>
                <a:r>
                  <a:rPr lang="en-ZA" b="0" dirty="0"/>
                  <a:t>(</a:t>
                </a:r>
                <a:r>
                  <a:rPr lang="en-US" sz="1200" i="0">
                    <a:latin typeface="Cambria Math" panose="02040503050406030204" pitchFamily="18" charset="0"/>
                    <a:ea typeface="Cambria Math" panose="02040503050406030204" pitchFamily="18" charset="0"/>
                  </a:rPr>
                  <a:t>0 ̂</a:t>
                </a:r>
                <a:r>
                  <a:rPr lang="en-US" sz="1200" b="0" i="0">
                    <a:latin typeface="Cambria Math" panose="02040503050406030204" pitchFamily="18" charset="0"/>
                    <a:ea typeface="Cambria Math" panose="02040503050406030204" pitchFamily="18" charset="0"/>
                  </a:rPr>
                  <a:t>,</a:t>
                </a:r>
                <a:r>
                  <a:rPr lang="en-US" sz="1200" i="0">
                    <a:latin typeface="Cambria Math" panose="02040503050406030204" pitchFamily="18" charset="0"/>
                    <a:ea typeface="Cambria Math" panose="02040503050406030204" pitchFamily="18" charset="0"/>
                  </a:rPr>
                  <a:t>1 ̂</a:t>
                </a:r>
                <a:r>
                  <a:rPr lang="en-ZA" b="0" dirty="0"/>
                  <a:t>) </a:t>
                </a:r>
                <a:r>
                  <a:rPr lang="en-ZA" dirty="0"/>
                  <a:t> to emphasize the analogy with the previous bit-flip code.</a:t>
                </a:r>
                <a:endParaRPr lang="en-ZA" b="0" dirty="0"/>
              </a:p>
              <a:p>
                <a:pPr algn="just"/>
                <a:endParaRPr lang="en-ZA" b="0" dirty="0"/>
              </a:p>
              <a:p>
                <a:pPr algn="just"/>
                <a:r>
                  <a:rPr lang="en-ZA" b="0" dirty="0"/>
                  <a:t>Just like in the previous case, the same procedure is used for syndrome extraction and error correction. No changes are needed in the detection or correction logic beyond the Hadamard transformations.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46</a:t>
            </a:fld>
            <a:endParaRPr lang="en-US"/>
          </a:p>
        </p:txBody>
      </p:sp>
    </p:spTree>
    <p:extLst>
      <p:ext uri="{BB962C8B-B14F-4D97-AF65-F5344CB8AC3E}">
        <p14:creationId xmlns:p14="http://schemas.microsoft.com/office/powerpoint/2010/main" val="582737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Let us now look at practical implementations of the 3-qubit repetition code. </a:t>
            </a:r>
            <a:r>
              <a:rPr lang="en-ZA" dirty="0"/>
              <a:t>The first circuit detects and corrects a single bit-flip error on any of the three physical qubits. Error correction works through a majority vote: if one qubit disagrees with the other two, it is flipped.</a:t>
            </a:r>
          </a:p>
          <a:p>
            <a:pPr algn="just"/>
            <a:endParaRPr lang="en-ZA" b="0" dirty="0"/>
          </a:p>
          <a:p>
            <a:pPr marL="0" indent="0" algn="just">
              <a:buFont typeface="Arial" panose="020B0604020202020204" pitchFamily="34" charset="0"/>
              <a:buNone/>
            </a:pPr>
            <a:r>
              <a:rPr lang="en-ZA" dirty="0"/>
              <a:t>For example, to simulate an error, we apply a Pauli-X gate to the middle qubit.</a:t>
            </a:r>
          </a:p>
          <a:p>
            <a:pPr marL="171450" indent="-171450" algn="just">
              <a:buFont typeface="Arial" panose="020B0604020202020204" pitchFamily="34" charset="0"/>
              <a:buChar char="•"/>
            </a:pPr>
            <a:r>
              <a:rPr lang="en-ZA" dirty="0"/>
              <a:t>If the state was ∣000⟩, the error changes it to ∣010⟩.</a:t>
            </a:r>
          </a:p>
          <a:p>
            <a:pPr marL="171450" indent="-171450" algn="just">
              <a:buFont typeface="Arial" panose="020B0604020202020204" pitchFamily="34" charset="0"/>
              <a:buChar char="•"/>
            </a:pPr>
            <a:r>
              <a:rPr lang="en-ZA" dirty="0"/>
              <a:t>After the decoding circuit, the state is still ∣010⟩.</a:t>
            </a:r>
          </a:p>
          <a:p>
            <a:pPr marL="171450" indent="-171450" algn="just">
              <a:buFont typeface="Arial" panose="020B0604020202020204" pitchFamily="34" charset="0"/>
              <a:buChar char="•"/>
            </a:pPr>
            <a:r>
              <a:rPr lang="en-ZA" dirty="0"/>
              <a:t>The CCNOT gate receives the control inputs ∣10⟩, which do not activate the target. As a result, the output remains ∣0⟩.</a:t>
            </a:r>
          </a:p>
          <a:p>
            <a:pPr algn="just"/>
            <a:endParaRPr lang="en-ZA" dirty="0"/>
          </a:p>
          <a:p>
            <a:pPr algn="just"/>
            <a:r>
              <a:rPr lang="en-ZA" dirty="0"/>
              <a:t>The second circuit corrects </a:t>
            </a:r>
            <a:r>
              <a:rPr lang="en-ZA" b="0" dirty="0"/>
              <a:t>phase-flip errors</a:t>
            </a:r>
            <a:r>
              <a:rPr lang="en-ZA" dirty="0"/>
              <a:t>. Just as in the theoretical model, it uses the same majority-vote logic as the bit-flip code, but with Hadamard gates applied to each qubit line. These </a:t>
            </a:r>
            <a:r>
              <a:rPr lang="en-ZA" dirty="0" err="1"/>
              <a:t>Hadamards</a:t>
            </a:r>
            <a:r>
              <a:rPr lang="en-ZA" dirty="0"/>
              <a:t> turn phase flips into bit flips, so the same correction circuit can be reused.</a:t>
            </a:r>
          </a:p>
          <a:p>
            <a:pPr algn="just"/>
            <a:endParaRPr lang="en-ZA" dirty="0"/>
          </a:p>
          <a:p>
            <a:pPr algn="just"/>
            <a:r>
              <a:rPr lang="en-ZA" dirty="0"/>
              <a:t>In this example, a phase flip occurs on the first qubit, giving the state ∣100⟩ at the input of the decoding circuit. This activates both the CNOT and the CCNOT gates, which flip the output qubit back to ∣0⟩.</a:t>
            </a:r>
          </a:p>
          <a:p>
            <a:pPr algn="just"/>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47</a:t>
            </a:fld>
            <a:endParaRPr lang="en-US"/>
          </a:p>
        </p:txBody>
      </p:sp>
    </p:spTree>
    <p:extLst>
      <p:ext uri="{BB962C8B-B14F-4D97-AF65-F5344CB8AC3E}">
        <p14:creationId xmlns:p14="http://schemas.microsoft.com/office/powerpoint/2010/main" val="34577544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What we really want is a way to fully protect a qubit. In other words, to build a logical qubit that can survive a number of errors. In 1995, Peter Shor proposed the first such scheme, now called the Shor code.</a:t>
                </a:r>
              </a:p>
              <a:p>
                <a:pPr algn="just"/>
                <a:endParaRPr lang="en-ZA" b="0" dirty="0"/>
              </a:p>
              <a:p>
                <a:pPr algn="just"/>
                <a:r>
                  <a:rPr lang="en-ZA" dirty="0"/>
                  <a:t>In the Shor encoding circuit, a qubit in an arbitrary state ∣S⟩ is first encoded into three physical qubits. Each of these is then further encoded into three more qubits, with Hadamard gates added to provide phase-flip protection. The result is a 3×3 block of qubits, known as the 9-qubit code.</a:t>
                </a:r>
              </a:p>
              <a:p>
                <a:pPr algn="just"/>
                <a:endParaRPr lang="en-ZA" b="0" dirty="0"/>
              </a:p>
              <a:p>
                <a:pPr algn="just"/>
                <a:r>
                  <a:rPr lang="en-ZA" b="0" dirty="0"/>
                  <a:t>With this construction, each physical qubit is protected against either a bit flip or a phase flip. Altogether, the logical qubit can tolerate up to three errors, as long as no more than one error occurs within each group of three qubits (each row of the block). </a:t>
                </a:r>
              </a:p>
              <a:p>
                <a:pPr algn="just"/>
                <a:endParaRPr lang="en-ZA" b="0" dirty="0"/>
              </a:p>
              <a:p>
                <a:pPr algn="just"/>
                <a:r>
                  <a:rPr lang="en-ZA" dirty="0"/>
                  <a:t>Besides Shor’s 9-qubit code, there are other codes as well: the 7-qubit </a:t>
                </a:r>
                <a:r>
                  <a:rPr lang="en-ZA" dirty="0" err="1"/>
                  <a:t>Steane</a:t>
                </a:r>
                <a:r>
                  <a:rPr lang="en-ZA" dirty="0"/>
                  <a:t> code, and the 5-qubit code, which is the smallest code that can correct any single-qubit error.</a:t>
                </a:r>
                <a:endParaRPr lang="en-ZA" b="0" dirty="0"/>
              </a:p>
              <a:p>
                <a:pPr algn="just"/>
                <a:endParaRPr lang="en-ZA" b="0" dirty="0"/>
              </a:p>
            </p:txBody>
          </p:sp>
        </mc:Choice>
        <mc:Fallback xmlns="">
          <p:sp>
            <p:nvSpPr>
              <p:cNvPr id="3" name="Notes Placeholder 2"/>
              <p:cNvSpPr>
                <a:spLocks noGrp="1"/>
              </p:cNvSpPr>
              <p:nvPr>
                <p:ph type="body" idx="1"/>
              </p:nvPr>
            </p:nvSpPr>
            <p:spPr/>
            <p:txBody>
              <a:bodyPr/>
              <a:lstStyle/>
              <a:p>
                <a:pPr algn="just"/>
                <a:r>
                  <a:rPr lang="en-ZA" b="0" dirty="0"/>
                  <a:t>What ultimately interests us most is how to fully protect a qubit — that is, how to construct a logical qubit that is resilient to errors. In 1995, Peter Shor proposed a scheme for such protection, now known as the Shor code.</a:t>
                </a:r>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In the Shor encoding circuit shown in the figure, the input is a qubit in an arbitrary state </a:t>
                </a:r>
                <a:r>
                  <a:rPr lang="en-US" sz="1200" i="0">
                    <a:latin typeface="Cambria Math" panose="02040503050406030204" pitchFamily="18" charset="0"/>
                    <a:ea typeface="Cambria Math" panose="02040503050406030204" pitchFamily="18" charset="0"/>
                  </a:rPr>
                  <a:t>├ |</a:t>
                </a:r>
                <a:r>
                  <a:rPr lang="sr-Latn-RS" sz="1200" i="0">
                    <a:latin typeface="Cambria Math" panose="02040503050406030204" pitchFamily="18" charset="0"/>
                    <a:ea typeface="Cambria Math" panose="02040503050406030204" pitchFamily="18" charset="0"/>
                  </a:rPr>
                  <a:t>𝑆⟩</a:t>
                </a:r>
                <a:r>
                  <a:rPr lang="en-ZA" b="0" dirty="0"/>
                  <a:t>. The encoder E first encodes this qubit, after which Hadamard gates are applied to enable phase-flip error detection.</a:t>
                </a:r>
              </a:p>
              <a:p>
                <a:pPr algn="just"/>
                <a:r>
                  <a:rPr lang="en-ZA" b="0" dirty="0"/>
                  <a:t>Each of the three qubits produced by the initial encoding is then individually encoded again using three additional qubits. Between the encoder and decoder, this results in a 3×3 "sandwich" of qubits, forming what is known as the 9-qubit code.</a:t>
                </a:r>
              </a:p>
              <a:p>
                <a:pPr algn="just"/>
                <a:endParaRPr lang="en-ZA" b="0" dirty="0"/>
              </a:p>
              <a:p>
                <a:pPr algn="just"/>
                <a:r>
                  <a:rPr lang="en-ZA" b="0" dirty="0"/>
                  <a:t>Each of the nine physical qubits is protected against a single bit-flip or phase-flip error. This means that the encoded logical qubit is resilient to up to three simultaneous errors, provided that no more than one error occurs per group of three qubits (i.e., per row in the 3×3 block). This hierarchical construction of error-correcting codes is known as concatenation.</a:t>
                </a:r>
              </a:p>
              <a:p>
                <a:pPr algn="just"/>
                <a:endParaRPr lang="en-ZA" b="0" dirty="0"/>
              </a:p>
              <a:p>
                <a:pPr algn="just"/>
                <a:r>
                  <a:rPr lang="en-ZA" b="0" dirty="0"/>
                  <a:t>In addition to the 9-qubit Shor code, there also exist more compact variants, such as the 7-qubit </a:t>
                </a:r>
                <a:r>
                  <a:rPr lang="en-ZA" b="0" dirty="0" err="1"/>
                  <a:t>Steane</a:t>
                </a:r>
                <a:r>
                  <a:rPr lang="en-ZA" b="0" dirty="0"/>
                  <a:t> code and the 5-qubit code, which is the smallest possible quantum error-correcting code that can correct arbitrary single-qubit errors.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48</a:t>
            </a:fld>
            <a:endParaRPr lang="en-US"/>
          </a:p>
        </p:txBody>
      </p:sp>
    </p:spTree>
    <p:extLst>
      <p:ext uri="{BB962C8B-B14F-4D97-AF65-F5344CB8AC3E}">
        <p14:creationId xmlns:p14="http://schemas.microsoft.com/office/powerpoint/2010/main" val="5758083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The practical layout of the Shor code is fairly straightforward. The </a:t>
            </a:r>
            <a:r>
              <a:rPr lang="en-ZA" dirty="0" err="1"/>
              <a:t>gray</a:t>
            </a:r>
            <a:r>
              <a:rPr lang="en-ZA" dirty="0"/>
              <a:t>-shaded regions show the outer encoder and decoder, while the yellow-shaded regions mark the inner circuits that correct bit-flip errors. The layout of these inner and outer circuits is exactly the same as in the examples we discussed earlier.</a:t>
            </a:r>
            <a:endParaRPr lang="en-US" b="0" dirty="0"/>
          </a:p>
        </p:txBody>
      </p:sp>
      <p:sp>
        <p:nvSpPr>
          <p:cNvPr id="4" name="Slide Number Placeholder 3"/>
          <p:cNvSpPr>
            <a:spLocks noGrp="1"/>
          </p:cNvSpPr>
          <p:nvPr>
            <p:ph type="sldNum" sz="quarter" idx="5"/>
          </p:nvPr>
        </p:nvSpPr>
        <p:spPr/>
        <p:txBody>
          <a:bodyPr/>
          <a:lstStyle/>
          <a:p>
            <a:fld id="{1B2CE5E3-B8BD-D040-AC87-D640191DD8F1}" type="slidenum">
              <a:rPr lang="en-US" smtClean="0"/>
              <a:t>49</a:t>
            </a:fld>
            <a:endParaRPr lang="en-US"/>
          </a:p>
        </p:txBody>
      </p:sp>
    </p:spTree>
    <p:extLst>
      <p:ext uri="{BB962C8B-B14F-4D97-AF65-F5344CB8AC3E}">
        <p14:creationId xmlns:p14="http://schemas.microsoft.com/office/powerpoint/2010/main" val="31742482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0" dirty="0"/>
              <a:t>To program quantum circuits, several quantum programming languages and frameworks are available:</a:t>
            </a:r>
          </a:p>
          <a:p>
            <a:pPr algn="just"/>
            <a:endParaRPr lang="en-US" b="0" dirty="0"/>
          </a:p>
          <a:p>
            <a:pPr marL="171450" indent="-171450" algn="just">
              <a:buFont typeface="Arial" panose="020B0604020202020204" pitchFamily="34" charset="0"/>
              <a:buChar char="•"/>
            </a:pPr>
            <a:r>
              <a:rPr lang="en-US" b="0" dirty="0" err="1"/>
              <a:t>OpenQASM</a:t>
            </a:r>
            <a:r>
              <a:rPr lang="en-US" b="0" dirty="0"/>
              <a:t> (IBM): A low-level quantum assembly language used for describing quantum circuits in a hardware-agnostic manner.</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err="1"/>
              <a:t>Qiskit</a:t>
            </a:r>
            <a:r>
              <a:rPr lang="en-US" b="0" dirty="0"/>
              <a:t> (IBM): </a:t>
            </a:r>
            <a:r>
              <a:rPr lang="en-ZA" b="0" dirty="0"/>
              <a:t>Python-based quantum computing framework</a:t>
            </a:r>
            <a:r>
              <a:rPr lang="en-US" b="0" dirty="0"/>
              <a:t>.</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err="1"/>
              <a:t>Cirq</a:t>
            </a:r>
            <a:r>
              <a:rPr lang="en-US" b="0" dirty="0"/>
              <a:t> (Google): </a:t>
            </a:r>
            <a:r>
              <a:rPr lang="en-ZA" b="0" dirty="0"/>
              <a:t>Python-based quantum computing framework</a:t>
            </a:r>
            <a:r>
              <a:rPr lang="en-US" b="0" dirty="0"/>
              <a:t>.</a:t>
            </a:r>
          </a:p>
          <a:p>
            <a:pPr marL="171450" indent="-171450" algn="just">
              <a:buFont typeface="Arial" panose="020B0604020202020204" pitchFamily="34" charset="0"/>
              <a:buChar char="•"/>
            </a:pPr>
            <a:r>
              <a:rPr lang="en-US" b="0" dirty="0" err="1"/>
              <a:t>Quil</a:t>
            </a:r>
            <a:r>
              <a:rPr lang="en-US" b="0" dirty="0"/>
              <a:t> (</a:t>
            </a:r>
            <a:r>
              <a:rPr lang="en-US" b="0" dirty="0" err="1"/>
              <a:t>Rigetti</a:t>
            </a:r>
            <a:r>
              <a:rPr lang="en-US" b="0" dirty="0"/>
              <a:t>): A low-level quantum instruction language for programming </a:t>
            </a:r>
            <a:r>
              <a:rPr lang="en-US" b="0" dirty="0" err="1"/>
              <a:t>Rigetti’s</a:t>
            </a:r>
            <a:r>
              <a:rPr lang="en-US" b="0" dirty="0"/>
              <a:t> quantum processors.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err="1"/>
              <a:t>PyQuil</a:t>
            </a:r>
            <a:r>
              <a:rPr lang="en-ZA" b="0" dirty="0"/>
              <a:t> </a:t>
            </a:r>
            <a:r>
              <a:rPr lang="en-US" b="0" dirty="0"/>
              <a:t>(</a:t>
            </a:r>
            <a:r>
              <a:rPr lang="en-US" b="0" dirty="0" err="1"/>
              <a:t>Rigetti</a:t>
            </a:r>
            <a:r>
              <a:rPr lang="en-US" b="0" dirty="0"/>
              <a:t>): </a:t>
            </a:r>
            <a:r>
              <a:rPr lang="en-ZA" b="0" dirty="0"/>
              <a:t>Python-based quantum computing framework.</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err="1"/>
              <a:t>PennyLane</a:t>
            </a:r>
            <a:r>
              <a:rPr lang="en-ZA" dirty="0"/>
              <a:t> (</a:t>
            </a:r>
            <a:r>
              <a:rPr lang="en-ZA" b="0" dirty="0"/>
              <a:t>Xanadu</a:t>
            </a:r>
            <a:r>
              <a:rPr lang="en-ZA" dirty="0"/>
              <a:t>): Python library for quantum machine learning and hybrid quantum-classical computing.</a:t>
            </a:r>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Q# (Microsoft): A language designed specifically for quantum computing, integrated with the Microsoft’s Quantum Development Kit (QDK).</a:t>
            </a:r>
          </a:p>
          <a:p>
            <a:pPr marL="171450" indent="-171450" algn="just">
              <a:buFont typeface="Arial" panose="020B0604020202020204" pitchFamily="34" charset="0"/>
              <a:buChar char="•"/>
            </a:pPr>
            <a:endParaRPr lang="en-US" b="0" dirty="0"/>
          </a:p>
        </p:txBody>
      </p:sp>
      <p:sp>
        <p:nvSpPr>
          <p:cNvPr id="4" name="Slide Number Placeholder 3"/>
          <p:cNvSpPr>
            <a:spLocks noGrp="1"/>
          </p:cNvSpPr>
          <p:nvPr>
            <p:ph type="sldNum" sz="quarter" idx="5"/>
          </p:nvPr>
        </p:nvSpPr>
        <p:spPr/>
        <p:txBody>
          <a:bodyPr/>
          <a:lstStyle/>
          <a:p>
            <a:fld id="{1B2CE5E3-B8BD-D040-AC87-D640191DD8F1}" type="slidenum">
              <a:rPr lang="en-US" smtClean="0"/>
              <a:t>50</a:t>
            </a:fld>
            <a:endParaRPr lang="en-US"/>
          </a:p>
        </p:txBody>
      </p:sp>
    </p:spTree>
    <p:extLst>
      <p:ext uri="{BB962C8B-B14F-4D97-AF65-F5344CB8AC3E}">
        <p14:creationId xmlns:p14="http://schemas.microsoft.com/office/powerpoint/2010/main" val="5427788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0" dirty="0"/>
              <a:t>The execution of a quantum program follows several basic steps, from writing the source code to obtaining the final measurement results.</a:t>
            </a:r>
            <a:endParaRPr lang="en-US" b="0" dirty="0"/>
          </a:p>
          <a:p>
            <a:endParaRPr lang="en-US" b="0" dirty="0"/>
          </a:p>
          <a:p>
            <a:pPr marL="171450" indent="-171450">
              <a:buFont typeface="Arial" panose="020B0604020202020204" pitchFamily="34" charset="0"/>
              <a:buChar char="•"/>
            </a:pPr>
            <a:r>
              <a:rPr lang="en-ZA" b="0" dirty="0"/>
              <a:t>You write a quantum program in a language such as </a:t>
            </a:r>
            <a:r>
              <a:rPr lang="en-ZA" b="0" dirty="0" err="1"/>
              <a:t>OpenQASM</a:t>
            </a:r>
            <a:r>
              <a:rPr lang="en-ZA" b="0" dirty="0"/>
              <a:t> or </a:t>
            </a:r>
            <a:r>
              <a:rPr lang="en-ZA" b="0" dirty="0" err="1"/>
              <a:t>Qiskit</a:t>
            </a:r>
            <a:r>
              <a:rPr lang="en-ZA" b="0" dirty="0"/>
              <a:t>.</a:t>
            </a:r>
          </a:p>
          <a:p>
            <a:pPr marL="171450" indent="-171450">
              <a:buFont typeface="Arial" panose="020B0604020202020204" pitchFamily="34" charset="0"/>
              <a:buChar char="•"/>
            </a:pPr>
            <a:r>
              <a:rPr lang="en-ZA" b="0" dirty="0"/>
              <a:t>The compiler verifies the program and converts it into instructions that the quantum computer can understand.</a:t>
            </a:r>
          </a:p>
          <a:p>
            <a:pPr marL="171450" indent="-171450">
              <a:buFont typeface="Arial" panose="020B0604020202020204" pitchFamily="34" charset="0"/>
              <a:buChar char="•"/>
            </a:pPr>
            <a:r>
              <a:rPr lang="en-ZA" b="0" dirty="0"/>
              <a:t>The result is a quantum circuit: a sequence of quantum gates and measurements acting on specific qubits.</a:t>
            </a:r>
          </a:p>
          <a:p>
            <a:pPr marL="171450" indent="-171450">
              <a:buFont typeface="Arial" panose="020B0604020202020204" pitchFamily="34" charset="0"/>
              <a:buChar char="•"/>
            </a:pPr>
            <a:r>
              <a:rPr lang="en-ZA" b="0" dirty="0"/>
              <a:t>The quantum computer executes the circuit repeatedly. Each run produces a measurement outcome.</a:t>
            </a:r>
          </a:p>
          <a:p>
            <a:pPr marL="171450" indent="-171450">
              <a:buFont typeface="Arial" panose="020B0604020202020204" pitchFamily="34" charset="0"/>
              <a:buChar char="•"/>
            </a:pPr>
            <a:r>
              <a:rPr lang="en-ZA" b="0" dirty="0"/>
              <a:t>The measurement results are returned as classical data, such as counts or probabilities.</a:t>
            </a:r>
          </a:p>
          <a:p>
            <a:pPr marL="171450" indent="-171450">
              <a:buFont typeface="Arial" panose="020B0604020202020204" pitchFamily="34" charset="0"/>
              <a:buChar char="•"/>
            </a:pPr>
            <a:r>
              <a:rPr lang="en-ZA" b="0" dirty="0"/>
              <a:t>You can then use these results to </a:t>
            </a:r>
            <a:r>
              <a:rPr lang="en-ZA" b="0" dirty="0" err="1"/>
              <a:t>analyze</a:t>
            </a:r>
            <a:r>
              <a:rPr lang="en-ZA" b="0" dirty="0"/>
              <a:t> and visualize the output, or to improve the program.</a:t>
            </a:r>
          </a:p>
        </p:txBody>
      </p:sp>
      <p:sp>
        <p:nvSpPr>
          <p:cNvPr id="4" name="Slide Number Placeholder 3"/>
          <p:cNvSpPr>
            <a:spLocks noGrp="1"/>
          </p:cNvSpPr>
          <p:nvPr>
            <p:ph type="sldNum" sz="quarter" idx="5"/>
          </p:nvPr>
        </p:nvSpPr>
        <p:spPr/>
        <p:txBody>
          <a:bodyPr/>
          <a:lstStyle/>
          <a:p>
            <a:fld id="{1B2CE5E3-B8BD-D040-AC87-D640191DD8F1}" type="slidenum">
              <a:rPr lang="en-US" smtClean="0"/>
              <a:t>51</a:t>
            </a:fld>
            <a:endParaRPr lang="en-US"/>
          </a:p>
        </p:txBody>
      </p:sp>
    </p:spTree>
    <p:extLst>
      <p:ext uri="{BB962C8B-B14F-4D97-AF65-F5344CB8AC3E}">
        <p14:creationId xmlns:p14="http://schemas.microsoft.com/office/powerpoint/2010/main" val="2453358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Common language for describing quantum circuits is the Open Quantum Assembly Language, or </a:t>
            </a:r>
            <a:r>
              <a:rPr lang="en-ZA" dirty="0" err="1"/>
              <a:t>OpenQASM</a:t>
            </a:r>
            <a:r>
              <a:rPr lang="en-ZA" dirty="0"/>
              <a:t>. It was introduced by IBM in 2017. The current major version is </a:t>
            </a:r>
            <a:r>
              <a:rPr lang="en-ZA" dirty="0" err="1"/>
              <a:t>OpenQASM</a:t>
            </a:r>
            <a:r>
              <a:rPr lang="en-ZA" dirty="0"/>
              <a:t> 3.</a:t>
            </a:r>
          </a:p>
          <a:p>
            <a:pPr algn="just"/>
            <a:endParaRPr lang="en-ZA" dirty="0"/>
          </a:p>
          <a:p>
            <a:pPr algn="just"/>
            <a:r>
              <a:rPr lang="en-ZA" dirty="0"/>
              <a:t>The syntax of </a:t>
            </a:r>
            <a:r>
              <a:rPr lang="en-ZA" dirty="0" err="1"/>
              <a:t>OpenQASM</a:t>
            </a:r>
            <a:r>
              <a:rPr lang="en-ZA" dirty="0"/>
              <a:t> 3 can be described by a few basic rules:</a:t>
            </a:r>
          </a:p>
          <a:p>
            <a:pPr algn="just"/>
            <a:endParaRPr lang="en-ZA" b="0" dirty="0"/>
          </a:p>
          <a:p>
            <a:pPr marL="171450" lvl="0" indent="-171450">
              <a:buFont typeface="Arial" panose="020B0604020202020204" pitchFamily="34" charset="0"/>
              <a:buChar char="•"/>
            </a:pPr>
            <a:r>
              <a:rPr lang="en-ZA" b="0" dirty="0" err="1"/>
              <a:t>OpenQASM</a:t>
            </a:r>
            <a:r>
              <a:rPr lang="en-ZA" b="0" dirty="0"/>
              <a:t> is case-sensitive, so uppercase and lowercase letters are treated as different characters.</a:t>
            </a:r>
            <a:endParaRPr lang="sr-Latn-RS" sz="1200" b="0" kern="1200" dirty="0">
              <a:solidFill>
                <a:schemeClr val="tx1"/>
              </a:solidFill>
              <a:latin typeface="+mn-lt"/>
              <a:ea typeface="+mn-ea"/>
              <a:cs typeface="+mn-cs"/>
            </a:endParaRPr>
          </a:p>
          <a:p>
            <a:pPr marL="171450" indent="-171450" algn="just">
              <a:buFont typeface="Arial" panose="020B0604020202020204" pitchFamily="34" charset="0"/>
              <a:buChar char="•"/>
            </a:pPr>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A program consists of a series of statements. Most statements end with a semicolon</a:t>
            </a:r>
            <a:r>
              <a:rPr lang="en-ZA" sz="1200" kern="1200" dirty="0">
                <a:solidFill>
                  <a:schemeClr val="tx1"/>
                </a:solidFill>
                <a:latin typeface="+mn-lt"/>
                <a:ea typeface="+mn-ea"/>
                <a:cs typeface="+mn-cs"/>
              </a:rPr>
              <a:t> (;).</a:t>
            </a:r>
            <a:endParaRPr lang="en-ZA" sz="900" kern="1200" dirty="0">
              <a:solidFill>
                <a:schemeClr val="tx1"/>
              </a:solidFill>
              <a:latin typeface="+mn-lt"/>
              <a:ea typeface="+mn-ea"/>
              <a:cs typeface="+mn-cs"/>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sz="900" kern="1200" dirty="0">
              <a:solidFill>
                <a:schemeClr val="tx1"/>
              </a:solidFill>
              <a:latin typeface="+mn-lt"/>
              <a:ea typeface="+mn-ea"/>
              <a:cs typeface="+mn-cs"/>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An </a:t>
            </a:r>
            <a:r>
              <a:rPr lang="en-ZA" dirty="0" err="1"/>
              <a:t>OpenQASM</a:t>
            </a:r>
            <a:r>
              <a:rPr lang="en-ZA" dirty="0"/>
              <a:t> program begins with a version declaration</a:t>
            </a:r>
            <a:r>
              <a:rPr lang="en-ZA" sz="1200" kern="1200" dirty="0">
                <a:solidFill>
                  <a:schemeClr val="tx1"/>
                </a:solidFill>
                <a:latin typeface="+mn-lt"/>
                <a:ea typeface="+mn-ea"/>
                <a:cs typeface="+mn-cs"/>
              </a:rPr>
              <a:t>: OPENQASM </a:t>
            </a:r>
            <a:r>
              <a:rPr lang="en-ZA" sz="1200" kern="1200" dirty="0" err="1">
                <a:solidFill>
                  <a:schemeClr val="tx1"/>
                </a:solidFill>
                <a:latin typeface="+mn-lt"/>
                <a:ea typeface="+mn-ea"/>
                <a:cs typeface="+mn-cs"/>
              </a:rPr>
              <a:t>M.n</a:t>
            </a:r>
            <a:r>
              <a:rPr lang="en-ZA" sz="1200" kern="1200" dirty="0">
                <a:solidFill>
                  <a:schemeClr val="tx1"/>
                </a:solidFill>
                <a:latin typeface="+mn-lt"/>
                <a:ea typeface="+mn-ea"/>
                <a:cs typeface="+mn-cs"/>
              </a:rPr>
              <a:t>; M represents the </a:t>
            </a:r>
            <a:r>
              <a:rPr lang="en-ZA" dirty="0"/>
              <a:t>major version number </a:t>
            </a:r>
            <a:r>
              <a:rPr lang="en-ZA" sz="1200" kern="1200" dirty="0">
                <a:solidFill>
                  <a:schemeClr val="tx1"/>
                </a:solidFill>
                <a:latin typeface="+mn-lt"/>
                <a:ea typeface="+mn-ea"/>
                <a:cs typeface="+mn-cs"/>
              </a:rPr>
              <a:t> and n </a:t>
            </a:r>
            <a:r>
              <a:rPr lang="en-ZA" dirty="0"/>
              <a:t>the minor version number</a:t>
            </a:r>
            <a:r>
              <a:rPr lang="en-ZA" sz="1200" kern="1200" dirty="0">
                <a:solidFill>
                  <a:schemeClr val="tx1"/>
                </a:solidFill>
                <a:latin typeface="+mn-lt"/>
                <a:ea typeface="+mn-ea"/>
                <a:cs typeface="+mn-cs"/>
              </a:rPr>
              <a:t>.</a:t>
            </a:r>
          </a:p>
          <a:p>
            <a:pPr marL="171450" indent="-171450" algn="just">
              <a:buFont typeface="Arial" panose="020B0604020202020204" pitchFamily="34" charset="0"/>
              <a:buChar char="•"/>
            </a:pPr>
            <a:endParaRPr lang="en-ZA" b="0" dirty="0"/>
          </a:p>
          <a:p>
            <a:pPr marL="171450" indent="-171450">
              <a:buFont typeface="Arial" panose="020B0604020202020204" pitchFamily="34" charset="0"/>
              <a:buChar char="•"/>
            </a:pPr>
            <a:r>
              <a:rPr lang="en-ZA" dirty="0"/>
              <a:t>The include directive can be used to include predefined gates. The standard gate library is commonly included as: include "</a:t>
            </a:r>
            <a:r>
              <a:rPr lang="en-ZA" dirty="0" err="1"/>
              <a:t>stdgates.inc</a:t>
            </a:r>
            <a:r>
              <a:rPr lang="en-ZA" dirty="0"/>
              <a:t>";</a:t>
            </a:r>
            <a:r>
              <a:rPr lang="en-ZA" sz="1200" kern="1200" dirty="0">
                <a:solidFill>
                  <a:schemeClr val="tx1"/>
                </a:solidFill>
                <a:latin typeface="+mn-lt"/>
                <a:ea typeface="+mn-ea"/>
                <a:cs typeface="+mn-cs"/>
              </a:rPr>
              <a:t> </a:t>
            </a:r>
          </a:p>
          <a:p>
            <a:pPr marL="171450" indent="-171450">
              <a:buFont typeface="Arial" panose="020B0604020202020204" pitchFamily="34" charset="0"/>
              <a:buChar char="•"/>
            </a:pPr>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Text following // up to the end of the line is treated as a comment. Spaces and new lines can generally be used freely to make the program easier to read</a:t>
            </a:r>
            <a:r>
              <a:rPr lang="en-ZA" sz="1200" kern="1200" dirty="0">
                <a:solidFill>
                  <a:schemeClr val="tx1"/>
                </a:solidFill>
                <a:latin typeface="+mn-lt"/>
                <a:ea typeface="+mn-ea"/>
                <a:cs typeface="+mn-cs"/>
              </a:rPr>
              <a:t>.</a:t>
            </a:r>
            <a:endParaRPr lang="en-ZA" b="0" dirty="0"/>
          </a:p>
          <a:p>
            <a:pPr marL="171450" indent="-171450" algn="just">
              <a:buFont typeface="Arial" panose="020B0604020202020204" pitchFamily="34" charset="0"/>
              <a:buChar char="•"/>
            </a:pPr>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Identifiers can contain letters, numbers, and underscores, but must begin with a letter or an underscore.</a:t>
            </a:r>
          </a:p>
        </p:txBody>
      </p:sp>
      <p:sp>
        <p:nvSpPr>
          <p:cNvPr id="4" name="Slide Number Placeholder 3"/>
          <p:cNvSpPr>
            <a:spLocks noGrp="1"/>
          </p:cNvSpPr>
          <p:nvPr>
            <p:ph type="sldNum" sz="quarter" idx="5"/>
          </p:nvPr>
        </p:nvSpPr>
        <p:spPr/>
        <p:txBody>
          <a:bodyPr/>
          <a:lstStyle/>
          <a:p>
            <a:fld id="{1B2CE5E3-B8BD-D040-AC87-D640191DD8F1}" type="slidenum">
              <a:rPr lang="en-US" smtClean="0"/>
              <a:t>52</a:t>
            </a:fld>
            <a:endParaRPr lang="en-US"/>
          </a:p>
        </p:txBody>
      </p:sp>
    </p:spTree>
    <p:extLst>
      <p:ext uri="{BB962C8B-B14F-4D97-AF65-F5344CB8AC3E}">
        <p14:creationId xmlns:p14="http://schemas.microsoft.com/office/powerpoint/2010/main" val="348468858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This program implements a simple quantum random number generator using two qubits.</a:t>
                </a:r>
              </a:p>
              <a:p>
                <a:endParaRPr lang="en-ZA" b="0" dirty="0"/>
              </a:p>
              <a:p>
                <a:pPr marL="171450" indent="-171450">
                  <a:buFont typeface="Arial" panose="020B0604020202020204" pitchFamily="34" charset="0"/>
                  <a:buChar char="•"/>
                </a:pPr>
                <a:r>
                  <a:rPr lang="en-ZA" b="0" dirty="0"/>
                  <a:t>The first two lines specify </a:t>
                </a:r>
                <a:r>
                  <a:rPr lang="en-ZA" b="0" dirty="0" err="1"/>
                  <a:t>OpenQASM</a:t>
                </a:r>
                <a:r>
                  <a:rPr lang="en-ZA" b="0" dirty="0"/>
                  <a:t> 3.1 and include the standard quantum gates. </a:t>
                </a:r>
              </a:p>
              <a:p>
                <a:pPr marL="171450" indent="-171450">
                  <a:buFont typeface="Arial" panose="020B0604020202020204" pitchFamily="34" charset="0"/>
                  <a:buChar char="•"/>
                </a:pPr>
                <a:r>
                  <a:rPr lang="en-ZA" b="0" dirty="0"/>
                  <a:t>The program then creates two qubits, q[0] and q[1], and two classical bits, c[0] and c[1].</a:t>
                </a:r>
              </a:p>
              <a:p>
                <a:pPr marL="171450" indent="-171450">
                  <a:buFont typeface="Arial" panose="020B0604020202020204" pitchFamily="34" charset="0"/>
                  <a:buChar char="•"/>
                </a:pPr>
                <a:r>
                  <a:rPr lang="en-ZA" b="0" dirty="0"/>
                  <a:t>Both qubits initially start in state ∣0⟩. </a:t>
                </a:r>
              </a:p>
              <a:p>
                <a:pPr marL="171450" indent="-171450">
                  <a:buFont typeface="Arial" panose="020B0604020202020204" pitchFamily="34" charset="0"/>
                  <a:buChar char="•"/>
                </a:pPr>
                <a:r>
                  <a:rPr lang="en-ZA" b="0" dirty="0"/>
                  <a:t>A Hadamard gate is applied to each qubit, putting each one into an equal superposition:</a:t>
                </a:r>
                <a:br>
                  <a:rPr lang="en-ZA" b="0" dirty="0"/>
                </a:br>
                <a14:m>
                  <m:oMath xmlns:m="http://schemas.openxmlformats.org/officeDocument/2006/math">
                    <m:r>
                      <a:rPr lang="en-US" sz="1200" b="0" i="1" smtClean="0">
                        <a:latin typeface="Cambria Math" panose="02040503050406030204" pitchFamily="18" charset="0"/>
                      </a:rPr>
                      <m:t>𝐻</m:t>
                    </m:r>
                    <m:d>
                      <m:dPr>
                        <m:begChr m:val="|"/>
                        <m:endChr m:val="⟩"/>
                        <m:ctrlPr>
                          <a:rPr lang="en-ZA" sz="1200" i="1" smtClean="0">
                            <a:latin typeface="Cambria Math" panose="02040503050406030204" pitchFamily="18" charset="0"/>
                          </a:rPr>
                        </m:ctrlPr>
                      </m:dPr>
                      <m:e>
                        <m:r>
                          <a:rPr lang="en-US" sz="1200" i="1">
                            <a:latin typeface="Cambria Math" panose="02040503050406030204" pitchFamily="18" charset="0"/>
                          </a:rPr>
                          <m:t>0</m:t>
                        </m:r>
                      </m:e>
                    </m:d>
                    <m:r>
                      <a:rPr lang="en-US" sz="1200" b="0" i="1" smtClean="0">
                        <a:latin typeface="Cambria Math" panose="02040503050406030204" pitchFamily="18" charset="0"/>
                      </a:rPr>
                      <m:t>=</m:t>
                    </m:r>
                    <m:f>
                      <m:fPr>
                        <m:ctrlPr>
                          <a:rPr lang="en-US" sz="1200" i="1" smtClean="0">
                            <a:latin typeface="Cambria Math" panose="02040503050406030204" pitchFamily="18" charset="0"/>
                          </a:rPr>
                        </m:ctrlPr>
                      </m:fPr>
                      <m:num>
                        <m:d>
                          <m:dPr>
                            <m:begChr m:val="|"/>
                            <m:endChr m:val="⟩"/>
                            <m:ctrlPr>
                              <a:rPr lang="en-ZA" sz="1200" i="1">
                                <a:latin typeface="Cambria Math" panose="02040503050406030204" pitchFamily="18" charset="0"/>
                              </a:rPr>
                            </m:ctrlPr>
                          </m:dPr>
                          <m:e>
                            <m:r>
                              <a:rPr lang="en-US" sz="1200" i="1">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ZA" sz="1200" i="1">
                                <a:latin typeface="Cambria Math" panose="02040503050406030204" pitchFamily="18" charset="0"/>
                              </a:rPr>
                            </m:ctrlPr>
                          </m:dPr>
                          <m:e>
                            <m:r>
                              <a:rPr lang="en-US" sz="1200" b="0" i="1" smtClean="0">
                                <a:latin typeface="Cambria Math" panose="02040503050406030204" pitchFamily="18" charset="0"/>
                              </a:rPr>
                              <m:t>1</m:t>
                            </m:r>
                          </m:e>
                        </m:d>
                      </m:num>
                      <m:den>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2</m:t>
                            </m:r>
                          </m:e>
                        </m:rad>
                      </m:den>
                    </m:f>
                  </m:oMath>
                </a14:m>
                <a:endParaRPr lang="en-ZA" b="0" dirty="0"/>
              </a:p>
              <a:p>
                <a:pPr marL="171450" indent="-171450">
                  <a:buFont typeface="Arial" panose="020B0604020202020204" pitchFamily="34" charset="0"/>
                  <a:buChar char="•"/>
                </a:pPr>
                <a:r>
                  <a:rPr lang="en-ZA" b="0" dirty="0"/>
                  <a:t>Then, both qubits are measured. Each measurement randomly produces 0 or 1 with equal probability, giving one of four possible two-bit outcomes: 00,01,10,11. </a:t>
                </a:r>
              </a:p>
              <a:p>
                <a:pPr marL="171450" indent="-171450">
                  <a:buFont typeface="Arial" panose="020B0604020202020204" pitchFamily="34" charset="0"/>
                  <a:buChar char="•"/>
                </a:pPr>
                <a:r>
                  <a:rPr lang="en-ZA" b="0" dirty="0"/>
                  <a:t>Ideally, each outcome has probability 1/4​=25%. So, each execution of the circuit generates a random two-bit number.</a:t>
                </a:r>
              </a:p>
            </p:txBody>
          </p:sp>
        </mc:Choice>
        <mc:Fallback xmlns="">
          <p:sp>
            <p:nvSpPr>
              <p:cNvPr id="3" name="Notes Placeholder 2"/>
              <p:cNvSpPr>
                <a:spLocks noGrp="1"/>
              </p:cNvSpPr>
              <p:nvPr>
                <p:ph type="body" idx="1"/>
              </p:nvPr>
            </p:nvSpPr>
            <p:spPr/>
            <p:txBody>
              <a:bodyPr/>
              <a:lstStyle/>
              <a:p>
                <a:r>
                  <a:rPr lang="en-ZA" b="0" dirty="0"/>
                  <a:t>This program implements a simple quantum random number generator using two qubits.</a:t>
                </a:r>
              </a:p>
              <a:p>
                <a:endParaRPr lang="en-ZA" b="0" dirty="0"/>
              </a:p>
              <a:p>
                <a:pPr marL="171450" indent="-171450">
                  <a:buFont typeface="Arial" panose="020B0604020202020204" pitchFamily="34" charset="0"/>
                  <a:buChar char="•"/>
                </a:pPr>
                <a:r>
                  <a:rPr lang="en-ZA" b="0" dirty="0"/>
                  <a:t>The first two lines specify </a:t>
                </a:r>
                <a:r>
                  <a:rPr lang="en-ZA" b="0" dirty="0" err="1"/>
                  <a:t>OpenQASM</a:t>
                </a:r>
                <a:r>
                  <a:rPr lang="en-ZA" b="0" dirty="0"/>
                  <a:t> 3 and include the standard quantum gates. </a:t>
                </a:r>
              </a:p>
              <a:p>
                <a:pPr marL="171450" indent="-171450">
                  <a:buFont typeface="Arial" panose="020B0604020202020204" pitchFamily="34" charset="0"/>
                  <a:buChar char="•"/>
                </a:pPr>
                <a:r>
                  <a:rPr lang="en-ZA" b="0" dirty="0"/>
                  <a:t>The program then creates two qubits, q[0] and q[1], and two classical bits, c[0] and c[1].</a:t>
                </a:r>
              </a:p>
              <a:p>
                <a:pPr marL="171450" indent="-171450">
                  <a:buFont typeface="Arial" panose="020B0604020202020204" pitchFamily="34" charset="0"/>
                  <a:buChar char="•"/>
                </a:pPr>
                <a:r>
                  <a:rPr lang="en-ZA" b="0" dirty="0"/>
                  <a:t>Both qubits initially start in state ∣0⟩. </a:t>
                </a:r>
              </a:p>
              <a:p>
                <a:pPr marL="171450" indent="-171450">
                  <a:buFont typeface="Arial" panose="020B0604020202020204" pitchFamily="34" charset="0"/>
                  <a:buChar char="•"/>
                </a:pPr>
                <a:r>
                  <a:rPr lang="en-ZA" b="0" dirty="0"/>
                  <a:t>A Hadamard gate is applied to each qubit, putting each one into an equal superposition:</a:t>
                </a:r>
                <a:br>
                  <a:rPr lang="en-ZA" b="0" dirty="0"/>
                </a:br>
                <a:r>
                  <a:rPr lang="en-US" sz="1200" b="0" i="0">
                    <a:latin typeface="Cambria Math" panose="02040503050406030204" pitchFamily="18" charset="0"/>
                  </a:rPr>
                  <a:t>𝐻</a:t>
                </a:r>
                <a:r>
                  <a:rPr lang="en-ZA" sz="1200" i="0">
                    <a:latin typeface="Cambria Math" panose="02040503050406030204" pitchFamily="18" charset="0"/>
                  </a:rPr>
                  <a:t>|</a:t>
                </a:r>
                <a:r>
                  <a:rPr lang="en-US" sz="1200" i="0">
                    <a:latin typeface="Cambria Math" panose="02040503050406030204" pitchFamily="18" charset="0"/>
                  </a:rPr>
                  <a:t>0⟩</a:t>
                </a:r>
                <a:r>
                  <a:rPr lang="en-US" sz="1200" b="0" i="0">
                    <a:latin typeface="Cambria Math" panose="02040503050406030204" pitchFamily="18" charset="0"/>
                  </a:rPr>
                  <a:t>=</a:t>
                </a:r>
                <a:r>
                  <a:rPr lang="en-US" sz="1200" i="0">
                    <a:latin typeface="Cambria Math" panose="02040503050406030204" pitchFamily="18" charset="0"/>
                  </a:rPr>
                  <a:t>(</a:t>
                </a:r>
                <a:r>
                  <a:rPr lang="en-ZA" sz="1200" i="0">
                    <a:latin typeface="Cambria Math" panose="02040503050406030204" pitchFamily="18" charset="0"/>
                  </a:rPr>
                  <a:t>├|</a:t>
                </a:r>
                <a:r>
                  <a:rPr lang="en-US" sz="1200" i="0">
                    <a:latin typeface="Cambria Math" panose="02040503050406030204" pitchFamily="18" charset="0"/>
                  </a:rPr>
                  <a:t>0⟩</a:t>
                </a:r>
                <a:r>
                  <a:rPr lang="en-US" sz="1200" b="0" i="0">
                    <a:latin typeface="Cambria Math" panose="02040503050406030204" pitchFamily="18" charset="0"/>
                  </a:rPr>
                  <a:t>+</a:t>
                </a:r>
                <a:r>
                  <a:rPr lang="en-ZA" sz="1200" b="0" i="0">
                    <a:latin typeface="Cambria Math" panose="02040503050406030204" pitchFamily="18" charset="0"/>
                  </a:rPr>
                  <a:t>├|</a:t>
                </a:r>
                <a:r>
                  <a:rPr lang="en-US" sz="1200" b="0" i="0">
                    <a:latin typeface="Cambria Math" panose="02040503050406030204" pitchFamily="18" charset="0"/>
                  </a:rPr>
                  <a:t>1⟩)/√2</a:t>
                </a:r>
                <a:endParaRPr lang="en-ZA" b="0" dirty="0"/>
              </a:p>
              <a:p>
                <a:pPr marL="171450" indent="-171450">
                  <a:buFont typeface="Arial" panose="020B0604020202020204" pitchFamily="34" charset="0"/>
                  <a:buChar char="•"/>
                </a:pPr>
                <a:r>
                  <a:rPr lang="en-ZA" b="0" dirty="0"/>
                  <a:t>Finally, both qubits are measured. Each measurement randomly produces 0 or 1 with equal probability, giving one of four possible two-bit outcomes: 00,01,10,11. </a:t>
                </a:r>
              </a:p>
              <a:p>
                <a:pPr marL="171450" indent="-171450">
                  <a:buFont typeface="Arial" panose="020B0604020202020204" pitchFamily="34" charset="0"/>
                  <a:buChar char="•"/>
                </a:pPr>
                <a:r>
                  <a:rPr lang="en-ZA" b="0" dirty="0"/>
                  <a:t>Ideally, each outcome has probability 1/4​=25%. So, each execution of the circuit generates a random two-bit number.</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53</a:t>
            </a:fld>
            <a:endParaRPr lang="en-US"/>
          </a:p>
        </p:txBody>
      </p:sp>
    </p:spTree>
    <p:extLst>
      <p:ext uri="{BB962C8B-B14F-4D97-AF65-F5344CB8AC3E}">
        <p14:creationId xmlns:p14="http://schemas.microsoft.com/office/powerpoint/2010/main" val="26020184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For programming in Python and running quantum programs either on a local computer or in the cloud, IBM provides the Quantum Information Software Kit, or </a:t>
            </a:r>
            <a:r>
              <a:rPr lang="en-ZA" dirty="0" err="1"/>
              <a:t>Qiskit</a:t>
            </a:r>
            <a:r>
              <a:rPr lang="en-ZA" dirty="0"/>
              <a:t>. Programs can be written in a text editor or in an integrated environment such as </a:t>
            </a:r>
            <a:r>
              <a:rPr lang="en-ZA" dirty="0" err="1"/>
              <a:t>Jupyter</a:t>
            </a:r>
            <a:r>
              <a:rPr lang="en-ZA" dirty="0"/>
              <a:t>, Anaconda, Visual Studio, or similar tools.</a:t>
            </a:r>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54</a:t>
            </a:fld>
            <a:endParaRPr lang="en-US"/>
          </a:p>
        </p:txBody>
      </p:sp>
    </p:spTree>
    <p:extLst>
      <p:ext uri="{BB962C8B-B14F-4D97-AF65-F5344CB8AC3E}">
        <p14:creationId xmlns:p14="http://schemas.microsoft.com/office/powerpoint/2010/main" val="25122307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In 2017, IBM released </a:t>
            </a:r>
            <a:r>
              <a:rPr lang="en-ZA" b="0" dirty="0"/>
              <a:t>Quantum Information Science Kit, or </a:t>
            </a:r>
            <a:r>
              <a:rPr lang="en-ZA" dirty="0" err="1"/>
              <a:t>Qiskit</a:t>
            </a:r>
            <a:r>
              <a:rPr lang="en-ZA" dirty="0"/>
              <a:t>, its first Python library for quantum programming. </a:t>
            </a:r>
            <a:r>
              <a:rPr lang="en-ZA" dirty="0" err="1"/>
              <a:t>Qiskit</a:t>
            </a:r>
            <a:r>
              <a:rPr lang="en-ZA" dirty="0"/>
              <a:t> also comes with over a thousand ready-to-use methods, functions, and even full algorithms that can be used directly in your quantum programs. </a:t>
            </a:r>
            <a:r>
              <a:rPr lang="en-ZA" dirty="0" err="1"/>
              <a:t>Qiskit</a:t>
            </a:r>
            <a:r>
              <a:rPr lang="en-ZA" dirty="0"/>
              <a:t> also provides a C-language API, a fast, low-level interface designed for high-performance computing environments.</a:t>
            </a:r>
          </a:p>
          <a:p>
            <a:pPr algn="just"/>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 two listings show the same quantum random number generator implemented in </a:t>
            </a:r>
            <a:r>
              <a:rPr lang="en-ZA" dirty="0" err="1"/>
              <a:t>OpenQASM</a:t>
            </a:r>
            <a:r>
              <a:rPr lang="en-ZA" dirty="0"/>
              <a:t> and </a:t>
            </a:r>
            <a:r>
              <a:rPr lang="en-ZA" dirty="0" err="1"/>
              <a:t>Qiskit</a:t>
            </a:r>
            <a:r>
              <a:rPr lang="en-ZA" dirty="0"/>
              <a:t>.</a:t>
            </a:r>
          </a:p>
          <a:p>
            <a:pPr algn="just"/>
            <a:endParaRPr lang="en-ZA" dirty="0"/>
          </a:p>
          <a:p>
            <a:pPr marL="171450" indent="-171450">
              <a:buFont typeface="Arial" panose="020B0604020202020204" pitchFamily="34" charset="0"/>
              <a:buChar char="•"/>
            </a:pPr>
            <a:r>
              <a:rPr lang="en-ZA" dirty="0"/>
              <a:t>The first line imports the </a:t>
            </a:r>
            <a:r>
              <a:rPr lang="en-ZA" dirty="0" err="1"/>
              <a:t>Qiskit</a:t>
            </a:r>
            <a:r>
              <a:rPr lang="en-ZA" dirty="0"/>
              <a:t> components needed to build the circuit. </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dirty="0"/>
              <a:t>The program then creates a quantum register with two qubits and a classical register with two bits, and combines them into a </a:t>
            </a:r>
            <a:r>
              <a:rPr lang="en-ZA" dirty="0" err="1"/>
              <a:t>QuantumCircuit</a:t>
            </a:r>
            <a:r>
              <a:rPr lang="en-ZA" dirty="0"/>
              <a:t> object</a:t>
            </a:r>
            <a:r>
              <a:rPr lang="en-ZA" sz="1200" dirty="0">
                <a:latin typeface="Andale Mono" panose="020B0509000000000004" pitchFamily="49" charset="0"/>
              </a:rPr>
              <a:t>.</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dirty="0"/>
              <a:t>Hadamard gates are applied to both qubits, putting each qubit into an equal superposition. Note that the h gate is now applied using the h() method of the </a:t>
            </a:r>
            <a:r>
              <a:rPr lang="en-ZA" dirty="0" err="1"/>
              <a:t>QuantumCircuit</a:t>
            </a:r>
            <a:r>
              <a:rPr lang="en-ZA" dirty="0"/>
              <a:t> object.</a:t>
            </a:r>
          </a:p>
          <a:p>
            <a:pPr marL="171450" indent="-171450">
              <a:buFont typeface="Arial" panose="020B0604020202020204" pitchFamily="34" charset="0"/>
              <a:buChar char="•"/>
            </a:pPr>
            <a:endParaRPr lang="en-US" sz="1200" b="0" dirty="0"/>
          </a:p>
          <a:p>
            <a:pPr marL="171450" indent="-171450">
              <a:buFont typeface="Arial" panose="020B0604020202020204" pitchFamily="34" charset="0"/>
              <a:buChar char="•"/>
            </a:pPr>
            <a:r>
              <a:rPr lang="en-ZA" dirty="0"/>
              <a:t>Finally, the two qubits are measured and their results are stored in the classical register. Each measurement randomly produces 0 or 1, giving one of four possible outcomes: 00,01,10,11. Ideally, each outcome occurs with probability 25%.</a:t>
            </a:r>
          </a:p>
          <a:p>
            <a:pPr algn="just"/>
            <a:endParaRPr lang="en-ZA" dirty="0"/>
          </a:p>
          <a:p>
            <a:pPr algn="just"/>
            <a:endParaRPr lang="en-ZA" b="0" dirty="0"/>
          </a:p>
          <a:p>
            <a:pPr algn="just"/>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55</a:t>
            </a:fld>
            <a:endParaRPr lang="en-US"/>
          </a:p>
        </p:txBody>
      </p:sp>
    </p:spTree>
    <p:extLst>
      <p:ext uri="{BB962C8B-B14F-4D97-AF65-F5344CB8AC3E}">
        <p14:creationId xmlns:p14="http://schemas.microsoft.com/office/powerpoint/2010/main" val="24906244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As an example, the figure shows a simple quantum circuit that generates a random bit. This program is designed to run on a local simulator.</a:t>
            </a:r>
          </a:p>
          <a:p>
            <a:pPr algn="just"/>
            <a:endParaRPr lang="en-ZA" b="0" dirty="0"/>
          </a:p>
          <a:p>
            <a:pPr marL="171450" indent="-171450" algn="just">
              <a:buFont typeface="Arial" panose="020B0604020202020204" pitchFamily="34" charset="0"/>
              <a:buChar char="•"/>
            </a:pPr>
            <a:r>
              <a:rPr lang="en-ZA" b="0" dirty="0"/>
              <a:t>The program typically begins with an import directive. In this example, for simplicity, the entire </a:t>
            </a:r>
            <a:r>
              <a:rPr lang="en-ZA" b="0" dirty="0" err="1"/>
              <a:t>Qiskit</a:t>
            </a:r>
            <a:r>
              <a:rPr lang="en-ZA" b="0" dirty="0"/>
              <a:t> package is imported, but IBM recommends importing only the necessary components. In the second line of code, the class </a:t>
            </a:r>
            <a:r>
              <a:rPr lang="en-ZA" b="0" dirty="0" err="1"/>
              <a:t>AerSimulator</a:t>
            </a:r>
            <a:r>
              <a:rPr lang="en-ZA" b="0" dirty="0"/>
              <a:t> is imported from the </a:t>
            </a:r>
            <a:r>
              <a:rPr lang="en-ZA" b="0" dirty="0" err="1"/>
              <a:t>qiskit_aer</a:t>
            </a:r>
            <a:r>
              <a:rPr lang="en-ZA" b="0" dirty="0"/>
              <a:t> module. This class enables the simulation of quantum circuits on a classical computer. Next, two lines of code import functions for graphical representation of results, either as a histogram or as a probability distribution.</a:t>
            </a:r>
          </a:p>
          <a:p>
            <a:pPr algn="just"/>
            <a:endParaRPr lang="en-ZA" b="0" dirty="0"/>
          </a:p>
          <a:p>
            <a:pPr marL="171450" indent="-171450" algn="just">
              <a:buFont typeface="Arial" panose="020B0604020202020204" pitchFamily="34" charset="0"/>
              <a:buChar char="•"/>
            </a:pPr>
            <a:r>
              <a:rPr lang="en-ZA" dirty="0"/>
              <a:t>The green block contains the declarative part of the program. </a:t>
            </a:r>
            <a:r>
              <a:rPr lang="en-ZA" b="0" dirty="0"/>
              <a:t>A quantum register is created as an object of the </a:t>
            </a:r>
            <a:r>
              <a:rPr lang="en-ZA" b="0" dirty="0" err="1"/>
              <a:t>QuantumRegister</a:t>
            </a:r>
            <a:r>
              <a:rPr lang="en-ZA" b="0" dirty="0"/>
              <a:t> class, and a classical register as an object of the </a:t>
            </a:r>
            <a:r>
              <a:rPr lang="en-ZA" b="0" dirty="0" err="1"/>
              <a:t>ClassicalRegister</a:t>
            </a:r>
            <a:r>
              <a:rPr lang="en-ZA" b="0" dirty="0"/>
              <a:t> class. A quantum circuit is then created using the </a:t>
            </a:r>
            <a:r>
              <a:rPr lang="en-ZA" b="0" dirty="0" err="1"/>
              <a:t>QuantumCircuit</a:t>
            </a:r>
            <a:r>
              <a:rPr lang="en-ZA" b="0" dirty="0"/>
              <a:t> class, which takes the register names as arguments.</a:t>
            </a:r>
          </a:p>
          <a:p>
            <a:pPr algn="just"/>
            <a:endParaRPr lang="en-ZA" b="0" dirty="0"/>
          </a:p>
          <a:p>
            <a:pPr marL="171450" indent="-171450" algn="just">
              <a:buFont typeface="Arial" panose="020B0604020202020204" pitchFamily="34" charset="0"/>
              <a:buChar char="•"/>
            </a:pPr>
            <a:r>
              <a:rPr lang="en-ZA" b="0" dirty="0"/>
              <a:t>In the </a:t>
            </a:r>
            <a:r>
              <a:rPr lang="en-ZA" b="0" dirty="0" err="1"/>
              <a:t>gray</a:t>
            </a:r>
            <a:r>
              <a:rPr lang="en-ZA" b="0" dirty="0"/>
              <a:t> block, the main part of the program consists of just two lines of code, corresponding to the quantum circuit diagram in the image. Methods are applied to the quantum circuit object, effectively implementing quantum assembly instructions.</a:t>
            </a:r>
          </a:p>
          <a:p>
            <a:pPr algn="just"/>
            <a:endParaRPr lang="en-ZA" b="0" dirty="0"/>
          </a:p>
          <a:p>
            <a:pPr marL="171450" indent="-171450" algn="just">
              <a:buFont typeface="Arial" panose="020B0604020202020204" pitchFamily="34" charset="0"/>
              <a:buChar char="•"/>
            </a:pPr>
            <a:r>
              <a:rPr lang="en-ZA" b="0" dirty="0"/>
              <a:t>In the blue block, the simulator object is created using the </a:t>
            </a:r>
            <a:r>
              <a:rPr lang="en-ZA" b="0" dirty="0" err="1"/>
              <a:t>AerSimulator</a:t>
            </a:r>
            <a:r>
              <a:rPr lang="en-ZA" b="0" dirty="0"/>
              <a:t> class. The simulator is then executed using the run method. The method takes shots as an argument, specifying how many times the program should be executed. If omitted, the program runs 1024 times. The result is obtained as an object using the result() method. From this object, the </a:t>
            </a:r>
            <a:r>
              <a:rPr lang="en-ZA" b="0" dirty="0" err="1"/>
              <a:t>get_counts</a:t>
            </a:r>
            <a:r>
              <a:rPr lang="en-ZA" b="0" dirty="0"/>
              <a:t>() method extracts a counter that provides a list of results as binary strings along with their occurrence counts. This is a Python dictionary where the key represents the </a:t>
            </a:r>
            <a:r>
              <a:rPr lang="en-ZA" b="0" dirty="0" err="1"/>
              <a:t>bitstring</a:t>
            </a:r>
            <a:r>
              <a:rPr lang="en-ZA" b="0" dirty="0"/>
              <a:t> result, and the value is its frequency. It is important to note that the result follows the little-endian convention.</a:t>
            </a:r>
          </a:p>
          <a:p>
            <a:pPr algn="just"/>
            <a:endParaRPr lang="en-ZA" b="0" dirty="0"/>
          </a:p>
          <a:p>
            <a:pPr marL="171450" indent="-171450" algn="just">
              <a:buFont typeface="Arial" panose="020B0604020202020204" pitchFamily="34" charset="0"/>
              <a:buChar char="•"/>
            </a:pPr>
            <a:r>
              <a:rPr lang="en-ZA" b="0" dirty="0"/>
              <a:t>The result can be displayed numerically, as a histogram, or as a probability distribution. If a probability distribution is required, as shown in the image, the </a:t>
            </a:r>
            <a:r>
              <a:rPr lang="en-ZA" b="0" dirty="0" err="1"/>
              <a:t>plot_distribution</a:t>
            </a:r>
            <a:r>
              <a:rPr lang="en-ZA" b="0" dirty="0"/>
              <a:t> function automatically calculates relative frequencies from the results and displays probabilities as numbers between 0 and 1.</a:t>
            </a:r>
          </a:p>
        </p:txBody>
      </p:sp>
      <p:sp>
        <p:nvSpPr>
          <p:cNvPr id="4" name="Slide Number Placeholder 3"/>
          <p:cNvSpPr>
            <a:spLocks noGrp="1"/>
          </p:cNvSpPr>
          <p:nvPr>
            <p:ph type="sldNum" sz="quarter" idx="5"/>
          </p:nvPr>
        </p:nvSpPr>
        <p:spPr/>
        <p:txBody>
          <a:bodyPr/>
          <a:lstStyle/>
          <a:p>
            <a:fld id="{1B2CE5E3-B8BD-D040-AC87-D640191DD8F1}" type="slidenum">
              <a:rPr lang="en-US" smtClean="0"/>
              <a:t>56</a:t>
            </a:fld>
            <a:endParaRPr lang="en-US"/>
          </a:p>
        </p:txBody>
      </p:sp>
    </p:spTree>
    <p:extLst>
      <p:ext uri="{BB962C8B-B14F-4D97-AF65-F5344CB8AC3E}">
        <p14:creationId xmlns:p14="http://schemas.microsoft.com/office/powerpoint/2010/main" val="290971420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The figure shows the basic workflow for executing a quantum program on an IBM quantum processor.</a:t>
            </a:r>
          </a:p>
          <a:p>
            <a:pPr algn="just"/>
            <a:endParaRPr lang="en-ZA" b="0" dirty="0"/>
          </a:p>
          <a:p>
            <a:pPr algn="just"/>
            <a:r>
              <a:rPr lang="en-ZA" b="0" dirty="0"/>
              <a:t>The program is written locally in Python using </a:t>
            </a:r>
            <a:r>
              <a:rPr lang="en-ZA" b="0" dirty="0" err="1"/>
              <a:t>Qiskit</a:t>
            </a:r>
            <a:r>
              <a:rPr lang="en-ZA" b="0" dirty="0"/>
              <a:t>. Before execution, an appropriate quantum processor is selected.</a:t>
            </a:r>
          </a:p>
          <a:p>
            <a:pPr algn="just"/>
            <a:endParaRPr lang="en-ZA" b="0" dirty="0"/>
          </a:p>
          <a:p>
            <a:pPr algn="just"/>
            <a:r>
              <a:rPr lang="en-ZA" b="0" dirty="0"/>
              <a:t>Before the quantum circuit can be executed on a physical processor, it must be </a:t>
            </a:r>
            <a:r>
              <a:rPr lang="en-ZA" b="0" dirty="0" err="1"/>
              <a:t>transpiled</a:t>
            </a:r>
            <a:r>
              <a:rPr lang="en-ZA" b="0" dirty="0"/>
              <a:t>, that is, adapted to the specific processor selected for execution. The </a:t>
            </a:r>
            <a:r>
              <a:rPr lang="en-ZA" b="0" dirty="0" err="1"/>
              <a:t>transpiler</a:t>
            </a:r>
            <a:r>
              <a:rPr lang="en-ZA" b="0" dirty="0"/>
              <a:t> transforms and optimizes the quantum circuit so that it can be executed on that processor. Among other tasks, it converts the circuit into operations supported by the processor and maps logical qubits onto its physical qubits. The </a:t>
            </a:r>
            <a:r>
              <a:rPr lang="en-ZA" b="0" dirty="0" err="1"/>
              <a:t>generate_preset_pass_manager</a:t>
            </a:r>
            <a:r>
              <a:rPr lang="en-ZA" b="0" dirty="0"/>
              <a:t>() function creates a predefined sequence of </a:t>
            </a:r>
            <a:r>
              <a:rPr lang="en-ZA" b="0" dirty="0" err="1"/>
              <a:t>transpilation</a:t>
            </a:r>
            <a:r>
              <a:rPr lang="en-ZA" b="0" dirty="0"/>
              <a:t> passes for the selected backend, while the </a:t>
            </a:r>
            <a:r>
              <a:rPr lang="en-ZA" b="0" dirty="0" err="1"/>
              <a:t>optimization_level</a:t>
            </a:r>
            <a:r>
              <a:rPr lang="en-ZA" b="0" dirty="0"/>
              <a:t>=1 parameter specifies the circuit optimization level.</a:t>
            </a:r>
          </a:p>
          <a:p>
            <a:pPr algn="just"/>
            <a:endParaRPr lang="en-ZA" b="0" dirty="0"/>
          </a:p>
          <a:p>
            <a:pPr algn="just"/>
            <a:r>
              <a:rPr lang="en-ZA" b="0" dirty="0"/>
              <a:t>The resulting ISA quantum circuit is submitted to the quantum processor through the IBM Quantum service using the Sampler. Sampler belongs to the </a:t>
            </a:r>
            <a:r>
              <a:rPr lang="en-ZA" b="0" dirty="0" err="1"/>
              <a:t>Qiskit</a:t>
            </a:r>
            <a:r>
              <a:rPr lang="en-ZA" b="0" dirty="0"/>
              <a:t> </a:t>
            </a:r>
            <a:r>
              <a:rPr lang="en-ZA" b="0" i="1" dirty="0"/>
              <a:t>primitives</a:t>
            </a:r>
            <a:r>
              <a:rPr lang="en-ZA" b="0" dirty="0"/>
              <a:t>, which are higher-level programming interfaces that allow the programmer to focus on the results of the quantum computation rather than the details of communicating with the quantum processor. The two main primitives are Sampler, used for sampling measurement outcomes, and Estimator, used for calculating expectation values of observables.</a:t>
            </a:r>
          </a:p>
          <a:p>
            <a:pPr algn="just"/>
            <a:endParaRPr lang="en-ZA" b="0" dirty="0"/>
          </a:p>
          <a:p>
            <a:pPr algn="just"/>
            <a:r>
              <a:rPr lang="en-ZA" b="0" dirty="0"/>
              <a:t>After the circuit has been executed for a specified number of shots, the measurement results are returned to the program as counts of individual binary outcomes. These counts can then be used to obtain the corresponding probability distribution.</a:t>
            </a:r>
          </a:p>
          <a:p>
            <a:pPr algn="just"/>
            <a:endParaRPr lang="en-US" b="0" dirty="0"/>
          </a:p>
        </p:txBody>
      </p:sp>
      <p:sp>
        <p:nvSpPr>
          <p:cNvPr id="4" name="Slide Number Placeholder 3"/>
          <p:cNvSpPr>
            <a:spLocks noGrp="1"/>
          </p:cNvSpPr>
          <p:nvPr>
            <p:ph type="sldNum" sz="quarter" idx="5"/>
          </p:nvPr>
        </p:nvSpPr>
        <p:spPr/>
        <p:txBody>
          <a:bodyPr/>
          <a:lstStyle/>
          <a:p>
            <a:fld id="{1B2CE5E3-B8BD-D040-AC87-D640191DD8F1}" type="slidenum">
              <a:rPr lang="en-US" smtClean="0"/>
              <a:t>57</a:t>
            </a:fld>
            <a:endParaRPr lang="en-US"/>
          </a:p>
        </p:txBody>
      </p:sp>
    </p:spTree>
    <p:extLst>
      <p:ext uri="{BB962C8B-B14F-4D97-AF65-F5344CB8AC3E}">
        <p14:creationId xmlns:p14="http://schemas.microsoft.com/office/powerpoint/2010/main" val="11201456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To execute a quantum program on a physical IBM quantum processor, the required </a:t>
            </a:r>
            <a:r>
              <a:rPr lang="en-ZA" dirty="0" err="1"/>
              <a:t>Qiskit</a:t>
            </a:r>
            <a:r>
              <a:rPr lang="en-ZA" dirty="0"/>
              <a:t> components must first be imported and a connection to the IBM Quantum service established.</a:t>
            </a:r>
          </a:p>
          <a:p>
            <a:pPr algn="just"/>
            <a:endParaRPr lang="en-ZA" dirty="0"/>
          </a:p>
          <a:p>
            <a:pPr algn="just"/>
            <a:r>
              <a:rPr lang="en-ZA" dirty="0"/>
              <a:t>The </a:t>
            </a:r>
            <a:r>
              <a:rPr lang="en-ZA" dirty="0" err="1"/>
              <a:t>QuantumCircuit</a:t>
            </a:r>
            <a:r>
              <a:rPr lang="en-ZA" dirty="0"/>
              <a:t> class is imported from the main </a:t>
            </a:r>
            <a:r>
              <a:rPr lang="en-ZA" dirty="0" err="1"/>
              <a:t>qiskit</a:t>
            </a:r>
            <a:r>
              <a:rPr lang="en-ZA" dirty="0"/>
              <a:t> package and is used to construct quantum circuits.</a:t>
            </a:r>
          </a:p>
          <a:p>
            <a:pPr algn="just"/>
            <a:endParaRPr lang="en-ZA" dirty="0"/>
          </a:p>
          <a:p>
            <a:pPr algn="just"/>
            <a:r>
              <a:rPr lang="en-ZA" dirty="0"/>
              <a:t>The </a:t>
            </a:r>
            <a:r>
              <a:rPr lang="en-ZA" dirty="0" err="1"/>
              <a:t>generate_preset_pass_manager</a:t>
            </a:r>
            <a:r>
              <a:rPr lang="en-ZA" dirty="0"/>
              <a:t> function is imported from the </a:t>
            </a:r>
            <a:r>
              <a:rPr lang="en-ZA" dirty="0" err="1"/>
              <a:t>Qiskit</a:t>
            </a:r>
            <a:r>
              <a:rPr lang="en-ZA" dirty="0"/>
              <a:t> </a:t>
            </a:r>
            <a:r>
              <a:rPr lang="en-ZA" dirty="0" err="1"/>
              <a:t>transpiler</a:t>
            </a:r>
            <a:r>
              <a:rPr lang="en-ZA" dirty="0"/>
              <a:t> module. It will later be used to </a:t>
            </a:r>
            <a:r>
              <a:rPr lang="en-ZA" dirty="0" err="1"/>
              <a:t>transpile</a:t>
            </a:r>
            <a:r>
              <a:rPr lang="en-ZA" dirty="0"/>
              <a:t> and optimize the circuit for the selected quantum processor.</a:t>
            </a:r>
          </a:p>
          <a:p>
            <a:pPr algn="just"/>
            <a:endParaRPr lang="en-ZA" dirty="0"/>
          </a:p>
          <a:p>
            <a:pPr algn="just"/>
            <a:r>
              <a:rPr lang="en-ZA" dirty="0"/>
              <a:t>The </a:t>
            </a:r>
            <a:r>
              <a:rPr lang="en-ZA" dirty="0" err="1"/>
              <a:t>QiskitRuntimeService</a:t>
            </a:r>
            <a:r>
              <a:rPr lang="en-ZA" dirty="0"/>
              <a:t> class provides the interface between the local Python program and the IBM Quantum service. The Sampler class will later be used to submit the circuit for execution and collect the measurement results.</a:t>
            </a:r>
          </a:p>
          <a:p>
            <a:pPr algn="just"/>
            <a:endParaRPr lang="en-ZA" dirty="0"/>
          </a:p>
          <a:p>
            <a:pPr algn="just"/>
            <a:r>
              <a:rPr lang="en-ZA" dirty="0"/>
              <a:t>The command service = </a:t>
            </a:r>
            <a:r>
              <a:rPr lang="en-ZA" dirty="0" err="1"/>
              <a:t>QiskitRuntimeService</a:t>
            </a:r>
            <a:r>
              <a:rPr lang="en-ZA" dirty="0"/>
              <a:t>() creates a service object that provides access to IBM Quantum using previously stored authentication credentials.</a:t>
            </a:r>
          </a:p>
          <a:p>
            <a:pPr algn="just"/>
            <a:endParaRPr lang="en-ZA" dirty="0"/>
          </a:p>
          <a:p>
            <a:pPr algn="just"/>
            <a:r>
              <a:rPr lang="en-ZA" dirty="0"/>
              <a:t>A quantum processor is then selected using the </a:t>
            </a:r>
            <a:r>
              <a:rPr lang="en-ZA" dirty="0" err="1"/>
              <a:t>least_busy</a:t>
            </a:r>
            <a:r>
              <a:rPr lang="en-ZA" dirty="0"/>
              <a:t>() method. The parameter operational=True requires the processor to be operational, while simulator=False excludes simulators. The method selects the least busy processor among those that satisfy the specified criteria. Additional criteria can also be specified, such as the minimum number of qubits required.</a:t>
            </a:r>
          </a:p>
          <a:p>
            <a:pPr algn="just"/>
            <a:endParaRPr lang="en-ZA" dirty="0"/>
          </a:p>
          <a:p>
            <a:pPr algn="just"/>
            <a:r>
              <a:rPr lang="en-ZA" dirty="0"/>
              <a:t>The variable backend therefore represents the selected physical IBM quantum processor on which the program will subsequently be executed.</a:t>
            </a:r>
          </a:p>
        </p:txBody>
      </p:sp>
      <p:sp>
        <p:nvSpPr>
          <p:cNvPr id="4" name="Slide Number Placeholder 3"/>
          <p:cNvSpPr>
            <a:spLocks noGrp="1"/>
          </p:cNvSpPr>
          <p:nvPr>
            <p:ph type="sldNum" sz="quarter" idx="5"/>
          </p:nvPr>
        </p:nvSpPr>
        <p:spPr/>
        <p:txBody>
          <a:bodyPr/>
          <a:lstStyle/>
          <a:p>
            <a:fld id="{1B2CE5E3-B8BD-D040-AC87-D640191DD8F1}" type="slidenum">
              <a:rPr lang="en-US" smtClean="0"/>
              <a:t>58</a:t>
            </a:fld>
            <a:endParaRPr lang="en-US"/>
          </a:p>
        </p:txBody>
      </p:sp>
    </p:spTree>
    <p:extLst>
      <p:ext uri="{BB962C8B-B14F-4D97-AF65-F5344CB8AC3E}">
        <p14:creationId xmlns:p14="http://schemas.microsoft.com/office/powerpoint/2010/main" val="254420819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In the second part of the program, a simple single-qubit quantum circuit is constructed. The qubit is initialized in the state |0⟩, and the h(0) method applies the Hadamard operation, producing the superposition state |+⟩. </a:t>
            </a:r>
          </a:p>
          <a:p>
            <a:pPr algn="just"/>
            <a:endParaRPr lang="en-ZA" dirty="0"/>
          </a:p>
          <a:p>
            <a:pPr algn="just"/>
            <a:r>
              <a:rPr lang="en-ZA" dirty="0"/>
              <a:t>The </a:t>
            </a:r>
            <a:r>
              <a:rPr lang="en-ZA" dirty="0" err="1"/>
              <a:t>measure_all</a:t>
            </a:r>
            <a:r>
              <a:rPr lang="en-ZA" dirty="0"/>
              <a:t>() method adds a measurement, so the outcomes 0 and 1 should ideally occur with approximately equal probabilities.</a:t>
            </a:r>
          </a:p>
          <a:p>
            <a:pPr algn="just"/>
            <a:endParaRPr lang="en-ZA" dirty="0"/>
          </a:p>
          <a:p>
            <a:pPr algn="just"/>
            <a:r>
              <a:rPr lang="en-ZA" dirty="0"/>
              <a:t>Using </a:t>
            </a:r>
            <a:r>
              <a:rPr lang="en-ZA" dirty="0" err="1"/>
              <a:t>isa_circuit</a:t>
            </a:r>
            <a:r>
              <a:rPr lang="en-ZA" dirty="0"/>
              <a:t> = </a:t>
            </a:r>
            <a:r>
              <a:rPr lang="en-ZA" dirty="0" err="1"/>
              <a:t>pm.run</a:t>
            </a:r>
            <a:r>
              <a:rPr lang="en-ZA" dirty="0"/>
              <a:t>(qc) the original circuit qc is transformed into </a:t>
            </a:r>
            <a:r>
              <a:rPr lang="en-ZA" dirty="0" err="1"/>
              <a:t>isa_circuit</a:t>
            </a:r>
            <a:r>
              <a:rPr lang="en-ZA" dirty="0"/>
              <a:t>, which is adapted to the selected processor. The term ISA (</a:t>
            </a:r>
            <a:r>
              <a:rPr lang="en-ZA" i="1" dirty="0"/>
              <a:t>Instruction Set Architecture</a:t>
            </a:r>
            <a:r>
              <a:rPr lang="en-ZA" dirty="0"/>
              <a:t>) indicates that the circuit now uses operations, qubits, and qubit connectivity supported by the specific quantum processor.</a:t>
            </a:r>
          </a:p>
          <a:p>
            <a:pPr algn="just"/>
            <a:endParaRPr lang="en-ZA" dirty="0"/>
          </a:p>
          <a:p>
            <a:pPr algn="just"/>
            <a:r>
              <a:rPr lang="en-ZA" dirty="0"/>
              <a:t>A Sampler object is then created, with mode=backend specifying the processor on which the circuit will be executed.</a:t>
            </a:r>
          </a:p>
          <a:p>
            <a:pPr algn="just"/>
            <a:endParaRPr lang="en-ZA" dirty="0"/>
          </a:p>
          <a:p>
            <a:pPr algn="just"/>
            <a:r>
              <a:rPr lang="en-ZA" dirty="0"/>
              <a:t>The run() method submits the </a:t>
            </a:r>
            <a:r>
              <a:rPr lang="en-ZA" dirty="0" err="1"/>
              <a:t>transpiled</a:t>
            </a:r>
            <a:r>
              <a:rPr lang="en-ZA" dirty="0"/>
              <a:t> circuit for execution, while shots=1024 specifies that the circuit should be executed 1024 times: job = </a:t>
            </a:r>
            <a:r>
              <a:rPr lang="en-ZA" dirty="0" err="1"/>
              <a:t>sampler.run</a:t>
            </a:r>
            <a:r>
              <a:rPr lang="en-ZA" dirty="0"/>
              <a:t>([</a:t>
            </a:r>
            <a:r>
              <a:rPr lang="en-ZA" dirty="0" err="1"/>
              <a:t>isa_circuit</a:t>
            </a:r>
            <a:r>
              <a:rPr lang="en-ZA" dirty="0"/>
              <a:t>], shots=1024) The variable job represents the submitted job. </a:t>
            </a:r>
          </a:p>
          <a:p>
            <a:pPr algn="just"/>
            <a:endParaRPr lang="en-ZA" dirty="0"/>
          </a:p>
          <a:p>
            <a:pPr algn="just"/>
            <a:r>
              <a:rPr lang="en-ZA" dirty="0"/>
              <a:t>Once the execution is complete, the results are retrieved using </a:t>
            </a:r>
            <a:r>
              <a:rPr lang="en-ZA" dirty="0" err="1"/>
              <a:t>job.result</a:t>
            </a:r>
            <a:r>
              <a:rPr lang="en-ZA" dirty="0"/>
              <a:t>(). For the first circuit, result[0], the </a:t>
            </a:r>
            <a:r>
              <a:rPr lang="en-ZA" dirty="0" err="1"/>
              <a:t>get_counts</a:t>
            </a:r>
            <a:r>
              <a:rPr lang="en-ZA" dirty="0"/>
              <a:t>() method extracts the binary measurement outcomes and the number of times each outcome occurred: counts = result[0].</a:t>
            </a:r>
            <a:r>
              <a:rPr lang="en-ZA" dirty="0" err="1"/>
              <a:t>data.meas.get_counts</a:t>
            </a:r>
            <a:r>
              <a:rPr lang="en-ZA" dirty="0"/>
              <a:t>(). Finally, print(counts) may produce, for </a:t>
            </a:r>
            <a:r>
              <a:rPr lang="en-ZA"/>
              <a:t>example: {</a:t>
            </a:r>
            <a:r>
              <a:rPr lang="en-ZA" dirty="0"/>
              <a:t>'0': 537, '1': </a:t>
            </a:r>
            <a:r>
              <a:rPr lang="en-ZA"/>
              <a:t>487}</a:t>
            </a:r>
          </a:p>
          <a:p>
            <a:pPr algn="just"/>
            <a:endParaRPr lang="en-ZA" dirty="0"/>
          </a:p>
          <a:p>
            <a:pPr algn="just"/>
            <a:r>
              <a:rPr lang="en-ZA" dirty="0"/>
              <a:t>On an ideal quantum computer, approximately equal numbers of zeros and ones are expected. On a physical quantum processor, the distribution may deviate further from the ideal 50:50 ratio due to both the finite number of shots and errors and noise in the physical quantum processor.</a:t>
            </a:r>
          </a:p>
        </p:txBody>
      </p:sp>
      <p:sp>
        <p:nvSpPr>
          <p:cNvPr id="4" name="Slide Number Placeholder 3"/>
          <p:cNvSpPr>
            <a:spLocks noGrp="1"/>
          </p:cNvSpPr>
          <p:nvPr>
            <p:ph type="sldNum" sz="quarter" idx="5"/>
          </p:nvPr>
        </p:nvSpPr>
        <p:spPr/>
        <p:txBody>
          <a:bodyPr/>
          <a:lstStyle/>
          <a:p>
            <a:fld id="{1B2CE5E3-B8BD-D040-AC87-D640191DD8F1}" type="slidenum">
              <a:rPr lang="en-US" smtClean="0"/>
              <a:t>59</a:t>
            </a:fld>
            <a:endParaRPr lang="en-US"/>
          </a:p>
        </p:txBody>
      </p:sp>
    </p:spTree>
    <p:extLst>
      <p:ext uri="{BB962C8B-B14F-4D97-AF65-F5344CB8AC3E}">
        <p14:creationId xmlns:p14="http://schemas.microsoft.com/office/powerpoint/2010/main" val="169542241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60</a:t>
            </a:fld>
            <a:endParaRPr lang="en-US"/>
          </a:p>
        </p:txBody>
      </p:sp>
    </p:spTree>
    <p:extLst>
      <p:ext uri="{BB962C8B-B14F-4D97-AF65-F5344CB8AC3E}">
        <p14:creationId xmlns:p14="http://schemas.microsoft.com/office/powerpoint/2010/main" val="3857551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11120-9110-E347-8B54-7933DF290C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38A87D-FAB6-A743-817E-0C56F6336C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45607F-58DF-3447-9656-78BB1B0938F5}"/>
              </a:ext>
            </a:extLst>
          </p:cNvPr>
          <p:cNvSpPr>
            <a:spLocks noGrp="1"/>
          </p:cNvSpPr>
          <p:nvPr>
            <p:ph type="dt" sz="half" idx="10"/>
          </p:nvPr>
        </p:nvSpPr>
        <p:spPr/>
        <p:txBody>
          <a:bodyPr/>
          <a:lstStyle/>
          <a:p>
            <a:fld id="{1AE4839D-35CE-5948-991C-06BCC079A7B9}" type="datetime1">
              <a:rPr lang="en-US" smtClean="0"/>
              <a:t>10/1/26</a:t>
            </a:fld>
            <a:endParaRPr lang="en-US"/>
          </a:p>
        </p:txBody>
      </p:sp>
      <p:sp>
        <p:nvSpPr>
          <p:cNvPr id="5" name="Footer Placeholder 4">
            <a:extLst>
              <a:ext uri="{FF2B5EF4-FFF2-40B4-BE49-F238E27FC236}">
                <a16:creationId xmlns:a16="http://schemas.microsoft.com/office/drawing/2014/main" id="{82A11268-6971-7845-B2B0-61769F249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F5C93A-6955-DE48-9E72-AE2BF1040520}"/>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001636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49746-6A3A-2B40-897A-7771C9BE0A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0F0087-4B92-3E48-919C-B0DEFF5CA0F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605ED7-6A7E-B041-83E1-E1139884EF7E}"/>
              </a:ext>
            </a:extLst>
          </p:cNvPr>
          <p:cNvSpPr>
            <a:spLocks noGrp="1"/>
          </p:cNvSpPr>
          <p:nvPr>
            <p:ph type="dt" sz="half" idx="10"/>
          </p:nvPr>
        </p:nvSpPr>
        <p:spPr/>
        <p:txBody>
          <a:bodyPr/>
          <a:lstStyle/>
          <a:p>
            <a:fld id="{D21D1071-0E96-A240-8E9B-50D7576025E5}" type="datetime1">
              <a:rPr lang="en-US" smtClean="0"/>
              <a:t>10/1/26</a:t>
            </a:fld>
            <a:endParaRPr lang="en-US"/>
          </a:p>
        </p:txBody>
      </p:sp>
      <p:sp>
        <p:nvSpPr>
          <p:cNvPr id="5" name="Footer Placeholder 4">
            <a:extLst>
              <a:ext uri="{FF2B5EF4-FFF2-40B4-BE49-F238E27FC236}">
                <a16:creationId xmlns:a16="http://schemas.microsoft.com/office/drawing/2014/main" id="{234862D4-B653-154B-9F00-B29F8A990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7E1DDB-ECC2-6440-8F64-6FF7043B62E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758381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7889-5E26-9F4B-ABC5-46737412E6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3A11A0-B651-1246-A031-2EB34FAAA2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9A7FBDE-56A4-544F-9E46-A8B3D22162DA}"/>
              </a:ext>
            </a:extLst>
          </p:cNvPr>
          <p:cNvSpPr>
            <a:spLocks noGrp="1"/>
          </p:cNvSpPr>
          <p:nvPr>
            <p:ph type="dt" sz="half" idx="10"/>
          </p:nvPr>
        </p:nvSpPr>
        <p:spPr/>
        <p:txBody>
          <a:bodyPr/>
          <a:lstStyle/>
          <a:p>
            <a:fld id="{D17CBCF1-D7CE-2C41-A8FB-9348FB41C55E}" type="datetime1">
              <a:rPr lang="en-US" smtClean="0"/>
              <a:t>10/1/26</a:t>
            </a:fld>
            <a:endParaRPr lang="en-US"/>
          </a:p>
        </p:txBody>
      </p:sp>
      <p:sp>
        <p:nvSpPr>
          <p:cNvPr id="5" name="Footer Placeholder 4">
            <a:extLst>
              <a:ext uri="{FF2B5EF4-FFF2-40B4-BE49-F238E27FC236}">
                <a16:creationId xmlns:a16="http://schemas.microsoft.com/office/drawing/2014/main" id="{4C68709F-B42E-EC48-8FBC-6974B5FDAC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719095-1014-2C44-87B5-A279D4057E2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668994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E1EC-CE7B-C74E-BB21-04FB5F3ADE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AAE6E3-FAA8-2941-97DF-C2CE1A284D4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D50239-C5D9-A146-B025-534BB867B58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14A720-AF7F-EC4C-B90A-F4581F526266}"/>
              </a:ext>
            </a:extLst>
          </p:cNvPr>
          <p:cNvSpPr>
            <a:spLocks noGrp="1"/>
          </p:cNvSpPr>
          <p:nvPr>
            <p:ph type="dt" sz="half" idx="10"/>
          </p:nvPr>
        </p:nvSpPr>
        <p:spPr/>
        <p:txBody>
          <a:bodyPr/>
          <a:lstStyle/>
          <a:p>
            <a:fld id="{7BA27735-2371-C441-A5A3-C9F11F72EF2A}" type="datetime1">
              <a:rPr lang="en-US" smtClean="0"/>
              <a:t>10/1/26</a:t>
            </a:fld>
            <a:endParaRPr lang="en-US"/>
          </a:p>
        </p:txBody>
      </p:sp>
      <p:sp>
        <p:nvSpPr>
          <p:cNvPr id="6" name="Footer Placeholder 5">
            <a:extLst>
              <a:ext uri="{FF2B5EF4-FFF2-40B4-BE49-F238E27FC236}">
                <a16:creationId xmlns:a16="http://schemas.microsoft.com/office/drawing/2014/main" id="{B28DF675-B48C-E044-8D49-6F0458C801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9C3209-5E9C-C54A-ABFE-731C23683AB9}"/>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56011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392F6-6148-FE46-8B76-9B81927A05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B4AF60-1528-9842-ADC9-963520FD63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AAE9EEE-9501-B048-A51B-B54F83A8075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756781-36D8-E34C-82CC-C088F79BE9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8D179DE-69E1-4745-A19E-ECA22982DB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0C8571-69A9-E54B-9D56-71E69986D26C}"/>
              </a:ext>
            </a:extLst>
          </p:cNvPr>
          <p:cNvSpPr>
            <a:spLocks noGrp="1"/>
          </p:cNvSpPr>
          <p:nvPr>
            <p:ph type="dt" sz="half" idx="10"/>
          </p:nvPr>
        </p:nvSpPr>
        <p:spPr/>
        <p:txBody>
          <a:bodyPr/>
          <a:lstStyle/>
          <a:p>
            <a:fld id="{AD956192-B3CA-E648-8D9D-A184E038D705}" type="datetime1">
              <a:rPr lang="en-US" smtClean="0"/>
              <a:t>10/1/26</a:t>
            </a:fld>
            <a:endParaRPr lang="en-US"/>
          </a:p>
        </p:txBody>
      </p:sp>
      <p:sp>
        <p:nvSpPr>
          <p:cNvPr id="8" name="Footer Placeholder 7">
            <a:extLst>
              <a:ext uri="{FF2B5EF4-FFF2-40B4-BE49-F238E27FC236}">
                <a16:creationId xmlns:a16="http://schemas.microsoft.com/office/drawing/2014/main" id="{F2999DD5-63CC-1D40-B3C1-B72C788C35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B02FEF-EE56-D249-961E-050212908867}"/>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52263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2A4E9-6EC3-B04F-B29B-A2BC27A8BA6F}"/>
              </a:ext>
            </a:extLst>
          </p:cNvPr>
          <p:cNvSpPr>
            <a:spLocks noGrp="1"/>
          </p:cNvSpPr>
          <p:nvPr>
            <p:ph type="title"/>
          </p:nvPr>
        </p:nvSpPr>
        <p:spPr>
          <a:xfrm>
            <a:off x="0" y="0"/>
            <a:ext cx="12192000" cy="928688"/>
          </a:xfrm>
          <a:noFill/>
          <a:ln>
            <a:noFill/>
          </a:ln>
        </p:spPr>
        <p:txBody>
          <a:bodyPr>
            <a:normAutofit/>
          </a:bodyPr>
          <a:lstStyle>
            <a:lvl1pPr>
              <a:defRPr sz="3400" baseline="0">
                <a:solidFill>
                  <a:schemeClr val="tx1"/>
                </a:solidFill>
                <a:latin typeface="+mj-lt"/>
                <a:cs typeface="Arial" panose="020B0604020202020204"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0" y="6492875"/>
            <a:ext cx="826265" cy="365125"/>
          </a:xfrm>
        </p:spPr>
        <p:txBody>
          <a:bodyPr/>
          <a:lstStyle>
            <a:lvl1pPr algn="l">
              <a:defRPr/>
            </a:lvl1pPr>
          </a:lstStyle>
          <a:p>
            <a:fld id="{591A223C-FA10-BC46-A853-03BA373D023C}" type="slidenum">
              <a:rPr lang="en-US" smtClean="0"/>
              <a:pPr/>
              <a:t>‹#›</a:t>
            </a:fld>
            <a:endParaRPr lang="en-US" dirty="0"/>
          </a:p>
        </p:txBody>
      </p:sp>
      <p:pic>
        <p:nvPicPr>
          <p:cNvPr id="6" name="Picture 5">
            <a:extLst>
              <a:ext uri="{FF2B5EF4-FFF2-40B4-BE49-F238E27FC236}">
                <a16:creationId xmlns:a16="http://schemas.microsoft.com/office/drawing/2014/main" id="{9158620C-3154-9142-9D17-B7196D7478E4}"/>
              </a:ext>
            </a:extLst>
          </p:cNvPr>
          <p:cNvPicPr>
            <a:picLocks noChangeAspect="1"/>
          </p:cNvPicPr>
          <p:nvPr userDrawn="1"/>
        </p:nvPicPr>
        <p:blipFill>
          <a:blip r:embed="rId2"/>
          <a:stretch>
            <a:fillRect/>
          </a:stretch>
        </p:blipFill>
        <p:spPr>
          <a:xfrm>
            <a:off x="121919" y="675316"/>
            <a:ext cx="5083823" cy="182718"/>
          </a:xfrm>
          <a:prstGeom prst="rect">
            <a:avLst/>
          </a:prstGeom>
        </p:spPr>
      </p:pic>
      <p:pic>
        <p:nvPicPr>
          <p:cNvPr id="7" name="Picture 6">
            <a:extLst>
              <a:ext uri="{FF2B5EF4-FFF2-40B4-BE49-F238E27FC236}">
                <a16:creationId xmlns:a16="http://schemas.microsoft.com/office/drawing/2014/main" id="{0DE0DC12-B2C4-C24E-B40C-4B2FD7B0F87C}"/>
              </a:ext>
            </a:extLst>
          </p:cNvPr>
          <p:cNvPicPr>
            <a:picLocks noChangeAspect="1"/>
          </p:cNvPicPr>
          <p:nvPr userDrawn="1"/>
        </p:nvPicPr>
        <p:blipFill>
          <a:blip r:embed="rId3">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18425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2EC4A4-C438-1440-90F8-B7184BF7E717}"/>
              </a:ext>
            </a:extLst>
          </p:cNvPr>
          <p:cNvSpPr>
            <a:spLocks noGrp="1"/>
          </p:cNvSpPr>
          <p:nvPr>
            <p:ph type="dt" sz="half" idx="10"/>
          </p:nvPr>
        </p:nvSpPr>
        <p:spPr/>
        <p:txBody>
          <a:bodyPr/>
          <a:lstStyle/>
          <a:p>
            <a:fld id="{EF3CDC91-E022-1D4D-9256-A5140D3F2EA2}" type="datetime1">
              <a:rPr lang="en-US" smtClean="0"/>
              <a:t>10/1/26</a:t>
            </a:fld>
            <a:endParaRPr lang="en-US"/>
          </a:p>
        </p:txBody>
      </p:sp>
      <p:sp>
        <p:nvSpPr>
          <p:cNvPr id="3" name="Footer Placeholder 2">
            <a:extLst>
              <a:ext uri="{FF2B5EF4-FFF2-40B4-BE49-F238E27FC236}">
                <a16:creationId xmlns:a16="http://schemas.microsoft.com/office/drawing/2014/main" id="{6DCE2C64-B28C-7345-B51A-24E9603897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CAFA2F-918F-1F42-B0AE-E302BEBE934B}"/>
              </a:ext>
            </a:extLst>
          </p:cNvPr>
          <p:cNvSpPr>
            <a:spLocks noGrp="1"/>
          </p:cNvSpPr>
          <p:nvPr>
            <p:ph type="sldNum" sz="quarter" idx="12"/>
          </p:nvPr>
        </p:nvSpPr>
        <p:spPr/>
        <p:txBody>
          <a:bodyPr/>
          <a:lstStyle/>
          <a:p>
            <a:fld id="{591A223C-FA10-BC46-A853-03BA373D023C}" type="slidenum">
              <a:rPr lang="en-US" smtClean="0"/>
              <a:t>‹#›</a:t>
            </a:fld>
            <a:endParaRPr lang="en-US"/>
          </a:p>
        </p:txBody>
      </p:sp>
      <p:pic>
        <p:nvPicPr>
          <p:cNvPr id="5" name="Picture 4">
            <a:extLst>
              <a:ext uri="{FF2B5EF4-FFF2-40B4-BE49-F238E27FC236}">
                <a16:creationId xmlns:a16="http://schemas.microsoft.com/office/drawing/2014/main" id="{47EB83DE-21EA-0446-8CE1-209A9F2EA633}"/>
              </a:ext>
            </a:extLst>
          </p:cNvPr>
          <p:cNvPicPr>
            <a:picLocks noChangeAspect="1"/>
          </p:cNvPicPr>
          <p:nvPr userDrawn="1"/>
        </p:nvPicPr>
        <p:blipFill>
          <a:blip r:embed="rId2">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3743636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440A5-589B-1341-A678-0A459F7E8C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CB40E1-21E4-9045-A9A4-3429D73162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D75D2E-7C69-5C4D-9A6E-CC4654B472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84A6CC8-26C5-7448-ADC5-2749D941F84E}"/>
              </a:ext>
            </a:extLst>
          </p:cNvPr>
          <p:cNvSpPr>
            <a:spLocks noGrp="1"/>
          </p:cNvSpPr>
          <p:nvPr>
            <p:ph type="dt" sz="half" idx="10"/>
          </p:nvPr>
        </p:nvSpPr>
        <p:spPr/>
        <p:txBody>
          <a:bodyPr/>
          <a:lstStyle/>
          <a:p>
            <a:fld id="{67A6211D-AE56-974B-984B-C110E12B29A2}" type="datetime1">
              <a:rPr lang="en-US" smtClean="0"/>
              <a:t>10/1/26</a:t>
            </a:fld>
            <a:endParaRPr lang="en-US"/>
          </a:p>
        </p:txBody>
      </p:sp>
      <p:sp>
        <p:nvSpPr>
          <p:cNvPr id="6" name="Footer Placeholder 5">
            <a:extLst>
              <a:ext uri="{FF2B5EF4-FFF2-40B4-BE49-F238E27FC236}">
                <a16:creationId xmlns:a16="http://schemas.microsoft.com/office/drawing/2014/main" id="{5AADDA07-5AA1-B34C-B309-62DD4C1D43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378A32-B7C4-F842-87A7-D1CD1758A2A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644538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F7726-1F76-544A-8680-3C1AB544B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8CB2FB-2F4A-A74A-A759-A58010D3DD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D38E96-E545-AC4A-8D98-95FD19B67A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669DA82-266B-CC41-B1D2-F7AA15C5075D}"/>
              </a:ext>
            </a:extLst>
          </p:cNvPr>
          <p:cNvSpPr>
            <a:spLocks noGrp="1"/>
          </p:cNvSpPr>
          <p:nvPr>
            <p:ph type="dt" sz="half" idx="10"/>
          </p:nvPr>
        </p:nvSpPr>
        <p:spPr/>
        <p:txBody>
          <a:bodyPr/>
          <a:lstStyle/>
          <a:p>
            <a:fld id="{AE5A7FFF-10B1-4343-8D17-406DC86E5FAA}" type="datetime1">
              <a:rPr lang="en-US" smtClean="0"/>
              <a:t>10/1/26</a:t>
            </a:fld>
            <a:endParaRPr lang="en-US"/>
          </a:p>
        </p:txBody>
      </p:sp>
      <p:sp>
        <p:nvSpPr>
          <p:cNvPr id="6" name="Footer Placeholder 5">
            <a:extLst>
              <a:ext uri="{FF2B5EF4-FFF2-40B4-BE49-F238E27FC236}">
                <a16:creationId xmlns:a16="http://schemas.microsoft.com/office/drawing/2014/main" id="{4C5952A7-DE1B-CD46-B203-BA6A17F7F3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6A02E3-794B-DA46-8CF3-5708E566E7B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296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5BAA-57A4-C143-ABF5-35ABB2AF44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E9F01E-C4CF-6A43-99EC-53F5681F6D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413C5E-E003-A247-9E6F-436CAA7B14F4}"/>
              </a:ext>
            </a:extLst>
          </p:cNvPr>
          <p:cNvSpPr>
            <a:spLocks noGrp="1"/>
          </p:cNvSpPr>
          <p:nvPr>
            <p:ph type="dt" sz="half" idx="10"/>
          </p:nvPr>
        </p:nvSpPr>
        <p:spPr/>
        <p:txBody>
          <a:bodyPr/>
          <a:lstStyle/>
          <a:p>
            <a:fld id="{DF3C6696-8618-644E-B4E1-FA4689759F24}" type="datetime1">
              <a:rPr lang="en-US" smtClean="0"/>
              <a:t>10/1/26</a:t>
            </a:fld>
            <a:endParaRPr lang="en-US"/>
          </a:p>
        </p:txBody>
      </p:sp>
      <p:sp>
        <p:nvSpPr>
          <p:cNvPr id="5" name="Footer Placeholder 4">
            <a:extLst>
              <a:ext uri="{FF2B5EF4-FFF2-40B4-BE49-F238E27FC236}">
                <a16:creationId xmlns:a16="http://schemas.microsoft.com/office/drawing/2014/main" id="{27380A45-DDA9-4C4B-830C-9D0D289275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F086D7-D0B1-6F43-A1F7-4D436CC2BE0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065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AA87F1-769D-CC47-ABF4-393B691AD5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46D245-448B-7B4E-9643-1A0962794CC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8926CF-5171-4D44-9CE6-7B7960534FE4}"/>
              </a:ext>
            </a:extLst>
          </p:cNvPr>
          <p:cNvSpPr>
            <a:spLocks noGrp="1"/>
          </p:cNvSpPr>
          <p:nvPr>
            <p:ph type="dt" sz="half" idx="10"/>
          </p:nvPr>
        </p:nvSpPr>
        <p:spPr/>
        <p:txBody>
          <a:bodyPr/>
          <a:lstStyle/>
          <a:p>
            <a:fld id="{D4DB5934-BE72-FB4C-902A-D10164A603D2}" type="datetime1">
              <a:rPr lang="en-US" smtClean="0"/>
              <a:t>10/1/26</a:t>
            </a:fld>
            <a:endParaRPr lang="en-US"/>
          </a:p>
        </p:txBody>
      </p:sp>
      <p:sp>
        <p:nvSpPr>
          <p:cNvPr id="5" name="Footer Placeholder 4">
            <a:extLst>
              <a:ext uri="{FF2B5EF4-FFF2-40B4-BE49-F238E27FC236}">
                <a16:creationId xmlns:a16="http://schemas.microsoft.com/office/drawing/2014/main" id="{79ED5D8F-44E4-964B-BE01-CF913802E6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7266BE-E226-064D-8963-7A1D7859CC52}"/>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3492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A8E703-F9A8-0441-A9C1-970176EA14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D3E870-AE9A-814D-8F1C-424E01F68B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CDA625-67E6-FC41-AE05-BDF6D62186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95C081-EA16-A444-838F-7A9CF60C5F71}" type="datetime1">
              <a:rPr lang="en-US" smtClean="0"/>
              <a:t>10/1/26</a:t>
            </a:fld>
            <a:endParaRPr lang="en-US"/>
          </a:p>
        </p:txBody>
      </p:sp>
      <p:sp>
        <p:nvSpPr>
          <p:cNvPr id="5" name="Footer Placeholder 4">
            <a:extLst>
              <a:ext uri="{FF2B5EF4-FFF2-40B4-BE49-F238E27FC236}">
                <a16:creationId xmlns:a16="http://schemas.microsoft.com/office/drawing/2014/main" id="{C2CC2541-8D10-844A-AACF-A9080B4FC7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7ED89E2-F822-BE4F-A114-8B2AC36CD9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A223C-FA10-BC46-A853-03BA373D023C}" type="slidenum">
              <a:rPr lang="en-US" smtClean="0"/>
              <a:t>‹#›</a:t>
            </a:fld>
            <a:endParaRPr lang="en-US"/>
          </a:p>
        </p:txBody>
      </p:sp>
    </p:spTree>
    <p:extLst>
      <p:ext uri="{BB962C8B-B14F-4D97-AF65-F5344CB8AC3E}">
        <p14:creationId xmlns:p14="http://schemas.microsoft.com/office/powerpoint/2010/main" val="4111587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2.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 Id="rId11" Type="http://schemas.openxmlformats.org/officeDocument/2006/relationships/image" Target="../media/image13.png"/><Relationship Id="rId10" Type="http://schemas.openxmlformats.org/officeDocument/2006/relationships/image" Target="../media/image11.png"/><Relationship Id="rId4" Type="http://schemas.openxmlformats.org/officeDocument/2006/relationships/image" Target="../media/image15.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4.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24.png"/><Relationship Id="rId4" Type="http://schemas.openxmlformats.org/officeDocument/2006/relationships/image" Target="../media/image13.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31.png"/><Relationship Id="rId11" Type="http://schemas.openxmlformats.org/officeDocument/2006/relationships/image" Target="../media/image44.png"/><Relationship Id="rId5" Type="http://schemas.openxmlformats.org/officeDocument/2006/relationships/image" Target="../media/image30.png"/><Relationship Id="rId10" Type="http://schemas.openxmlformats.org/officeDocument/2006/relationships/image" Target="../media/image43.png"/><Relationship Id="rId4" Type="http://schemas.openxmlformats.org/officeDocument/2006/relationships/image" Target="../media/image29.png"/><Relationship Id="rId9" Type="http://schemas.openxmlformats.org/officeDocument/2006/relationships/image" Target="../media/image42.png"/></Relationships>
</file>

<file path=ppt/slides/_rels/slide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6.png"/><Relationship Id="rId7" Type="http://schemas.openxmlformats.org/officeDocument/2006/relationships/image" Target="../media/image49.png"/><Relationship Id="rId12" Type="http://schemas.openxmlformats.org/officeDocument/2006/relationships/image" Target="../media/image54.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0.png"/><Relationship Id="rId9" Type="http://schemas.openxmlformats.org/officeDocument/2006/relationships/image" Target="../media/image51.png"/></Relationships>
</file>

<file path=ppt/slides/_rels/slide9.xml.rels><?xml version="1.0" encoding="UTF-8" standalone="yes"?>
<Relationships xmlns="http://schemas.openxmlformats.org/package/2006/relationships"><Relationship Id="rId8" Type="http://schemas.openxmlformats.org/officeDocument/2006/relationships/image" Target="../media/image1110.png"/><Relationship Id="rId3" Type="http://schemas.openxmlformats.org/officeDocument/2006/relationships/image" Target="../media/image210.png"/><Relationship Id="rId7"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40.png"/><Relationship Id="rId11" Type="http://schemas.openxmlformats.org/officeDocument/2006/relationships/image" Target="../media/image271.png"/><Relationship Id="rId5" Type="http://schemas.openxmlformats.org/officeDocument/2006/relationships/image" Target="../media/image230.png"/><Relationship Id="rId10" Type="http://schemas.openxmlformats.org/officeDocument/2006/relationships/image" Target="../media/image261.png"/><Relationship Id="rId4" Type="http://schemas.openxmlformats.org/officeDocument/2006/relationships/image" Target="../media/image220.png"/><Relationship Id="rId9" Type="http://schemas.openxmlformats.org/officeDocument/2006/relationships/image" Target="../media/image250.png"/></Relationships>
</file>

<file path=ppt/slides/_rels/slide10.xml.rels><?xml version="1.0" encoding="UTF-8" standalone="yes"?>
<Relationships xmlns="http://schemas.openxmlformats.org/package/2006/relationships"><Relationship Id="rId8" Type="http://schemas.openxmlformats.org/officeDocument/2006/relationships/image" Target="../media/image310.png"/><Relationship Id="rId3" Type="http://schemas.openxmlformats.org/officeDocument/2006/relationships/image" Target="../media/image260.png"/><Relationship Id="rId7" Type="http://schemas.openxmlformats.org/officeDocument/2006/relationships/image" Target="../media/image300.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290.png"/><Relationship Id="rId5" Type="http://schemas.openxmlformats.org/officeDocument/2006/relationships/image" Target="../media/image280.png"/><Relationship Id="rId4" Type="http://schemas.openxmlformats.org/officeDocument/2006/relationships/image" Target="../media/image270.png"/></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2.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9.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emf"/><Relationship Id="rId9" Type="http://schemas.openxmlformats.org/officeDocument/2006/relationships/image" Target="../media/image64.png"/></Relationships>
</file>

<file path=ppt/slides/_rels/slide13.xml.rels><?xml version="1.0" encoding="UTF-8" standalone="yes"?>
<Relationships xmlns="http://schemas.openxmlformats.org/package/2006/relationships"><Relationship Id="rId3" Type="http://schemas.openxmlformats.org/officeDocument/2006/relationships/image" Target="../media/image1411.png"/><Relationship Id="rId7" Type="http://schemas.openxmlformats.org/officeDocument/2006/relationships/image" Target="../media/image680.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390.png"/><Relationship Id="rId5" Type="http://schemas.openxmlformats.org/officeDocument/2006/relationships/image" Target="../media/image6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690.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45.png"/><Relationship Id="rId4" Type="http://schemas.openxmlformats.org/officeDocument/2006/relationships/image" Target="../media/image71.png"/></Relationships>
</file>

<file path=ppt/slides/_rels/slide1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1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1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19.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87.png"/><Relationship Id="rId5" Type="http://schemas.openxmlformats.org/officeDocument/2006/relationships/image" Target="../media/image86.png"/><Relationship Id="rId10" Type="http://schemas.openxmlformats.org/officeDocument/2006/relationships/image" Target="../media/image91.png"/><Relationship Id="rId4" Type="http://schemas.openxmlformats.org/officeDocument/2006/relationships/image" Target="../media/image85.png"/><Relationship Id="rId9" Type="http://schemas.openxmlformats.org/officeDocument/2006/relationships/image" Target="../media/image69.png"/></Relationships>
</file>

<file path=ppt/slides/_rels/slide20.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430.png"/><Relationship Id="rId7" Type="http://schemas.openxmlformats.org/officeDocument/2006/relationships/image" Target="../media/image93.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920.png"/><Relationship Id="rId5" Type="http://schemas.openxmlformats.org/officeDocument/2006/relationships/image" Target="../media/image450.png"/><Relationship Id="rId4" Type="http://schemas.openxmlformats.org/officeDocument/2006/relationships/image" Target="../media/image92.png"/></Relationships>
</file>

<file path=ppt/slides/_rels/slide21.xml.rels><?xml version="1.0" encoding="UTF-8" standalone="yes"?>
<Relationships xmlns="http://schemas.openxmlformats.org/package/2006/relationships"><Relationship Id="rId8" Type="http://schemas.openxmlformats.org/officeDocument/2006/relationships/image" Target="../media/image520.png"/><Relationship Id="rId7" Type="http://schemas.openxmlformats.org/officeDocument/2006/relationships/image" Target="../media/image510.png"/><Relationship Id="rId12" Type="http://schemas.openxmlformats.org/officeDocument/2006/relationships/image" Target="../media/image550.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500.png"/><Relationship Id="rId11" Type="http://schemas.openxmlformats.org/officeDocument/2006/relationships/image" Target="../media/image941.png"/><Relationship Id="rId5" Type="http://schemas.openxmlformats.org/officeDocument/2006/relationships/image" Target="../media/image490.png"/><Relationship Id="rId10" Type="http://schemas.openxmlformats.org/officeDocument/2006/relationships/image" Target="../media/image930.png"/><Relationship Id="rId4" Type="http://schemas.openxmlformats.org/officeDocument/2006/relationships/image" Target="../media/image480.png"/><Relationship Id="rId9" Type="http://schemas.openxmlformats.org/officeDocument/2006/relationships/image" Target="../media/image530.png"/></Relationships>
</file>

<file path=ppt/slides/_rels/slide2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96.png"/></Relationships>
</file>

<file path=ppt/slides/_rels/slide23.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99.png"/></Relationships>
</file>

<file path=ppt/slides/_rels/slide24.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png"/><Relationship Id="rId3" Type="http://schemas.openxmlformats.org/officeDocument/2006/relationships/image" Target="../media/image70.png"/><Relationship Id="rId7" Type="http://schemas.openxmlformats.org/officeDocument/2006/relationships/image" Target="../media/image104.png"/><Relationship Id="rId12" Type="http://schemas.openxmlformats.org/officeDocument/2006/relationships/image" Target="../media/image109.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90.png"/><Relationship Id="rId10" Type="http://schemas.openxmlformats.org/officeDocument/2006/relationships/image" Target="../media/image107.png"/><Relationship Id="rId4" Type="http://schemas.openxmlformats.org/officeDocument/2006/relationships/image" Target="../media/image72.png"/><Relationship Id="rId9" Type="http://schemas.openxmlformats.org/officeDocument/2006/relationships/image" Target="../media/image106.png"/></Relationships>
</file>

<file path=ppt/slides/_rels/slide25.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1.png"/><Relationship Id="rId7" Type="http://schemas.openxmlformats.org/officeDocument/2006/relationships/image" Target="../media/image102.png"/><Relationship Id="rId12" Type="http://schemas.openxmlformats.org/officeDocument/2006/relationships/image" Target="../media/image120.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100.png"/><Relationship Id="rId11" Type="http://schemas.openxmlformats.org/officeDocument/2006/relationships/image" Target="../media/image119.png"/><Relationship Id="rId5" Type="http://schemas.openxmlformats.org/officeDocument/2006/relationships/image" Target="../media/image113.png"/><Relationship Id="rId10" Type="http://schemas.openxmlformats.org/officeDocument/2006/relationships/image" Target="../media/image118.png"/><Relationship Id="rId4" Type="http://schemas.openxmlformats.org/officeDocument/2006/relationships/image" Target="../media/image101.png"/><Relationship Id="rId9" Type="http://schemas.openxmlformats.org/officeDocument/2006/relationships/image" Target="../media/image112.png"/></Relationships>
</file>

<file path=ppt/slides/_rels/slide2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117.png"/><Relationship Id="rId4" Type="http://schemas.openxmlformats.org/officeDocument/2006/relationships/image" Target="../media/image115.png"/></Relationships>
</file>

<file path=ppt/slides/_rels/slide2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123.png"/><Relationship Id="rId4" Type="http://schemas.openxmlformats.org/officeDocument/2006/relationships/image" Target="../media/image122.png"/></Relationships>
</file>

<file path=ppt/slides/_rels/slide28.xml.rels><?xml version="1.0" encoding="UTF-8" standalone="yes"?>
<Relationships xmlns="http://schemas.openxmlformats.org/package/2006/relationships"><Relationship Id="rId3" Type="http://schemas.openxmlformats.org/officeDocument/2006/relationships/image" Target="../media/image131.png"/><Relationship Id="rId7" Type="http://schemas.openxmlformats.org/officeDocument/2006/relationships/image" Target="../media/image135.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134.png"/><Relationship Id="rId5" Type="http://schemas.openxmlformats.org/officeDocument/2006/relationships/image" Target="../media/image133.png"/><Relationship Id="rId4" Type="http://schemas.openxmlformats.org/officeDocument/2006/relationships/image" Target="../media/image1220.png"/></Relationships>
</file>

<file path=ppt/slides/_rels/slide29.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59.png"/><Relationship Id="rId7" Type="http://schemas.openxmlformats.org/officeDocument/2006/relationships/image" Target="../media/image139.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138.png"/><Relationship Id="rId5" Type="http://schemas.openxmlformats.org/officeDocument/2006/relationships/image" Target="../media/image137.png"/><Relationship Id="rId10" Type="http://schemas.openxmlformats.org/officeDocument/2006/relationships/image" Target="../media/image142.png"/><Relationship Id="rId4" Type="http://schemas.openxmlformats.org/officeDocument/2006/relationships/image" Target="../media/image1360.png"/><Relationship Id="rId9" Type="http://schemas.openxmlformats.org/officeDocument/2006/relationships/image" Target="../media/image1410.png"/></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124.png"/><Relationship Id="rId5" Type="http://schemas.openxmlformats.org/officeDocument/2006/relationships/image" Target="../media/image144.png"/><Relationship Id="rId4" Type="http://schemas.openxmlformats.org/officeDocument/2006/relationships/image" Target="../media/image143.png"/></Relationships>
</file>

<file path=ppt/slides/_rels/slide31.xml.rels><?xml version="1.0" encoding="UTF-8" standalone="yes"?>
<Relationships xmlns="http://schemas.openxmlformats.org/package/2006/relationships"><Relationship Id="rId8" Type="http://schemas.openxmlformats.org/officeDocument/2006/relationships/image" Target="../media/image151.png"/><Relationship Id="rId13" Type="http://schemas.openxmlformats.org/officeDocument/2006/relationships/image" Target="../media/image156.png"/><Relationship Id="rId3" Type="http://schemas.openxmlformats.org/officeDocument/2006/relationships/image" Target="../media/image146.png"/><Relationship Id="rId7" Type="http://schemas.openxmlformats.org/officeDocument/2006/relationships/image" Target="../media/image150.png"/><Relationship Id="rId12" Type="http://schemas.openxmlformats.org/officeDocument/2006/relationships/image" Target="../media/image155.png"/><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image" Target="../media/image149.png"/><Relationship Id="rId11" Type="http://schemas.openxmlformats.org/officeDocument/2006/relationships/image" Target="../media/image154.png"/><Relationship Id="rId5" Type="http://schemas.openxmlformats.org/officeDocument/2006/relationships/image" Target="../media/image148.png"/><Relationship Id="rId10" Type="http://schemas.openxmlformats.org/officeDocument/2006/relationships/image" Target="../media/image153.png"/><Relationship Id="rId4" Type="http://schemas.openxmlformats.org/officeDocument/2006/relationships/image" Target="../media/image147.png"/><Relationship Id="rId9" Type="http://schemas.openxmlformats.org/officeDocument/2006/relationships/image" Target="../media/image152.png"/><Relationship Id="rId14" Type="http://schemas.openxmlformats.org/officeDocument/2006/relationships/image" Target="../media/image157.pn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211.png"/></Relationships>
</file>

<file path=ppt/slides/_rels/slide35.xml.rels><?xml version="1.0" encoding="UTF-8" standalone="yes"?>
<Relationships xmlns="http://schemas.openxmlformats.org/package/2006/relationships"><Relationship Id="rId8" Type="http://schemas.openxmlformats.org/officeDocument/2006/relationships/image" Target="../media/image2610.png"/><Relationship Id="rId3" Type="http://schemas.openxmlformats.org/officeDocument/2006/relationships/image" Target="../media/image212.png"/><Relationship Id="rId7" Type="http://schemas.openxmlformats.org/officeDocument/2006/relationships/image" Target="../media/image2500.png"/><Relationship Id="rId2" Type="http://schemas.openxmlformats.org/officeDocument/2006/relationships/notesSlide" Target="../notesSlides/notesSlide35.xml"/><Relationship Id="rId1" Type="http://schemas.openxmlformats.org/officeDocument/2006/relationships/slideLayout" Target="../slideLayouts/slideLayout6.xml"/><Relationship Id="rId6" Type="http://schemas.openxmlformats.org/officeDocument/2006/relationships/image" Target="../media/image241.png"/><Relationship Id="rId5" Type="http://schemas.openxmlformats.org/officeDocument/2006/relationships/image" Target="../media/image2300.png"/><Relationship Id="rId10" Type="http://schemas.openxmlformats.org/officeDocument/2006/relationships/image" Target="../media/image2800.png"/><Relationship Id="rId4" Type="http://schemas.openxmlformats.org/officeDocument/2006/relationships/image" Target="../media/image221.png"/><Relationship Id="rId9" Type="http://schemas.openxmlformats.org/officeDocument/2006/relationships/image" Target="../media/image2700.png"/></Relationships>
</file>

<file path=ppt/slides/_rels/slide36.xml.rels><?xml version="1.0" encoding="UTF-8" standalone="yes"?>
<Relationships xmlns="http://schemas.openxmlformats.org/package/2006/relationships"><Relationship Id="rId3" Type="http://schemas.openxmlformats.org/officeDocument/2006/relationships/image" Target="../media/image301.png"/><Relationship Id="rId7" Type="http://schemas.openxmlformats.org/officeDocument/2006/relationships/image" Target="../media/image340.png"/><Relationship Id="rId2" Type="http://schemas.openxmlformats.org/officeDocument/2006/relationships/notesSlide" Target="../notesSlides/notesSlide36.xml"/><Relationship Id="rId1" Type="http://schemas.openxmlformats.org/officeDocument/2006/relationships/slideLayout" Target="../slideLayouts/slideLayout6.xml"/><Relationship Id="rId6" Type="http://schemas.openxmlformats.org/officeDocument/2006/relationships/image" Target="../media/image330.png"/><Relationship Id="rId5" Type="http://schemas.openxmlformats.org/officeDocument/2006/relationships/image" Target="../media/image320.png"/><Relationship Id="rId4" Type="http://schemas.openxmlformats.org/officeDocument/2006/relationships/image" Target="../media/image3100.png"/></Relationships>
</file>

<file path=ppt/slides/_rels/slide37.xml.rels><?xml version="1.0" encoding="UTF-8" standalone="yes"?>
<Relationships xmlns="http://schemas.openxmlformats.org/package/2006/relationships"><Relationship Id="rId8" Type="http://schemas.openxmlformats.org/officeDocument/2006/relationships/image" Target="../media/image341.png"/><Relationship Id="rId3" Type="http://schemas.openxmlformats.org/officeDocument/2006/relationships/image" Target="../media/image291.png"/><Relationship Id="rId7" Type="http://schemas.openxmlformats.org/officeDocument/2006/relationships/image" Target="../media/image331.png"/><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710.png"/><Relationship Id="rId5" Type="http://schemas.openxmlformats.org/officeDocument/2006/relationships/image" Target="../media/image311.png"/><Relationship Id="rId4" Type="http://schemas.openxmlformats.org/officeDocument/2006/relationships/image" Target="../media/image302.png"/><Relationship Id="rId9" Type="http://schemas.openxmlformats.org/officeDocument/2006/relationships/image" Target="../media/image350.png"/></Relationships>
</file>

<file path=ppt/slides/_rels/slide38.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notesSlide" Target="../notesSlides/notesSlide38.xml"/><Relationship Id="rId1" Type="http://schemas.openxmlformats.org/officeDocument/2006/relationships/slideLayout" Target="../slideLayouts/slideLayout6.xml"/><Relationship Id="rId6" Type="http://schemas.openxmlformats.org/officeDocument/2006/relationships/image" Target="../media/image650.png"/><Relationship Id="rId5" Type="http://schemas.openxmlformats.org/officeDocument/2006/relationships/image" Target="../media/image640.png"/><Relationship Id="rId4" Type="http://schemas.openxmlformats.org/officeDocument/2006/relationships/image" Target="../media/image630.png"/></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6.xml"/><Relationship Id="rId5" Type="http://schemas.openxmlformats.org/officeDocument/2006/relationships/image" Target="../media/image600.png"/><Relationship Id="rId4" Type="http://schemas.openxmlformats.org/officeDocument/2006/relationships/image" Target="../media/image59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41.xml"/><Relationship Id="rId1" Type="http://schemas.openxmlformats.org/officeDocument/2006/relationships/slideLayout" Target="../slideLayouts/slideLayout6.xml"/><Relationship Id="rId6" Type="http://schemas.openxmlformats.org/officeDocument/2006/relationships/image" Target="../media/image740.png"/><Relationship Id="rId5" Type="http://schemas.openxmlformats.org/officeDocument/2006/relationships/image" Target="../media/image11.tiff"/><Relationship Id="rId4" Type="http://schemas.openxmlformats.org/officeDocument/2006/relationships/image" Target="../media/image10.tiff"/></Relationships>
</file>

<file path=ppt/slides/_rels/slide42.xml.rels><?xml version="1.0" encoding="UTF-8" standalone="yes"?>
<Relationships xmlns="http://schemas.openxmlformats.org/package/2006/relationships"><Relationship Id="rId8" Type="http://schemas.openxmlformats.org/officeDocument/2006/relationships/image" Target="../media/image800.png"/><Relationship Id="rId13" Type="http://schemas.openxmlformats.org/officeDocument/2006/relationships/image" Target="../media/image810.png"/><Relationship Id="rId3" Type="http://schemas.openxmlformats.org/officeDocument/2006/relationships/image" Target="../media/image760.png"/><Relationship Id="rId7" Type="http://schemas.openxmlformats.org/officeDocument/2006/relationships/image" Target="../media/image790.png"/><Relationship Id="rId12" Type="http://schemas.openxmlformats.org/officeDocument/2006/relationships/image" Target="../media/image840.png"/><Relationship Id="rId2" Type="http://schemas.openxmlformats.org/officeDocument/2006/relationships/notesSlide" Target="../notesSlides/notesSlide42.xml"/><Relationship Id="rId1" Type="http://schemas.openxmlformats.org/officeDocument/2006/relationships/slideLayout" Target="../slideLayouts/slideLayout6.xml"/><Relationship Id="rId6" Type="http://schemas.openxmlformats.org/officeDocument/2006/relationships/image" Target="../media/image780.png"/><Relationship Id="rId5" Type="http://schemas.openxmlformats.org/officeDocument/2006/relationships/image" Target="../media/image770.png"/><Relationship Id="rId10" Type="http://schemas.openxmlformats.org/officeDocument/2006/relationships/image" Target="../media/image820.png"/><Relationship Id="rId4" Type="http://schemas.openxmlformats.org/officeDocument/2006/relationships/image" Target="../media/image771.png"/></Relationships>
</file>

<file path=ppt/slides/_rels/slide43.xml.rels><?xml version="1.0" encoding="UTF-8" standalone="yes"?>
<Relationships xmlns="http://schemas.openxmlformats.org/package/2006/relationships"><Relationship Id="rId3" Type="http://schemas.openxmlformats.org/officeDocument/2006/relationships/image" Target="../media/image850.png"/><Relationship Id="rId7" Type="http://schemas.openxmlformats.org/officeDocument/2006/relationships/image" Target="../media/image750.png"/><Relationship Id="rId2" Type="http://schemas.openxmlformats.org/officeDocument/2006/relationships/notesSlide" Target="../notesSlides/notesSlide43.xml"/><Relationship Id="rId1" Type="http://schemas.openxmlformats.org/officeDocument/2006/relationships/slideLayout" Target="../slideLayouts/slideLayout6.xml"/><Relationship Id="rId6" Type="http://schemas.openxmlformats.org/officeDocument/2006/relationships/image" Target="../media/image880.png"/><Relationship Id="rId5" Type="http://schemas.openxmlformats.org/officeDocument/2006/relationships/image" Target="../media/image730.png"/><Relationship Id="rId4" Type="http://schemas.openxmlformats.org/officeDocument/2006/relationships/image" Target="../media/image860.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8" Type="http://schemas.openxmlformats.org/officeDocument/2006/relationships/image" Target="../media/image950.png"/><Relationship Id="rId3" Type="http://schemas.openxmlformats.org/officeDocument/2006/relationships/image" Target="../media/image900.png"/><Relationship Id="rId7" Type="http://schemas.openxmlformats.org/officeDocument/2006/relationships/image" Target="../media/image940.png"/><Relationship Id="rId2" Type="http://schemas.openxmlformats.org/officeDocument/2006/relationships/notesSlide" Target="../notesSlides/notesSlide45.xml"/><Relationship Id="rId1" Type="http://schemas.openxmlformats.org/officeDocument/2006/relationships/slideLayout" Target="../slideLayouts/slideLayout6.xml"/><Relationship Id="rId6" Type="http://schemas.openxmlformats.org/officeDocument/2006/relationships/image" Target="../media/image931.png"/><Relationship Id="rId11" Type="http://schemas.openxmlformats.org/officeDocument/2006/relationships/image" Target="../media/image960.png"/><Relationship Id="rId5" Type="http://schemas.openxmlformats.org/officeDocument/2006/relationships/image" Target="../media/image921.png"/><Relationship Id="rId10" Type="http://schemas.openxmlformats.org/officeDocument/2006/relationships/image" Target="../media/image990.png"/><Relationship Id="rId4" Type="http://schemas.openxmlformats.org/officeDocument/2006/relationships/image" Target="../media/image910.png"/><Relationship Id="rId9" Type="http://schemas.openxmlformats.org/officeDocument/2006/relationships/image" Target="../media/image98.png"/></Relationships>
</file>

<file path=ppt/slides/_rels/slide46.xml.rels><?xml version="1.0" encoding="UTF-8" standalone="yes"?>
<Relationships xmlns="http://schemas.openxmlformats.org/package/2006/relationships"><Relationship Id="rId8" Type="http://schemas.openxmlformats.org/officeDocument/2006/relationships/image" Target="../media/image1040.png"/><Relationship Id="rId13" Type="http://schemas.openxmlformats.org/officeDocument/2006/relationships/image" Target="../media/image1090.png"/><Relationship Id="rId3" Type="http://schemas.openxmlformats.org/officeDocument/2006/relationships/image" Target="../media/image900.png"/><Relationship Id="rId7" Type="http://schemas.openxmlformats.org/officeDocument/2006/relationships/image" Target="../media/image1030.png"/><Relationship Id="rId12" Type="http://schemas.openxmlformats.org/officeDocument/2006/relationships/image" Target="../media/image1080.png"/><Relationship Id="rId2" Type="http://schemas.openxmlformats.org/officeDocument/2006/relationships/notesSlide" Target="../notesSlides/notesSlide46.xml"/><Relationship Id="rId1" Type="http://schemas.openxmlformats.org/officeDocument/2006/relationships/slideLayout" Target="../slideLayouts/slideLayout6.xml"/><Relationship Id="rId6" Type="http://schemas.openxmlformats.org/officeDocument/2006/relationships/image" Target="../media/image1000.png"/><Relationship Id="rId11" Type="http://schemas.openxmlformats.org/officeDocument/2006/relationships/image" Target="../media/image1070.png"/><Relationship Id="rId5" Type="http://schemas.openxmlformats.org/officeDocument/2006/relationships/image" Target="../media/image921.png"/><Relationship Id="rId15" Type="http://schemas.openxmlformats.org/officeDocument/2006/relationships/image" Target="../media/image1111.png"/><Relationship Id="rId10" Type="http://schemas.openxmlformats.org/officeDocument/2006/relationships/image" Target="../media/image1060.png"/><Relationship Id="rId4" Type="http://schemas.openxmlformats.org/officeDocument/2006/relationships/image" Target="../media/image1010.png"/><Relationship Id="rId9" Type="http://schemas.openxmlformats.org/officeDocument/2006/relationships/image" Target="../media/image1050.png"/><Relationship Id="rId14" Type="http://schemas.openxmlformats.org/officeDocument/2006/relationships/image" Target="../media/image1100.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830.png"/><Relationship Id="rId2" Type="http://schemas.openxmlformats.org/officeDocument/2006/relationships/notesSlide" Target="../notesSlides/notesSlide48.xml"/><Relationship Id="rId1" Type="http://schemas.openxmlformats.org/officeDocument/2006/relationships/slideLayout" Target="../slideLayouts/slideLayout6.xml"/><Relationship Id="rId5" Type="http://schemas.openxmlformats.org/officeDocument/2006/relationships/image" Target="../media/image12.tiff"/><Relationship Id="rId4" Type="http://schemas.openxmlformats.org/officeDocument/2006/relationships/image" Target="../media/image870.png"/></Relationships>
</file>

<file path=ppt/slides/_rels/slide49.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49.xml"/><Relationship Id="rId1" Type="http://schemas.openxmlformats.org/officeDocument/2006/relationships/slideLayout" Target="../slideLayouts/slideLayout6.xml"/><Relationship Id="rId5" Type="http://schemas.openxmlformats.org/officeDocument/2006/relationships/image" Target="../media/image1160.png"/><Relationship Id="rId4" Type="http://schemas.openxmlformats.org/officeDocument/2006/relationships/image" Target="../media/image1150.png"/></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0.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notesSlide" Target="../notesSlides/notesSlide53.xml"/><Relationship Id="rId1" Type="http://schemas.openxmlformats.org/officeDocument/2006/relationships/slideLayout" Target="../slideLayouts/slideLayout6.xml"/><Relationship Id="rId5" Type="http://schemas.openxmlformats.org/officeDocument/2006/relationships/image" Target="../media/image125.png"/><Relationship Id="rId4" Type="http://schemas.openxmlformats.org/officeDocument/2006/relationships/image" Target="../media/image97.png"/></Relationships>
</file>

<file path=ppt/slides/_rels/slide54.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54.xml"/><Relationship Id="rId1" Type="http://schemas.openxmlformats.org/officeDocument/2006/relationships/slideLayout" Target="../slideLayouts/slideLayout6.xml"/><Relationship Id="rId4" Type="http://schemas.openxmlformats.org/officeDocument/2006/relationships/image" Target="../media/image17.tiff"/></Relationships>
</file>

<file path=ppt/slides/_rels/slide55.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127.tiff"/><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0.xml"/><Relationship Id="rId1" Type="http://schemas.openxmlformats.org/officeDocument/2006/relationships/slideLayout" Target="../slideLayouts/slideLayout7.xml"/><Relationship Id="rId5" Type="http://schemas.openxmlformats.org/officeDocument/2006/relationships/image" Target="../media/image129.tiff"/><Relationship Id="rId4" Type="http://schemas.openxmlformats.org/officeDocument/2006/relationships/image" Target="../media/image128.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p:txBody>
          <a:bodyPr/>
          <a:lstStyle/>
          <a:p>
            <a:fld id="{591A223C-FA10-BC46-A853-03BA373D023C}" type="slidenum">
              <a:rPr lang="en-US" smtClean="0"/>
              <a:t>1</a:t>
            </a:fld>
            <a:endParaRPr lang="en-US"/>
          </a:p>
        </p:txBody>
      </p:sp>
      <p:sp>
        <p:nvSpPr>
          <p:cNvPr id="4" name="TextBox 3">
            <a:extLst>
              <a:ext uri="{FF2B5EF4-FFF2-40B4-BE49-F238E27FC236}">
                <a16:creationId xmlns:a16="http://schemas.microsoft.com/office/drawing/2014/main" id="{472519DD-9FFE-0047-9453-5A2889BD2B59}"/>
              </a:ext>
            </a:extLst>
          </p:cNvPr>
          <p:cNvSpPr txBox="1"/>
          <p:nvPr/>
        </p:nvSpPr>
        <p:spPr>
          <a:xfrm>
            <a:off x="0" y="678897"/>
            <a:ext cx="12191999" cy="1323439"/>
          </a:xfrm>
          <a:prstGeom prst="rect">
            <a:avLst/>
          </a:prstGeom>
          <a:noFill/>
        </p:spPr>
        <p:txBody>
          <a:bodyPr wrap="square" rtlCol="0">
            <a:spAutoFit/>
          </a:bodyPr>
          <a:lstStyle/>
          <a:p>
            <a:pPr algn="ctr"/>
            <a:r>
              <a:rPr lang="en-US" sz="8000" b="1" dirty="0">
                <a:solidFill>
                  <a:schemeClr val="bg1"/>
                </a:solidFill>
              </a:rPr>
              <a:t>Quantum Computing</a:t>
            </a:r>
          </a:p>
        </p:txBody>
      </p:sp>
      <p:sp>
        <p:nvSpPr>
          <p:cNvPr id="7" name="TextBox 6">
            <a:extLst>
              <a:ext uri="{FF2B5EF4-FFF2-40B4-BE49-F238E27FC236}">
                <a16:creationId xmlns:a16="http://schemas.microsoft.com/office/drawing/2014/main" id="{A0F6B325-DEAC-4545-AAF3-69D416F3EC54}"/>
              </a:ext>
            </a:extLst>
          </p:cNvPr>
          <p:cNvSpPr txBox="1"/>
          <p:nvPr/>
        </p:nvSpPr>
        <p:spPr>
          <a:xfrm>
            <a:off x="0" y="2749694"/>
            <a:ext cx="12192000" cy="1015663"/>
          </a:xfrm>
          <a:prstGeom prst="rect">
            <a:avLst/>
          </a:prstGeom>
          <a:noFill/>
        </p:spPr>
        <p:txBody>
          <a:bodyPr wrap="square" rtlCol="0">
            <a:spAutoFit/>
          </a:bodyPr>
          <a:lstStyle/>
          <a:p>
            <a:pPr algn="ctr"/>
            <a:r>
              <a:rPr lang="en-US" sz="6000" b="1" dirty="0">
                <a:solidFill>
                  <a:schemeClr val="bg1"/>
                </a:solidFill>
              </a:rPr>
              <a:t>5. Quantum Circuits</a:t>
            </a:r>
          </a:p>
        </p:txBody>
      </p:sp>
      <p:sp>
        <p:nvSpPr>
          <p:cNvPr id="8" name="TextBox 7">
            <a:extLst>
              <a:ext uri="{FF2B5EF4-FFF2-40B4-BE49-F238E27FC236}">
                <a16:creationId xmlns:a16="http://schemas.microsoft.com/office/drawing/2014/main" id="{2BBA1590-8362-C94D-8112-4861FAE98B59}"/>
              </a:ext>
            </a:extLst>
          </p:cNvPr>
          <p:cNvSpPr txBox="1"/>
          <p:nvPr/>
        </p:nvSpPr>
        <p:spPr>
          <a:xfrm>
            <a:off x="8050517" y="5528379"/>
            <a:ext cx="3863365" cy="830997"/>
          </a:xfrm>
          <a:prstGeom prst="rect">
            <a:avLst/>
          </a:prstGeom>
          <a:noFill/>
        </p:spPr>
        <p:txBody>
          <a:bodyPr wrap="none" rtlCol="0">
            <a:spAutoFit/>
          </a:bodyPr>
          <a:lstStyle/>
          <a:p>
            <a:r>
              <a:rPr lang="en-US" sz="2400" dirty="0">
                <a:solidFill>
                  <a:schemeClr val="bg1"/>
                </a:solidFill>
              </a:rPr>
              <a:t>Prof. Aleksandar Radovanovic</a:t>
            </a:r>
          </a:p>
          <a:p>
            <a:pPr algn="ctr"/>
            <a:r>
              <a:rPr lang="en-US" sz="2400" dirty="0" err="1">
                <a:solidFill>
                  <a:schemeClr val="bg1"/>
                </a:solidFill>
              </a:rPr>
              <a:t>alex@qcict.org</a:t>
            </a:r>
            <a:endParaRPr lang="en-US" sz="2400" dirty="0">
              <a:solidFill>
                <a:schemeClr val="bg1"/>
              </a:solidFill>
            </a:endParaRPr>
          </a:p>
        </p:txBody>
      </p:sp>
      <p:sp>
        <p:nvSpPr>
          <p:cNvPr id="10" name="TextBox 9">
            <a:extLst>
              <a:ext uri="{FF2B5EF4-FFF2-40B4-BE49-F238E27FC236}">
                <a16:creationId xmlns:a16="http://schemas.microsoft.com/office/drawing/2014/main" id="{4A4C544D-8C14-A643-BFBF-56F4119EF3F9}"/>
              </a:ext>
            </a:extLst>
          </p:cNvPr>
          <p:cNvSpPr txBox="1"/>
          <p:nvPr/>
        </p:nvSpPr>
        <p:spPr>
          <a:xfrm>
            <a:off x="278749" y="5528379"/>
            <a:ext cx="3828484" cy="830997"/>
          </a:xfrm>
          <a:prstGeom prst="rect">
            <a:avLst/>
          </a:prstGeom>
          <a:noFill/>
        </p:spPr>
        <p:txBody>
          <a:bodyPr wrap="none" rtlCol="0">
            <a:spAutoFit/>
          </a:bodyPr>
          <a:lstStyle/>
          <a:p>
            <a:r>
              <a:rPr lang="en-US" sz="2400" dirty="0">
                <a:solidFill>
                  <a:schemeClr val="bg1"/>
                </a:solidFill>
              </a:rPr>
              <a:t>Quantum Computing </a:t>
            </a:r>
            <a:r>
              <a:rPr lang="en-US" sz="2400" dirty="0" err="1">
                <a:solidFill>
                  <a:schemeClr val="bg1"/>
                </a:solidFill>
              </a:rPr>
              <a:t>Insitute</a:t>
            </a:r>
            <a:endParaRPr lang="en-US" sz="2400" dirty="0">
              <a:solidFill>
                <a:schemeClr val="bg1"/>
              </a:solidFill>
            </a:endParaRPr>
          </a:p>
          <a:p>
            <a:r>
              <a:rPr lang="en-US" sz="2400" dirty="0">
                <a:solidFill>
                  <a:schemeClr val="bg1"/>
                </a:solidFill>
              </a:rPr>
              <a:t>https://</a:t>
            </a:r>
            <a:r>
              <a:rPr lang="en-US" sz="2400" dirty="0" err="1">
                <a:solidFill>
                  <a:schemeClr val="bg1"/>
                </a:solidFill>
              </a:rPr>
              <a:t>qcict.org</a:t>
            </a:r>
            <a:endParaRPr lang="en-US" sz="2400" dirty="0">
              <a:solidFill>
                <a:schemeClr val="bg1"/>
              </a:solidFill>
            </a:endParaRPr>
          </a:p>
        </p:txBody>
      </p:sp>
    </p:spTree>
    <p:extLst>
      <p:ext uri="{BB962C8B-B14F-4D97-AF65-F5344CB8AC3E}">
        <p14:creationId xmlns:p14="http://schemas.microsoft.com/office/powerpoint/2010/main" val="1211981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6A2E66F-9B1F-414C-8CA9-E8DC5A059005}"/>
              </a:ext>
            </a:extLst>
          </p:cNvPr>
          <p:cNvSpPr>
            <a:spLocks noGrp="1"/>
          </p:cNvSpPr>
          <p:nvPr>
            <p:ph type="sldNum" sz="quarter" idx="12"/>
          </p:nvPr>
        </p:nvSpPr>
        <p:spPr>
          <a:xfrm>
            <a:off x="0" y="6469811"/>
            <a:ext cx="1397479" cy="388189"/>
          </a:xfrm>
        </p:spPr>
        <p:txBody>
          <a:bodyPr/>
          <a:lstStyle/>
          <a:p>
            <a:pPr algn="l"/>
            <a:fld id="{591A223C-FA10-BC46-A853-03BA373D023C}" type="slidenum">
              <a:rPr lang="en-US" smtClean="0"/>
              <a:pPr algn="l"/>
              <a:t>2</a:t>
            </a:fld>
            <a:endParaRPr lang="en-US"/>
          </a:p>
        </p:txBody>
      </p:sp>
      <p:sp>
        <p:nvSpPr>
          <p:cNvPr id="8" name="TextBox 7">
            <a:extLst>
              <a:ext uri="{FF2B5EF4-FFF2-40B4-BE49-F238E27FC236}">
                <a16:creationId xmlns:a16="http://schemas.microsoft.com/office/drawing/2014/main" id="{445131B7-03BC-3D49-91BC-B48C2F61D36B}"/>
              </a:ext>
            </a:extLst>
          </p:cNvPr>
          <p:cNvSpPr txBox="1"/>
          <p:nvPr/>
        </p:nvSpPr>
        <p:spPr>
          <a:xfrm>
            <a:off x="1195147" y="808855"/>
            <a:ext cx="4243469" cy="1446550"/>
          </a:xfrm>
          <a:prstGeom prst="rect">
            <a:avLst/>
          </a:prstGeom>
          <a:noFill/>
        </p:spPr>
        <p:txBody>
          <a:bodyPr wrap="none" rtlCol="0">
            <a:spAutoFit/>
          </a:bodyPr>
          <a:lstStyle/>
          <a:p>
            <a:pPr algn="ctr"/>
            <a:r>
              <a:rPr lang="en-US" sz="4400" dirty="0">
                <a:latin typeface="Comic Sans MS" panose="030F0902030302020204" pitchFamily="66" charset="0"/>
              </a:rPr>
              <a:t>Connecting</a:t>
            </a:r>
          </a:p>
          <a:p>
            <a:pPr algn="ctr"/>
            <a:r>
              <a:rPr lang="en-US" sz="4400" dirty="0">
                <a:latin typeface="Comic Sans MS" panose="030F0902030302020204" pitchFamily="66" charset="0"/>
              </a:rPr>
              <a:t>Quantum Gates</a:t>
            </a:r>
          </a:p>
        </p:txBody>
      </p:sp>
      <p:pic>
        <p:nvPicPr>
          <p:cNvPr id="4" name="Picture 3">
            <a:extLst>
              <a:ext uri="{FF2B5EF4-FFF2-40B4-BE49-F238E27FC236}">
                <a16:creationId xmlns:a16="http://schemas.microsoft.com/office/drawing/2014/main" id="{0B316204-2C87-B945-80F8-BAD4E629257A}"/>
              </a:ext>
            </a:extLst>
          </p:cNvPr>
          <p:cNvPicPr>
            <a:picLocks noChangeAspect="1"/>
          </p:cNvPicPr>
          <p:nvPr/>
        </p:nvPicPr>
        <p:blipFill>
          <a:blip r:embed="rId3"/>
          <a:stretch>
            <a:fillRect/>
          </a:stretch>
        </p:blipFill>
        <p:spPr>
          <a:xfrm>
            <a:off x="5438616" y="498304"/>
            <a:ext cx="5711249" cy="5488428"/>
          </a:xfrm>
          <a:prstGeom prst="rect">
            <a:avLst/>
          </a:prstGeom>
        </p:spPr>
      </p:pic>
    </p:spTree>
    <p:extLst>
      <p:ext uri="{BB962C8B-B14F-4D97-AF65-F5344CB8AC3E}">
        <p14:creationId xmlns:p14="http://schemas.microsoft.com/office/powerpoint/2010/main" val="2115443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ADA28-26C5-D848-B8BF-E2B0C815627D}"/>
              </a:ext>
            </a:extLst>
          </p:cNvPr>
          <p:cNvSpPr>
            <a:spLocks noGrp="1"/>
          </p:cNvSpPr>
          <p:nvPr>
            <p:ph type="title"/>
          </p:nvPr>
        </p:nvSpPr>
        <p:spPr/>
        <p:txBody>
          <a:bodyPr>
            <a:normAutofit/>
          </a:bodyPr>
          <a:lstStyle/>
          <a:p>
            <a:r>
              <a:rPr lang="en-ZA" dirty="0"/>
              <a:t>Reducing Circuits to NOP / Hermitian gates</a:t>
            </a:r>
            <a:endParaRPr lang="en-US" dirty="0"/>
          </a:p>
        </p:txBody>
      </p:sp>
      <p:sp>
        <p:nvSpPr>
          <p:cNvPr id="3" name="Slide Number Placeholder 2">
            <a:extLst>
              <a:ext uri="{FF2B5EF4-FFF2-40B4-BE49-F238E27FC236}">
                <a16:creationId xmlns:a16="http://schemas.microsoft.com/office/drawing/2014/main" id="{BAAB2B59-6FDE-C049-A10C-01AA69530BC0}"/>
              </a:ext>
            </a:extLst>
          </p:cNvPr>
          <p:cNvSpPr>
            <a:spLocks noGrp="1"/>
          </p:cNvSpPr>
          <p:nvPr>
            <p:ph type="sldNum" sz="quarter" idx="12"/>
          </p:nvPr>
        </p:nvSpPr>
        <p:spPr/>
        <p:txBody>
          <a:bodyPr/>
          <a:lstStyle/>
          <a:p>
            <a:fld id="{591A223C-FA10-BC46-A853-03BA373D023C}" type="slidenum">
              <a:rPr lang="en-US" smtClean="0"/>
              <a:t>3</a:t>
            </a:fld>
            <a:endParaRPr lang="en-US"/>
          </a:p>
        </p:txBody>
      </p:sp>
      <p:grpSp>
        <p:nvGrpSpPr>
          <p:cNvPr id="97" name="Group 96">
            <a:extLst>
              <a:ext uri="{FF2B5EF4-FFF2-40B4-BE49-F238E27FC236}">
                <a16:creationId xmlns:a16="http://schemas.microsoft.com/office/drawing/2014/main" id="{8254E565-1839-3144-B9CE-DBA4682BE9D1}"/>
              </a:ext>
            </a:extLst>
          </p:cNvPr>
          <p:cNvGrpSpPr/>
          <p:nvPr/>
        </p:nvGrpSpPr>
        <p:grpSpPr>
          <a:xfrm>
            <a:off x="6556624" y="3661811"/>
            <a:ext cx="4340740" cy="1503399"/>
            <a:chOff x="6223106" y="4824425"/>
            <a:chExt cx="4340740" cy="1503399"/>
          </a:xfrm>
        </p:grpSpPr>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6B9AC26C-1154-4145-A452-938781328C7C}"/>
                    </a:ext>
                  </a:extLst>
                </p:cNvPr>
                <p:cNvSpPr/>
                <p:nvPr/>
              </p:nvSpPr>
              <p:spPr>
                <a:xfrm>
                  <a:off x="6223106" y="5250350"/>
                  <a:ext cx="4340740" cy="10774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en-US" sz="2400" b="0" i="0" smtClean="0">
                                      <a:latin typeface="Cambria Math" panose="02040503050406030204" pitchFamily="18" charset="0"/>
                                    </a:rPr>
                                    <m:t>0</m:t>
                                  </m:r>
                                </m:e>
                              </m:mr>
                              <m:mr>
                                <m:e>
                                  <m:r>
                                    <m:rPr>
                                      <m:nor/>
                                    </m:rPr>
                                    <a:rPr lang="en-US" sz="2400" b="0" i="0" smtClean="0">
                                      <a:latin typeface="Cambria Math" panose="02040503050406030204" pitchFamily="18" charset="0"/>
                                    </a:rPr>
                                    <m:t>0</m:t>
                                  </m:r>
                                </m:e>
                                <m:e>
                                  <m:r>
                                    <m:rPr>
                                      <m:nor/>
                                    </m:rPr>
                                    <a:rPr lang="en-US" sz="2400">
                                      <a:latin typeface="Cambria Math" panose="02040503050406030204" pitchFamily="18" charset="0"/>
                                    </a:rPr>
                                    <m:t>−1</m:t>
                                  </m:r>
                                </m:e>
                              </m:mr>
                            </m:m>
                          </m:e>
                        </m:d>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en-US" sz="2400">
                                      <a:latin typeface="Cambria Math" panose="02040503050406030204" pitchFamily="18" charset="0"/>
                                    </a:rPr>
                                    <m:t>0</m:t>
                                  </m:r>
                                </m:e>
                              </m:mr>
                              <m:mr>
                                <m:e>
                                  <m:r>
                                    <m:rPr>
                                      <m:nor/>
                                    </m:rPr>
                                    <a:rPr lang="en-US" sz="2400">
                                      <a:latin typeface="Cambria Math" panose="02040503050406030204" pitchFamily="18" charset="0"/>
                                    </a:rPr>
                                    <m:t>0</m:t>
                                  </m:r>
                                </m:e>
                                <m:e>
                                  <m:r>
                                    <m:rPr>
                                      <m:nor/>
                                    </m:rPr>
                                    <a:rPr lang="en-US" sz="2400">
                                      <a:latin typeface="Cambria Math" panose="02040503050406030204" pitchFamily="18" charset="0"/>
                                    </a:rPr>
                                    <m:t>−1</m:t>
                                  </m:r>
                                </m:e>
                              </m:mr>
                            </m:m>
                          </m:e>
                        </m:d>
                        <m:r>
                          <a:rPr lang="en-US" sz="2400" b="0" i="1" smtClean="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b="0" i="0" smtClean="0">
                                      <a:latin typeface="Cambria Math" panose="02040503050406030204" pitchFamily="18" charset="0"/>
                                    </a:rPr>
                                    <m:t>1</m:t>
                                  </m:r>
                                </m:e>
                                <m:e>
                                  <m:r>
                                    <m:rPr>
                                      <m:nor/>
                                    </m:rPr>
                                    <a:rPr lang="en-US" sz="2400" b="0" i="0" smtClean="0">
                                      <a:latin typeface="Cambria Math" panose="02040503050406030204" pitchFamily="18" charset="0"/>
                                    </a:rPr>
                                    <m:t>0</m:t>
                                  </m:r>
                                </m:e>
                              </m:mr>
                              <m:mr>
                                <m:e>
                                  <m:r>
                                    <m:rPr>
                                      <m:nor/>
                                    </m:rPr>
                                    <a:rPr lang="en-US" sz="2400" b="0" i="0" smtClean="0">
                                      <a:latin typeface="Cambria Math" panose="02040503050406030204" pitchFamily="18" charset="0"/>
                                    </a:rPr>
                                    <m:t>0</m:t>
                                  </m:r>
                                </m:e>
                                <m:e>
                                  <m:r>
                                    <m:rPr>
                                      <m:nor/>
                                    </m:rPr>
                                    <a:rPr lang="en-US" sz="2400">
                                      <a:latin typeface="Cambria Math" panose="02040503050406030204" pitchFamily="18" charset="0"/>
                                    </a:rPr>
                                    <m:t>1</m:t>
                                  </m:r>
                                </m:e>
                              </m:mr>
                            </m:m>
                          </m:e>
                        </m:d>
                      </m:oMath>
                    </m:oMathPara>
                  </a14:m>
                  <a:endParaRPr lang="en-US" sz="2400" dirty="0"/>
                </a:p>
                <a:p>
                  <a:endParaRPr lang="en-US" sz="2400" dirty="0"/>
                </a:p>
              </p:txBody>
            </p:sp>
          </mc:Choice>
          <mc:Fallback xmlns="">
            <p:sp>
              <p:nvSpPr>
                <p:cNvPr id="81" name="Rectangle 80">
                  <a:extLst>
                    <a:ext uri="{FF2B5EF4-FFF2-40B4-BE49-F238E27FC236}">
                      <a16:creationId xmlns:a16="http://schemas.microsoft.com/office/drawing/2014/main" id="{6B9AC26C-1154-4145-A452-938781328C7C}"/>
                    </a:ext>
                  </a:extLst>
                </p:cNvPr>
                <p:cNvSpPr>
                  <a:spLocks noRot="1" noChangeAspect="1" noMove="1" noResize="1" noEditPoints="1" noAdjustHandles="1" noChangeArrowheads="1" noChangeShapeType="1" noTextEdit="1"/>
                </p:cNvSpPr>
                <p:nvPr/>
              </p:nvSpPr>
              <p:spPr>
                <a:xfrm>
                  <a:off x="6223106" y="5250350"/>
                  <a:ext cx="4340740" cy="1077474"/>
                </a:xfrm>
                <a:prstGeom prst="rect">
                  <a:avLst/>
                </a:prstGeom>
                <a:blipFill>
                  <a:blip r:embed="rId5"/>
                  <a:stretch>
                    <a:fillRect/>
                  </a:stretch>
                </a:blipFill>
              </p:spPr>
              <p:txBody>
                <a:bodyPr/>
                <a:lstStyle/>
                <a:p>
                  <a:r>
                    <a:rPr lang="en-US">
                      <a:noFill/>
                    </a:rPr>
                    <a:t> </a:t>
                  </a:r>
                </a:p>
              </p:txBody>
            </p:sp>
          </mc:Fallback>
        </mc:AlternateContent>
        <p:sp>
          <p:nvSpPr>
            <p:cNvPr id="82" name="TextBox 81">
              <a:extLst>
                <a:ext uri="{FF2B5EF4-FFF2-40B4-BE49-F238E27FC236}">
                  <a16:creationId xmlns:a16="http://schemas.microsoft.com/office/drawing/2014/main" id="{9D4B69D2-D30F-064F-BBA4-FC0C966D36E9}"/>
                </a:ext>
              </a:extLst>
            </p:cNvPr>
            <p:cNvSpPr txBox="1"/>
            <p:nvPr/>
          </p:nvSpPr>
          <p:spPr>
            <a:xfrm>
              <a:off x="6921529" y="4824425"/>
              <a:ext cx="351378" cy="523220"/>
            </a:xfrm>
            <a:prstGeom prst="rect">
              <a:avLst/>
            </a:prstGeom>
            <a:noFill/>
          </p:spPr>
          <p:txBody>
            <a:bodyPr wrap="none" rtlCol="0">
              <a:spAutoFit/>
            </a:bodyPr>
            <a:lstStyle/>
            <a:p>
              <a:r>
                <a:rPr lang="en-US" sz="2800" dirty="0">
                  <a:latin typeface="+mj-lt"/>
                </a:rPr>
                <a:t>Z</a:t>
              </a:r>
            </a:p>
          </p:txBody>
        </p:sp>
        <p:sp>
          <p:nvSpPr>
            <p:cNvPr id="83" name="TextBox 82">
              <a:extLst>
                <a:ext uri="{FF2B5EF4-FFF2-40B4-BE49-F238E27FC236}">
                  <a16:creationId xmlns:a16="http://schemas.microsoft.com/office/drawing/2014/main" id="{0A64729F-3987-E144-BC37-E5EBCC06F0BE}"/>
                </a:ext>
              </a:extLst>
            </p:cNvPr>
            <p:cNvSpPr txBox="1"/>
            <p:nvPr/>
          </p:nvSpPr>
          <p:spPr>
            <a:xfrm>
              <a:off x="8133854" y="4824425"/>
              <a:ext cx="351378" cy="523220"/>
            </a:xfrm>
            <a:prstGeom prst="rect">
              <a:avLst/>
            </a:prstGeom>
            <a:noFill/>
          </p:spPr>
          <p:txBody>
            <a:bodyPr wrap="none" rtlCol="0">
              <a:spAutoFit/>
            </a:bodyPr>
            <a:lstStyle/>
            <a:p>
              <a:r>
                <a:rPr lang="en-US" sz="2800" dirty="0">
                  <a:latin typeface="+mj-lt"/>
                </a:rPr>
                <a:t>Z</a:t>
              </a:r>
            </a:p>
          </p:txBody>
        </p:sp>
        <p:sp>
          <p:nvSpPr>
            <p:cNvPr id="84" name="TextBox 83">
              <a:extLst>
                <a:ext uri="{FF2B5EF4-FFF2-40B4-BE49-F238E27FC236}">
                  <a16:creationId xmlns:a16="http://schemas.microsoft.com/office/drawing/2014/main" id="{25008F95-5432-5F47-ABFC-C1981FFBEC67}"/>
                </a:ext>
              </a:extLst>
            </p:cNvPr>
            <p:cNvSpPr txBox="1"/>
            <p:nvPr/>
          </p:nvSpPr>
          <p:spPr>
            <a:xfrm>
              <a:off x="9585216" y="4824425"/>
              <a:ext cx="272832" cy="523220"/>
            </a:xfrm>
            <a:prstGeom prst="rect">
              <a:avLst/>
            </a:prstGeom>
            <a:noFill/>
          </p:spPr>
          <p:txBody>
            <a:bodyPr wrap="none" rtlCol="0">
              <a:spAutoFit/>
            </a:bodyPr>
            <a:lstStyle/>
            <a:p>
              <a:r>
                <a:rPr lang="en-US" sz="2800" dirty="0">
                  <a:latin typeface="+mj-lt"/>
                </a:rPr>
                <a:t>I</a:t>
              </a:r>
            </a:p>
          </p:txBody>
        </p:sp>
        <p:sp>
          <p:nvSpPr>
            <p:cNvPr id="92" name="TextBox 91">
              <a:extLst>
                <a:ext uri="{FF2B5EF4-FFF2-40B4-BE49-F238E27FC236}">
                  <a16:creationId xmlns:a16="http://schemas.microsoft.com/office/drawing/2014/main" id="{25F633C3-DA7C-9A4C-8E60-DD8647EB9ADF}"/>
                </a:ext>
              </a:extLst>
            </p:cNvPr>
            <p:cNvSpPr txBox="1"/>
            <p:nvPr/>
          </p:nvSpPr>
          <p:spPr>
            <a:xfrm>
              <a:off x="9301300" y="5320032"/>
              <a:ext cx="272832" cy="523220"/>
            </a:xfrm>
            <a:prstGeom prst="rect">
              <a:avLst/>
            </a:prstGeom>
            <a:noFill/>
          </p:spPr>
          <p:txBody>
            <a:bodyPr wrap="none" rtlCol="0">
              <a:spAutoFit/>
            </a:bodyPr>
            <a:lstStyle/>
            <a:p>
              <a:r>
                <a:rPr lang="en-US" sz="2800" dirty="0">
                  <a:latin typeface="+mj-lt"/>
                </a:rPr>
                <a:t>I</a:t>
              </a:r>
            </a:p>
          </p:txBody>
        </p:sp>
      </p:grpSp>
      <p:grpSp>
        <p:nvGrpSpPr>
          <p:cNvPr id="65" name="Group 64">
            <a:extLst>
              <a:ext uri="{FF2B5EF4-FFF2-40B4-BE49-F238E27FC236}">
                <a16:creationId xmlns:a16="http://schemas.microsoft.com/office/drawing/2014/main" id="{BFA2FB31-064B-474E-81F4-67EFA558D975}"/>
              </a:ext>
            </a:extLst>
          </p:cNvPr>
          <p:cNvGrpSpPr/>
          <p:nvPr/>
        </p:nvGrpSpPr>
        <p:grpSpPr>
          <a:xfrm>
            <a:off x="380095" y="4033279"/>
            <a:ext cx="4225326" cy="720000"/>
            <a:chOff x="100537" y="5065499"/>
            <a:chExt cx="4225326" cy="720000"/>
          </a:xfrm>
        </p:grpSpPr>
        <p:cxnSp>
          <p:nvCxnSpPr>
            <p:cNvPr id="57" name="Straight Connector 56">
              <a:extLst>
                <a:ext uri="{FF2B5EF4-FFF2-40B4-BE49-F238E27FC236}">
                  <a16:creationId xmlns:a16="http://schemas.microsoft.com/office/drawing/2014/main" id="{7422575E-297B-BC40-A929-3C6F26A5B0F0}"/>
                </a:ext>
              </a:extLst>
            </p:cNvPr>
            <p:cNvCxnSpPr>
              <a:cxnSpLocks/>
            </p:cNvCxnSpPr>
            <p:nvPr/>
          </p:nvCxnSpPr>
          <p:spPr>
            <a:xfrm>
              <a:off x="100537" y="5426956"/>
              <a:ext cx="2550714" cy="130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6D9AB80A-8A90-9A4C-87E1-6C4C4F285E3E}"/>
                </a:ext>
              </a:extLst>
            </p:cNvPr>
            <p:cNvSpPr/>
            <p:nvPr/>
          </p:nvSpPr>
          <p:spPr>
            <a:xfrm>
              <a:off x="1550682" y="5065499"/>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sp>
          <p:nvSpPr>
            <p:cNvPr id="59" name="Rectangle 58">
              <a:extLst>
                <a:ext uri="{FF2B5EF4-FFF2-40B4-BE49-F238E27FC236}">
                  <a16:creationId xmlns:a16="http://schemas.microsoft.com/office/drawing/2014/main" id="{7322A261-7908-7245-8BDA-8D88A7C40F8C}"/>
                </a:ext>
              </a:extLst>
            </p:cNvPr>
            <p:cNvSpPr/>
            <p:nvPr/>
          </p:nvSpPr>
          <p:spPr>
            <a:xfrm>
              <a:off x="484833" y="5065499"/>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C8200653-051D-DA46-A686-A7F6C7A48D9C}"/>
                    </a:ext>
                  </a:extLst>
                </p:cNvPr>
                <p:cNvSpPr/>
                <p:nvPr/>
              </p:nvSpPr>
              <p:spPr>
                <a:xfrm>
                  <a:off x="2731510" y="5116845"/>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60" name="Rectangle 59">
                  <a:extLst>
                    <a:ext uri="{FF2B5EF4-FFF2-40B4-BE49-F238E27FC236}">
                      <a16:creationId xmlns:a16="http://schemas.microsoft.com/office/drawing/2014/main" id="{C8200653-051D-DA46-A686-A7F6C7A48D9C}"/>
                    </a:ext>
                  </a:extLst>
                </p:cNvPr>
                <p:cNvSpPr>
                  <a:spLocks noRot="1" noChangeAspect="1" noMove="1" noResize="1" noEditPoints="1" noAdjustHandles="1" noChangeArrowheads="1" noChangeShapeType="1" noTextEdit="1"/>
                </p:cNvSpPr>
                <p:nvPr/>
              </p:nvSpPr>
              <p:spPr>
                <a:xfrm>
                  <a:off x="2731510" y="5116845"/>
                  <a:ext cx="633507" cy="646331"/>
                </a:xfrm>
                <a:prstGeom prst="rect">
                  <a:avLst/>
                </a:prstGeom>
                <a:blipFill>
                  <a:blip r:embed="rId6"/>
                  <a:stretch>
                    <a:fillRect/>
                  </a:stretch>
                </a:blipFill>
              </p:spPr>
              <p:txBody>
                <a:bodyPr/>
                <a:lstStyle/>
                <a:p>
                  <a:r>
                    <a:rPr lang="en-US">
                      <a:noFill/>
                    </a:rPr>
                    <a:t> </a:t>
                  </a:r>
                </a:p>
              </p:txBody>
            </p:sp>
          </mc:Fallback>
        </mc:AlternateContent>
        <p:sp>
          <p:nvSpPr>
            <p:cNvPr id="61" name="Rectangle 60">
              <a:extLst>
                <a:ext uri="{FF2B5EF4-FFF2-40B4-BE49-F238E27FC236}">
                  <a16:creationId xmlns:a16="http://schemas.microsoft.com/office/drawing/2014/main" id="{6E5B6337-8100-EB4F-B592-0368F7B46A63}"/>
                </a:ext>
              </a:extLst>
            </p:cNvPr>
            <p:cNvSpPr/>
            <p:nvPr/>
          </p:nvSpPr>
          <p:spPr>
            <a:xfrm>
              <a:off x="3605863" y="5065499"/>
              <a:ext cx="720000" cy="720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I</a:t>
              </a:r>
            </a:p>
          </p:txBody>
        </p:sp>
      </p:grpSp>
      <p:grpSp>
        <p:nvGrpSpPr>
          <p:cNvPr id="63" name="Group 62">
            <a:extLst>
              <a:ext uri="{FF2B5EF4-FFF2-40B4-BE49-F238E27FC236}">
                <a16:creationId xmlns:a16="http://schemas.microsoft.com/office/drawing/2014/main" id="{CA1D71E5-0B88-554E-8CF1-7A19BBB7579A}"/>
              </a:ext>
            </a:extLst>
          </p:cNvPr>
          <p:cNvGrpSpPr/>
          <p:nvPr/>
        </p:nvGrpSpPr>
        <p:grpSpPr>
          <a:xfrm>
            <a:off x="381355" y="1527827"/>
            <a:ext cx="4225326" cy="720000"/>
            <a:chOff x="101046" y="2694127"/>
            <a:chExt cx="4225326" cy="720000"/>
          </a:xfrm>
        </p:grpSpPr>
        <p:cxnSp>
          <p:nvCxnSpPr>
            <p:cNvPr id="43" name="Straight Connector 42">
              <a:extLst>
                <a:ext uri="{FF2B5EF4-FFF2-40B4-BE49-F238E27FC236}">
                  <a16:creationId xmlns:a16="http://schemas.microsoft.com/office/drawing/2014/main" id="{B9E99C0E-02D6-6B4F-9052-4A0724290704}"/>
                </a:ext>
              </a:extLst>
            </p:cNvPr>
            <p:cNvCxnSpPr>
              <a:cxnSpLocks/>
            </p:cNvCxnSpPr>
            <p:nvPr/>
          </p:nvCxnSpPr>
          <p:spPr>
            <a:xfrm>
              <a:off x="101046" y="3077907"/>
              <a:ext cx="2550714" cy="130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5E06ED59-D7D9-4449-9414-59D48E121970}"/>
                </a:ext>
              </a:extLst>
            </p:cNvPr>
            <p:cNvSpPr/>
            <p:nvPr/>
          </p:nvSpPr>
          <p:spPr>
            <a:xfrm>
              <a:off x="487188" y="2694127"/>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8FFD9E5B-A2FA-D646-8344-5D9AC42E6B2D}"/>
                    </a:ext>
                  </a:extLst>
                </p:cNvPr>
                <p:cNvSpPr/>
                <p:nvPr/>
              </p:nvSpPr>
              <p:spPr>
                <a:xfrm>
                  <a:off x="2732019" y="2767796"/>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46" name="Rectangle 45">
                  <a:extLst>
                    <a:ext uri="{FF2B5EF4-FFF2-40B4-BE49-F238E27FC236}">
                      <a16:creationId xmlns:a16="http://schemas.microsoft.com/office/drawing/2014/main" id="{8FFD9E5B-A2FA-D646-8344-5D9AC42E6B2D}"/>
                    </a:ext>
                  </a:extLst>
                </p:cNvPr>
                <p:cNvSpPr>
                  <a:spLocks noRot="1" noChangeAspect="1" noMove="1" noResize="1" noEditPoints="1" noAdjustHandles="1" noChangeArrowheads="1" noChangeShapeType="1" noTextEdit="1"/>
                </p:cNvSpPr>
                <p:nvPr/>
              </p:nvSpPr>
              <p:spPr>
                <a:xfrm>
                  <a:off x="2732019" y="2767796"/>
                  <a:ext cx="633507" cy="646331"/>
                </a:xfrm>
                <a:prstGeom prst="rect">
                  <a:avLst/>
                </a:prstGeom>
                <a:blipFill>
                  <a:blip r:embed="rId6"/>
                  <a:stretch>
                    <a:fillRect/>
                  </a:stretch>
                </a:blipFill>
              </p:spPr>
              <p:txBody>
                <a:bodyPr/>
                <a:lstStyle/>
                <a:p>
                  <a:r>
                    <a:rPr lang="en-US">
                      <a:noFill/>
                    </a:rPr>
                    <a:t> </a:t>
                  </a:r>
                </a:p>
              </p:txBody>
            </p:sp>
          </mc:Fallback>
        </mc:AlternateContent>
        <p:sp>
          <p:nvSpPr>
            <p:cNvPr id="47" name="Rectangle 46">
              <a:extLst>
                <a:ext uri="{FF2B5EF4-FFF2-40B4-BE49-F238E27FC236}">
                  <a16:creationId xmlns:a16="http://schemas.microsoft.com/office/drawing/2014/main" id="{01251A68-62D8-1141-BFFE-5F5A2215C0F8}"/>
                </a:ext>
              </a:extLst>
            </p:cNvPr>
            <p:cNvSpPr/>
            <p:nvPr/>
          </p:nvSpPr>
          <p:spPr>
            <a:xfrm>
              <a:off x="3606372" y="2694127"/>
              <a:ext cx="720000" cy="720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I</a:t>
              </a:r>
            </a:p>
          </p:txBody>
        </p:sp>
        <p:sp>
          <p:nvSpPr>
            <p:cNvPr id="48" name="Oval 47">
              <a:extLst>
                <a:ext uri="{FF2B5EF4-FFF2-40B4-BE49-F238E27FC236}">
                  <a16:creationId xmlns:a16="http://schemas.microsoft.com/office/drawing/2014/main" id="{15C21D43-E253-EC42-A283-CE575BE8CF0A}"/>
                </a:ext>
              </a:extLst>
            </p:cNvPr>
            <p:cNvSpPr/>
            <p:nvPr/>
          </p:nvSpPr>
          <p:spPr>
            <a:xfrm>
              <a:off x="1551191" y="2694127"/>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grpSp>
        <p:nvGrpSpPr>
          <p:cNvPr id="95" name="Group 94">
            <a:extLst>
              <a:ext uri="{FF2B5EF4-FFF2-40B4-BE49-F238E27FC236}">
                <a16:creationId xmlns:a16="http://schemas.microsoft.com/office/drawing/2014/main" id="{BABF3BDB-4F62-0944-8290-8CDF11E7C8CA}"/>
              </a:ext>
            </a:extLst>
          </p:cNvPr>
          <p:cNvGrpSpPr/>
          <p:nvPr/>
        </p:nvGrpSpPr>
        <p:grpSpPr>
          <a:xfrm>
            <a:off x="6347817" y="1175833"/>
            <a:ext cx="3859839" cy="1497656"/>
            <a:chOff x="6396610" y="2295356"/>
            <a:chExt cx="3859839" cy="1497656"/>
          </a:xfrm>
        </p:grpSpPr>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47933D45-15C7-454C-9C49-735D7B77A8C5}"/>
                    </a:ext>
                  </a:extLst>
                </p:cNvPr>
                <p:cNvSpPr/>
                <p:nvPr/>
              </p:nvSpPr>
              <p:spPr>
                <a:xfrm>
                  <a:off x="6396610" y="2715538"/>
                  <a:ext cx="3859839" cy="10774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0</m:t>
                                  </m:r>
                                </m:e>
                                <m:e>
                                  <m:r>
                                    <m:rPr>
                                      <m:nor/>
                                    </m:rPr>
                                    <a:rPr lang="en-US" sz="2400">
                                      <a:latin typeface="Cambria Math" panose="02040503050406030204" pitchFamily="18" charset="0"/>
                                    </a:rPr>
                                    <m:t>1</m:t>
                                  </m:r>
                                </m:e>
                              </m:mr>
                              <m:mr>
                                <m:e>
                                  <m:r>
                                    <m:rPr>
                                      <m:nor/>
                                    </m:rPr>
                                    <a:rPr lang="en-US" sz="2400">
                                      <a:latin typeface="Cambria Math" panose="02040503050406030204" pitchFamily="18" charset="0"/>
                                    </a:rPr>
                                    <m:t>1</m:t>
                                  </m:r>
                                </m:e>
                                <m:e>
                                  <m:r>
                                    <a:rPr lang="en-US" sz="2400" i="1">
                                      <a:latin typeface="Cambria Math" panose="02040503050406030204" pitchFamily="18" charset="0"/>
                                    </a:rPr>
                                    <m:t>0</m:t>
                                  </m:r>
                                </m:e>
                              </m:mr>
                            </m:m>
                          </m:e>
                        </m:d>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0</m:t>
                                  </m:r>
                                </m:e>
                                <m:e>
                                  <m:r>
                                    <m:rPr>
                                      <m:nor/>
                                    </m:rPr>
                                    <a:rPr lang="en-US" sz="2400">
                                      <a:latin typeface="Cambria Math" panose="02040503050406030204" pitchFamily="18" charset="0"/>
                                    </a:rPr>
                                    <m:t>1</m:t>
                                  </m:r>
                                </m:e>
                              </m:mr>
                              <m:mr>
                                <m:e>
                                  <m:r>
                                    <m:rPr>
                                      <m:nor/>
                                    </m:rPr>
                                    <a:rPr lang="en-US" sz="2400">
                                      <a:latin typeface="Cambria Math" panose="02040503050406030204" pitchFamily="18" charset="0"/>
                                    </a:rPr>
                                    <m:t>1</m:t>
                                  </m:r>
                                </m:e>
                                <m:e>
                                  <m:r>
                                    <a:rPr lang="en-US" sz="2400" i="1">
                                      <a:latin typeface="Cambria Math" panose="02040503050406030204" pitchFamily="18" charset="0"/>
                                    </a:rPr>
                                    <m:t>0</m:t>
                                  </m:r>
                                </m:e>
                              </m:mr>
                            </m:m>
                          </m:e>
                        </m:d>
                        <m:r>
                          <a:rPr lang="en-US" sz="2400" b="0" i="1" smtClean="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b="0" i="0" smtClean="0">
                                      <a:latin typeface="Cambria Math" panose="02040503050406030204" pitchFamily="18" charset="0"/>
                                    </a:rPr>
                                    <m:t>1</m:t>
                                  </m:r>
                                </m:e>
                                <m:e>
                                  <m:r>
                                    <m:rPr>
                                      <m:nor/>
                                    </m:rPr>
                                    <a:rPr lang="en-US" sz="2400" b="0" i="0" smtClean="0">
                                      <a:latin typeface="Cambria Math" panose="02040503050406030204" pitchFamily="18" charset="0"/>
                                    </a:rPr>
                                    <m:t>0</m:t>
                                  </m:r>
                                </m:e>
                              </m:mr>
                              <m:mr>
                                <m:e>
                                  <m:r>
                                    <m:rPr>
                                      <m:nor/>
                                    </m:rPr>
                                    <a:rPr lang="en-US" sz="2400" b="0" i="0" smtClean="0">
                                      <a:latin typeface="Cambria Math" panose="02040503050406030204" pitchFamily="18" charset="0"/>
                                    </a:rPr>
                                    <m:t>0</m:t>
                                  </m:r>
                                </m:e>
                                <m:e>
                                  <m:r>
                                    <m:rPr>
                                      <m:nor/>
                                    </m:rPr>
                                    <a:rPr lang="en-US" sz="2400">
                                      <a:latin typeface="Cambria Math" panose="02040503050406030204" pitchFamily="18" charset="0"/>
                                    </a:rPr>
                                    <m:t>1</m:t>
                                  </m:r>
                                </m:e>
                              </m:mr>
                            </m:m>
                          </m:e>
                        </m:d>
                      </m:oMath>
                    </m:oMathPara>
                  </a14:m>
                  <a:endParaRPr lang="en-US" sz="2400" dirty="0"/>
                </a:p>
                <a:p>
                  <a:endParaRPr lang="en-US" sz="2400" dirty="0"/>
                </a:p>
              </p:txBody>
            </p:sp>
          </mc:Choice>
          <mc:Fallback xmlns="">
            <p:sp>
              <p:nvSpPr>
                <p:cNvPr id="73" name="Rectangle 72">
                  <a:extLst>
                    <a:ext uri="{FF2B5EF4-FFF2-40B4-BE49-F238E27FC236}">
                      <a16:creationId xmlns:a16="http://schemas.microsoft.com/office/drawing/2014/main" id="{47933D45-15C7-454C-9C49-735D7B77A8C5}"/>
                    </a:ext>
                  </a:extLst>
                </p:cNvPr>
                <p:cNvSpPr>
                  <a:spLocks noRot="1" noChangeAspect="1" noMove="1" noResize="1" noEditPoints="1" noAdjustHandles="1" noChangeArrowheads="1" noChangeShapeType="1" noTextEdit="1"/>
                </p:cNvSpPr>
                <p:nvPr/>
              </p:nvSpPr>
              <p:spPr>
                <a:xfrm>
                  <a:off x="6396610" y="2715538"/>
                  <a:ext cx="3859839" cy="1077474"/>
                </a:xfrm>
                <a:prstGeom prst="rect">
                  <a:avLst/>
                </a:prstGeom>
                <a:blipFill>
                  <a:blip r:embed="rId7"/>
                  <a:stretch>
                    <a:fillRect/>
                  </a:stretch>
                </a:blipFill>
              </p:spPr>
              <p:txBody>
                <a:bodyPr/>
                <a:lstStyle/>
                <a:p>
                  <a:r>
                    <a:rPr lang="en-US">
                      <a:noFill/>
                    </a:rPr>
                    <a:t> </a:t>
                  </a:r>
                </a:p>
              </p:txBody>
            </p:sp>
          </mc:Fallback>
        </mc:AlternateContent>
        <p:sp>
          <p:nvSpPr>
            <p:cNvPr id="74" name="TextBox 73">
              <a:extLst>
                <a:ext uri="{FF2B5EF4-FFF2-40B4-BE49-F238E27FC236}">
                  <a16:creationId xmlns:a16="http://schemas.microsoft.com/office/drawing/2014/main" id="{19BF3399-E54D-6243-866B-7F5D9AB04514}"/>
                </a:ext>
              </a:extLst>
            </p:cNvPr>
            <p:cNvSpPr txBox="1"/>
            <p:nvPr/>
          </p:nvSpPr>
          <p:spPr>
            <a:xfrm>
              <a:off x="7007567" y="2295356"/>
              <a:ext cx="364202" cy="523220"/>
            </a:xfrm>
            <a:prstGeom prst="rect">
              <a:avLst/>
            </a:prstGeom>
            <a:noFill/>
          </p:spPr>
          <p:txBody>
            <a:bodyPr wrap="none" rtlCol="0">
              <a:spAutoFit/>
            </a:bodyPr>
            <a:lstStyle/>
            <a:p>
              <a:r>
                <a:rPr lang="en-US" sz="2800" dirty="0">
                  <a:latin typeface="+mj-lt"/>
                </a:rPr>
                <a:t>X</a:t>
              </a:r>
            </a:p>
          </p:txBody>
        </p:sp>
        <p:sp>
          <p:nvSpPr>
            <p:cNvPr id="75" name="TextBox 74">
              <a:extLst>
                <a:ext uri="{FF2B5EF4-FFF2-40B4-BE49-F238E27FC236}">
                  <a16:creationId xmlns:a16="http://schemas.microsoft.com/office/drawing/2014/main" id="{E0FA5158-FD4E-C242-BFDE-8796DEBEA23C}"/>
                </a:ext>
              </a:extLst>
            </p:cNvPr>
            <p:cNvSpPr txBox="1"/>
            <p:nvPr/>
          </p:nvSpPr>
          <p:spPr>
            <a:xfrm>
              <a:off x="7951753" y="2295356"/>
              <a:ext cx="364202" cy="523220"/>
            </a:xfrm>
            <a:prstGeom prst="rect">
              <a:avLst/>
            </a:prstGeom>
            <a:noFill/>
          </p:spPr>
          <p:txBody>
            <a:bodyPr wrap="none" rtlCol="0">
              <a:spAutoFit/>
            </a:bodyPr>
            <a:lstStyle/>
            <a:p>
              <a:r>
                <a:rPr lang="en-US" sz="2800" dirty="0">
                  <a:latin typeface="+mj-lt"/>
                </a:rPr>
                <a:t>X</a:t>
              </a:r>
            </a:p>
          </p:txBody>
        </p:sp>
        <p:sp>
          <p:nvSpPr>
            <p:cNvPr id="76" name="TextBox 75">
              <a:extLst>
                <a:ext uri="{FF2B5EF4-FFF2-40B4-BE49-F238E27FC236}">
                  <a16:creationId xmlns:a16="http://schemas.microsoft.com/office/drawing/2014/main" id="{D9E8B36E-838E-B641-B540-F1C5903DFFFE}"/>
                </a:ext>
              </a:extLst>
            </p:cNvPr>
            <p:cNvSpPr txBox="1"/>
            <p:nvPr/>
          </p:nvSpPr>
          <p:spPr>
            <a:xfrm>
              <a:off x="9312384" y="2295356"/>
              <a:ext cx="272832" cy="523220"/>
            </a:xfrm>
            <a:prstGeom prst="rect">
              <a:avLst/>
            </a:prstGeom>
            <a:noFill/>
          </p:spPr>
          <p:txBody>
            <a:bodyPr wrap="none" rtlCol="0">
              <a:spAutoFit/>
            </a:bodyPr>
            <a:lstStyle/>
            <a:p>
              <a:r>
                <a:rPr lang="en-US" sz="2800" dirty="0">
                  <a:latin typeface="+mj-lt"/>
                </a:rPr>
                <a:t>I</a:t>
              </a:r>
            </a:p>
          </p:txBody>
        </p:sp>
      </p:grpSp>
      <p:grpSp>
        <p:nvGrpSpPr>
          <p:cNvPr id="64" name="Group 63">
            <a:extLst>
              <a:ext uri="{FF2B5EF4-FFF2-40B4-BE49-F238E27FC236}">
                <a16:creationId xmlns:a16="http://schemas.microsoft.com/office/drawing/2014/main" id="{C33FAEDD-DA2E-6846-9739-5BDE8FFD646D}"/>
              </a:ext>
            </a:extLst>
          </p:cNvPr>
          <p:cNvGrpSpPr/>
          <p:nvPr/>
        </p:nvGrpSpPr>
        <p:grpSpPr>
          <a:xfrm>
            <a:off x="380095" y="2780553"/>
            <a:ext cx="4225326" cy="720000"/>
            <a:chOff x="76054" y="3798291"/>
            <a:chExt cx="4225326" cy="720000"/>
          </a:xfrm>
        </p:grpSpPr>
        <p:cxnSp>
          <p:nvCxnSpPr>
            <p:cNvPr id="51" name="Straight Connector 50">
              <a:extLst>
                <a:ext uri="{FF2B5EF4-FFF2-40B4-BE49-F238E27FC236}">
                  <a16:creationId xmlns:a16="http://schemas.microsoft.com/office/drawing/2014/main" id="{B2D9342B-BEFA-6E45-A359-2A0CAB0623F6}"/>
                </a:ext>
              </a:extLst>
            </p:cNvPr>
            <p:cNvCxnSpPr>
              <a:cxnSpLocks/>
            </p:cNvCxnSpPr>
            <p:nvPr/>
          </p:nvCxnSpPr>
          <p:spPr>
            <a:xfrm>
              <a:off x="76054" y="4159748"/>
              <a:ext cx="2550714" cy="130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EEBA1265-3CB9-C447-B636-57EE66AA5B3A}"/>
                </a:ext>
              </a:extLst>
            </p:cNvPr>
            <p:cNvSpPr/>
            <p:nvPr/>
          </p:nvSpPr>
          <p:spPr>
            <a:xfrm>
              <a:off x="1526199" y="3798291"/>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Y</a:t>
              </a:r>
            </a:p>
          </p:txBody>
        </p:sp>
        <p:sp>
          <p:nvSpPr>
            <p:cNvPr id="49" name="Rectangle 48">
              <a:extLst>
                <a:ext uri="{FF2B5EF4-FFF2-40B4-BE49-F238E27FC236}">
                  <a16:creationId xmlns:a16="http://schemas.microsoft.com/office/drawing/2014/main" id="{37526809-3CEB-E94B-9826-2BDDF579F65A}"/>
                </a:ext>
              </a:extLst>
            </p:cNvPr>
            <p:cNvSpPr/>
            <p:nvPr/>
          </p:nvSpPr>
          <p:spPr>
            <a:xfrm>
              <a:off x="460350" y="3798291"/>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Y</a:t>
              </a:r>
            </a:p>
          </p:txBody>
        </p:sp>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EC0C78D7-49B0-224A-A4A2-62DDBA2CC555}"/>
                    </a:ext>
                  </a:extLst>
                </p:cNvPr>
                <p:cNvSpPr/>
                <p:nvPr/>
              </p:nvSpPr>
              <p:spPr>
                <a:xfrm>
                  <a:off x="2707027" y="3849637"/>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54" name="Rectangle 53">
                  <a:extLst>
                    <a:ext uri="{FF2B5EF4-FFF2-40B4-BE49-F238E27FC236}">
                      <a16:creationId xmlns:a16="http://schemas.microsoft.com/office/drawing/2014/main" id="{EC0C78D7-49B0-224A-A4A2-62DDBA2CC555}"/>
                    </a:ext>
                  </a:extLst>
                </p:cNvPr>
                <p:cNvSpPr>
                  <a:spLocks noRot="1" noChangeAspect="1" noMove="1" noResize="1" noEditPoints="1" noAdjustHandles="1" noChangeArrowheads="1" noChangeShapeType="1" noTextEdit="1"/>
                </p:cNvSpPr>
                <p:nvPr/>
              </p:nvSpPr>
              <p:spPr>
                <a:xfrm>
                  <a:off x="2707027" y="3849637"/>
                  <a:ext cx="633507" cy="646331"/>
                </a:xfrm>
                <a:prstGeom prst="rect">
                  <a:avLst/>
                </a:prstGeom>
                <a:blipFill>
                  <a:blip r:embed="rId6"/>
                  <a:stretch>
                    <a:fillRect/>
                  </a:stretch>
                </a:blipFill>
              </p:spPr>
              <p:txBody>
                <a:bodyPr/>
                <a:lstStyle/>
                <a:p>
                  <a:r>
                    <a:rPr lang="en-US">
                      <a:noFill/>
                    </a:rPr>
                    <a:t> </a:t>
                  </a:r>
                </a:p>
              </p:txBody>
            </p:sp>
          </mc:Fallback>
        </mc:AlternateContent>
        <p:sp>
          <p:nvSpPr>
            <p:cNvPr id="55" name="Rectangle 54">
              <a:extLst>
                <a:ext uri="{FF2B5EF4-FFF2-40B4-BE49-F238E27FC236}">
                  <a16:creationId xmlns:a16="http://schemas.microsoft.com/office/drawing/2014/main" id="{299D754A-1809-A343-A941-CD460CA9CC8B}"/>
                </a:ext>
              </a:extLst>
            </p:cNvPr>
            <p:cNvSpPr/>
            <p:nvPr/>
          </p:nvSpPr>
          <p:spPr>
            <a:xfrm>
              <a:off x="3581380" y="3798291"/>
              <a:ext cx="720000" cy="720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I</a:t>
              </a:r>
            </a:p>
          </p:txBody>
        </p:sp>
      </p:grpSp>
      <p:grpSp>
        <p:nvGrpSpPr>
          <p:cNvPr id="96" name="Group 95">
            <a:extLst>
              <a:ext uri="{FF2B5EF4-FFF2-40B4-BE49-F238E27FC236}">
                <a16:creationId xmlns:a16="http://schemas.microsoft.com/office/drawing/2014/main" id="{FA392F52-2F1A-FA4A-8823-EDD4FE915FDE}"/>
              </a:ext>
            </a:extLst>
          </p:cNvPr>
          <p:cNvGrpSpPr/>
          <p:nvPr/>
        </p:nvGrpSpPr>
        <p:grpSpPr>
          <a:xfrm>
            <a:off x="6556624" y="2390092"/>
            <a:ext cx="3923125" cy="1491247"/>
            <a:chOff x="6540501" y="3537811"/>
            <a:chExt cx="3923125" cy="1491247"/>
          </a:xfrm>
        </p:grpSpPr>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D1FF3518-08DE-D84D-A687-C99AB3DBD8CA}"/>
                    </a:ext>
                  </a:extLst>
                </p:cNvPr>
                <p:cNvSpPr/>
                <p:nvPr/>
              </p:nvSpPr>
              <p:spPr>
                <a:xfrm>
                  <a:off x="6540501" y="3951584"/>
                  <a:ext cx="3923125" cy="10774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0</m:t>
                                  </m:r>
                                </m:e>
                                <m:e>
                                  <m:r>
                                    <a:rPr lang="en-US" sz="2400">
                                      <a:latin typeface="Cambria Math" panose="02040503050406030204" pitchFamily="18" charset="0"/>
                                    </a:rPr>
                                    <m:t>−</m:t>
                                  </m:r>
                                  <m:r>
                                    <m:rPr>
                                      <m:sty m:val="p"/>
                                    </m:rPr>
                                    <a:rPr lang="en-US" sz="2400">
                                      <a:latin typeface="Cambria Math" panose="02040503050406030204" pitchFamily="18" charset="0"/>
                                    </a:rPr>
                                    <m:t>i</m:t>
                                  </m:r>
                                </m:e>
                              </m:mr>
                              <m:mr>
                                <m:e>
                                  <m:r>
                                    <m:rPr>
                                      <m:nor/>
                                    </m:rPr>
                                    <a:rPr lang="en-US" sz="2400">
                                      <a:latin typeface="Cambria Math" panose="02040503050406030204" pitchFamily="18" charset="0"/>
                                    </a:rPr>
                                    <m:t>i</m:t>
                                  </m:r>
                                </m:e>
                                <m:e>
                                  <m:r>
                                    <a:rPr lang="en-US" sz="2400">
                                      <a:latin typeface="Cambria Math" panose="02040503050406030204" pitchFamily="18" charset="0"/>
                                    </a:rPr>
                                    <m:t>0</m:t>
                                  </m:r>
                                </m:e>
                              </m:mr>
                            </m:m>
                          </m:e>
                        </m:d>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0</m:t>
                                  </m:r>
                                </m:e>
                                <m:e>
                                  <m:r>
                                    <a:rPr lang="en-US" sz="2400" b="0" i="0" smtClean="0">
                                      <a:latin typeface="Cambria Math" panose="02040503050406030204" pitchFamily="18" charset="0"/>
                                    </a:rPr>
                                    <m:t>−</m:t>
                                  </m:r>
                                  <m:r>
                                    <m:rPr>
                                      <m:sty m:val="p"/>
                                    </m:rPr>
                                    <a:rPr lang="en-US" sz="2400" b="0" i="0" smtClean="0">
                                      <a:latin typeface="Cambria Math" panose="02040503050406030204" pitchFamily="18" charset="0"/>
                                    </a:rPr>
                                    <m:t>i</m:t>
                                  </m:r>
                                </m:e>
                              </m:mr>
                              <m:mr>
                                <m:e>
                                  <m:r>
                                    <m:rPr>
                                      <m:nor/>
                                    </m:rPr>
                                    <a:rPr lang="en-US" sz="2400" b="0" smtClean="0">
                                      <a:latin typeface="Cambria Math" panose="02040503050406030204" pitchFamily="18" charset="0"/>
                                    </a:rPr>
                                    <m:t>i</m:t>
                                  </m:r>
                                </m:e>
                                <m:e>
                                  <m:r>
                                    <a:rPr lang="en-US" sz="2400" i="0">
                                      <a:latin typeface="Cambria Math" panose="02040503050406030204" pitchFamily="18" charset="0"/>
                                    </a:rPr>
                                    <m:t>0</m:t>
                                  </m:r>
                                </m:e>
                              </m:mr>
                            </m:m>
                          </m:e>
                        </m:d>
                        <m:r>
                          <a:rPr lang="en-US" sz="2400" b="0" i="0" smtClean="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b="0" smtClean="0">
                                      <a:latin typeface="Cambria Math" panose="02040503050406030204" pitchFamily="18" charset="0"/>
                                    </a:rPr>
                                    <m:t>1</m:t>
                                  </m:r>
                                </m:e>
                                <m:e>
                                  <m:r>
                                    <m:rPr>
                                      <m:nor/>
                                    </m:rPr>
                                    <a:rPr lang="en-US" sz="2400" b="0" smtClean="0">
                                      <a:latin typeface="Cambria Math" panose="02040503050406030204" pitchFamily="18" charset="0"/>
                                    </a:rPr>
                                    <m:t>0</m:t>
                                  </m:r>
                                </m:e>
                              </m:mr>
                              <m:mr>
                                <m:e>
                                  <m:r>
                                    <m:rPr>
                                      <m:nor/>
                                    </m:rPr>
                                    <a:rPr lang="en-US" sz="2400" b="0" smtClean="0">
                                      <a:latin typeface="Cambria Math" panose="02040503050406030204" pitchFamily="18" charset="0"/>
                                    </a:rPr>
                                    <m:t>0</m:t>
                                  </m:r>
                                </m:e>
                                <m:e>
                                  <m:r>
                                    <m:rPr>
                                      <m:nor/>
                                    </m:rPr>
                                    <a:rPr lang="en-US" sz="2400">
                                      <a:latin typeface="Cambria Math" panose="02040503050406030204" pitchFamily="18" charset="0"/>
                                    </a:rPr>
                                    <m:t>1</m:t>
                                  </m:r>
                                </m:e>
                              </m:mr>
                            </m:m>
                          </m:e>
                        </m:d>
                      </m:oMath>
                    </m:oMathPara>
                  </a14:m>
                  <a:endParaRPr lang="en-US" sz="2400" dirty="0"/>
                </a:p>
                <a:p>
                  <a:endParaRPr lang="en-US" sz="2400" dirty="0"/>
                </a:p>
              </p:txBody>
            </p:sp>
          </mc:Choice>
          <mc:Fallback xmlns="">
            <p:sp>
              <p:nvSpPr>
                <p:cNvPr id="77" name="Rectangle 76">
                  <a:extLst>
                    <a:ext uri="{FF2B5EF4-FFF2-40B4-BE49-F238E27FC236}">
                      <a16:creationId xmlns:a16="http://schemas.microsoft.com/office/drawing/2014/main" id="{D1FF3518-08DE-D84D-A687-C99AB3DBD8CA}"/>
                    </a:ext>
                  </a:extLst>
                </p:cNvPr>
                <p:cNvSpPr>
                  <a:spLocks noRot="1" noChangeAspect="1" noMove="1" noResize="1" noEditPoints="1" noAdjustHandles="1" noChangeArrowheads="1" noChangeShapeType="1" noTextEdit="1"/>
                </p:cNvSpPr>
                <p:nvPr/>
              </p:nvSpPr>
              <p:spPr>
                <a:xfrm>
                  <a:off x="6540501" y="3951584"/>
                  <a:ext cx="3923125" cy="1077474"/>
                </a:xfrm>
                <a:prstGeom prst="rect">
                  <a:avLst/>
                </a:prstGeom>
                <a:blipFill>
                  <a:blip r:embed="rId8"/>
                  <a:stretch>
                    <a:fillRect/>
                  </a:stretch>
                </a:blipFill>
              </p:spPr>
              <p:txBody>
                <a:bodyPr/>
                <a:lstStyle/>
                <a:p>
                  <a:r>
                    <a:rPr lang="en-US">
                      <a:noFill/>
                    </a:rPr>
                    <a:t> </a:t>
                  </a:r>
                </a:p>
              </p:txBody>
            </p:sp>
          </mc:Fallback>
        </mc:AlternateContent>
        <p:sp>
          <p:nvSpPr>
            <p:cNvPr id="78" name="TextBox 77">
              <a:extLst>
                <a:ext uri="{FF2B5EF4-FFF2-40B4-BE49-F238E27FC236}">
                  <a16:creationId xmlns:a16="http://schemas.microsoft.com/office/drawing/2014/main" id="{C6EFB0A3-D1B6-D74C-ABF3-DA06B2522164}"/>
                </a:ext>
              </a:extLst>
            </p:cNvPr>
            <p:cNvSpPr txBox="1"/>
            <p:nvPr/>
          </p:nvSpPr>
          <p:spPr>
            <a:xfrm>
              <a:off x="7044418" y="3537811"/>
              <a:ext cx="352982" cy="523220"/>
            </a:xfrm>
            <a:prstGeom prst="rect">
              <a:avLst/>
            </a:prstGeom>
            <a:noFill/>
          </p:spPr>
          <p:txBody>
            <a:bodyPr wrap="none" rtlCol="0">
              <a:spAutoFit/>
            </a:bodyPr>
            <a:lstStyle/>
            <a:p>
              <a:r>
                <a:rPr lang="en-US" sz="2800" dirty="0">
                  <a:latin typeface="+mj-lt"/>
                </a:rPr>
                <a:t>Y</a:t>
              </a:r>
            </a:p>
          </p:txBody>
        </p:sp>
        <p:sp>
          <p:nvSpPr>
            <p:cNvPr id="79" name="TextBox 78">
              <a:extLst>
                <a:ext uri="{FF2B5EF4-FFF2-40B4-BE49-F238E27FC236}">
                  <a16:creationId xmlns:a16="http://schemas.microsoft.com/office/drawing/2014/main" id="{EE418823-C568-B04E-BE43-3501D547E5C6}"/>
                </a:ext>
              </a:extLst>
            </p:cNvPr>
            <p:cNvSpPr txBox="1"/>
            <p:nvPr/>
          </p:nvSpPr>
          <p:spPr>
            <a:xfrm>
              <a:off x="8216985" y="3537811"/>
              <a:ext cx="352982" cy="523220"/>
            </a:xfrm>
            <a:prstGeom prst="rect">
              <a:avLst/>
            </a:prstGeom>
            <a:noFill/>
          </p:spPr>
          <p:txBody>
            <a:bodyPr wrap="none" rtlCol="0">
              <a:spAutoFit/>
            </a:bodyPr>
            <a:lstStyle/>
            <a:p>
              <a:r>
                <a:rPr lang="en-US" sz="2800" dirty="0">
                  <a:latin typeface="+mj-lt"/>
                </a:rPr>
                <a:t>Y</a:t>
              </a:r>
            </a:p>
          </p:txBody>
        </p:sp>
        <p:sp>
          <p:nvSpPr>
            <p:cNvPr id="80" name="TextBox 79">
              <a:extLst>
                <a:ext uri="{FF2B5EF4-FFF2-40B4-BE49-F238E27FC236}">
                  <a16:creationId xmlns:a16="http://schemas.microsoft.com/office/drawing/2014/main" id="{4088ED18-6030-9F47-9790-2FCFC09CDB4D}"/>
                </a:ext>
              </a:extLst>
            </p:cNvPr>
            <p:cNvSpPr txBox="1"/>
            <p:nvPr/>
          </p:nvSpPr>
          <p:spPr>
            <a:xfrm>
              <a:off x="9678194" y="3537811"/>
              <a:ext cx="272832" cy="523220"/>
            </a:xfrm>
            <a:prstGeom prst="rect">
              <a:avLst/>
            </a:prstGeom>
            <a:noFill/>
          </p:spPr>
          <p:txBody>
            <a:bodyPr wrap="none" rtlCol="0">
              <a:spAutoFit/>
            </a:bodyPr>
            <a:lstStyle/>
            <a:p>
              <a:r>
                <a:rPr lang="en-US" sz="2800" dirty="0">
                  <a:latin typeface="+mj-lt"/>
                </a:rPr>
                <a:t>I</a:t>
              </a:r>
            </a:p>
          </p:txBody>
        </p:sp>
      </p:grpSp>
      <p:cxnSp>
        <p:nvCxnSpPr>
          <p:cNvPr id="44" name="Straight Connector 43">
            <a:extLst>
              <a:ext uri="{FF2B5EF4-FFF2-40B4-BE49-F238E27FC236}">
                <a16:creationId xmlns:a16="http://schemas.microsoft.com/office/drawing/2014/main" id="{AAB87997-9916-8F41-96DA-836D9145D202}"/>
              </a:ext>
            </a:extLst>
          </p:cNvPr>
          <p:cNvCxnSpPr>
            <a:cxnSpLocks/>
          </p:cNvCxnSpPr>
          <p:nvPr/>
        </p:nvCxnSpPr>
        <p:spPr>
          <a:xfrm>
            <a:off x="380095" y="5647462"/>
            <a:ext cx="2550714" cy="130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6FEC6A22-18DA-F74A-8176-9AA4550FAD67}"/>
              </a:ext>
            </a:extLst>
          </p:cNvPr>
          <p:cNvSpPr>
            <a:spLocks noChangeAspect="1"/>
          </p:cNvSpPr>
          <p:nvPr/>
        </p:nvSpPr>
        <p:spPr>
          <a:xfrm>
            <a:off x="764391" y="5286005"/>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50" name="Rectangle 49">
            <a:extLst>
              <a:ext uri="{FF2B5EF4-FFF2-40B4-BE49-F238E27FC236}">
                <a16:creationId xmlns:a16="http://schemas.microsoft.com/office/drawing/2014/main" id="{CB755ED6-3A1C-2A4D-AA28-7CB5C48D165D}"/>
              </a:ext>
            </a:extLst>
          </p:cNvPr>
          <p:cNvSpPr>
            <a:spLocks noChangeAspect="1"/>
          </p:cNvSpPr>
          <p:nvPr/>
        </p:nvSpPr>
        <p:spPr>
          <a:xfrm>
            <a:off x="1830240" y="5286005"/>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0AB23EB1-B3BF-664A-85B9-91872D2A5422}"/>
                  </a:ext>
                </a:extLst>
              </p:cNvPr>
              <p:cNvSpPr/>
              <p:nvPr/>
            </p:nvSpPr>
            <p:spPr>
              <a:xfrm>
                <a:off x="3011068" y="5337351"/>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52" name="Rectangle 51">
                <a:extLst>
                  <a:ext uri="{FF2B5EF4-FFF2-40B4-BE49-F238E27FC236}">
                    <a16:creationId xmlns:a16="http://schemas.microsoft.com/office/drawing/2014/main" id="{0AB23EB1-B3BF-664A-85B9-91872D2A5422}"/>
                  </a:ext>
                </a:extLst>
              </p:cNvPr>
              <p:cNvSpPr>
                <a:spLocks noRot="1" noChangeAspect="1" noMove="1" noResize="1" noEditPoints="1" noAdjustHandles="1" noChangeArrowheads="1" noChangeShapeType="1" noTextEdit="1"/>
              </p:cNvSpPr>
              <p:nvPr/>
            </p:nvSpPr>
            <p:spPr>
              <a:xfrm>
                <a:off x="3011068" y="5337351"/>
                <a:ext cx="633507" cy="646331"/>
              </a:xfrm>
              <a:prstGeom prst="rect">
                <a:avLst/>
              </a:prstGeom>
              <a:blipFill>
                <a:blip r:embed="rId9"/>
                <a:stretch>
                  <a:fillRect/>
                </a:stretch>
              </a:blipFill>
            </p:spPr>
            <p:txBody>
              <a:bodyPr/>
              <a:lstStyle/>
              <a:p>
                <a:r>
                  <a:rPr lang="en-US">
                    <a:noFill/>
                  </a:rPr>
                  <a:t> </a:t>
                </a:r>
              </a:p>
            </p:txBody>
          </p:sp>
        </mc:Fallback>
      </mc:AlternateContent>
      <p:sp>
        <p:nvSpPr>
          <p:cNvPr id="53" name="Rectangle 52">
            <a:extLst>
              <a:ext uri="{FF2B5EF4-FFF2-40B4-BE49-F238E27FC236}">
                <a16:creationId xmlns:a16="http://schemas.microsoft.com/office/drawing/2014/main" id="{A65ABD67-7252-7C4B-B483-7EA440652736}"/>
              </a:ext>
            </a:extLst>
          </p:cNvPr>
          <p:cNvSpPr/>
          <p:nvPr/>
        </p:nvSpPr>
        <p:spPr>
          <a:xfrm>
            <a:off x="3885421" y="5286005"/>
            <a:ext cx="720000" cy="720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I</a:t>
            </a:r>
          </a:p>
        </p:txBody>
      </p:sp>
      <p:grpSp>
        <p:nvGrpSpPr>
          <p:cNvPr id="62" name="Group 61">
            <a:extLst>
              <a:ext uri="{FF2B5EF4-FFF2-40B4-BE49-F238E27FC236}">
                <a16:creationId xmlns:a16="http://schemas.microsoft.com/office/drawing/2014/main" id="{B6B8ADA6-053A-224B-ACFC-DA9F365F9D9B}"/>
              </a:ext>
            </a:extLst>
          </p:cNvPr>
          <p:cNvGrpSpPr/>
          <p:nvPr/>
        </p:nvGrpSpPr>
        <p:grpSpPr>
          <a:xfrm>
            <a:off x="6347817" y="4832689"/>
            <a:ext cx="5418856" cy="1662614"/>
            <a:chOff x="5661553" y="978613"/>
            <a:chExt cx="5418856" cy="1662614"/>
          </a:xfrm>
        </p:grpSpPr>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8560A33D-3AF1-F54B-9E97-2463A4B90C0B}"/>
                    </a:ext>
                  </a:extLst>
                </p:cNvPr>
                <p:cNvSpPr/>
                <p:nvPr/>
              </p:nvSpPr>
              <p:spPr>
                <a:xfrm>
                  <a:off x="5661553" y="1416596"/>
                  <a:ext cx="5418856" cy="12246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m:rPr>
                                <m:nor/>
                              </m:rP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r>
                                  <m:rPr>
                                    <m:nor/>
                                  </m:rPr>
                                  <a:rPr lang="en-US" sz="2400">
                                    <a:latin typeface="Cambria Math" panose="02040503050406030204" pitchFamily="18" charset="0"/>
                                  </a:rPr>
                                  <m:t>2</m:t>
                                </m:r>
                              </m:e>
                            </m:rad>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
                          </m:e>
                        </m:d>
                        <m:f>
                          <m:fPr>
                            <m:ctrlPr>
                              <a:rPr lang="en-US" sz="2400" i="1">
                                <a:latin typeface="Cambria Math" panose="02040503050406030204" pitchFamily="18" charset="0"/>
                              </a:rPr>
                            </m:ctrlPr>
                          </m:fPr>
                          <m:num>
                            <m:r>
                              <m:rPr>
                                <m:nor/>
                              </m:rP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r>
                                  <m:rPr>
                                    <m:nor/>
                                  </m:rPr>
                                  <a:rPr lang="en-US" sz="2400">
                                    <a:latin typeface="Cambria Math" panose="02040503050406030204" pitchFamily="18" charset="0"/>
                                  </a:rPr>
                                  <m:t>2</m:t>
                                </m:r>
                              </m:e>
                            </m:rad>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
                          </m:e>
                        </m:d>
                        <m:r>
                          <a:rPr lang="en-US" sz="2400" b="0" i="1" smtClean="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b="0" i="0" smtClean="0">
                                      <a:latin typeface="Cambria Math" panose="02040503050406030204" pitchFamily="18" charset="0"/>
                                    </a:rPr>
                                    <m:t>1</m:t>
                                  </m:r>
                                </m:e>
                                <m:e>
                                  <m:r>
                                    <m:rPr>
                                      <m:nor/>
                                    </m:rPr>
                                    <a:rPr lang="en-US" sz="2400" b="0" i="0" smtClean="0">
                                      <a:latin typeface="Cambria Math" panose="02040503050406030204" pitchFamily="18" charset="0"/>
                                    </a:rPr>
                                    <m:t>0</m:t>
                                  </m:r>
                                </m:e>
                              </m:mr>
                              <m:mr>
                                <m:e>
                                  <m:r>
                                    <m:rPr>
                                      <m:nor/>
                                    </m:rPr>
                                    <a:rPr lang="en-US" sz="2400" b="0" i="0" smtClean="0">
                                      <a:latin typeface="Cambria Math" panose="02040503050406030204" pitchFamily="18" charset="0"/>
                                    </a:rPr>
                                    <m:t>0</m:t>
                                  </m:r>
                                </m:e>
                                <m:e>
                                  <m:r>
                                    <m:rPr>
                                      <m:nor/>
                                    </m:rPr>
                                    <a:rPr lang="en-US" sz="2400">
                                      <a:latin typeface="Cambria Math" panose="02040503050406030204" pitchFamily="18" charset="0"/>
                                    </a:rPr>
                                    <m:t>1</m:t>
                                  </m:r>
                                </m:e>
                              </m:mr>
                            </m:m>
                          </m:e>
                        </m:d>
                      </m:oMath>
                    </m:oMathPara>
                  </a14:m>
                  <a:endParaRPr lang="en-US" sz="2400" dirty="0"/>
                </a:p>
                <a:p>
                  <a:endParaRPr lang="en-US" sz="2400" dirty="0"/>
                </a:p>
              </p:txBody>
            </p:sp>
          </mc:Choice>
          <mc:Fallback xmlns="">
            <p:sp>
              <p:nvSpPr>
                <p:cNvPr id="12" name="Rectangle 11">
                  <a:extLst>
                    <a:ext uri="{FF2B5EF4-FFF2-40B4-BE49-F238E27FC236}">
                      <a16:creationId xmlns:a16="http://schemas.microsoft.com/office/drawing/2014/main" id="{9FD744A5-B362-E14D-9A7B-21A92BC9C3F1}"/>
                    </a:ext>
                  </a:extLst>
                </p:cNvPr>
                <p:cNvSpPr>
                  <a:spLocks noRot="1" noChangeAspect="1" noMove="1" noResize="1" noEditPoints="1" noAdjustHandles="1" noChangeArrowheads="1" noChangeShapeType="1" noTextEdit="1"/>
                </p:cNvSpPr>
                <p:nvPr/>
              </p:nvSpPr>
              <p:spPr>
                <a:xfrm>
                  <a:off x="5661553" y="1416596"/>
                  <a:ext cx="5418856" cy="1224631"/>
                </a:xfrm>
                <a:prstGeom prst="rect">
                  <a:avLst/>
                </a:prstGeom>
                <a:blipFill>
                  <a:blip r:embed="rId3"/>
                  <a:stretch>
                    <a:fillRect/>
                  </a:stretch>
                </a:blipFill>
              </p:spPr>
              <p:txBody>
                <a:bodyPr/>
                <a:lstStyle/>
                <a:p>
                  <a:r>
                    <a:rPr lang="en-US">
                      <a:noFill/>
                    </a:rPr>
                    <a:t> </a:t>
                  </a:r>
                </a:p>
              </p:txBody>
            </p:sp>
          </mc:Fallback>
        </mc:AlternateContent>
        <p:sp>
          <p:nvSpPr>
            <p:cNvPr id="67" name="TextBox 66">
              <a:extLst>
                <a:ext uri="{FF2B5EF4-FFF2-40B4-BE49-F238E27FC236}">
                  <a16:creationId xmlns:a16="http://schemas.microsoft.com/office/drawing/2014/main" id="{2BD4F88C-CF94-0A47-8E14-A6FF73803CD9}"/>
                </a:ext>
              </a:extLst>
            </p:cNvPr>
            <p:cNvSpPr txBox="1"/>
            <p:nvPr/>
          </p:nvSpPr>
          <p:spPr>
            <a:xfrm>
              <a:off x="6921529" y="978613"/>
              <a:ext cx="407484" cy="523220"/>
            </a:xfrm>
            <a:prstGeom prst="rect">
              <a:avLst/>
            </a:prstGeom>
            <a:noFill/>
          </p:spPr>
          <p:txBody>
            <a:bodyPr wrap="none" rtlCol="0">
              <a:spAutoFit/>
            </a:bodyPr>
            <a:lstStyle/>
            <a:p>
              <a:r>
                <a:rPr lang="en-US" sz="2800" dirty="0">
                  <a:latin typeface="+mj-lt"/>
                </a:rPr>
                <a:t>H</a:t>
              </a:r>
            </a:p>
          </p:txBody>
        </p:sp>
        <p:sp>
          <p:nvSpPr>
            <p:cNvPr id="68" name="TextBox 67">
              <a:extLst>
                <a:ext uri="{FF2B5EF4-FFF2-40B4-BE49-F238E27FC236}">
                  <a16:creationId xmlns:a16="http://schemas.microsoft.com/office/drawing/2014/main" id="{0C48D640-E0D0-7E46-A410-85BCD97823E2}"/>
                </a:ext>
              </a:extLst>
            </p:cNvPr>
            <p:cNvSpPr txBox="1"/>
            <p:nvPr/>
          </p:nvSpPr>
          <p:spPr>
            <a:xfrm>
              <a:off x="8588989" y="978613"/>
              <a:ext cx="407484" cy="523220"/>
            </a:xfrm>
            <a:prstGeom prst="rect">
              <a:avLst/>
            </a:prstGeom>
            <a:noFill/>
          </p:spPr>
          <p:txBody>
            <a:bodyPr wrap="none" rtlCol="0">
              <a:spAutoFit/>
            </a:bodyPr>
            <a:lstStyle/>
            <a:p>
              <a:r>
                <a:rPr lang="en-US" sz="2800" dirty="0">
                  <a:latin typeface="+mj-lt"/>
                </a:rPr>
                <a:t>H</a:t>
              </a:r>
            </a:p>
          </p:txBody>
        </p:sp>
        <p:sp>
          <p:nvSpPr>
            <p:cNvPr id="69" name="TextBox 68">
              <a:extLst>
                <a:ext uri="{FF2B5EF4-FFF2-40B4-BE49-F238E27FC236}">
                  <a16:creationId xmlns:a16="http://schemas.microsoft.com/office/drawing/2014/main" id="{C7875EF4-2D0B-2246-80F8-24BAEDF000CA}"/>
                </a:ext>
              </a:extLst>
            </p:cNvPr>
            <p:cNvSpPr txBox="1"/>
            <p:nvPr/>
          </p:nvSpPr>
          <p:spPr>
            <a:xfrm>
              <a:off x="10120033" y="978613"/>
              <a:ext cx="272832" cy="523220"/>
            </a:xfrm>
            <a:prstGeom prst="rect">
              <a:avLst/>
            </a:prstGeom>
            <a:noFill/>
          </p:spPr>
          <p:txBody>
            <a:bodyPr wrap="none" rtlCol="0">
              <a:spAutoFit/>
            </a:bodyPr>
            <a:lstStyle/>
            <a:p>
              <a:r>
                <a:rPr lang="en-US" sz="2800" dirty="0">
                  <a:latin typeface="+mj-lt"/>
                </a:rPr>
                <a:t>I</a:t>
              </a:r>
            </a:p>
          </p:txBody>
        </p:sp>
      </p:grpSp>
    </p:spTree>
    <p:extLst>
      <p:ext uri="{BB962C8B-B14F-4D97-AF65-F5344CB8AC3E}">
        <p14:creationId xmlns:p14="http://schemas.microsoft.com/office/powerpoint/2010/main" val="1903639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ADA28-26C5-D848-B8BF-E2B0C815627D}"/>
              </a:ext>
            </a:extLst>
          </p:cNvPr>
          <p:cNvSpPr>
            <a:spLocks noGrp="1"/>
          </p:cNvSpPr>
          <p:nvPr>
            <p:ph type="title"/>
          </p:nvPr>
        </p:nvSpPr>
        <p:spPr/>
        <p:txBody>
          <a:bodyPr>
            <a:normAutofit/>
          </a:bodyPr>
          <a:lstStyle/>
          <a:p>
            <a:r>
              <a:rPr lang="en-ZA" dirty="0"/>
              <a:t>Reducing Circuits to NOP / non-Hermitian Gates</a:t>
            </a:r>
            <a:endParaRPr lang="en-US" dirty="0"/>
          </a:p>
        </p:txBody>
      </p:sp>
      <p:sp>
        <p:nvSpPr>
          <p:cNvPr id="3" name="Slide Number Placeholder 2">
            <a:extLst>
              <a:ext uri="{FF2B5EF4-FFF2-40B4-BE49-F238E27FC236}">
                <a16:creationId xmlns:a16="http://schemas.microsoft.com/office/drawing/2014/main" id="{BAAB2B59-6FDE-C049-A10C-01AA69530BC0}"/>
              </a:ext>
            </a:extLst>
          </p:cNvPr>
          <p:cNvSpPr>
            <a:spLocks noGrp="1"/>
          </p:cNvSpPr>
          <p:nvPr>
            <p:ph type="sldNum" sz="quarter" idx="12"/>
          </p:nvPr>
        </p:nvSpPr>
        <p:spPr/>
        <p:txBody>
          <a:bodyPr/>
          <a:lstStyle/>
          <a:p>
            <a:fld id="{591A223C-FA10-BC46-A853-03BA373D023C}" type="slidenum">
              <a:rPr lang="en-US" smtClean="0"/>
              <a:t>4</a:t>
            </a:fld>
            <a:endParaRPr lang="en-US"/>
          </a:p>
        </p:txBody>
      </p:sp>
      <p:grpSp>
        <p:nvGrpSpPr>
          <p:cNvPr id="104" name="Group 103">
            <a:extLst>
              <a:ext uri="{FF2B5EF4-FFF2-40B4-BE49-F238E27FC236}">
                <a16:creationId xmlns:a16="http://schemas.microsoft.com/office/drawing/2014/main" id="{D22C26CF-DFEE-EF4C-8FD7-7F75D71120E4}"/>
              </a:ext>
            </a:extLst>
          </p:cNvPr>
          <p:cNvGrpSpPr/>
          <p:nvPr/>
        </p:nvGrpSpPr>
        <p:grpSpPr>
          <a:xfrm>
            <a:off x="711234" y="1167637"/>
            <a:ext cx="10233934" cy="1442131"/>
            <a:chOff x="100537" y="5376046"/>
            <a:chExt cx="10233934" cy="1442131"/>
          </a:xfrm>
        </p:grpSpPr>
        <p:grpSp>
          <p:nvGrpSpPr>
            <p:cNvPr id="93" name="Group 92">
              <a:extLst>
                <a:ext uri="{FF2B5EF4-FFF2-40B4-BE49-F238E27FC236}">
                  <a16:creationId xmlns:a16="http://schemas.microsoft.com/office/drawing/2014/main" id="{C48ABB50-147C-384E-8832-2C908F642AE3}"/>
                </a:ext>
              </a:extLst>
            </p:cNvPr>
            <p:cNvGrpSpPr/>
            <p:nvPr/>
          </p:nvGrpSpPr>
          <p:grpSpPr>
            <a:xfrm>
              <a:off x="100537" y="5801094"/>
              <a:ext cx="4225326" cy="720000"/>
              <a:chOff x="100537" y="5801094"/>
              <a:chExt cx="4225326" cy="720000"/>
            </a:xfrm>
          </p:grpSpPr>
          <p:cxnSp>
            <p:nvCxnSpPr>
              <p:cNvPr id="85" name="Straight Connector 84">
                <a:extLst>
                  <a:ext uri="{FF2B5EF4-FFF2-40B4-BE49-F238E27FC236}">
                    <a16:creationId xmlns:a16="http://schemas.microsoft.com/office/drawing/2014/main" id="{0FD74FBF-E370-4640-96DD-0AFB1B2C0463}"/>
                  </a:ext>
                </a:extLst>
              </p:cNvPr>
              <p:cNvCxnSpPr>
                <a:cxnSpLocks/>
              </p:cNvCxnSpPr>
              <p:nvPr/>
            </p:nvCxnSpPr>
            <p:spPr>
              <a:xfrm>
                <a:off x="100537" y="6162551"/>
                <a:ext cx="2550714" cy="130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Rectangle 85">
                <a:extLst>
                  <a:ext uri="{FF2B5EF4-FFF2-40B4-BE49-F238E27FC236}">
                    <a16:creationId xmlns:a16="http://schemas.microsoft.com/office/drawing/2014/main" id="{1F43F592-B421-B440-845C-7F587BF390D7}"/>
                  </a:ext>
                </a:extLst>
              </p:cNvPr>
              <p:cNvSpPr/>
              <p:nvPr/>
            </p:nvSpPr>
            <p:spPr>
              <a:xfrm>
                <a:off x="484324" y="5801094"/>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S</a:t>
                </a:r>
              </a:p>
            </p:txBody>
          </p:sp>
          <p:sp>
            <p:nvSpPr>
              <p:cNvPr id="87" name="Rectangle 86">
                <a:extLst>
                  <a:ext uri="{FF2B5EF4-FFF2-40B4-BE49-F238E27FC236}">
                    <a16:creationId xmlns:a16="http://schemas.microsoft.com/office/drawing/2014/main" id="{6F8E8ABE-ED65-1F47-A95C-37A983320984}"/>
                  </a:ext>
                </a:extLst>
              </p:cNvPr>
              <p:cNvSpPr/>
              <p:nvPr/>
            </p:nvSpPr>
            <p:spPr>
              <a:xfrm>
                <a:off x="1559519" y="5801094"/>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S</a:t>
                </a:r>
                <a:r>
                  <a:rPr lang="en-US" sz="4000" baseline="30000" dirty="0">
                    <a:solidFill>
                      <a:schemeClr val="tx1"/>
                    </a:solidFill>
                    <a:latin typeface="Times" pitchFamily="2" charset="0"/>
                  </a:rPr>
                  <a:t>†</a:t>
                </a:r>
              </a:p>
            </p:txBody>
          </p:sp>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0FA6AE84-83C7-CE41-A433-3D5DEAB77C58}"/>
                      </a:ext>
                    </a:extLst>
                  </p:cNvPr>
                  <p:cNvSpPr/>
                  <p:nvPr/>
                </p:nvSpPr>
                <p:spPr>
                  <a:xfrm>
                    <a:off x="2731510" y="5852440"/>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88" name="Rectangle 87">
                    <a:extLst>
                      <a:ext uri="{FF2B5EF4-FFF2-40B4-BE49-F238E27FC236}">
                        <a16:creationId xmlns:a16="http://schemas.microsoft.com/office/drawing/2014/main" id="{0FA6AE84-83C7-CE41-A433-3D5DEAB77C58}"/>
                      </a:ext>
                    </a:extLst>
                  </p:cNvPr>
                  <p:cNvSpPr>
                    <a:spLocks noRot="1" noChangeAspect="1" noMove="1" noResize="1" noEditPoints="1" noAdjustHandles="1" noChangeArrowheads="1" noChangeShapeType="1" noTextEdit="1"/>
                  </p:cNvSpPr>
                  <p:nvPr/>
                </p:nvSpPr>
                <p:spPr>
                  <a:xfrm>
                    <a:off x="2731510" y="5852440"/>
                    <a:ext cx="633507" cy="646331"/>
                  </a:xfrm>
                  <a:prstGeom prst="rect">
                    <a:avLst/>
                  </a:prstGeom>
                  <a:blipFill>
                    <a:blip r:embed="rId4"/>
                    <a:stretch>
                      <a:fillRect/>
                    </a:stretch>
                  </a:blipFill>
                </p:spPr>
                <p:txBody>
                  <a:bodyPr/>
                  <a:lstStyle/>
                  <a:p>
                    <a:r>
                      <a:rPr lang="en-US">
                        <a:noFill/>
                      </a:rPr>
                      <a:t> </a:t>
                    </a:r>
                  </a:p>
                </p:txBody>
              </p:sp>
            </mc:Fallback>
          </mc:AlternateContent>
          <p:sp>
            <p:nvSpPr>
              <p:cNvPr id="89" name="Rectangle 88">
                <a:extLst>
                  <a:ext uri="{FF2B5EF4-FFF2-40B4-BE49-F238E27FC236}">
                    <a16:creationId xmlns:a16="http://schemas.microsoft.com/office/drawing/2014/main" id="{B716644E-866D-AF44-8B15-DC6D7290EE5C}"/>
                  </a:ext>
                </a:extLst>
              </p:cNvPr>
              <p:cNvSpPr/>
              <p:nvPr/>
            </p:nvSpPr>
            <p:spPr>
              <a:xfrm>
                <a:off x="3605863" y="5801094"/>
                <a:ext cx="720000" cy="720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I</a:t>
                </a:r>
              </a:p>
            </p:txBody>
          </p:sp>
        </p:grpSp>
        <mc:AlternateContent xmlns:mc="http://schemas.openxmlformats.org/markup-compatibility/2006" xmlns:a14="http://schemas.microsoft.com/office/drawing/2010/main">
          <mc:Choice Requires="a14">
            <p:sp>
              <p:nvSpPr>
                <p:cNvPr id="98" name="Rectangle 97">
                  <a:extLst>
                    <a:ext uri="{FF2B5EF4-FFF2-40B4-BE49-F238E27FC236}">
                      <a16:creationId xmlns:a16="http://schemas.microsoft.com/office/drawing/2014/main" id="{348A90B4-74F7-384E-9938-8881643B6F56}"/>
                    </a:ext>
                  </a:extLst>
                </p:cNvPr>
                <p:cNvSpPr/>
                <p:nvPr/>
              </p:nvSpPr>
              <p:spPr>
                <a:xfrm>
                  <a:off x="6406473" y="5740638"/>
                  <a:ext cx="3927998" cy="10775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smtClean="0">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sr-Latn-RS" sz="2400" b="0" i="1" smtClean="0">
                                      <a:latin typeface="Cambria Math" panose="02040503050406030204" pitchFamily="18" charset="0"/>
                                    </a:rPr>
                                    <m:t>1</m:t>
                                  </m:r>
                                </m:e>
                                <m:e>
                                  <m:r>
                                    <m:rPr>
                                      <m:nor/>
                                    </m:rPr>
                                    <a:rPr lang="sr-Latn-RS" sz="2400" b="0" i="0" smtClean="0">
                                      <a:latin typeface="Cambria Math" panose="02040503050406030204" pitchFamily="18" charset="0"/>
                                    </a:rPr>
                                    <m:t>0</m:t>
                                  </m:r>
                                </m:e>
                              </m:mr>
                              <m:mr>
                                <m:e>
                                  <m:r>
                                    <m:rPr>
                                      <m:nor/>
                                    </m:rPr>
                                    <a:rPr lang="sr-Latn-RS" sz="2400" b="0" i="0" smtClean="0">
                                      <a:latin typeface="Cambria Math" panose="02040503050406030204" pitchFamily="18" charset="0"/>
                                    </a:rPr>
                                    <m:t>0</m:t>
                                  </m:r>
                                </m:e>
                                <m:e>
                                  <m:r>
                                    <a:rPr lang="sr-Latn-RS" sz="2400" b="0" i="1" smtClean="0">
                                      <a:latin typeface="Cambria Math" panose="02040503050406030204" pitchFamily="18" charset="0"/>
                                    </a:rPr>
                                    <m:t>𝑖</m:t>
                                  </m:r>
                                </m:e>
                              </m:mr>
                            </m:m>
                          </m:e>
                        </m:d>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sr-Latn-RS" sz="2400" b="0" i="0" smtClean="0">
                                      <a:latin typeface="Cambria Math" panose="02040503050406030204" pitchFamily="18" charset="0"/>
                                    </a:rPr>
                                    <m:t>1</m:t>
                                  </m:r>
                                </m:e>
                                <m:e>
                                  <m:r>
                                    <m:rPr>
                                      <m:nor/>
                                    </m:rPr>
                                    <a:rPr lang="sr-Latn-RS" sz="2400" b="0" i="0" smtClean="0">
                                      <a:latin typeface="Cambria Math" panose="02040503050406030204" pitchFamily="18" charset="0"/>
                                    </a:rPr>
                                    <m:t>0</m:t>
                                  </m:r>
                                </m:e>
                              </m:mr>
                              <m:mr>
                                <m:e>
                                  <m:r>
                                    <m:rPr>
                                      <m:nor/>
                                    </m:rPr>
                                    <a:rPr lang="sr-Latn-RS" sz="2400" b="0" i="0" smtClean="0">
                                      <a:latin typeface="Cambria Math" panose="02040503050406030204" pitchFamily="18" charset="0"/>
                                    </a:rPr>
                                    <m:t>0</m:t>
                                  </m:r>
                                </m:e>
                                <m:e>
                                  <m:r>
                                    <a:rPr lang="sr-Latn-RS" sz="2400" b="0" i="1" smtClean="0">
                                      <a:latin typeface="Cambria Math" panose="02040503050406030204" pitchFamily="18" charset="0"/>
                                    </a:rPr>
                                    <m:t>−</m:t>
                                  </m:r>
                                  <m:r>
                                    <a:rPr lang="sr-Latn-RS" sz="2400" b="0" i="1" smtClean="0">
                                      <a:latin typeface="Cambria Math" panose="02040503050406030204" pitchFamily="18" charset="0"/>
                                    </a:rPr>
                                    <m:t>𝑖</m:t>
                                  </m:r>
                                </m:e>
                              </m:mr>
                            </m:m>
                          </m:e>
                        </m:d>
                        <m:r>
                          <a:rPr lang="en-US" sz="2400" b="0" i="1" smtClean="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b="0" i="0" smtClean="0">
                                      <a:latin typeface="Cambria Math" panose="02040503050406030204" pitchFamily="18" charset="0"/>
                                    </a:rPr>
                                    <m:t>1</m:t>
                                  </m:r>
                                </m:e>
                                <m:e>
                                  <m:r>
                                    <m:rPr>
                                      <m:nor/>
                                    </m:rPr>
                                    <a:rPr lang="en-US" sz="2400" b="0" i="0" smtClean="0">
                                      <a:latin typeface="Cambria Math" panose="02040503050406030204" pitchFamily="18" charset="0"/>
                                    </a:rPr>
                                    <m:t>0</m:t>
                                  </m:r>
                                </m:e>
                              </m:mr>
                              <m:mr>
                                <m:e>
                                  <m:r>
                                    <m:rPr>
                                      <m:nor/>
                                    </m:rPr>
                                    <a:rPr lang="en-US" sz="2400" b="0" i="0" smtClean="0">
                                      <a:latin typeface="Cambria Math" panose="02040503050406030204" pitchFamily="18" charset="0"/>
                                    </a:rPr>
                                    <m:t>0</m:t>
                                  </m:r>
                                </m:e>
                                <m:e>
                                  <m:r>
                                    <m:rPr>
                                      <m:nor/>
                                    </m:rPr>
                                    <a:rPr lang="en-US" sz="2400">
                                      <a:latin typeface="Cambria Math" panose="02040503050406030204" pitchFamily="18" charset="0"/>
                                    </a:rPr>
                                    <m:t>1</m:t>
                                  </m:r>
                                </m:e>
                              </m:mr>
                            </m:m>
                          </m:e>
                        </m:d>
                      </m:oMath>
                    </m:oMathPara>
                  </a14:m>
                  <a:endParaRPr lang="en-US" sz="2400" dirty="0"/>
                </a:p>
                <a:p>
                  <a:endParaRPr lang="en-US" sz="2400" dirty="0"/>
                </a:p>
              </p:txBody>
            </p:sp>
          </mc:Choice>
          <mc:Fallback xmlns="">
            <p:sp>
              <p:nvSpPr>
                <p:cNvPr id="98" name="Rectangle 97">
                  <a:extLst>
                    <a:ext uri="{FF2B5EF4-FFF2-40B4-BE49-F238E27FC236}">
                      <a16:creationId xmlns:a16="http://schemas.microsoft.com/office/drawing/2014/main" id="{348A90B4-74F7-384E-9938-8881643B6F56}"/>
                    </a:ext>
                  </a:extLst>
                </p:cNvPr>
                <p:cNvSpPr>
                  <a:spLocks noRot="1" noChangeAspect="1" noMove="1" noResize="1" noEditPoints="1" noAdjustHandles="1" noChangeArrowheads="1" noChangeShapeType="1" noTextEdit="1"/>
                </p:cNvSpPr>
                <p:nvPr/>
              </p:nvSpPr>
              <p:spPr>
                <a:xfrm>
                  <a:off x="6406473" y="5740638"/>
                  <a:ext cx="3927998" cy="1077539"/>
                </a:xfrm>
                <a:prstGeom prst="rect">
                  <a:avLst/>
                </a:prstGeom>
                <a:blipFill>
                  <a:blip r:embed="rId9"/>
                  <a:stretch>
                    <a:fillRect/>
                  </a:stretch>
                </a:blipFill>
              </p:spPr>
              <p:txBody>
                <a:bodyPr/>
                <a:lstStyle/>
                <a:p>
                  <a:r>
                    <a:rPr lang="en-US">
                      <a:noFill/>
                    </a:rPr>
                    <a:t> </a:t>
                  </a:r>
                </a:p>
              </p:txBody>
            </p:sp>
          </mc:Fallback>
        </mc:AlternateContent>
        <p:sp>
          <p:nvSpPr>
            <p:cNvPr id="90" name="TextBox 89">
              <a:extLst>
                <a:ext uri="{FF2B5EF4-FFF2-40B4-BE49-F238E27FC236}">
                  <a16:creationId xmlns:a16="http://schemas.microsoft.com/office/drawing/2014/main" id="{E06EB926-62E6-B045-91E9-ABF2BD7C323E}"/>
                </a:ext>
              </a:extLst>
            </p:cNvPr>
            <p:cNvSpPr txBox="1"/>
            <p:nvPr/>
          </p:nvSpPr>
          <p:spPr>
            <a:xfrm>
              <a:off x="6951060" y="5376046"/>
              <a:ext cx="346570" cy="523220"/>
            </a:xfrm>
            <a:prstGeom prst="rect">
              <a:avLst/>
            </a:prstGeom>
            <a:noFill/>
          </p:spPr>
          <p:txBody>
            <a:bodyPr wrap="square" rtlCol="0">
              <a:spAutoFit/>
            </a:bodyPr>
            <a:lstStyle/>
            <a:p>
              <a:r>
                <a:rPr lang="en-US" sz="2800" dirty="0">
                  <a:latin typeface="+mj-lt"/>
                </a:rPr>
                <a:t>S</a:t>
              </a:r>
            </a:p>
          </p:txBody>
        </p:sp>
        <p:sp>
          <p:nvSpPr>
            <p:cNvPr id="91" name="TextBox 90">
              <a:extLst>
                <a:ext uri="{FF2B5EF4-FFF2-40B4-BE49-F238E27FC236}">
                  <a16:creationId xmlns:a16="http://schemas.microsoft.com/office/drawing/2014/main" id="{8852FB68-A92B-3043-9FFF-A2DC95BBE567}"/>
                </a:ext>
              </a:extLst>
            </p:cNvPr>
            <p:cNvSpPr txBox="1"/>
            <p:nvPr/>
          </p:nvSpPr>
          <p:spPr>
            <a:xfrm>
              <a:off x="7983975" y="5376046"/>
              <a:ext cx="465192" cy="523220"/>
            </a:xfrm>
            <a:prstGeom prst="rect">
              <a:avLst/>
            </a:prstGeom>
            <a:noFill/>
          </p:spPr>
          <p:txBody>
            <a:bodyPr wrap="square" rtlCol="0">
              <a:spAutoFit/>
            </a:bodyPr>
            <a:lstStyle/>
            <a:p>
              <a:r>
                <a:rPr lang="en-US" sz="2800" dirty="0">
                  <a:latin typeface="+mj-lt"/>
                </a:rPr>
                <a:t>S</a:t>
              </a:r>
              <a:r>
                <a:rPr lang="en-US" sz="2800" baseline="30000" dirty="0">
                  <a:latin typeface="+mj-lt"/>
                </a:rPr>
                <a:t>†</a:t>
              </a:r>
            </a:p>
          </p:txBody>
        </p:sp>
        <p:sp>
          <p:nvSpPr>
            <p:cNvPr id="99" name="TextBox 98">
              <a:extLst>
                <a:ext uri="{FF2B5EF4-FFF2-40B4-BE49-F238E27FC236}">
                  <a16:creationId xmlns:a16="http://schemas.microsoft.com/office/drawing/2014/main" id="{5DD9508C-C8A2-4C41-A7E5-36EB08EED976}"/>
                </a:ext>
              </a:extLst>
            </p:cNvPr>
            <p:cNvSpPr txBox="1"/>
            <p:nvPr/>
          </p:nvSpPr>
          <p:spPr>
            <a:xfrm>
              <a:off x="9433412" y="5376046"/>
              <a:ext cx="272832" cy="523220"/>
            </a:xfrm>
            <a:prstGeom prst="rect">
              <a:avLst/>
            </a:prstGeom>
            <a:noFill/>
          </p:spPr>
          <p:txBody>
            <a:bodyPr wrap="none" rtlCol="0">
              <a:spAutoFit/>
            </a:bodyPr>
            <a:lstStyle/>
            <a:p>
              <a:r>
                <a:rPr lang="en-US" sz="2800" dirty="0">
                  <a:latin typeface="+mj-lt"/>
                </a:rPr>
                <a:t>I</a:t>
              </a:r>
            </a:p>
          </p:txBody>
        </p:sp>
      </p:grpSp>
      <p:grpSp>
        <p:nvGrpSpPr>
          <p:cNvPr id="16" name="Group 15">
            <a:extLst>
              <a:ext uri="{FF2B5EF4-FFF2-40B4-BE49-F238E27FC236}">
                <a16:creationId xmlns:a16="http://schemas.microsoft.com/office/drawing/2014/main" id="{8A9DED0E-CE22-2940-8B74-4DA2334E2728}"/>
              </a:ext>
            </a:extLst>
          </p:cNvPr>
          <p:cNvGrpSpPr/>
          <p:nvPr/>
        </p:nvGrpSpPr>
        <p:grpSpPr>
          <a:xfrm>
            <a:off x="711234" y="2983731"/>
            <a:ext cx="4225326" cy="720000"/>
            <a:chOff x="100537" y="5801094"/>
            <a:chExt cx="4225326" cy="720000"/>
          </a:xfrm>
        </p:grpSpPr>
        <p:cxnSp>
          <p:nvCxnSpPr>
            <p:cNvPr id="21" name="Straight Connector 20">
              <a:extLst>
                <a:ext uri="{FF2B5EF4-FFF2-40B4-BE49-F238E27FC236}">
                  <a16:creationId xmlns:a16="http://schemas.microsoft.com/office/drawing/2014/main" id="{8816D31B-FAB1-9F4D-9569-6DDE6D9F0B33}"/>
                </a:ext>
              </a:extLst>
            </p:cNvPr>
            <p:cNvCxnSpPr>
              <a:cxnSpLocks/>
            </p:cNvCxnSpPr>
            <p:nvPr/>
          </p:nvCxnSpPr>
          <p:spPr>
            <a:xfrm>
              <a:off x="100537" y="6162551"/>
              <a:ext cx="2550714" cy="130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CD71836C-C8FD-0844-8A65-87691D52078F}"/>
                </a:ext>
              </a:extLst>
            </p:cNvPr>
            <p:cNvSpPr/>
            <p:nvPr/>
          </p:nvSpPr>
          <p:spPr>
            <a:xfrm>
              <a:off x="484324" y="5801094"/>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T</a:t>
              </a:r>
            </a:p>
          </p:txBody>
        </p:sp>
        <p:sp>
          <p:nvSpPr>
            <p:cNvPr id="23" name="Rectangle 22">
              <a:extLst>
                <a:ext uri="{FF2B5EF4-FFF2-40B4-BE49-F238E27FC236}">
                  <a16:creationId xmlns:a16="http://schemas.microsoft.com/office/drawing/2014/main" id="{EFEE41CE-0E2F-9243-BD72-19CA97865138}"/>
                </a:ext>
              </a:extLst>
            </p:cNvPr>
            <p:cNvSpPr/>
            <p:nvPr/>
          </p:nvSpPr>
          <p:spPr>
            <a:xfrm>
              <a:off x="1559519" y="5801094"/>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T</a:t>
              </a:r>
              <a:r>
                <a:rPr lang="en-US" sz="4000" baseline="30000" dirty="0">
                  <a:solidFill>
                    <a:schemeClr val="tx1"/>
                  </a:solidFill>
                  <a:latin typeface="Times" pitchFamily="2" charset="0"/>
                </a:rPr>
                <a:t>†</a:t>
              </a: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8B2662D0-F085-0841-A044-65E2076F130F}"/>
                    </a:ext>
                  </a:extLst>
                </p:cNvPr>
                <p:cNvSpPr/>
                <p:nvPr/>
              </p:nvSpPr>
              <p:spPr>
                <a:xfrm>
                  <a:off x="2731510" y="5852440"/>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88" name="Rectangle 87">
                  <a:extLst>
                    <a:ext uri="{FF2B5EF4-FFF2-40B4-BE49-F238E27FC236}">
                      <a16:creationId xmlns:a16="http://schemas.microsoft.com/office/drawing/2014/main" id="{0FA6AE84-83C7-CE41-A433-3D5DEAB77C58}"/>
                    </a:ext>
                  </a:extLst>
                </p:cNvPr>
                <p:cNvSpPr>
                  <a:spLocks noRot="1" noChangeAspect="1" noMove="1" noResize="1" noEditPoints="1" noAdjustHandles="1" noChangeArrowheads="1" noChangeShapeType="1" noTextEdit="1"/>
                </p:cNvSpPr>
                <p:nvPr/>
              </p:nvSpPr>
              <p:spPr>
                <a:xfrm>
                  <a:off x="2731510" y="5852440"/>
                  <a:ext cx="633507" cy="646331"/>
                </a:xfrm>
                <a:prstGeom prst="rect">
                  <a:avLst/>
                </a:prstGeom>
                <a:blipFill>
                  <a:blip r:embed="rId4"/>
                  <a:stretch>
                    <a:fillRect/>
                  </a:stretch>
                </a:blipFill>
              </p:spPr>
              <p:txBody>
                <a:bodyPr/>
                <a:lstStyle/>
                <a:p>
                  <a:r>
                    <a:rPr lang="en-US">
                      <a:noFill/>
                    </a:rPr>
                    <a:t> </a:t>
                  </a:r>
                </a:p>
              </p:txBody>
            </p:sp>
          </mc:Fallback>
        </mc:AlternateContent>
        <p:sp>
          <p:nvSpPr>
            <p:cNvPr id="25" name="Rectangle 24">
              <a:extLst>
                <a:ext uri="{FF2B5EF4-FFF2-40B4-BE49-F238E27FC236}">
                  <a16:creationId xmlns:a16="http://schemas.microsoft.com/office/drawing/2014/main" id="{EC540C31-89C5-8A43-9DD8-261680945BCA}"/>
                </a:ext>
              </a:extLst>
            </p:cNvPr>
            <p:cNvSpPr/>
            <p:nvPr/>
          </p:nvSpPr>
          <p:spPr>
            <a:xfrm>
              <a:off x="3605863" y="5801094"/>
              <a:ext cx="720000" cy="720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I</a:t>
              </a:r>
            </a:p>
          </p:txBody>
        </p:sp>
      </p:gr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BFB78DAD-26F3-8C4C-AE21-9DC358528AD9}"/>
                  </a:ext>
                </a:extLst>
              </p:cNvPr>
              <p:cNvSpPr/>
              <p:nvPr/>
            </p:nvSpPr>
            <p:spPr>
              <a:xfrm>
                <a:off x="7017170" y="2923275"/>
                <a:ext cx="4400948" cy="12071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1</m:t>
                                </m:r>
                              </m:e>
                              <m:e>
                                <m:r>
                                  <a:rPr lang="en-US" sz="2400" i="1">
                                    <a:latin typeface="Cambria Math" panose="02040503050406030204" pitchFamily="18" charset="0"/>
                                  </a:rPr>
                                  <m:t>0</m:t>
                                </m:r>
                              </m:e>
                            </m:mr>
                            <m:mr>
                              <m:e>
                                <m:r>
                                  <a:rPr lang="en-US" sz="2400" i="1">
                                    <a:latin typeface="Cambria Math" panose="02040503050406030204" pitchFamily="18" charset="0"/>
                                  </a:rPr>
                                  <m:t>0</m:t>
                                </m:r>
                              </m:e>
                              <m:e>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𝑖</m:t>
                                    </m:r>
                                    <m:f>
                                      <m:fPr>
                                        <m:ctrlPr>
                                          <a:rPr lang="en-US" sz="2400" i="1">
                                            <a:latin typeface="Cambria Math" panose="02040503050406030204" pitchFamily="18" charset="0"/>
                                          </a:rPr>
                                        </m:ctrlPr>
                                      </m:fPr>
                                      <m:num>
                                        <m:r>
                                          <a:rPr lang="en-US" sz="2400" i="1">
                                            <a:latin typeface="Cambria Math" panose="02040503050406030204" pitchFamily="18" charset="0"/>
                                          </a:rPr>
                                          <m:t>𝜋</m:t>
                                        </m:r>
                                      </m:num>
                                      <m:den>
                                        <m:r>
                                          <a:rPr lang="en-US" sz="2400" i="1">
                                            <a:latin typeface="Cambria Math" panose="02040503050406030204" pitchFamily="18" charset="0"/>
                                          </a:rPr>
                                          <m:t>4</m:t>
                                        </m:r>
                                      </m:den>
                                    </m:f>
                                  </m:sup>
                                </m:sSup>
                              </m:e>
                            </m:mr>
                          </m:m>
                        </m:e>
                      </m:d>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1</m:t>
                                </m:r>
                              </m:e>
                              <m:e>
                                <m:r>
                                  <a:rPr lang="en-US" sz="2400" i="1">
                                    <a:latin typeface="Cambria Math" panose="02040503050406030204" pitchFamily="18" charset="0"/>
                                  </a:rPr>
                                  <m:t>0</m:t>
                                </m:r>
                              </m:e>
                            </m:mr>
                            <m:mr>
                              <m:e>
                                <m:r>
                                  <a:rPr lang="en-US" sz="2400" i="1">
                                    <a:latin typeface="Cambria Math" panose="02040503050406030204" pitchFamily="18" charset="0"/>
                                  </a:rPr>
                                  <m:t>0</m:t>
                                </m:r>
                              </m:e>
                              <m:e>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r>
                                      <a:rPr lang="en-US" sz="2400" i="1">
                                        <a:latin typeface="Cambria Math" panose="02040503050406030204" pitchFamily="18" charset="0"/>
                                      </a:rPr>
                                      <m:t>𝑖</m:t>
                                    </m:r>
                                    <m:f>
                                      <m:fPr>
                                        <m:ctrlPr>
                                          <a:rPr lang="en-US" sz="2400" i="1">
                                            <a:latin typeface="Cambria Math" panose="02040503050406030204" pitchFamily="18" charset="0"/>
                                          </a:rPr>
                                        </m:ctrlPr>
                                      </m:fPr>
                                      <m:num>
                                        <m:r>
                                          <a:rPr lang="en-US" sz="2400" i="1">
                                            <a:latin typeface="Cambria Math" panose="02040503050406030204" pitchFamily="18" charset="0"/>
                                          </a:rPr>
                                          <m:t>𝜋</m:t>
                                        </m:r>
                                      </m:num>
                                      <m:den>
                                        <m:r>
                                          <a:rPr lang="en-US" sz="2400" i="1">
                                            <a:latin typeface="Cambria Math" panose="02040503050406030204" pitchFamily="18" charset="0"/>
                                          </a:rPr>
                                          <m:t>4</m:t>
                                        </m:r>
                                      </m:den>
                                    </m:f>
                                  </m:sup>
                                </m:sSup>
                              </m:e>
                            </m:mr>
                          </m:m>
                        </m:e>
                      </m:d>
                      <m:r>
                        <a:rPr lang="en-US" sz="2400" b="0" i="1" smtClean="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b="0" i="0" smtClean="0">
                                    <a:latin typeface="Cambria Math" panose="02040503050406030204" pitchFamily="18" charset="0"/>
                                  </a:rPr>
                                  <m:t>1</m:t>
                                </m:r>
                              </m:e>
                              <m:e>
                                <m:r>
                                  <m:rPr>
                                    <m:nor/>
                                  </m:rPr>
                                  <a:rPr lang="en-US" sz="2400" b="0" i="0" smtClean="0">
                                    <a:latin typeface="Cambria Math" panose="02040503050406030204" pitchFamily="18" charset="0"/>
                                  </a:rPr>
                                  <m:t>0</m:t>
                                </m:r>
                              </m:e>
                            </m:mr>
                            <m:mr>
                              <m:e>
                                <m:r>
                                  <m:rPr>
                                    <m:nor/>
                                  </m:rPr>
                                  <a:rPr lang="en-US" sz="2400" b="0" i="0" smtClean="0">
                                    <a:latin typeface="Cambria Math" panose="02040503050406030204" pitchFamily="18" charset="0"/>
                                  </a:rPr>
                                  <m:t>0</m:t>
                                </m:r>
                              </m:e>
                              <m:e>
                                <m:r>
                                  <m:rPr>
                                    <m:nor/>
                                  </m:rPr>
                                  <a:rPr lang="en-US" sz="2400">
                                    <a:latin typeface="Cambria Math" panose="02040503050406030204" pitchFamily="18" charset="0"/>
                                  </a:rPr>
                                  <m:t>1</m:t>
                                </m:r>
                              </m:e>
                            </m:mr>
                          </m:m>
                        </m:e>
                      </m:d>
                    </m:oMath>
                  </m:oMathPara>
                </a14:m>
                <a:endParaRPr lang="en-US" sz="2400" dirty="0"/>
              </a:p>
              <a:p>
                <a:endParaRPr lang="en-US" sz="2400" dirty="0"/>
              </a:p>
            </p:txBody>
          </p:sp>
        </mc:Choice>
        <mc:Fallback xmlns="">
          <p:sp>
            <p:nvSpPr>
              <p:cNvPr id="17" name="Rectangle 16">
                <a:extLst>
                  <a:ext uri="{FF2B5EF4-FFF2-40B4-BE49-F238E27FC236}">
                    <a16:creationId xmlns:a16="http://schemas.microsoft.com/office/drawing/2014/main" id="{BFB78DAD-26F3-8C4C-AE21-9DC358528AD9}"/>
                  </a:ext>
                </a:extLst>
              </p:cNvPr>
              <p:cNvSpPr>
                <a:spLocks noRot="1" noChangeAspect="1" noMove="1" noResize="1" noEditPoints="1" noAdjustHandles="1" noChangeArrowheads="1" noChangeShapeType="1" noTextEdit="1"/>
              </p:cNvSpPr>
              <p:nvPr/>
            </p:nvSpPr>
            <p:spPr>
              <a:xfrm>
                <a:off x="7017170" y="2923275"/>
                <a:ext cx="4400948" cy="1207190"/>
              </a:xfrm>
              <a:prstGeom prst="rect">
                <a:avLst/>
              </a:prstGeom>
              <a:blipFill>
                <a:blip r:embed="rId10"/>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68A208B7-4CEF-D44D-A363-8DAA42830BFA}"/>
              </a:ext>
            </a:extLst>
          </p:cNvPr>
          <p:cNvSpPr txBox="1"/>
          <p:nvPr/>
        </p:nvSpPr>
        <p:spPr>
          <a:xfrm>
            <a:off x="7632636" y="2496317"/>
            <a:ext cx="346570" cy="523220"/>
          </a:xfrm>
          <a:prstGeom prst="rect">
            <a:avLst/>
          </a:prstGeom>
          <a:noFill/>
        </p:spPr>
        <p:txBody>
          <a:bodyPr wrap="square" rtlCol="0">
            <a:spAutoFit/>
          </a:bodyPr>
          <a:lstStyle/>
          <a:p>
            <a:r>
              <a:rPr lang="en-US" sz="2800" dirty="0">
                <a:latin typeface="+mj-lt"/>
              </a:rPr>
              <a:t>T</a:t>
            </a:r>
          </a:p>
        </p:txBody>
      </p:sp>
      <p:sp>
        <p:nvSpPr>
          <p:cNvPr id="19" name="TextBox 18">
            <a:extLst>
              <a:ext uri="{FF2B5EF4-FFF2-40B4-BE49-F238E27FC236}">
                <a16:creationId xmlns:a16="http://schemas.microsoft.com/office/drawing/2014/main" id="{3F6BD0EF-200F-EC43-B40D-1A23F522D1EB}"/>
              </a:ext>
            </a:extLst>
          </p:cNvPr>
          <p:cNvSpPr txBox="1"/>
          <p:nvPr/>
        </p:nvSpPr>
        <p:spPr>
          <a:xfrm>
            <a:off x="8878995" y="2460511"/>
            <a:ext cx="583191" cy="523220"/>
          </a:xfrm>
          <a:prstGeom prst="rect">
            <a:avLst/>
          </a:prstGeom>
          <a:noFill/>
        </p:spPr>
        <p:txBody>
          <a:bodyPr wrap="square" rtlCol="0">
            <a:spAutoFit/>
          </a:bodyPr>
          <a:lstStyle/>
          <a:p>
            <a:r>
              <a:rPr lang="en-US" sz="2800" dirty="0">
                <a:latin typeface="+mj-lt"/>
              </a:rPr>
              <a:t>T</a:t>
            </a:r>
            <a:r>
              <a:rPr lang="en-US" sz="2800" baseline="30000" dirty="0">
                <a:latin typeface="+mj-lt"/>
              </a:rPr>
              <a:t>†</a:t>
            </a:r>
          </a:p>
        </p:txBody>
      </p:sp>
      <p:sp>
        <p:nvSpPr>
          <p:cNvPr id="20" name="TextBox 19">
            <a:extLst>
              <a:ext uri="{FF2B5EF4-FFF2-40B4-BE49-F238E27FC236}">
                <a16:creationId xmlns:a16="http://schemas.microsoft.com/office/drawing/2014/main" id="{14672AA9-3659-3249-B68A-4F1B96E04DD5}"/>
              </a:ext>
            </a:extLst>
          </p:cNvPr>
          <p:cNvSpPr txBox="1"/>
          <p:nvPr/>
        </p:nvSpPr>
        <p:spPr>
          <a:xfrm>
            <a:off x="10529301" y="2400055"/>
            <a:ext cx="272832" cy="523220"/>
          </a:xfrm>
          <a:prstGeom prst="rect">
            <a:avLst/>
          </a:prstGeom>
          <a:noFill/>
        </p:spPr>
        <p:txBody>
          <a:bodyPr wrap="none" rtlCol="0">
            <a:spAutoFit/>
          </a:bodyPr>
          <a:lstStyle/>
          <a:p>
            <a:r>
              <a:rPr lang="en-US" sz="2800" dirty="0">
                <a:latin typeface="+mj-lt"/>
              </a:rPr>
              <a:t>I</a:t>
            </a:r>
          </a:p>
        </p:txBody>
      </p:sp>
      <p:cxnSp>
        <p:nvCxnSpPr>
          <p:cNvPr id="27" name="Straight Connector 26">
            <a:extLst>
              <a:ext uri="{FF2B5EF4-FFF2-40B4-BE49-F238E27FC236}">
                <a16:creationId xmlns:a16="http://schemas.microsoft.com/office/drawing/2014/main" id="{7F71976D-4A54-BC47-B8D5-BDF855BF7FDC}"/>
              </a:ext>
            </a:extLst>
          </p:cNvPr>
          <p:cNvCxnSpPr>
            <a:cxnSpLocks/>
          </p:cNvCxnSpPr>
          <p:nvPr/>
        </p:nvCxnSpPr>
        <p:spPr>
          <a:xfrm>
            <a:off x="609220" y="5456234"/>
            <a:ext cx="47378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0160C2F9-09EA-3C40-B5D7-3A062147F571}"/>
              </a:ext>
            </a:extLst>
          </p:cNvPr>
          <p:cNvSpPr/>
          <p:nvPr/>
        </p:nvSpPr>
        <p:spPr>
          <a:xfrm>
            <a:off x="1095021" y="5081722"/>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T</a:t>
            </a:r>
          </a:p>
        </p:txBody>
      </p:sp>
      <p:sp>
        <p:nvSpPr>
          <p:cNvPr id="29" name="Rectangle 28">
            <a:extLst>
              <a:ext uri="{FF2B5EF4-FFF2-40B4-BE49-F238E27FC236}">
                <a16:creationId xmlns:a16="http://schemas.microsoft.com/office/drawing/2014/main" id="{273BC7E4-8546-DB43-BC42-F2FF22AF095E}"/>
              </a:ext>
            </a:extLst>
          </p:cNvPr>
          <p:cNvSpPr/>
          <p:nvPr/>
        </p:nvSpPr>
        <p:spPr>
          <a:xfrm>
            <a:off x="4201850" y="5096233"/>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T</a:t>
            </a:r>
            <a:r>
              <a:rPr lang="en-US" sz="4000" baseline="30000" dirty="0">
                <a:solidFill>
                  <a:schemeClr val="tx1"/>
                </a:solidFill>
                <a:latin typeface="Times" pitchFamily="2" charset="0"/>
              </a:rPr>
              <a:t>†</a:t>
            </a:r>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496ACF06-A01D-3F42-9C23-0DD4A12B87A4}"/>
                  </a:ext>
                </a:extLst>
              </p:cNvPr>
              <p:cNvSpPr/>
              <p:nvPr/>
            </p:nvSpPr>
            <p:spPr>
              <a:xfrm>
                <a:off x="5409121" y="5133068"/>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30" name="Rectangle 29">
                <a:extLst>
                  <a:ext uri="{FF2B5EF4-FFF2-40B4-BE49-F238E27FC236}">
                    <a16:creationId xmlns:a16="http://schemas.microsoft.com/office/drawing/2014/main" id="{496ACF06-A01D-3F42-9C23-0DD4A12B87A4}"/>
                  </a:ext>
                </a:extLst>
              </p:cNvPr>
              <p:cNvSpPr>
                <a:spLocks noRot="1" noChangeAspect="1" noMove="1" noResize="1" noEditPoints="1" noAdjustHandles="1" noChangeArrowheads="1" noChangeShapeType="1" noTextEdit="1"/>
              </p:cNvSpPr>
              <p:nvPr/>
            </p:nvSpPr>
            <p:spPr>
              <a:xfrm>
                <a:off x="5409121" y="5133068"/>
                <a:ext cx="633507" cy="646331"/>
              </a:xfrm>
              <a:prstGeom prst="rect">
                <a:avLst/>
              </a:prstGeom>
              <a:blipFill>
                <a:blip r:embed="rId11"/>
                <a:stretch>
                  <a:fillRect/>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AD52DBD0-13DB-7946-822A-DC411A20C0D1}"/>
              </a:ext>
            </a:extLst>
          </p:cNvPr>
          <p:cNvSpPr/>
          <p:nvPr/>
        </p:nvSpPr>
        <p:spPr>
          <a:xfrm>
            <a:off x="6297170" y="5081722"/>
            <a:ext cx="720000" cy="720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I</a:t>
            </a:r>
          </a:p>
        </p:txBody>
      </p:sp>
      <p:sp>
        <p:nvSpPr>
          <p:cNvPr id="32" name="Rectangle 31">
            <a:extLst>
              <a:ext uri="{FF2B5EF4-FFF2-40B4-BE49-F238E27FC236}">
                <a16:creationId xmlns:a16="http://schemas.microsoft.com/office/drawing/2014/main" id="{962F037D-8B34-7A4D-844C-6F8AED7DAB91}"/>
              </a:ext>
            </a:extLst>
          </p:cNvPr>
          <p:cNvSpPr>
            <a:spLocks noChangeAspect="1"/>
          </p:cNvSpPr>
          <p:nvPr/>
        </p:nvSpPr>
        <p:spPr>
          <a:xfrm>
            <a:off x="2107918" y="5081722"/>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33" name="Rectangle 32">
            <a:extLst>
              <a:ext uri="{FF2B5EF4-FFF2-40B4-BE49-F238E27FC236}">
                <a16:creationId xmlns:a16="http://schemas.microsoft.com/office/drawing/2014/main" id="{35E93EB5-61FD-2B45-8722-AC0CBB6A3213}"/>
              </a:ext>
            </a:extLst>
          </p:cNvPr>
          <p:cNvSpPr>
            <a:spLocks noChangeAspect="1"/>
          </p:cNvSpPr>
          <p:nvPr/>
        </p:nvSpPr>
        <p:spPr>
          <a:xfrm>
            <a:off x="3189109" y="5096233"/>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Tree>
    <p:extLst>
      <p:ext uri="{BB962C8B-B14F-4D97-AF65-F5344CB8AC3E}">
        <p14:creationId xmlns:p14="http://schemas.microsoft.com/office/powerpoint/2010/main" val="502985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9009315F-E8F4-8145-8177-2C9FBC22B90D}"/>
              </a:ext>
            </a:extLst>
          </p:cNvPr>
          <p:cNvCxnSpPr>
            <a:cxnSpLocks/>
          </p:cNvCxnSpPr>
          <p:nvPr/>
        </p:nvCxnSpPr>
        <p:spPr>
          <a:xfrm>
            <a:off x="41412" y="1927126"/>
            <a:ext cx="33834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E3ADA28-26C5-D848-B8BF-E2B0C815627D}"/>
              </a:ext>
            </a:extLst>
          </p:cNvPr>
          <p:cNvSpPr>
            <a:spLocks noGrp="1"/>
          </p:cNvSpPr>
          <p:nvPr>
            <p:ph type="title"/>
          </p:nvPr>
        </p:nvSpPr>
        <p:spPr/>
        <p:txBody>
          <a:bodyPr/>
          <a:lstStyle/>
          <a:p>
            <a:r>
              <a:rPr lang="en-ZA" dirty="0"/>
              <a:t>Simplifying Gate Sequences</a:t>
            </a:r>
            <a:endParaRPr lang="en-US" dirty="0"/>
          </a:p>
        </p:txBody>
      </p:sp>
      <p:sp>
        <p:nvSpPr>
          <p:cNvPr id="3" name="Slide Number Placeholder 2">
            <a:extLst>
              <a:ext uri="{FF2B5EF4-FFF2-40B4-BE49-F238E27FC236}">
                <a16:creationId xmlns:a16="http://schemas.microsoft.com/office/drawing/2014/main" id="{BAAB2B59-6FDE-C049-A10C-01AA69530BC0}"/>
              </a:ext>
            </a:extLst>
          </p:cNvPr>
          <p:cNvSpPr>
            <a:spLocks noGrp="1"/>
          </p:cNvSpPr>
          <p:nvPr>
            <p:ph type="sldNum" sz="quarter" idx="12"/>
          </p:nvPr>
        </p:nvSpPr>
        <p:spPr/>
        <p:txBody>
          <a:bodyPr/>
          <a:lstStyle/>
          <a:p>
            <a:fld id="{591A223C-FA10-BC46-A853-03BA373D023C}" type="slidenum">
              <a:rPr lang="en-US" smtClean="0"/>
              <a:t>5</a:t>
            </a:fld>
            <a:endParaRPr lang="en-US"/>
          </a:p>
        </p:txBody>
      </p:sp>
      <p:sp>
        <p:nvSpPr>
          <p:cNvPr id="5" name="Rectangle 4">
            <a:extLst>
              <a:ext uri="{FF2B5EF4-FFF2-40B4-BE49-F238E27FC236}">
                <a16:creationId xmlns:a16="http://schemas.microsoft.com/office/drawing/2014/main" id="{A5F4F05F-8A35-ED42-B72A-CDA2A3802AF4}"/>
              </a:ext>
            </a:extLst>
          </p:cNvPr>
          <p:cNvSpPr/>
          <p:nvPr/>
        </p:nvSpPr>
        <p:spPr>
          <a:xfrm>
            <a:off x="4467464" y="1548760"/>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Z</a:t>
            </a:r>
          </a:p>
        </p:txBody>
      </p:sp>
      <p:sp>
        <p:nvSpPr>
          <p:cNvPr id="4" name="Rectangle 3">
            <a:extLst>
              <a:ext uri="{FF2B5EF4-FFF2-40B4-BE49-F238E27FC236}">
                <a16:creationId xmlns:a16="http://schemas.microsoft.com/office/drawing/2014/main" id="{B44D8F48-8396-7345-9A76-D61EFA18DB6E}"/>
              </a:ext>
            </a:extLst>
          </p:cNvPr>
          <p:cNvSpPr>
            <a:spLocks noChangeAspect="1"/>
          </p:cNvSpPr>
          <p:nvPr/>
        </p:nvSpPr>
        <p:spPr>
          <a:xfrm>
            <a:off x="425708" y="156566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6" name="Oval 5">
            <a:extLst>
              <a:ext uri="{FF2B5EF4-FFF2-40B4-BE49-F238E27FC236}">
                <a16:creationId xmlns:a16="http://schemas.microsoft.com/office/drawing/2014/main" id="{BD36B21B-0019-B440-848D-02CAFC9D3B84}"/>
              </a:ext>
            </a:extLst>
          </p:cNvPr>
          <p:cNvSpPr/>
          <p:nvPr/>
        </p:nvSpPr>
        <p:spPr>
          <a:xfrm>
            <a:off x="1373115" y="156566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7" name="Rectangle 6">
            <a:extLst>
              <a:ext uri="{FF2B5EF4-FFF2-40B4-BE49-F238E27FC236}">
                <a16:creationId xmlns:a16="http://schemas.microsoft.com/office/drawing/2014/main" id="{73C25313-71D7-694F-97B8-F988A13A9E46}"/>
              </a:ext>
            </a:extLst>
          </p:cNvPr>
          <p:cNvSpPr>
            <a:spLocks noChangeAspect="1"/>
          </p:cNvSpPr>
          <p:nvPr/>
        </p:nvSpPr>
        <p:spPr>
          <a:xfrm>
            <a:off x="2343153" y="156566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9FD744A5-B362-E14D-9A7B-21A92BC9C3F1}"/>
                  </a:ext>
                </a:extLst>
              </p:cNvPr>
              <p:cNvSpPr/>
              <p:nvPr/>
            </p:nvSpPr>
            <p:spPr>
              <a:xfrm>
                <a:off x="5372374" y="1480432"/>
                <a:ext cx="6491457" cy="12246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m:rPr>
                              <m:nor/>
                            </m:rP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r>
                                <m:rPr>
                                  <m:nor/>
                                </m:rPr>
                                <a:rPr lang="en-US" sz="2400">
                                  <a:latin typeface="Cambria Math" panose="02040503050406030204" pitchFamily="18" charset="0"/>
                                </a:rPr>
                                <m:t>2</m:t>
                              </m:r>
                            </m:e>
                          </m:rad>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
                        </m:e>
                      </m:d>
                      <m:d>
                        <m:dPr>
                          <m:ctrlPr>
                            <a:rPr lang="en-US" sz="2400" i="1" smtClean="0">
                              <a:solidFill>
                                <a:srgbClr val="0000FF"/>
                              </a:solidFill>
                              <a:latin typeface="Cambria Math" panose="02040503050406030204" pitchFamily="18" charset="0"/>
                            </a:rPr>
                          </m:ctrlPr>
                        </m:dPr>
                        <m:e>
                          <m:m>
                            <m:mPr>
                              <m:plcHide m:val="on"/>
                              <m:mcs>
                                <m:mc>
                                  <m:mcPr>
                                    <m:count m:val="2"/>
                                    <m:mcJc m:val="center"/>
                                  </m:mcPr>
                                </m:mc>
                              </m:mcs>
                              <m:ctrlPr>
                                <a:rPr lang="en-US" sz="2400" i="1">
                                  <a:solidFill>
                                    <a:srgbClr val="0000FF"/>
                                  </a:solidFill>
                                  <a:latin typeface="Cambria Math" panose="02040503050406030204" pitchFamily="18" charset="0"/>
                                </a:rPr>
                              </m:ctrlPr>
                            </m:mPr>
                            <m:mr>
                              <m:e>
                                <m:r>
                                  <m:rPr>
                                    <m:nor/>
                                  </m:rPr>
                                  <a:rPr lang="en-US" sz="2400" b="0" i="0" smtClean="0">
                                    <a:solidFill>
                                      <a:srgbClr val="0000FF"/>
                                    </a:solidFill>
                                    <a:latin typeface="Cambria Math" panose="02040503050406030204" pitchFamily="18" charset="0"/>
                                  </a:rPr>
                                  <m:t>0</m:t>
                                </m:r>
                              </m:e>
                              <m:e>
                                <m:r>
                                  <m:rPr>
                                    <m:nor/>
                                  </m:rPr>
                                  <a:rPr lang="en-US" sz="2400">
                                    <a:solidFill>
                                      <a:srgbClr val="0000FF"/>
                                    </a:solidFill>
                                    <a:latin typeface="Cambria Math" panose="02040503050406030204" pitchFamily="18" charset="0"/>
                                  </a:rPr>
                                  <m:t>1</m:t>
                                </m:r>
                              </m:e>
                            </m:mr>
                            <m:mr>
                              <m:e>
                                <m:r>
                                  <m:rPr>
                                    <m:nor/>
                                  </m:rPr>
                                  <a:rPr lang="en-US" sz="2400">
                                    <a:solidFill>
                                      <a:srgbClr val="0000FF"/>
                                    </a:solidFill>
                                    <a:latin typeface="Cambria Math" panose="02040503050406030204" pitchFamily="18" charset="0"/>
                                  </a:rPr>
                                  <m:t>1</m:t>
                                </m:r>
                              </m:e>
                              <m:e>
                                <m:r>
                                  <m:rPr>
                                    <m:nor/>
                                  </m:rPr>
                                  <a:rPr lang="en-US" sz="2400" b="0" i="0" smtClean="0">
                                    <a:solidFill>
                                      <a:srgbClr val="0000FF"/>
                                    </a:solidFill>
                                    <a:latin typeface="Cambria Math" panose="02040503050406030204" pitchFamily="18" charset="0"/>
                                  </a:rPr>
                                  <m:t>0</m:t>
                                </m:r>
                              </m:e>
                            </m:mr>
                          </m:m>
                        </m:e>
                      </m:d>
                      <m:f>
                        <m:fPr>
                          <m:ctrlPr>
                            <a:rPr lang="en-US" sz="2400" i="1">
                              <a:latin typeface="Cambria Math" panose="02040503050406030204" pitchFamily="18" charset="0"/>
                            </a:rPr>
                          </m:ctrlPr>
                        </m:fPr>
                        <m:num>
                          <m:r>
                            <m:rPr>
                              <m:nor/>
                            </m:rP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r>
                                <m:rPr>
                                  <m:nor/>
                                </m:rPr>
                                <a:rPr lang="en-US" sz="2400">
                                  <a:latin typeface="Cambria Math" panose="02040503050406030204" pitchFamily="18" charset="0"/>
                                </a:rPr>
                                <m:t>2</m:t>
                              </m:r>
                            </m:e>
                          </m:rad>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
                        </m:e>
                      </m:d>
                      <m:r>
                        <a:rPr lang="en-US" sz="2400" b="0" i="1" smtClean="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b="0" i="0" smtClean="0">
                                    <a:latin typeface="Cambria Math" panose="02040503050406030204" pitchFamily="18" charset="0"/>
                                  </a:rPr>
                                  <m:t>1</m:t>
                                </m:r>
                              </m:e>
                              <m:e>
                                <m:r>
                                  <m:rPr>
                                    <m:nor/>
                                  </m:rPr>
                                  <a:rPr lang="en-US" sz="2400" b="0" i="0" smtClean="0">
                                    <a:latin typeface="Cambria Math" panose="02040503050406030204" pitchFamily="18" charset="0"/>
                                  </a:rPr>
                                  <m:t>0</m:t>
                                </m:r>
                              </m:e>
                            </m:mr>
                            <m:mr>
                              <m:e>
                                <m:r>
                                  <m:rPr>
                                    <m:nor/>
                                  </m:rPr>
                                  <a:rPr lang="en-US" sz="2400" b="0" i="0" smtClean="0">
                                    <a:latin typeface="Cambria Math" panose="02040503050406030204" pitchFamily="18" charset="0"/>
                                  </a:rPr>
                                  <m:t>0</m:t>
                                </m:r>
                              </m:e>
                              <m:e>
                                <m:r>
                                  <m:rPr>
                                    <m:nor/>
                                  </m:rPr>
                                  <a:rPr lang="en-US" sz="2400">
                                    <a:latin typeface="Cambria Math" panose="02040503050406030204" pitchFamily="18" charset="0"/>
                                  </a:rPr>
                                  <m:t>−1</m:t>
                                </m:r>
                              </m:e>
                            </m:mr>
                          </m:m>
                        </m:e>
                      </m:d>
                    </m:oMath>
                  </m:oMathPara>
                </a14:m>
                <a:endParaRPr lang="en-US" sz="2400" dirty="0"/>
              </a:p>
              <a:p>
                <a:endParaRPr lang="en-US" sz="2400" dirty="0"/>
              </a:p>
            </p:txBody>
          </p:sp>
        </mc:Choice>
        <mc:Fallback xmlns="">
          <p:sp>
            <p:nvSpPr>
              <p:cNvPr id="12" name="Rectangle 11">
                <a:extLst>
                  <a:ext uri="{FF2B5EF4-FFF2-40B4-BE49-F238E27FC236}">
                    <a16:creationId xmlns:a16="http://schemas.microsoft.com/office/drawing/2014/main" id="{9FD744A5-B362-E14D-9A7B-21A92BC9C3F1}"/>
                  </a:ext>
                </a:extLst>
              </p:cNvPr>
              <p:cNvSpPr>
                <a:spLocks noRot="1" noChangeAspect="1" noMove="1" noResize="1" noEditPoints="1" noAdjustHandles="1" noChangeArrowheads="1" noChangeShapeType="1" noTextEdit="1"/>
              </p:cNvSpPr>
              <p:nvPr/>
            </p:nvSpPr>
            <p:spPr>
              <a:xfrm>
                <a:off x="5372374" y="1480432"/>
                <a:ext cx="6491457" cy="12246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E556F94-D14D-6F4A-B396-6B0805519B95}"/>
                  </a:ext>
                </a:extLst>
              </p:cNvPr>
              <p:cNvSpPr/>
              <p:nvPr/>
            </p:nvSpPr>
            <p:spPr>
              <a:xfrm>
                <a:off x="3565336" y="1602503"/>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14" name="Rectangle 13">
                <a:extLst>
                  <a:ext uri="{FF2B5EF4-FFF2-40B4-BE49-F238E27FC236}">
                    <a16:creationId xmlns:a16="http://schemas.microsoft.com/office/drawing/2014/main" id="{DE556F94-D14D-6F4A-B396-6B0805519B95}"/>
                  </a:ext>
                </a:extLst>
              </p:cNvPr>
              <p:cNvSpPr>
                <a:spLocks noRot="1" noChangeAspect="1" noMove="1" noResize="1" noEditPoints="1" noAdjustHandles="1" noChangeArrowheads="1" noChangeShapeType="1" noTextEdit="1"/>
              </p:cNvSpPr>
              <p:nvPr/>
            </p:nvSpPr>
            <p:spPr>
              <a:xfrm>
                <a:off x="3565336" y="1602503"/>
                <a:ext cx="633507" cy="646331"/>
              </a:xfrm>
              <a:prstGeom prst="rect">
                <a:avLst/>
              </a:prstGeom>
              <a:blipFill>
                <a:blip r:embed="rId4"/>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E72D7496-CAEE-4A4D-999E-4142DE02EF2A}"/>
              </a:ext>
            </a:extLst>
          </p:cNvPr>
          <p:cNvSpPr txBox="1"/>
          <p:nvPr/>
        </p:nvSpPr>
        <p:spPr>
          <a:xfrm>
            <a:off x="6409118" y="1042449"/>
            <a:ext cx="407484" cy="523220"/>
          </a:xfrm>
          <a:prstGeom prst="rect">
            <a:avLst/>
          </a:prstGeom>
          <a:noFill/>
        </p:spPr>
        <p:txBody>
          <a:bodyPr wrap="none" rtlCol="0">
            <a:spAutoFit/>
          </a:bodyPr>
          <a:lstStyle/>
          <a:p>
            <a:r>
              <a:rPr lang="en-US" sz="2800" dirty="0">
                <a:latin typeface="+mj-lt"/>
              </a:rPr>
              <a:t>H</a:t>
            </a:r>
          </a:p>
        </p:txBody>
      </p:sp>
      <p:sp>
        <p:nvSpPr>
          <p:cNvPr id="16" name="TextBox 15">
            <a:extLst>
              <a:ext uri="{FF2B5EF4-FFF2-40B4-BE49-F238E27FC236}">
                <a16:creationId xmlns:a16="http://schemas.microsoft.com/office/drawing/2014/main" id="{0A09633C-DC08-1747-AA44-1636CD9C0A80}"/>
              </a:ext>
            </a:extLst>
          </p:cNvPr>
          <p:cNvSpPr txBox="1"/>
          <p:nvPr/>
        </p:nvSpPr>
        <p:spPr>
          <a:xfrm>
            <a:off x="7629686" y="1063087"/>
            <a:ext cx="364202" cy="523220"/>
          </a:xfrm>
          <a:prstGeom prst="rect">
            <a:avLst/>
          </a:prstGeom>
          <a:noFill/>
        </p:spPr>
        <p:txBody>
          <a:bodyPr wrap="none" rtlCol="0">
            <a:spAutoFit/>
          </a:bodyPr>
          <a:lstStyle/>
          <a:p>
            <a:r>
              <a:rPr lang="en-US" sz="2800" dirty="0">
                <a:latin typeface="+mj-lt"/>
              </a:rPr>
              <a:t>X</a:t>
            </a:r>
          </a:p>
        </p:txBody>
      </p:sp>
      <p:sp>
        <p:nvSpPr>
          <p:cNvPr id="17" name="TextBox 16">
            <a:extLst>
              <a:ext uri="{FF2B5EF4-FFF2-40B4-BE49-F238E27FC236}">
                <a16:creationId xmlns:a16="http://schemas.microsoft.com/office/drawing/2014/main" id="{531AB488-919A-994E-B253-BFF2F2A7AEDE}"/>
              </a:ext>
            </a:extLst>
          </p:cNvPr>
          <p:cNvSpPr txBox="1"/>
          <p:nvPr/>
        </p:nvSpPr>
        <p:spPr>
          <a:xfrm>
            <a:off x="9063504" y="1042449"/>
            <a:ext cx="407484" cy="523220"/>
          </a:xfrm>
          <a:prstGeom prst="rect">
            <a:avLst/>
          </a:prstGeom>
          <a:noFill/>
        </p:spPr>
        <p:txBody>
          <a:bodyPr wrap="none" rtlCol="0">
            <a:spAutoFit/>
          </a:bodyPr>
          <a:lstStyle/>
          <a:p>
            <a:r>
              <a:rPr lang="en-US" sz="2800" dirty="0">
                <a:latin typeface="+mj-lt"/>
              </a:rPr>
              <a:t>H</a:t>
            </a:r>
          </a:p>
        </p:txBody>
      </p:sp>
      <p:sp>
        <p:nvSpPr>
          <p:cNvPr id="18" name="TextBox 17">
            <a:extLst>
              <a:ext uri="{FF2B5EF4-FFF2-40B4-BE49-F238E27FC236}">
                <a16:creationId xmlns:a16="http://schemas.microsoft.com/office/drawing/2014/main" id="{BC7509D8-F7D0-E443-896E-15861216C56A}"/>
              </a:ext>
            </a:extLst>
          </p:cNvPr>
          <p:cNvSpPr txBox="1"/>
          <p:nvPr/>
        </p:nvSpPr>
        <p:spPr>
          <a:xfrm>
            <a:off x="10638846" y="1025540"/>
            <a:ext cx="351378" cy="523220"/>
          </a:xfrm>
          <a:prstGeom prst="rect">
            <a:avLst/>
          </a:prstGeom>
          <a:noFill/>
        </p:spPr>
        <p:txBody>
          <a:bodyPr wrap="none" rtlCol="0">
            <a:spAutoFit/>
          </a:bodyPr>
          <a:lstStyle/>
          <a:p>
            <a:r>
              <a:rPr lang="en-US" sz="2800" dirty="0">
                <a:latin typeface="+mj-lt"/>
              </a:rPr>
              <a:t>Z</a:t>
            </a:r>
          </a:p>
        </p:txBody>
      </p:sp>
      <p:grpSp>
        <p:nvGrpSpPr>
          <p:cNvPr id="10" name="Group 9">
            <a:extLst>
              <a:ext uri="{FF2B5EF4-FFF2-40B4-BE49-F238E27FC236}">
                <a16:creationId xmlns:a16="http://schemas.microsoft.com/office/drawing/2014/main" id="{4D0B4F8C-4E89-0746-85B9-3CE527A6355F}"/>
              </a:ext>
            </a:extLst>
          </p:cNvPr>
          <p:cNvGrpSpPr/>
          <p:nvPr/>
        </p:nvGrpSpPr>
        <p:grpSpPr>
          <a:xfrm>
            <a:off x="96935" y="2774521"/>
            <a:ext cx="11822419" cy="1679523"/>
            <a:chOff x="156569" y="2496229"/>
            <a:chExt cx="11822419" cy="1679523"/>
          </a:xfrm>
        </p:grpSpPr>
        <p:cxnSp>
          <p:nvCxnSpPr>
            <p:cNvPr id="29" name="Straight Connector 28">
              <a:extLst>
                <a:ext uri="{FF2B5EF4-FFF2-40B4-BE49-F238E27FC236}">
                  <a16:creationId xmlns:a16="http://schemas.microsoft.com/office/drawing/2014/main" id="{3F531AEB-79EE-144C-9AE8-5C506540B8C1}"/>
                </a:ext>
              </a:extLst>
            </p:cNvPr>
            <p:cNvCxnSpPr>
              <a:cxnSpLocks/>
            </p:cNvCxnSpPr>
            <p:nvPr/>
          </p:nvCxnSpPr>
          <p:spPr>
            <a:xfrm>
              <a:off x="156569" y="3397815"/>
              <a:ext cx="33834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CC557701-01CE-1A49-8926-B12100AFB490}"/>
                </a:ext>
              </a:extLst>
            </p:cNvPr>
            <p:cNvSpPr/>
            <p:nvPr/>
          </p:nvSpPr>
          <p:spPr>
            <a:xfrm>
              <a:off x="1484794" y="3020842"/>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Z</a:t>
              </a:r>
            </a:p>
          </p:txBody>
        </p:sp>
        <p:sp>
          <p:nvSpPr>
            <p:cNvPr id="31" name="Rectangle 30">
              <a:extLst>
                <a:ext uri="{FF2B5EF4-FFF2-40B4-BE49-F238E27FC236}">
                  <a16:creationId xmlns:a16="http://schemas.microsoft.com/office/drawing/2014/main" id="{E4CC82C0-3D7F-4549-A720-27DB2BEAD2CB}"/>
                </a:ext>
              </a:extLst>
            </p:cNvPr>
            <p:cNvSpPr>
              <a:spLocks noChangeAspect="1"/>
            </p:cNvSpPr>
            <p:nvPr/>
          </p:nvSpPr>
          <p:spPr>
            <a:xfrm>
              <a:off x="540865" y="3036358"/>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32" name="Oval 31">
              <a:extLst>
                <a:ext uri="{FF2B5EF4-FFF2-40B4-BE49-F238E27FC236}">
                  <a16:creationId xmlns:a16="http://schemas.microsoft.com/office/drawing/2014/main" id="{5E06ED59-D7D9-4449-9414-59D48E121970}"/>
                </a:ext>
              </a:extLst>
            </p:cNvPr>
            <p:cNvSpPr/>
            <p:nvPr/>
          </p:nvSpPr>
          <p:spPr>
            <a:xfrm>
              <a:off x="4595140" y="3055458"/>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3" name="Rectangle 32">
              <a:extLst>
                <a:ext uri="{FF2B5EF4-FFF2-40B4-BE49-F238E27FC236}">
                  <a16:creationId xmlns:a16="http://schemas.microsoft.com/office/drawing/2014/main" id="{7E29F84A-2346-4441-A111-FC62BC64AA8B}"/>
                </a:ext>
              </a:extLst>
            </p:cNvPr>
            <p:cNvSpPr>
              <a:spLocks noChangeAspect="1"/>
            </p:cNvSpPr>
            <p:nvPr/>
          </p:nvSpPr>
          <p:spPr>
            <a:xfrm>
              <a:off x="2458310" y="3036358"/>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95193C00-17A5-F341-82C4-BA73FD663B1A}"/>
                    </a:ext>
                  </a:extLst>
                </p:cNvPr>
                <p:cNvSpPr/>
                <p:nvPr/>
              </p:nvSpPr>
              <p:spPr>
                <a:xfrm>
                  <a:off x="5487531" y="2951121"/>
                  <a:ext cx="6491457" cy="12246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m:rPr>
                                <m:nor/>
                              </m:rP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r>
                                  <m:rPr>
                                    <m:nor/>
                                  </m:rPr>
                                  <a:rPr lang="en-US" sz="2400">
                                    <a:latin typeface="Cambria Math" panose="02040503050406030204" pitchFamily="18" charset="0"/>
                                  </a:rPr>
                                  <m:t>2</m:t>
                                </m:r>
                              </m:e>
                            </m:rad>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
                          </m:e>
                        </m:d>
                        <m:d>
                          <m:dPr>
                            <m:ctrlPr>
                              <a:rPr lang="en-US" sz="2400" i="1" smtClean="0">
                                <a:solidFill>
                                  <a:srgbClr val="0000FF"/>
                                </a:solidFill>
                                <a:latin typeface="Cambria Math" panose="02040503050406030204" pitchFamily="18" charset="0"/>
                              </a:rPr>
                            </m:ctrlPr>
                          </m:dPr>
                          <m:e>
                            <m:m>
                              <m:mPr>
                                <m:plcHide m:val="on"/>
                                <m:mcs>
                                  <m:mc>
                                    <m:mcPr>
                                      <m:count m:val="2"/>
                                      <m:mcJc m:val="center"/>
                                    </m:mcPr>
                                  </m:mc>
                                </m:mcs>
                                <m:ctrlPr>
                                  <a:rPr lang="en-US" sz="2400" i="1">
                                    <a:solidFill>
                                      <a:srgbClr val="0000FF"/>
                                    </a:solidFill>
                                    <a:latin typeface="Cambria Math" panose="02040503050406030204" pitchFamily="18" charset="0"/>
                                  </a:rPr>
                                </m:ctrlPr>
                              </m:mPr>
                              <m:mr>
                                <m:e>
                                  <m:r>
                                    <m:rPr>
                                      <m:nor/>
                                    </m:rPr>
                                    <a:rPr lang="en-US" sz="2400" b="0" i="0" smtClean="0">
                                      <a:solidFill>
                                        <a:srgbClr val="0000FF"/>
                                      </a:solidFill>
                                      <a:latin typeface="Cambria Math" panose="02040503050406030204" pitchFamily="18" charset="0"/>
                                    </a:rPr>
                                    <m:t>1</m:t>
                                  </m:r>
                                </m:e>
                                <m:e>
                                  <m:r>
                                    <m:rPr>
                                      <m:nor/>
                                    </m:rPr>
                                    <a:rPr lang="en-US" sz="2400" b="0" i="0" smtClean="0">
                                      <a:solidFill>
                                        <a:srgbClr val="0000FF"/>
                                      </a:solidFill>
                                      <a:latin typeface="Cambria Math" panose="02040503050406030204" pitchFamily="18" charset="0"/>
                                    </a:rPr>
                                    <m:t>0</m:t>
                                  </m:r>
                                </m:e>
                              </m:mr>
                              <m:mr>
                                <m:e>
                                  <m:r>
                                    <a:rPr lang="en-US" sz="2400" b="0" i="1" smtClean="0">
                                      <a:solidFill>
                                        <a:srgbClr val="0000FF"/>
                                      </a:solidFill>
                                      <a:latin typeface="Cambria Math" panose="02040503050406030204" pitchFamily="18" charset="0"/>
                                    </a:rPr>
                                    <m:t>0</m:t>
                                  </m:r>
                                </m:e>
                                <m:e>
                                  <m:r>
                                    <m:rPr>
                                      <m:nor/>
                                    </m:rPr>
                                    <a:rPr lang="en-US" sz="2400" b="0" i="0" smtClean="0">
                                      <a:solidFill>
                                        <a:srgbClr val="0000FF"/>
                                      </a:solidFill>
                                      <a:latin typeface="Cambria Math" panose="02040503050406030204" pitchFamily="18" charset="0"/>
                                    </a:rPr>
                                    <m:t>−1</m:t>
                                  </m:r>
                                </m:e>
                              </m:mr>
                            </m:m>
                          </m:e>
                        </m:d>
                        <m:f>
                          <m:fPr>
                            <m:ctrlPr>
                              <a:rPr lang="en-US" sz="2400" i="1">
                                <a:latin typeface="Cambria Math" panose="02040503050406030204" pitchFamily="18" charset="0"/>
                              </a:rPr>
                            </m:ctrlPr>
                          </m:fPr>
                          <m:num>
                            <m:r>
                              <m:rPr>
                                <m:nor/>
                              </m:rP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r>
                                  <m:rPr>
                                    <m:nor/>
                                  </m:rPr>
                                  <a:rPr lang="en-US" sz="2400">
                                    <a:latin typeface="Cambria Math" panose="02040503050406030204" pitchFamily="18" charset="0"/>
                                  </a:rPr>
                                  <m:t>2</m:t>
                                </m:r>
                              </m:e>
                            </m:rad>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
                          </m:e>
                        </m:d>
                        <m:r>
                          <a:rPr lang="en-US" sz="2400" b="0" i="1" smtClean="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b="0" i="0" smtClean="0">
                                      <a:latin typeface="Cambria Math" panose="02040503050406030204" pitchFamily="18" charset="0"/>
                                    </a:rPr>
                                    <m:t>0</m:t>
                                  </m:r>
                                </m:e>
                                <m:e>
                                  <m:r>
                                    <m:rPr>
                                      <m:nor/>
                                    </m:rPr>
                                    <a:rPr lang="en-US" sz="2400" b="0" i="0" smtClean="0">
                                      <a:latin typeface="Cambria Math" panose="02040503050406030204" pitchFamily="18" charset="0"/>
                                    </a:rPr>
                                    <m:t>1</m:t>
                                  </m:r>
                                </m:e>
                              </m:mr>
                              <m:mr>
                                <m:e>
                                  <m:r>
                                    <m:rPr>
                                      <m:nor/>
                                    </m:rPr>
                                    <a:rPr lang="en-US" sz="2400" b="0" i="0" smtClean="0">
                                      <a:latin typeface="Cambria Math" panose="02040503050406030204" pitchFamily="18" charset="0"/>
                                    </a:rPr>
                                    <m:t>1</m:t>
                                  </m:r>
                                </m:e>
                                <m:e>
                                  <m:r>
                                    <a:rPr lang="en-US" sz="2400" b="0" i="1" smtClean="0">
                                      <a:latin typeface="Cambria Math" panose="02040503050406030204" pitchFamily="18" charset="0"/>
                                    </a:rPr>
                                    <m:t>0</m:t>
                                  </m:r>
                                </m:e>
                              </m:mr>
                            </m:m>
                          </m:e>
                        </m:d>
                      </m:oMath>
                    </m:oMathPara>
                  </a14:m>
                  <a:endParaRPr lang="en-US" sz="2400" dirty="0"/>
                </a:p>
                <a:p>
                  <a:endParaRPr lang="en-US" sz="2400" dirty="0"/>
                </a:p>
              </p:txBody>
            </p:sp>
          </mc:Choice>
          <mc:Fallback xmlns="">
            <p:sp>
              <p:nvSpPr>
                <p:cNvPr id="34" name="Rectangle 33">
                  <a:extLst>
                    <a:ext uri="{FF2B5EF4-FFF2-40B4-BE49-F238E27FC236}">
                      <a16:creationId xmlns:a16="http://schemas.microsoft.com/office/drawing/2014/main" id="{95193C00-17A5-F341-82C4-BA73FD663B1A}"/>
                    </a:ext>
                  </a:extLst>
                </p:cNvPr>
                <p:cNvSpPr>
                  <a:spLocks noRot="1" noChangeAspect="1" noMove="1" noResize="1" noEditPoints="1" noAdjustHandles="1" noChangeArrowheads="1" noChangeShapeType="1" noTextEdit="1"/>
                </p:cNvSpPr>
                <p:nvPr/>
              </p:nvSpPr>
              <p:spPr>
                <a:xfrm>
                  <a:off x="5487531" y="2951121"/>
                  <a:ext cx="6491457" cy="122463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A85D8157-8B01-8E41-9704-FA28D98A6CAE}"/>
                    </a:ext>
                  </a:extLst>
                </p:cNvPr>
                <p:cNvSpPr/>
                <p:nvPr/>
              </p:nvSpPr>
              <p:spPr>
                <a:xfrm>
                  <a:off x="3680493" y="3073192"/>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35" name="Rectangle 34">
                  <a:extLst>
                    <a:ext uri="{FF2B5EF4-FFF2-40B4-BE49-F238E27FC236}">
                      <a16:creationId xmlns:a16="http://schemas.microsoft.com/office/drawing/2014/main" id="{A85D8157-8B01-8E41-9704-FA28D98A6CAE}"/>
                    </a:ext>
                  </a:extLst>
                </p:cNvPr>
                <p:cNvSpPr>
                  <a:spLocks noRot="1" noChangeAspect="1" noMove="1" noResize="1" noEditPoints="1" noAdjustHandles="1" noChangeArrowheads="1" noChangeShapeType="1" noTextEdit="1"/>
                </p:cNvSpPr>
                <p:nvPr/>
              </p:nvSpPr>
              <p:spPr>
                <a:xfrm>
                  <a:off x="3680493" y="3073192"/>
                  <a:ext cx="633507" cy="646331"/>
                </a:xfrm>
                <a:prstGeom prst="rect">
                  <a:avLst/>
                </a:prstGeom>
                <a:blipFill>
                  <a:blip r:embed="rId6"/>
                  <a:stretch>
                    <a:fillRect/>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3AC91D0A-C089-184B-9971-949533102838}"/>
                </a:ext>
              </a:extLst>
            </p:cNvPr>
            <p:cNvSpPr txBox="1"/>
            <p:nvPr/>
          </p:nvSpPr>
          <p:spPr>
            <a:xfrm>
              <a:off x="6524275" y="2496229"/>
              <a:ext cx="407484" cy="523220"/>
            </a:xfrm>
            <a:prstGeom prst="rect">
              <a:avLst/>
            </a:prstGeom>
            <a:noFill/>
          </p:spPr>
          <p:txBody>
            <a:bodyPr wrap="none" rtlCol="0">
              <a:spAutoFit/>
            </a:bodyPr>
            <a:lstStyle/>
            <a:p>
              <a:r>
                <a:rPr lang="en-US" sz="2800" dirty="0">
                  <a:latin typeface="+mj-lt"/>
                </a:rPr>
                <a:t>H</a:t>
              </a:r>
            </a:p>
          </p:txBody>
        </p:sp>
        <p:sp>
          <p:nvSpPr>
            <p:cNvPr id="37" name="TextBox 36">
              <a:extLst>
                <a:ext uri="{FF2B5EF4-FFF2-40B4-BE49-F238E27FC236}">
                  <a16:creationId xmlns:a16="http://schemas.microsoft.com/office/drawing/2014/main" id="{07D8BEA8-6741-3F4D-9A50-DCE8068CA1E9}"/>
                </a:ext>
              </a:extLst>
            </p:cNvPr>
            <p:cNvSpPr txBox="1"/>
            <p:nvPr/>
          </p:nvSpPr>
          <p:spPr>
            <a:xfrm>
              <a:off x="7926944" y="2496229"/>
              <a:ext cx="364202" cy="523220"/>
            </a:xfrm>
            <a:prstGeom prst="rect">
              <a:avLst/>
            </a:prstGeom>
            <a:noFill/>
          </p:spPr>
          <p:txBody>
            <a:bodyPr wrap="none" rtlCol="0">
              <a:spAutoFit/>
            </a:bodyPr>
            <a:lstStyle/>
            <a:p>
              <a:r>
                <a:rPr lang="en-US" sz="2800" dirty="0">
                  <a:latin typeface="+mj-lt"/>
                </a:rPr>
                <a:t>Z</a:t>
              </a:r>
            </a:p>
          </p:txBody>
        </p:sp>
        <p:sp>
          <p:nvSpPr>
            <p:cNvPr id="38" name="TextBox 37">
              <a:extLst>
                <a:ext uri="{FF2B5EF4-FFF2-40B4-BE49-F238E27FC236}">
                  <a16:creationId xmlns:a16="http://schemas.microsoft.com/office/drawing/2014/main" id="{F80B5C57-F452-2B48-A2AE-E023735B96A7}"/>
                </a:ext>
              </a:extLst>
            </p:cNvPr>
            <p:cNvSpPr txBox="1"/>
            <p:nvPr/>
          </p:nvSpPr>
          <p:spPr>
            <a:xfrm>
              <a:off x="9359549" y="2496229"/>
              <a:ext cx="407484" cy="523220"/>
            </a:xfrm>
            <a:prstGeom prst="rect">
              <a:avLst/>
            </a:prstGeom>
            <a:noFill/>
          </p:spPr>
          <p:txBody>
            <a:bodyPr wrap="none" rtlCol="0">
              <a:spAutoFit/>
            </a:bodyPr>
            <a:lstStyle/>
            <a:p>
              <a:r>
                <a:rPr lang="en-US" sz="2800" dirty="0">
                  <a:latin typeface="+mj-lt"/>
                </a:rPr>
                <a:t>H</a:t>
              </a:r>
            </a:p>
          </p:txBody>
        </p:sp>
        <p:sp>
          <p:nvSpPr>
            <p:cNvPr id="39" name="TextBox 38">
              <a:extLst>
                <a:ext uri="{FF2B5EF4-FFF2-40B4-BE49-F238E27FC236}">
                  <a16:creationId xmlns:a16="http://schemas.microsoft.com/office/drawing/2014/main" id="{680B9D16-D027-B040-846A-B49088A9D889}"/>
                </a:ext>
              </a:extLst>
            </p:cNvPr>
            <p:cNvSpPr txBox="1"/>
            <p:nvPr/>
          </p:nvSpPr>
          <p:spPr>
            <a:xfrm>
              <a:off x="10754003" y="2496229"/>
              <a:ext cx="364202" cy="523220"/>
            </a:xfrm>
            <a:prstGeom prst="rect">
              <a:avLst/>
            </a:prstGeom>
            <a:noFill/>
          </p:spPr>
          <p:txBody>
            <a:bodyPr wrap="none" rtlCol="0">
              <a:spAutoFit/>
            </a:bodyPr>
            <a:lstStyle/>
            <a:p>
              <a:r>
                <a:rPr lang="en-US" sz="2800" dirty="0">
                  <a:latin typeface="+mj-lt"/>
                </a:rPr>
                <a:t>X</a:t>
              </a:r>
            </a:p>
          </p:txBody>
        </p:sp>
      </p:grpSp>
      <p:grpSp>
        <p:nvGrpSpPr>
          <p:cNvPr id="8" name="Group 7">
            <a:extLst>
              <a:ext uri="{FF2B5EF4-FFF2-40B4-BE49-F238E27FC236}">
                <a16:creationId xmlns:a16="http://schemas.microsoft.com/office/drawing/2014/main" id="{E0A85B41-CD0D-FF48-8542-7825FB7DE862}"/>
              </a:ext>
            </a:extLst>
          </p:cNvPr>
          <p:cNvGrpSpPr/>
          <p:nvPr/>
        </p:nvGrpSpPr>
        <p:grpSpPr>
          <a:xfrm>
            <a:off x="96935" y="4618159"/>
            <a:ext cx="12111377" cy="1629796"/>
            <a:chOff x="156569" y="4339867"/>
            <a:chExt cx="12111377" cy="1629796"/>
          </a:xfrm>
        </p:grpSpPr>
        <p:cxnSp>
          <p:nvCxnSpPr>
            <p:cNvPr id="43" name="Straight Connector 42">
              <a:extLst>
                <a:ext uri="{FF2B5EF4-FFF2-40B4-BE49-F238E27FC236}">
                  <a16:creationId xmlns:a16="http://schemas.microsoft.com/office/drawing/2014/main" id="{A2E79746-241A-CE4D-ACA3-69667AA3E533}"/>
                </a:ext>
              </a:extLst>
            </p:cNvPr>
            <p:cNvCxnSpPr>
              <a:cxnSpLocks/>
            </p:cNvCxnSpPr>
            <p:nvPr/>
          </p:nvCxnSpPr>
          <p:spPr>
            <a:xfrm>
              <a:off x="156569" y="5293583"/>
              <a:ext cx="33834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A84D2A03-8CEE-B249-AEFB-1D6A1C397465}"/>
                </a:ext>
              </a:extLst>
            </p:cNvPr>
            <p:cNvSpPr>
              <a:spLocks noChangeAspect="1"/>
            </p:cNvSpPr>
            <p:nvPr/>
          </p:nvSpPr>
          <p:spPr>
            <a:xfrm>
              <a:off x="540865" y="4932126"/>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47" name="Rectangle 46">
              <a:extLst>
                <a:ext uri="{FF2B5EF4-FFF2-40B4-BE49-F238E27FC236}">
                  <a16:creationId xmlns:a16="http://schemas.microsoft.com/office/drawing/2014/main" id="{049D7BE8-E929-F242-99A6-DB50EF578592}"/>
                </a:ext>
              </a:extLst>
            </p:cNvPr>
            <p:cNvSpPr>
              <a:spLocks noChangeAspect="1"/>
            </p:cNvSpPr>
            <p:nvPr/>
          </p:nvSpPr>
          <p:spPr>
            <a:xfrm>
              <a:off x="2458310" y="4932126"/>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1C20C41B-A07F-784F-9F12-01755154E264}"/>
                    </a:ext>
                  </a:extLst>
                </p:cNvPr>
                <p:cNvSpPr/>
                <p:nvPr/>
              </p:nvSpPr>
              <p:spPr>
                <a:xfrm>
                  <a:off x="3763904" y="4927350"/>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48" name="Rectangle 47">
                  <a:extLst>
                    <a:ext uri="{FF2B5EF4-FFF2-40B4-BE49-F238E27FC236}">
                      <a16:creationId xmlns:a16="http://schemas.microsoft.com/office/drawing/2014/main" id="{1C20C41B-A07F-784F-9F12-01755154E264}"/>
                    </a:ext>
                  </a:extLst>
                </p:cNvPr>
                <p:cNvSpPr>
                  <a:spLocks noRot="1" noChangeAspect="1" noMove="1" noResize="1" noEditPoints="1" noAdjustHandles="1" noChangeArrowheads="1" noChangeShapeType="1" noTextEdit="1"/>
                </p:cNvSpPr>
                <p:nvPr/>
              </p:nvSpPr>
              <p:spPr>
                <a:xfrm>
                  <a:off x="3763904" y="4927350"/>
                  <a:ext cx="633507" cy="646331"/>
                </a:xfrm>
                <a:prstGeom prst="rect">
                  <a:avLst/>
                </a:prstGeom>
                <a:blipFill>
                  <a:blip r:embed="rId7"/>
                  <a:stretch>
                    <a:fillRect/>
                  </a:stretch>
                </a:blipFill>
              </p:spPr>
              <p:txBody>
                <a:bodyPr/>
                <a:lstStyle/>
                <a:p>
                  <a:r>
                    <a:rPr lang="en-US">
                      <a:noFill/>
                    </a:rPr>
                    <a:t> </a:t>
                  </a:r>
                </a:p>
              </p:txBody>
            </p:sp>
          </mc:Fallback>
        </mc:AlternateContent>
        <p:sp>
          <p:nvSpPr>
            <p:cNvPr id="49" name="TextBox 48">
              <a:extLst>
                <a:ext uri="{FF2B5EF4-FFF2-40B4-BE49-F238E27FC236}">
                  <a16:creationId xmlns:a16="http://schemas.microsoft.com/office/drawing/2014/main" id="{78D4754A-630E-D344-B632-E35E2D263ED9}"/>
                </a:ext>
              </a:extLst>
            </p:cNvPr>
            <p:cNvSpPr txBox="1"/>
            <p:nvPr/>
          </p:nvSpPr>
          <p:spPr>
            <a:xfrm>
              <a:off x="6711986" y="4339867"/>
              <a:ext cx="407484" cy="523220"/>
            </a:xfrm>
            <a:prstGeom prst="rect">
              <a:avLst/>
            </a:prstGeom>
            <a:noFill/>
          </p:spPr>
          <p:txBody>
            <a:bodyPr wrap="none" rtlCol="0">
              <a:spAutoFit/>
            </a:bodyPr>
            <a:lstStyle/>
            <a:p>
              <a:r>
                <a:rPr lang="en-US" sz="2800" dirty="0">
                  <a:latin typeface="+mj-lt"/>
                </a:rPr>
                <a:t>H</a:t>
              </a:r>
            </a:p>
          </p:txBody>
        </p:sp>
        <p:sp>
          <p:nvSpPr>
            <p:cNvPr id="50" name="TextBox 49">
              <a:extLst>
                <a:ext uri="{FF2B5EF4-FFF2-40B4-BE49-F238E27FC236}">
                  <a16:creationId xmlns:a16="http://schemas.microsoft.com/office/drawing/2014/main" id="{85144A06-E025-104F-9DF2-1ED33D94D78A}"/>
                </a:ext>
              </a:extLst>
            </p:cNvPr>
            <p:cNvSpPr txBox="1"/>
            <p:nvPr/>
          </p:nvSpPr>
          <p:spPr>
            <a:xfrm>
              <a:off x="7932554" y="4360505"/>
              <a:ext cx="352982" cy="523220"/>
            </a:xfrm>
            <a:prstGeom prst="rect">
              <a:avLst/>
            </a:prstGeom>
            <a:noFill/>
          </p:spPr>
          <p:txBody>
            <a:bodyPr wrap="none" rtlCol="0">
              <a:spAutoFit/>
            </a:bodyPr>
            <a:lstStyle/>
            <a:p>
              <a:r>
                <a:rPr lang="en-US" sz="2800" dirty="0">
                  <a:latin typeface="+mj-lt"/>
                </a:rPr>
                <a:t>S</a:t>
              </a:r>
            </a:p>
          </p:txBody>
        </p:sp>
        <p:sp>
          <p:nvSpPr>
            <p:cNvPr id="51" name="TextBox 50">
              <a:extLst>
                <a:ext uri="{FF2B5EF4-FFF2-40B4-BE49-F238E27FC236}">
                  <a16:creationId xmlns:a16="http://schemas.microsoft.com/office/drawing/2014/main" id="{0A11611A-8C3B-094A-8195-3FD2F2856577}"/>
                </a:ext>
              </a:extLst>
            </p:cNvPr>
            <p:cNvSpPr txBox="1"/>
            <p:nvPr/>
          </p:nvSpPr>
          <p:spPr>
            <a:xfrm>
              <a:off x="9178661" y="4339867"/>
              <a:ext cx="595195" cy="523220"/>
            </a:xfrm>
            <a:prstGeom prst="rect">
              <a:avLst/>
            </a:prstGeom>
            <a:noFill/>
          </p:spPr>
          <p:txBody>
            <a:bodyPr wrap="square" rtlCol="0">
              <a:spAutoFit/>
            </a:bodyPr>
            <a:lstStyle/>
            <a:p>
              <a:r>
                <a:rPr lang="en-US" sz="2800" dirty="0">
                  <a:latin typeface="+mj-lt"/>
                </a:rPr>
                <a:t>H</a:t>
              </a:r>
            </a:p>
          </p:txBody>
        </p:sp>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2BD75F20-0171-784D-9369-FB40BAFD3909}"/>
                    </a:ext>
                  </a:extLst>
                </p:cNvPr>
                <p:cNvSpPr/>
                <p:nvPr/>
              </p:nvSpPr>
              <p:spPr>
                <a:xfrm>
                  <a:off x="5240638" y="4745032"/>
                  <a:ext cx="7027308" cy="12246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m:rPr>
                                <m:nor/>
                              </m:rP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r>
                                  <m:rPr>
                                    <m:nor/>
                                  </m:rPr>
                                  <a:rPr lang="en-US" sz="2400">
                                    <a:latin typeface="Cambria Math" panose="02040503050406030204" pitchFamily="18" charset="0"/>
                                  </a:rPr>
                                  <m:t>2</m:t>
                                </m:r>
                              </m:e>
                            </m:rad>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
                          </m:e>
                        </m:d>
                        <m:d>
                          <m:dPr>
                            <m:ctrlPr>
                              <a:rPr lang="en-US" sz="2400" i="1" smtClean="0">
                                <a:solidFill>
                                  <a:srgbClr val="0000FF"/>
                                </a:solidFill>
                                <a:latin typeface="Cambria Math" panose="02040503050406030204" pitchFamily="18" charset="0"/>
                              </a:rPr>
                            </m:ctrlPr>
                          </m:dPr>
                          <m:e>
                            <m:m>
                              <m:mPr>
                                <m:plcHide m:val="on"/>
                                <m:mcs>
                                  <m:mc>
                                    <m:mcPr>
                                      <m:count m:val="2"/>
                                      <m:mcJc m:val="center"/>
                                    </m:mcPr>
                                  </m:mc>
                                </m:mcs>
                                <m:ctrlPr>
                                  <a:rPr lang="en-US" sz="2400" i="1">
                                    <a:solidFill>
                                      <a:srgbClr val="0000FF"/>
                                    </a:solidFill>
                                    <a:latin typeface="Cambria Math" panose="02040503050406030204" pitchFamily="18" charset="0"/>
                                  </a:rPr>
                                </m:ctrlPr>
                              </m:mPr>
                              <m:mr>
                                <m:e>
                                  <m:r>
                                    <a:rPr lang="en-US" sz="2400" b="0" i="1" smtClean="0">
                                      <a:solidFill>
                                        <a:srgbClr val="0000FF"/>
                                      </a:solidFill>
                                      <a:latin typeface="Cambria Math" panose="02040503050406030204" pitchFamily="18" charset="0"/>
                                    </a:rPr>
                                    <m:t>1</m:t>
                                  </m:r>
                                </m:e>
                                <m:e>
                                  <m:r>
                                    <a:rPr lang="en-US" sz="2400" i="1">
                                      <a:solidFill>
                                        <a:srgbClr val="0000FF"/>
                                      </a:solidFill>
                                      <a:latin typeface="Cambria Math" panose="02040503050406030204" pitchFamily="18" charset="0"/>
                                    </a:rPr>
                                    <m:t>0</m:t>
                                  </m:r>
                                </m:e>
                              </m:mr>
                              <m:mr>
                                <m:e>
                                  <m:r>
                                    <a:rPr lang="en-US" sz="2400" b="0" i="1" smtClean="0">
                                      <a:solidFill>
                                        <a:srgbClr val="0000FF"/>
                                      </a:solidFill>
                                      <a:latin typeface="Cambria Math" panose="02040503050406030204" pitchFamily="18" charset="0"/>
                                    </a:rPr>
                                    <m:t>0</m:t>
                                  </m:r>
                                </m:e>
                                <m:e>
                                  <m:r>
                                    <m:rPr>
                                      <m:nor/>
                                    </m:rPr>
                                    <a:rPr lang="en-US" sz="2400" b="0" i="0" smtClean="0">
                                      <a:solidFill>
                                        <a:srgbClr val="0000FF"/>
                                      </a:solidFill>
                                      <a:latin typeface="Cambria Math" panose="02040503050406030204" pitchFamily="18" charset="0"/>
                                    </a:rPr>
                                    <m:t>i</m:t>
                                  </m:r>
                                </m:e>
                              </m:mr>
                            </m:m>
                          </m:e>
                        </m:d>
                        <m:f>
                          <m:fPr>
                            <m:ctrlPr>
                              <a:rPr lang="en-US" sz="2400" i="1">
                                <a:latin typeface="Cambria Math" panose="02040503050406030204" pitchFamily="18" charset="0"/>
                              </a:rPr>
                            </m:ctrlPr>
                          </m:fPr>
                          <m:num>
                            <m:r>
                              <m:rPr>
                                <m:nor/>
                              </m:rP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r>
                                  <m:rPr>
                                    <m:nor/>
                                  </m:rPr>
                                  <a:rPr lang="en-US" sz="2400">
                                    <a:latin typeface="Cambria Math" panose="02040503050406030204" pitchFamily="18" charset="0"/>
                                  </a:rPr>
                                  <m:t>2</m:t>
                                </m:r>
                              </m:e>
                            </m:rad>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
                          </m:e>
                        </m:d>
                        <m:r>
                          <a:rPr lang="en-US" sz="2400" b="0" i="1" smtClean="0">
                            <a:latin typeface="Cambria Math" panose="02040503050406030204" pitchFamily="18" charset="0"/>
                          </a:rPr>
                          <m:t>=</m:t>
                        </m:r>
                        <m:f>
                          <m:fPr>
                            <m:ctrlPr>
                              <a:rPr lang="en-US" sz="2400" i="1">
                                <a:latin typeface="Cambria Math" panose="02040503050406030204" pitchFamily="18" charset="0"/>
                              </a:rPr>
                            </m:ctrlPr>
                          </m:fPr>
                          <m:num>
                            <m:r>
                              <m:rPr>
                                <m:nor/>
                              </m:rPr>
                              <a:rPr lang="en-US" sz="2400">
                                <a:latin typeface="Cambria Math" panose="02040503050406030204" pitchFamily="18" charset="0"/>
                              </a:rPr>
                              <m:t>1</m:t>
                            </m:r>
                          </m:num>
                          <m:den>
                            <m:r>
                              <a:rPr lang="en-US" sz="2400" b="0" i="1" smtClean="0">
                                <a:latin typeface="Cambria Math" panose="02040503050406030204" pitchFamily="18" charset="0"/>
                              </a:rPr>
                              <m:t>2</m:t>
                            </m:r>
                          </m:den>
                        </m:f>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r>
                                    <a:rPr lang="sr-Latn-RS" sz="2400" i="1">
                                      <a:latin typeface="Cambria Math" panose="02040503050406030204" pitchFamily="18" charset="0"/>
                                    </a:rPr>
                                    <m:t>1+</m:t>
                                  </m:r>
                                  <m:r>
                                    <a:rPr lang="sr-Latn-RS" sz="2400" i="1">
                                      <a:latin typeface="Cambria Math" panose="02040503050406030204" pitchFamily="18" charset="0"/>
                                    </a:rPr>
                                    <m:t>𝑖</m:t>
                                  </m:r>
                                </m:e>
                                <m:e>
                                  <m:r>
                                    <a:rPr lang="sr-Latn-RS" sz="2400" i="1">
                                      <a:latin typeface="Cambria Math" panose="02040503050406030204" pitchFamily="18" charset="0"/>
                                    </a:rPr>
                                    <m:t>1−</m:t>
                                  </m:r>
                                  <m:r>
                                    <a:rPr lang="sr-Latn-RS" sz="2400" i="1">
                                      <a:latin typeface="Cambria Math" panose="02040503050406030204" pitchFamily="18" charset="0"/>
                                    </a:rPr>
                                    <m:t>𝑖</m:t>
                                  </m:r>
                                </m:e>
                              </m:mr>
                              <m:mr>
                                <m:e>
                                  <m:r>
                                    <a:rPr lang="sr-Latn-RS" sz="2400" i="1">
                                      <a:latin typeface="Cambria Math" panose="02040503050406030204" pitchFamily="18" charset="0"/>
                                    </a:rPr>
                                    <m:t>1−</m:t>
                                  </m:r>
                                  <m:r>
                                    <a:rPr lang="sr-Latn-RS" sz="2400" i="1">
                                      <a:latin typeface="Cambria Math" panose="02040503050406030204" pitchFamily="18" charset="0"/>
                                    </a:rPr>
                                    <m:t>𝑖</m:t>
                                  </m:r>
                                </m:e>
                                <m:e>
                                  <m:r>
                                    <a:rPr lang="sr-Latn-RS" sz="2400" i="1">
                                      <a:latin typeface="Cambria Math" panose="02040503050406030204" pitchFamily="18" charset="0"/>
                                    </a:rPr>
                                    <m:t>1+</m:t>
                                  </m:r>
                                  <m:r>
                                    <a:rPr lang="sr-Latn-RS" sz="2400" i="1">
                                      <a:latin typeface="Cambria Math" panose="02040503050406030204" pitchFamily="18" charset="0"/>
                                    </a:rPr>
                                    <m:t>𝑖</m:t>
                                  </m:r>
                                </m:e>
                              </m:mr>
                            </m:m>
                          </m:e>
                        </m:d>
                      </m:oMath>
                    </m:oMathPara>
                  </a14:m>
                  <a:endParaRPr lang="en-US" sz="2400" dirty="0"/>
                </a:p>
                <a:p>
                  <a:endParaRPr lang="en-US" sz="2400" dirty="0"/>
                </a:p>
              </p:txBody>
            </p:sp>
          </mc:Choice>
          <mc:Fallback xmlns="">
            <p:sp>
              <p:nvSpPr>
                <p:cNvPr id="53" name="Rectangle 52">
                  <a:extLst>
                    <a:ext uri="{FF2B5EF4-FFF2-40B4-BE49-F238E27FC236}">
                      <a16:creationId xmlns:a16="http://schemas.microsoft.com/office/drawing/2014/main" id="{2BD75F20-0171-784D-9369-FB40BAFD3909}"/>
                    </a:ext>
                  </a:extLst>
                </p:cNvPr>
                <p:cNvSpPr>
                  <a:spLocks noRot="1" noChangeAspect="1" noMove="1" noResize="1" noEditPoints="1" noAdjustHandles="1" noChangeArrowheads="1" noChangeShapeType="1" noTextEdit="1"/>
                </p:cNvSpPr>
                <p:nvPr/>
              </p:nvSpPr>
              <p:spPr>
                <a:xfrm>
                  <a:off x="5240638" y="4745032"/>
                  <a:ext cx="7027308" cy="122463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771E814E-7085-D84B-9F26-95D58C699E3A}"/>
                    </a:ext>
                  </a:extLst>
                </p:cNvPr>
                <p:cNvSpPr txBox="1"/>
                <p:nvPr/>
              </p:nvSpPr>
              <p:spPr>
                <a:xfrm>
                  <a:off x="10671790" y="4339867"/>
                  <a:ext cx="714781" cy="57111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ad>
                          <m:radPr>
                            <m:degHide m:val="on"/>
                            <m:ctrlPr>
                              <a:rPr lang="en-US" sz="2800" i="1">
                                <a:latin typeface="Cambria Math" panose="02040503050406030204" pitchFamily="18" charset="0"/>
                              </a:rPr>
                            </m:ctrlPr>
                          </m:radPr>
                          <m:deg/>
                          <m:e>
                            <m:r>
                              <a:rPr lang="en-US" sz="2800" i="1">
                                <a:latin typeface="Cambria Math" panose="02040503050406030204" pitchFamily="18" charset="0"/>
                              </a:rPr>
                              <m:t>𝑋</m:t>
                            </m:r>
                          </m:e>
                        </m:rad>
                      </m:oMath>
                    </m:oMathPara>
                  </a14:m>
                  <a:endParaRPr lang="en-US" sz="2800" dirty="0">
                    <a:solidFill>
                      <a:schemeClr val="bg1"/>
                    </a:solidFill>
                    <a:latin typeface="Times" pitchFamily="2" charset="0"/>
                  </a:endParaRPr>
                </a:p>
              </p:txBody>
            </p:sp>
          </mc:Choice>
          <mc:Fallback xmlns="">
            <p:sp>
              <p:nvSpPr>
                <p:cNvPr id="54" name="TextBox 53">
                  <a:extLst>
                    <a:ext uri="{FF2B5EF4-FFF2-40B4-BE49-F238E27FC236}">
                      <a16:creationId xmlns:a16="http://schemas.microsoft.com/office/drawing/2014/main" id="{771E814E-7085-D84B-9F26-95D58C699E3A}"/>
                    </a:ext>
                  </a:extLst>
                </p:cNvPr>
                <p:cNvSpPr txBox="1">
                  <a:spLocks noRot="1" noChangeAspect="1" noMove="1" noResize="1" noEditPoints="1" noAdjustHandles="1" noChangeArrowheads="1" noChangeShapeType="1" noTextEdit="1"/>
                </p:cNvSpPr>
                <p:nvPr/>
              </p:nvSpPr>
              <p:spPr>
                <a:xfrm>
                  <a:off x="10671790" y="4339867"/>
                  <a:ext cx="714781" cy="571118"/>
                </a:xfrm>
                <a:prstGeom prst="rect">
                  <a:avLst/>
                </a:prstGeom>
                <a:blipFill>
                  <a:blip r:embed="rId9"/>
                  <a:stretch>
                    <a:fillRect/>
                  </a:stretch>
                </a:blipFill>
              </p:spPr>
              <p:txBody>
                <a:bodyPr/>
                <a:lstStyle/>
                <a:p>
                  <a:r>
                    <a:rPr lang="en-US">
                      <a:noFill/>
                    </a:rPr>
                    <a:t> </a:t>
                  </a:r>
                </a:p>
              </p:txBody>
            </p:sp>
          </mc:Fallback>
        </mc:AlternateContent>
        <p:sp>
          <p:nvSpPr>
            <p:cNvPr id="40" name="Rectangle 39">
              <a:extLst>
                <a:ext uri="{FF2B5EF4-FFF2-40B4-BE49-F238E27FC236}">
                  <a16:creationId xmlns:a16="http://schemas.microsoft.com/office/drawing/2014/main" id="{F877362C-43A6-A541-9BD7-30A478363730}"/>
                </a:ext>
              </a:extLst>
            </p:cNvPr>
            <p:cNvSpPr/>
            <p:nvPr/>
          </p:nvSpPr>
          <p:spPr>
            <a:xfrm>
              <a:off x="1521196" y="4927350"/>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S</a:t>
              </a:r>
            </a:p>
          </p:txBody>
        </p:sp>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8B352F0D-4C09-3B4E-88C2-DE9B2BC3BE8D}"/>
                    </a:ext>
                  </a:extLst>
                </p:cNvPr>
                <p:cNvSpPr/>
                <p:nvPr/>
              </p:nvSpPr>
              <p:spPr>
                <a:xfrm>
                  <a:off x="4515788" y="4844391"/>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ad>
                          <m:radPr>
                            <m:degHide m:val="on"/>
                            <m:ctrlPr>
                              <a:rPr lang="en-US" sz="3400" i="1" smtClean="0">
                                <a:latin typeface="Cambria Math" panose="02040503050406030204" pitchFamily="18" charset="0"/>
                              </a:rPr>
                            </m:ctrlPr>
                          </m:radPr>
                          <m:deg/>
                          <m:e>
                            <m:r>
                              <a:rPr lang="en-US" sz="3400" i="1">
                                <a:latin typeface="Cambria Math" panose="02040503050406030204" pitchFamily="18" charset="0"/>
                              </a:rPr>
                              <m:t>𝑋</m:t>
                            </m:r>
                          </m:e>
                        </m:rad>
                      </m:oMath>
                    </m:oMathPara>
                  </a14:m>
                  <a:endParaRPr lang="en-US" sz="3400" dirty="0">
                    <a:solidFill>
                      <a:schemeClr val="bg1"/>
                    </a:solidFill>
                    <a:latin typeface="Times" pitchFamily="2" charset="0"/>
                  </a:endParaRPr>
                </a:p>
              </p:txBody>
            </p:sp>
          </mc:Choice>
          <mc:Fallback xmlns="">
            <p:sp>
              <p:nvSpPr>
                <p:cNvPr id="41" name="Rectangle 40">
                  <a:extLst>
                    <a:ext uri="{FF2B5EF4-FFF2-40B4-BE49-F238E27FC236}">
                      <a16:creationId xmlns:a16="http://schemas.microsoft.com/office/drawing/2014/main" id="{8B352F0D-4C09-3B4E-88C2-DE9B2BC3BE8D}"/>
                    </a:ext>
                  </a:extLst>
                </p:cNvPr>
                <p:cNvSpPr>
                  <a:spLocks noRot="1" noChangeAspect="1" noMove="1" noResize="1" noEditPoints="1" noAdjustHandles="1" noChangeArrowheads="1" noChangeShapeType="1" noTextEdit="1"/>
                </p:cNvSpPr>
                <p:nvPr/>
              </p:nvSpPr>
              <p:spPr>
                <a:xfrm>
                  <a:off x="4515788" y="4844391"/>
                  <a:ext cx="720000" cy="720000"/>
                </a:xfrm>
                <a:prstGeom prst="rect">
                  <a:avLst/>
                </a:prstGeom>
                <a:blipFill>
                  <a:blip r:embed="rId10"/>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327592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4" name="Straight Connector 63">
            <a:extLst>
              <a:ext uri="{FF2B5EF4-FFF2-40B4-BE49-F238E27FC236}">
                <a16:creationId xmlns:a16="http://schemas.microsoft.com/office/drawing/2014/main" id="{6E55040C-4BDC-8941-9742-762A51673B30}"/>
              </a:ext>
            </a:extLst>
          </p:cNvPr>
          <p:cNvCxnSpPr>
            <a:cxnSpLocks/>
          </p:cNvCxnSpPr>
          <p:nvPr/>
        </p:nvCxnSpPr>
        <p:spPr>
          <a:xfrm>
            <a:off x="6333173" y="4302617"/>
            <a:ext cx="2584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009315F-E8F4-8145-8177-2C9FBC22B90D}"/>
              </a:ext>
            </a:extLst>
          </p:cNvPr>
          <p:cNvCxnSpPr>
            <a:cxnSpLocks/>
          </p:cNvCxnSpPr>
          <p:nvPr/>
        </p:nvCxnSpPr>
        <p:spPr>
          <a:xfrm>
            <a:off x="618526" y="2377789"/>
            <a:ext cx="46127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E3ADA28-26C5-D848-B8BF-E2B0C815627D}"/>
              </a:ext>
            </a:extLst>
          </p:cNvPr>
          <p:cNvSpPr>
            <a:spLocks noGrp="1"/>
          </p:cNvSpPr>
          <p:nvPr>
            <p:ph type="title"/>
          </p:nvPr>
        </p:nvSpPr>
        <p:spPr/>
        <p:txBody>
          <a:bodyPr/>
          <a:lstStyle/>
          <a:p>
            <a:r>
              <a:rPr lang="en-ZA" dirty="0"/>
              <a:t>Combining Simplification and Cancellation</a:t>
            </a:r>
            <a:endParaRPr lang="en-US" dirty="0"/>
          </a:p>
        </p:txBody>
      </p:sp>
      <p:sp>
        <p:nvSpPr>
          <p:cNvPr id="3" name="Slide Number Placeholder 2">
            <a:extLst>
              <a:ext uri="{FF2B5EF4-FFF2-40B4-BE49-F238E27FC236}">
                <a16:creationId xmlns:a16="http://schemas.microsoft.com/office/drawing/2014/main" id="{BAAB2B59-6FDE-C049-A10C-01AA69530BC0}"/>
              </a:ext>
            </a:extLst>
          </p:cNvPr>
          <p:cNvSpPr>
            <a:spLocks noGrp="1"/>
          </p:cNvSpPr>
          <p:nvPr>
            <p:ph type="sldNum" sz="quarter" idx="12"/>
          </p:nvPr>
        </p:nvSpPr>
        <p:spPr/>
        <p:txBody>
          <a:bodyPr/>
          <a:lstStyle/>
          <a:p>
            <a:fld id="{591A223C-FA10-BC46-A853-03BA373D023C}" type="slidenum">
              <a:rPr lang="en-US" smtClean="0"/>
              <a:t>6</a:t>
            </a:fld>
            <a:endParaRPr lang="en-US"/>
          </a:p>
        </p:txBody>
      </p:sp>
      <p:sp>
        <p:nvSpPr>
          <p:cNvPr id="5" name="Rectangle 4">
            <a:extLst>
              <a:ext uri="{FF2B5EF4-FFF2-40B4-BE49-F238E27FC236}">
                <a16:creationId xmlns:a16="http://schemas.microsoft.com/office/drawing/2014/main" id="{A5F4F05F-8A35-ED42-B72A-CDA2A3802AF4}"/>
              </a:ext>
            </a:extLst>
          </p:cNvPr>
          <p:cNvSpPr/>
          <p:nvPr/>
        </p:nvSpPr>
        <p:spPr>
          <a:xfrm>
            <a:off x="4026228" y="2015960"/>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Z</a:t>
            </a:r>
          </a:p>
        </p:txBody>
      </p:sp>
      <p:sp>
        <p:nvSpPr>
          <p:cNvPr id="4" name="Rectangle 3">
            <a:extLst>
              <a:ext uri="{FF2B5EF4-FFF2-40B4-BE49-F238E27FC236}">
                <a16:creationId xmlns:a16="http://schemas.microsoft.com/office/drawing/2014/main" id="{B44D8F48-8396-7345-9A76-D61EFA18DB6E}"/>
              </a:ext>
            </a:extLst>
          </p:cNvPr>
          <p:cNvSpPr>
            <a:spLocks noChangeAspect="1"/>
          </p:cNvSpPr>
          <p:nvPr/>
        </p:nvSpPr>
        <p:spPr>
          <a:xfrm>
            <a:off x="1002822" y="2016332"/>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6" name="Oval 5">
            <a:extLst>
              <a:ext uri="{FF2B5EF4-FFF2-40B4-BE49-F238E27FC236}">
                <a16:creationId xmlns:a16="http://schemas.microsoft.com/office/drawing/2014/main" id="{BD36B21B-0019-B440-848D-02CAFC9D3B84}"/>
              </a:ext>
            </a:extLst>
          </p:cNvPr>
          <p:cNvSpPr/>
          <p:nvPr/>
        </p:nvSpPr>
        <p:spPr>
          <a:xfrm>
            <a:off x="1950229" y="201633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7" name="Rectangle 6">
            <a:extLst>
              <a:ext uri="{FF2B5EF4-FFF2-40B4-BE49-F238E27FC236}">
                <a16:creationId xmlns:a16="http://schemas.microsoft.com/office/drawing/2014/main" id="{73C25313-71D7-694F-97B8-F988A13A9E46}"/>
              </a:ext>
            </a:extLst>
          </p:cNvPr>
          <p:cNvSpPr>
            <a:spLocks noChangeAspect="1"/>
          </p:cNvSpPr>
          <p:nvPr/>
        </p:nvSpPr>
        <p:spPr>
          <a:xfrm>
            <a:off x="2920267" y="2016332"/>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E556F94-D14D-6F4A-B396-6B0805519B95}"/>
                  </a:ext>
                </a:extLst>
              </p:cNvPr>
              <p:cNvSpPr/>
              <p:nvPr/>
            </p:nvSpPr>
            <p:spPr>
              <a:xfrm>
                <a:off x="5397106" y="2015960"/>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14" name="Rectangle 13">
                <a:extLst>
                  <a:ext uri="{FF2B5EF4-FFF2-40B4-BE49-F238E27FC236}">
                    <a16:creationId xmlns:a16="http://schemas.microsoft.com/office/drawing/2014/main" id="{DE556F94-D14D-6F4A-B396-6B0805519B95}"/>
                  </a:ext>
                </a:extLst>
              </p:cNvPr>
              <p:cNvSpPr>
                <a:spLocks noRot="1" noChangeAspect="1" noMove="1" noResize="1" noEditPoints="1" noAdjustHandles="1" noChangeArrowheads="1" noChangeShapeType="1" noTextEdit="1"/>
              </p:cNvSpPr>
              <p:nvPr/>
            </p:nvSpPr>
            <p:spPr>
              <a:xfrm>
                <a:off x="5397106" y="2015960"/>
                <a:ext cx="633507" cy="646331"/>
              </a:xfrm>
              <a:prstGeom prst="rect">
                <a:avLst/>
              </a:prstGeom>
              <a:blipFill>
                <a:blip r:embed="rId3"/>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A2E79746-241A-CE4D-ACA3-69667AA3E533}"/>
              </a:ext>
            </a:extLst>
          </p:cNvPr>
          <p:cNvCxnSpPr>
            <a:cxnSpLocks/>
          </p:cNvCxnSpPr>
          <p:nvPr/>
        </p:nvCxnSpPr>
        <p:spPr>
          <a:xfrm>
            <a:off x="618526" y="4308851"/>
            <a:ext cx="47785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A84D2A03-8CEE-B249-AEFB-1D6A1C397465}"/>
              </a:ext>
            </a:extLst>
          </p:cNvPr>
          <p:cNvSpPr>
            <a:spLocks noChangeAspect="1"/>
          </p:cNvSpPr>
          <p:nvPr/>
        </p:nvSpPr>
        <p:spPr>
          <a:xfrm>
            <a:off x="1002822" y="3947394"/>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47" name="Rectangle 46">
            <a:extLst>
              <a:ext uri="{FF2B5EF4-FFF2-40B4-BE49-F238E27FC236}">
                <a16:creationId xmlns:a16="http://schemas.microsoft.com/office/drawing/2014/main" id="{049D7BE8-E929-F242-99A6-DB50EF578592}"/>
              </a:ext>
            </a:extLst>
          </p:cNvPr>
          <p:cNvSpPr>
            <a:spLocks noChangeAspect="1"/>
          </p:cNvSpPr>
          <p:nvPr/>
        </p:nvSpPr>
        <p:spPr>
          <a:xfrm>
            <a:off x="2920267" y="3947394"/>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1C20C41B-A07F-784F-9F12-01755154E264}"/>
                  </a:ext>
                </a:extLst>
              </p:cNvPr>
              <p:cNvSpPr/>
              <p:nvPr/>
            </p:nvSpPr>
            <p:spPr>
              <a:xfrm>
                <a:off x="5434899" y="3942617"/>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48" name="Rectangle 47">
                <a:extLst>
                  <a:ext uri="{FF2B5EF4-FFF2-40B4-BE49-F238E27FC236}">
                    <a16:creationId xmlns:a16="http://schemas.microsoft.com/office/drawing/2014/main" id="{1C20C41B-A07F-784F-9F12-01755154E264}"/>
                  </a:ext>
                </a:extLst>
              </p:cNvPr>
              <p:cNvSpPr>
                <a:spLocks noRot="1" noChangeAspect="1" noMove="1" noResize="1" noEditPoints="1" noAdjustHandles="1" noChangeArrowheads="1" noChangeShapeType="1" noTextEdit="1"/>
              </p:cNvSpPr>
              <p:nvPr/>
            </p:nvSpPr>
            <p:spPr>
              <a:xfrm>
                <a:off x="5434899" y="3942617"/>
                <a:ext cx="633507" cy="646331"/>
              </a:xfrm>
              <a:prstGeom prst="rect">
                <a:avLst/>
              </a:prstGeom>
              <a:blipFill>
                <a:blip r:embed="rId4"/>
                <a:stretch>
                  <a:fillRect/>
                </a:stretch>
              </a:blipFill>
            </p:spPr>
            <p:txBody>
              <a:bodyPr/>
              <a:lstStyle/>
              <a:p>
                <a:r>
                  <a:rPr lang="en-US">
                    <a:noFill/>
                  </a:rPr>
                  <a:t> </a:t>
                </a:r>
              </a:p>
            </p:txBody>
          </p:sp>
        </mc:Fallback>
      </mc:AlternateContent>
      <p:sp>
        <p:nvSpPr>
          <p:cNvPr id="40" name="Rectangle 39">
            <a:extLst>
              <a:ext uri="{FF2B5EF4-FFF2-40B4-BE49-F238E27FC236}">
                <a16:creationId xmlns:a16="http://schemas.microsoft.com/office/drawing/2014/main" id="{F877362C-43A6-A541-9BD7-30A478363730}"/>
              </a:ext>
            </a:extLst>
          </p:cNvPr>
          <p:cNvSpPr/>
          <p:nvPr/>
        </p:nvSpPr>
        <p:spPr>
          <a:xfrm>
            <a:off x="1983153" y="3942618"/>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S</a:t>
            </a:r>
          </a:p>
        </p:txBody>
      </p:sp>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8B352F0D-4C09-3B4E-88C2-DE9B2BC3BE8D}"/>
                  </a:ext>
                </a:extLst>
              </p:cNvPr>
              <p:cNvSpPr/>
              <p:nvPr/>
            </p:nvSpPr>
            <p:spPr>
              <a:xfrm>
                <a:off x="4022324" y="3942617"/>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3200" i="1" smtClean="0">
                              <a:latin typeface="Cambria Math" panose="02040503050406030204" pitchFamily="18" charset="0"/>
                            </a:rPr>
                          </m:ctrlPr>
                        </m:sSupPr>
                        <m:e>
                          <m:rad>
                            <m:radPr>
                              <m:degHide m:val="on"/>
                              <m:ctrlPr>
                                <a:rPr lang="en-US" sz="3200" i="1">
                                  <a:latin typeface="Cambria Math" panose="02040503050406030204" pitchFamily="18" charset="0"/>
                                </a:rPr>
                              </m:ctrlPr>
                            </m:radPr>
                            <m:deg/>
                            <m:e>
                              <m:r>
                                <a:rPr lang="en-US" sz="3200" i="1">
                                  <a:latin typeface="Cambria Math" panose="02040503050406030204" pitchFamily="18" charset="0"/>
                                </a:rPr>
                                <m:t>𝑋</m:t>
                              </m:r>
                            </m:e>
                          </m:rad>
                        </m:e>
                        <m:sup>
                          <m:r>
                            <a:rPr lang="sr-Latn-RS" sz="3200">
                              <a:latin typeface="Cambria Math" panose="02040503050406030204" pitchFamily="18" charset="0"/>
                            </a:rPr>
                            <m:t>†</m:t>
                          </m:r>
                        </m:sup>
                      </m:sSup>
                    </m:oMath>
                  </m:oMathPara>
                </a14:m>
                <a:endParaRPr lang="en-US" sz="3200" dirty="0">
                  <a:solidFill>
                    <a:schemeClr val="bg1"/>
                  </a:solidFill>
                  <a:latin typeface="Times" pitchFamily="2" charset="0"/>
                </a:endParaRPr>
              </a:p>
            </p:txBody>
          </p:sp>
        </mc:Choice>
        <mc:Fallback xmlns="">
          <p:sp>
            <p:nvSpPr>
              <p:cNvPr id="41" name="Rectangle 40">
                <a:extLst>
                  <a:ext uri="{FF2B5EF4-FFF2-40B4-BE49-F238E27FC236}">
                    <a16:creationId xmlns:a16="http://schemas.microsoft.com/office/drawing/2014/main" id="{8B352F0D-4C09-3B4E-88C2-DE9B2BC3BE8D}"/>
                  </a:ext>
                </a:extLst>
              </p:cNvPr>
              <p:cNvSpPr>
                <a:spLocks noRot="1" noChangeAspect="1" noMove="1" noResize="1" noEditPoints="1" noAdjustHandles="1" noChangeArrowheads="1" noChangeShapeType="1" noTextEdit="1"/>
              </p:cNvSpPr>
              <p:nvPr/>
            </p:nvSpPr>
            <p:spPr>
              <a:xfrm>
                <a:off x="4022324" y="3942617"/>
                <a:ext cx="720000" cy="720000"/>
              </a:xfrm>
              <a:prstGeom prst="rect">
                <a:avLst/>
              </a:prstGeom>
              <a:blipFill>
                <a:blip r:embed="rId5"/>
                <a:stretch>
                  <a:fillRect l="-6897" r="-6897"/>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CCF5F857-69E0-D440-8715-C112A7B91C72}"/>
              </a:ext>
            </a:extLst>
          </p:cNvPr>
          <p:cNvCxnSpPr>
            <a:cxnSpLocks/>
          </p:cNvCxnSpPr>
          <p:nvPr/>
        </p:nvCxnSpPr>
        <p:spPr>
          <a:xfrm>
            <a:off x="6220076" y="2379618"/>
            <a:ext cx="2584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C2480972-79B1-9A4B-A7FC-A006D313136C}"/>
              </a:ext>
            </a:extLst>
          </p:cNvPr>
          <p:cNvSpPr/>
          <p:nvPr/>
        </p:nvSpPr>
        <p:spPr>
          <a:xfrm>
            <a:off x="7625260" y="2017789"/>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Z</a:t>
            </a:r>
          </a:p>
        </p:txBody>
      </p:sp>
      <p:sp>
        <p:nvSpPr>
          <p:cNvPr id="58" name="Rectangle 57">
            <a:extLst>
              <a:ext uri="{FF2B5EF4-FFF2-40B4-BE49-F238E27FC236}">
                <a16:creationId xmlns:a16="http://schemas.microsoft.com/office/drawing/2014/main" id="{1DD20AAC-8D97-0D49-AD37-08677381E6B4}"/>
              </a:ext>
            </a:extLst>
          </p:cNvPr>
          <p:cNvSpPr/>
          <p:nvPr/>
        </p:nvSpPr>
        <p:spPr>
          <a:xfrm>
            <a:off x="6587260" y="2017789"/>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Z</a:t>
            </a:r>
          </a:p>
        </p:txBody>
      </p:sp>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3C00CE68-1CEF-E149-B8BF-3C7979B271C8}"/>
                  </a:ext>
                </a:extLst>
              </p:cNvPr>
              <p:cNvSpPr/>
              <p:nvPr/>
            </p:nvSpPr>
            <p:spPr>
              <a:xfrm>
                <a:off x="8965105" y="2029225"/>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59" name="Rectangle 58">
                <a:extLst>
                  <a:ext uri="{FF2B5EF4-FFF2-40B4-BE49-F238E27FC236}">
                    <a16:creationId xmlns:a16="http://schemas.microsoft.com/office/drawing/2014/main" id="{3C00CE68-1CEF-E149-B8BF-3C7979B271C8}"/>
                  </a:ext>
                </a:extLst>
              </p:cNvPr>
              <p:cNvSpPr>
                <a:spLocks noRot="1" noChangeAspect="1" noMove="1" noResize="1" noEditPoints="1" noAdjustHandles="1" noChangeArrowheads="1" noChangeShapeType="1" noTextEdit="1"/>
              </p:cNvSpPr>
              <p:nvPr/>
            </p:nvSpPr>
            <p:spPr>
              <a:xfrm>
                <a:off x="8965105" y="2029225"/>
                <a:ext cx="633507" cy="646331"/>
              </a:xfrm>
              <a:prstGeom prst="rect">
                <a:avLst/>
              </a:prstGeom>
              <a:blipFill>
                <a:blip r:embed="rId3"/>
                <a:stretch>
                  <a:fillRect/>
                </a:stretch>
              </a:blipFill>
            </p:spPr>
            <p:txBody>
              <a:bodyPr/>
              <a:lstStyle/>
              <a:p>
                <a:r>
                  <a:rPr lang="en-US">
                    <a:noFill/>
                  </a:rPr>
                  <a:t> </a:t>
                </a:r>
              </a:p>
            </p:txBody>
          </p:sp>
        </mc:Fallback>
      </mc:AlternateContent>
      <p:sp>
        <p:nvSpPr>
          <p:cNvPr id="60" name="Rectangle 59">
            <a:extLst>
              <a:ext uri="{FF2B5EF4-FFF2-40B4-BE49-F238E27FC236}">
                <a16:creationId xmlns:a16="http://schemas.microsoft.com/office/drawing/2014/main" id="{88C8AA7E-D294-714F-A2C4-BB9DD3789665}"/>
              </a:ext>
            </a:extLst>
          </p:cNvPr>
          <p:cNvSpPr/>
          <p:nvPr/>
        </p:nvSpPr>
        <p:spPr>
          <a:xfrm>
            <a:off x="9853155" y="1989759"/>
            <a:ext cx="720000" cy="720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I</a:t>
            </a:r>
          </a:p>
        </p:txBody>
      </p:sp>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2CE4AF27-3D5B-B246-81F7-50026053DD9F}"/>
                  </a:ext>
                </a:extLst>
              </p:cNvPr>
              <p:cNvSpPr/>
              <p:nvPr/>
            </p:nvSpPr>
            <p:spPr>
              <a:xfrm>
                <a:off x="6697686" y="3941022"/>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ad>
                        <m:radPr>
                          <m:degHide m:val="on"/>
                          <m:ctrlPr>
                            <a:rPr lang="en-US" sz="3400" i="1" smtClean="0">
                              <a:latin typeface="Cambria Math" panose="02040503050406030204" pitchFamily="18" charset="0"/>
                            </a:rPr>
                          </m:ctrlPr>
                        </m:radPr>
                        <m:deg/>
                        <m:e>
                          <m:r>
                            <a:rPr lang="en-US" sz="3400" i="1">
                              <a:latin typeface="Cambria Math" panose="02040503050406030204" pitchFamily="18" charset="0"/>
                            </a:rPr>
                            <m:t>𝑋</m:t>
                          </m:r>
                        </m:e>
                      </m:rad>
                    </m:oMath>
                  </m:oMathPara>
                </a14:m>
                <a:endParaRPr lang="en-US" sz="3400" dirty="0">
                  <a:solidFill>
                    <a:schemeClr val="bg1"/>
                  </a:solidFill>
                  <a:latin typeface="Times" pitchFamily="2" charset="0"/>
                </a:endParaRPr>
              </a:p>
            </p:txBody>
          </p:sp>
        </mc:Choice>
        <mc:Fallback xmlns="">
          <p:sp>
            <p:nvSpPr>
              <p:cNvPr id="62" name="Rectangle 61">
                <a:extLst>
                  <a:ext uri="{FF2B5EF4-FFF2-40B4-BE49-F238E27FC236}">
                    <a16:creationId xmlns:a16="http://schemas.microsoft.com/office/drawing/2014/main" id="{2CE4AF27-3D5B-B246-81F7-50026053DD9F}"/>
                  </a:ext>
                </a:extLst>
              </p:cNvPr>
              <p:cNvSpPr>
                <a:spLocks noRot="1" noChangeAspect="1" noMove="1" noResize="1" noEditPoints="1" noAdjustHandles="1" noChangeArrowheads="1" noChangeShapeType="1" noTextEdit="1"/>
              </p:cNvSpPr>
              <p:nvPr/>
            </p:nvSpPr>
            <p:spPr>
              <a:xfrm>
                <a:off x="6697686" y="3941022"/>
                <a:ext cx="720000" cy="72000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594F27A9-DC48-C746-B122-83ECD2AB3DFF}"/>
                  </a:ext>
                </a:extLst>
              </p:cNvPr>
              <p:cNvSpPr/>
              <p:nvPr/>
            </p:nvSpPr>
            <p:spPr>
              <a:xfrm>
                <a:off x="7734525" y="3941022"/>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3200" i="1" smtClean="0">
                              <a:latin typeface="Cambria Math" panose="02040503050406030204" pitchFamily="18" charset="0"/>
                            </a:rPr>
                          </m:ctrlPr>
                        </m:sSupPr>
                        <m:e>
                          <m:rad>
                            <m:radPr>
                              <m:degHide m:val="on"/>
                              <m:ctrlPr>
                                <a:rPr lang="en-US" sz="3200" i="1">
                                  <a:latin typeface="Cambria Math" panose="02040503050406030204" pitchFamily="18" charset="0"/>
                                </a:rPr>
                              </m:ctrlPr>
                            </m:radPr>
                            <m:deg/>
                            <m:e>
                              <m:r>
                                <a:rPr lang="en-US" sz="3200" i="1">
                                  <a:latin typeface="Cambria Math" panose="02040503050406030204" pitchFamily="18" charset="0"/>
                                </a:rPr>
                                <m:t>𝑋</m:t>
                              </m:r>
                            </m:e>
                          </m:rad>
                        </m:e>
                        <m:sup>
                          <m:r>
                            <a:rPr lang="sr-Latn-RS" sz="3200">
                              <a:latin typeface="Cambria Math" panose="02040503050406030204" pitchFamily="18" charset="0"/>
                            </a:rPr>
                            <m:t>†</m:t>
                          </m:r>
                        </m:sup>
                      </m:sSup>
                    </m:oMath>
                  </m:oMathPara>
                </a14:m>
                <a:endParaRPr lang="en-US" sz="3200" dirty="0">
                  <a:solidFill>
                    <a:schemeClr val="bg1"/>
                  </a:solidFill>
                  <a:latin typeface="Times" pitchFamily="2" charset="0"/>
                </a:endParaRPr>
              </a:p>
            </p:txBody>
          </p:sp>
        </mc:Choice>
        <mc:Fallback xmlns="">
          <p:sp>
            <p:nvSpPr>
              <p:cNvPr id="63" name="Rectangle 62">
                <a:extLst>
                  <a:ext uri="{FF2B5EF4-FFF2-40B4-BE49-F238E27FC236}">
                    <a16:creationId xmlns:a16="http://schemas.microsoft.com/office/drawing/2014/main" id="{594F27A9-DC48-C746-B122-83ECD2AB3DFF}"/>
                  </a:ext>
                </a:extLst>
              </p:cNvPr>
              <p:cNvSpPr>
                <a:spLocks noRot="1" noChangeAspect="1" noMove="1" noResize="1" noEditPoints="1" noAdjustHandles="1" noChangeArrowheads="1" noChangeShapeType="1" noTextEdit="1"/>
              </p:cNvSpPr>
              <p:nvPr/>
            </p:nvSpPr>
            <p:spPr>
              <a:xfrm>
                <a:off x="7734525" y="3941022"/>
                <a:ext cx="720000" cy="720000"/>
              </a:xfrm>
              <a:prstGeom prst="rect">
                <a:avLst/>
              </a:prstGeom>
              <a:blipFill>
                <a:blip r:embed="rId7"/>
                <a:stretch>
                  <a:fillRect l="-6780" r="-50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AD6127B7-0459-ED42-B5FC-F1AF0EB8A47B}"/>
                  </a:ext>
                </a:extLst>
              </p:cNvPr>
              <p:cNvSpPr/>
              <p:nvPr/>
            </p:nvSpPr>
            <p:spPr>
              <a:xfrm>
                <a:off x="8965106" y="3898420"/>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65" name="Rectangle 64">
                <a:extLst>
                  <a:ext uri="{FF2B5EF4-FFF2-40B4-BE49-F238E27FC236}">
                    <a16:creationId xmlns:a16="http://schemas.microsoft.com/office/drawing/2014/main" id="{AD6127B7-0459-ED42-B5FC-F1AF0EB8A47B}"/>
                  </a:ext>
                </a:extLst>
              </p:cNvPr>
              <p:cNvSpPr>
                <a:spLocks noRot="1" noChangeAspect="1" noMove="1" noResize="1" noEditPoints="1" noAdjustHandles="1" noChangeArrowheads="1" noChangeShapeType="1" noTextEdit="1"/>
              </p:cNvSpPr>
              <p:nvPr/>
            </p:nvSpPr>
            <p:spPr>
              <a:xfrm>
                <a:off x="8965106" y="3898420"/>
                <a:ext cx="633507" cy="646331"/>
              </a:xfrm>
              <a:prstGeom prst="rect">
                <a:avLst/>
              </a:prstGeom>
              <a:blipFill>
                <a:blip r:embed="rId3"/>
                <a:stretch>
                  <a:fillRect/>
                </a:stretch>
              </a:blipFill>
            </p:spPr>
            <p:txBody>
              <a:bodyPr/>
              <a:lstStyle/>
              <a:p>
                <a:r>
                  <a:rPr lang="en-US">
                    <a:noFill/>
                  </a:rPr>
                  <a:t> </a:t>
                </a:r>
              </a:p>
            </p:txBody>
          </p:sp>
        </mc:Fallback>
      </mc:AlternateContent>
      <p:sp>
        <p:nvSpPr>
          <p:cNvPr id="66" name="Rectangle 65">
            <a:extLst>
              <a:ext uri="{FF2B5EF4-FFF2-40B4-BE49-F238E27FC236}">
                <a16:creationId xmlns:a16="http://schemas.microsoft.com/office/drawing/2014/main" id="{E39A4EA2-D587-4F40-9CA6-9676177940A2}"/>
              </a:ext>
            </a:extLst>
          </p:cNvPr>
          <p:cNvSpPr/>
          <p:nvPr/>
        </p:nvSpPr>
        <p:spPr>
          <a:xfrm>
            <a:off x="9853155" y="3932134"/>
            <a:ext cx="720000" cy="720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I</a:t>
            </a:r>
          </a:p>
        </p:txBody>
      </p:sp>
    </p:spTree>
    <p:extLst>
      <p:ext uri="{BB962C8B-B14F-4D97-AF65-F5344CB8AC3E}">
        <p14:creationId xmlns:p14="http://schemas.microsoft.com/office/powerpoint/2010/main" val="4085860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065B5C10-2393-5644-A1F7-2D0038DE675C}"/>
              </a:ext>
            </a:extLst>
          </p:cNvPr>
          <p:cNvCxnSpPr>
            <a:cxnSpLocks/>
          </p:cNvCxnSpPr>
          <p:nvPr/>
        </p:nvCxnSpPr>
        <p:spPr>
          <a:xfrm>
            <a:off x="6979407" y="1413935"/>
            <a:ext cx="28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EA0FA9-CA50-8146-A41E-4FE9371F1D47}"/>
              </a:ext>
            </a:extLst>
          </p:cNvPr>
          <p:cNvCxnSpPr>
            <a:cxnSpLocks/>
          </p:cNvCxnSpPr>
          <p:nvPr/>
        </p:nvCxnSpPr>
        <p:spPr>
          <a:xfrm>
            <a:off x="1909477" y="1413935"/>
            <a:ext cx="40788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4C91F7E-9326-844B-8EC8-6DCED2599BA9}"/>
              </a:ext>
            </a:extLst>
          </p:cNvPr>
          <p:cNvSpPr>
            <a:spLocks noGrp="1"/>
          </p:cNvSpPr>
          <p:nvPr>
            <p:ph type="title"/>
          </p:nvPr>
        </p:nvSpPr>
        <p:spPr/>
        <p:txBody>
          <a:bodyPr/>
          <a:lstStyle/>
          <a:p>
            <a:r>
              <a:rPr lang="en-ZA" dirty="0"/>
              <a:t>Phase and Rotation Gates: Angle Addition Rule (1)</a:t>
            </a:r>
            <a:endParaRPr lang="en-US" dirty="0"/>
          </a:p>
        </p:txBody>
      </p:sp>
      <p:sp>
        <p:nvSpPr>
          <p:cNvPr id="3" name="Slide Number Placeholder 2">
            <a:extLst>
              <a:ext uri="{FF2B5EF4-FFF2-40B4-BE49-F238E27FC236}">
                <a16:creationId xmlns:a16="http://schemas.microsoft.com/office/drawing/2014/main" id="{DF1E2623-D348-1341-A2FD-7D1CAFD87B79}"/>
              </a:ext>
            </a:extLst>
          </p:cNvPr>
          <p:cNvSpPr>
            <a:spLocks noGrp="1"/>
          </p:cNvSpPr>
          <p:nvPr>
            <p:ph type="sldNum" sz="quarter" idx="12"/>
          </p:nvPr>
        </p:nvSpPr>
        <p:spPr/>
        <p:txBody>
          <a:bodyPr/>
          <a:lstStyle/>
          <a:p>
            <a:fld id="{591A223C-FA10-BC46-A853-03BA373D023C}" type="slidenum">
              <a:rPr lang="en-US" smtClean="0"/>
              <a:t>7</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561ECE00-15A1-1946-B32E-AAB518E507AF}"/>
                  </a:ext>
                </a:extLst>
              </p:cNvPr>
              <p:cNvSpPr/>
              <p:nvPr/>
            </p:nvSpPr>
            <p:spPr>
              <a:xfrm>
                <a:off x="2680172" y="2188068"/>
                <a:ext cx="6342249" cy="8235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800" i="1" smtClean="0">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sr-Latn-RS" sz="2800" i="1">
                                    <a:latin typeface="Cambria Math" panose="02040503050406030204" pitchFamily="18" charset="0"/>
                                  </a:rPr>
                                  <m:t>1</m:t>
                                </m:r>
                              </m:e>
                              <m:e>
                                <m:r>
                                  <m:rPr>
                                    <m:nor/>
                                  </m:rPr>
                                  <a:rPr lang="sr-Latn-RS" sz="2800">
                                    <a:latin typeface="Cambria Math" panose="02040503050406030204" pitchFamily="18" charset="0"/>
                                  </a:rPr>
                                  <m:t>0</m:t>
                                </m:r>
                              </m:e>
                            </m:mr>
                            <m:mr>
                              <m:e>
                                <m:r>
                                  <m:rPr>
                                    <m:nor/>
                                  </m:rPr>
                                  <a:rPr lang="sr-Latn-RS" sz="2800">
                                    <a:latin typeface="Cambria Math" panose="02040503050406030204" pitchFamily="18" charset="0"/>
                                  </a:rPr>
                                  <m:t>0</m:t>
                                </m:r>
                              </m:e>
                              <m:e>
                                <m:sSup>
                                  <m:sSupPr>
                                    <m:ctrlPr>
                                      <a:rPr lang="en-US" sz="2800" i="1">
                                        <a:latin typeface="Cambria Math" panose="02040503050406030204" pitchFamily="18" charset="0"/>
                                      </a:rPr>
                                    </m:ctrlPr>
                                  </m:sSupPr>
                                  <m:e>
                                    <m:r>
                                      <a:rPr lang="sr-Latn-RS" sz="2800" i="1">
                                        <a:latin typeface="Cambria Math" panose="02040503050406030204" pitchFamily="18" charset="0"/>
                                      </a:rPr>
                                      <m:t>𝑒</m:t>
                                    </m:r>
                                  </m:e>
                                  <m:sup>
                                    <m:r>
                                      <a:rPr lang="en-US" sz="2800" i="1">
                                        <a:latin typeface="Cambria Math" panose="02040503050406030204" pitchFamily="18" charset="0"/>
                                      </a:rPr>
                                      <m:t>𝑖</m:t>
                                    </m:r>
                                    <m:sSub>
                                      <m:sSubPr>
                                        <m:ctrlPr>
                                          <a:rPr lang="en-US" sz="2800" i="1" smtClean="0">
                                            <a:latin typeface="Cambria Math" panose="02040503050406030204" pitchFamily="18" charset="0"/>
                                          </a:rPr>
                                        </m:ctrlPr>
                                      </m:sSubPr>
                                      <m:e>
                                        <m:r>
                                          <a:rPr lang="en-US" sz="2800" i="1">
                                            <a:latin typeface="Cambria Math" panose="02040503050406030204" pitchFamily="18" charset="0"/>
                                          </a:rPr>
                                          <m:t>𝜑</m:t>
                                        </m:r>
                                      </m:e>
                                      <m:sub>
                                        <m:r>
                                          <a:rPr lang="sr-Latn-RS" sz="2800" b="0" i="1" smtClean="0">
                                            <a:latin typeface="Cambria Math" panose="02040503050406030204" pitchFamily="18" charset="0"/>
                                          </a:rPr>
                                          <m:t>2</m:t>
                                        </m:r>
                                      </m:sub>
                                    </m:sSub>
                                  </m:sup>
                                </m:sSup>
                              </m:e>
                            </m:mr>
                          </m:m>
                        </m:e>
                      </m:d>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sr-Latn-RS" sz="2800" i="1">
                                    <a:latin typeface="Cambria Math" panose="02040503050406030204" pitchFamily="18" charset="0"/>
                                  </a:rPr>
                                  <m:t>1</m:t>
                                </m:r>
                              </m:e>
                              <m:e>
                                <m:r>
                                  <m:rPr>
                                    <m:nor/>
                                  </m:rPr>
                                  <a:rPr lang="sr-Latn-RS" sz="2800">
                                    <a:latin typeface="Cambria Math" panose="02040503050406030204" pitchFamily="18" charset="0"/>
                                  </a:rPr>
                                  <m:t>0</m:t>
                                </m:r>
                              </m:e>
                            </m:mr>
                            <m:mr>
                              <m:e>
                                <m:r>
                                  <m:rPr>
                                    <m:nor/>
                                  </m:rPr>
                                  <a:rPr lang="sr-Latn-RS" sz="2800">
                                    <a:latin typeface="Cambria Math" panose="02040503050406030204" pitchFamily="18" charset="0"/>
                                  </a:rPr>
                                  <m:t>0</m:t>
                                </m:r>
                              </m:e>
                              <m:e>
                                <m:sSup>
                                  <m:sSupPr>
                                    <m:ctrlPr>
                                      <a:rPr lang="en-US" sz="2800" i="1">
                                        <a:latin typeface="Cambria Math" panose="02040503050406030204" pitchFamily="18" charset="0"/>
                                      </a:rPr>
                                    </m:ctrlPr>
                                  </m:sSupPr>
                                  <m:e>
                                    <m:r>
                                      <a:rPr lang="sr-Latn-RS" sz="2800" i="1">
                                        <a:latin typeface="Cambria Math" panose="02040503050406030204" pitchFamily="18" charset="0"/>
                                      </a:rPr>
                                      <m:t>𝑒</m:t>
                                    </m:r>
                                  </m:e>
                                  <m:sup>
                                    <m:r>
                                      <a:rPr lang="en-US" sz="2800" i="1">
                                        <a:latin typeface="Cambria Math" panose="02040503050406030204" pitchFamily="18" charset="0"/>
                                      </a:rPr>
                                      <m:t>𝑖</m:t>
                                    </m:r>
                                    <m:sSub>
                                      <m:sSubPr>
                                        <m:ctrlPr>
                                          <a:rPr lang="en-US" sz="2800" i="1">
                                            <a:latin typeface="Cambria Math" panose="02040503050406030204" pitchFamily="18" charset="0"/>
                                          </a:rPr>
                                        </m:ctrlPr>
                                      </m:sSubPr>
                                      <m:e>
                                        <m:r>
                                          <a:rPr lang="en-US" sz="2800" i="1">
                                            <a:latin typeface="Cambria Math" panose="02040503050406030204" pitchFamily="18" charset="0"/>
                                          </a:rPr>
                                          <m:t>𝜑</m:t>
                                        </m:r>
                                      </m:e>
                                      <m:sub>
                                        <m:r>
                                          <a:rPr lang="sr-Latn-RS" sz="2800" b="0" i="1" smtClean="0">
                                            <a:latin typeface="Cambria Math" panose="02040503050406030204" pitchFamily="18" charset="0"/>
                                          </a:rPr>
                                          <m:t>1</m:t>
                                        </m:r>
                                      </m:sub>
                                    </m:sSub>
                                  </m:sup>
                                </m:sSup>
                              </m:e>
                            </m:mr>
                          </m:m>
                        </m:e>
                      </m:d>
                      <m:r>
                        <a:rPr lang="sr-Latn-RS" sz="2800" b="0" i="1" smtClean="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sr-Latn-RS" sz="2800" i="1">
                                    <a:latin typeface="Cambria Math" panose="02040503050406030204" pitchFamily="18" charset="0"/>
                                  </a:rPr>
                                  <m:t>1</m:t>
                                </m:r>
                              </m:e>
                              <m:e>
                                <m:r>
                                  <m:rPr>
                                    <m:nor/>
                                  </m:rPr>
                                  <a:rPr lang="sr-Latn-RS" sz="2800">
                                    <a:latin typeface="Cambria Math" panose="02040503050406030204" pitchFamily="18" charset="0"/>
                                  </a:rPr>
                                  <m:t>0</m:t>
                                </m:r>
                              </m:e>
                            </m:mr>
                            <m:mr>
                              <m:e>
                                <m:r>
                                  <m:rPr>
                                    <m:nor/>
                                  </m:rPr>
                                  <a:rPr lang="sr-Latn-RS" sz="2800">
                                    <a:latin typeface="Cambria Math" panose="02040503050406030204" pitchFamily="18" charset="0"/>
                                  </a:rPr>
                                  <m:t>0</m:t>
                                </m:r>
                              </m:e>
                              <m:e>
                                <m:sSup>
                                  <m:sSupPr>
                                    <m:ctrlPr>
                                      <a:rPr lang="en-US" sz="2800" i="1">
                                        <a:latin typeface="Cambria Math" panose="02040503050406030204" pitchFamily="18" charset="0"/>
                                      </a:rPr>
                                    </m:ctrlPr>
                                  </m:sSupPr>
                                  <m:e>
                                    <m:r>
                                      <a:rPr lang="sr-Latn-RS" sz="2800" i="1">
                                        <a:latin typeface="Cambria Math" panose="02040503050406030204" pitchFamily="18" charset="0"/>
                                      </a:rPr>
                                      <m:t>𝑒</m:t>
                                    </m:r>
                                  </m:e>
                                  <m:sup>
                                    <m:r>
                                      <a:rPr lang="en-US" sz="2800" i="1">
                                        <a:latin typeface="Cambria Math" panose="02040503050406030204" pitchFamily="18" charset="0"/>
                                      </a:rPr>
                                      <m:t>𝑖</m:t>
                                    </m:r>
                                    <m:sSub>
                                      <m:sSubPr>
                                        <m:ctrlPr>
                                          <a:rPr lang="en-US" sz="2800" i="1">
                                            <a:latin typeface="Cambria Math" panose="02040503050406030204" pitchFamily="18" charset="0"/>
                                          </a:rPr>
                                        </m:ctrlPr>
                                      </m:sSubPr>
                                      <m:e>
                                        <m:r>
                                          <a:rPr lang="sr-Latn-RS" sz="2800" b="0" i="1" smtClean="0">
                                            <a:latin typeface="Cambria Math" panose="02040503050406030204" pitchFamily="18" charset="0"/>
                                          </a:rPr>
                                          <m:t>(</m:t>
                                        </m:r>
                                        <m:r>
                                          <a:rPr lang="en-US" sz="2800" i="1">
                                            <a:latin typeface="Cambria Math" panose="02040503050406030204" pitchFamily="18" charset="0"/>
                                          </a:rPr>
                                          <m:t>𝜑</m:t>
                                        </m:r>
                                      </m:e>
                                      <m:sub>
                                        <m:r>
                                          <a:rPr lang="sr-Latn-RS" sz="2800" b="0" i="1" smtClean="0">
                                            <a:latin typeface="Cambria Math" panose="02040503050406030204" pitchFamily="18" charset="0"/>
                                          </a:rPr>
                                          <m:t>1</m:t>
                                        </m:r>
                                      </m:sub>
                                    </m:sSub>
                                    <m:r>
                                      <a:rPr lang="sr-Latn-R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𝜑</m:t>
                                        </m:r>
                                      </m:e>
                                      <m:sub>
                                        <m:r>
                                          <a:rPr lang="sr-Latn-RS" sz="2800" b="0" i="1" smtClean="0">
                                            <a:latin typeface="Cambria Math" panose="02040503050406030204" pitchFamily="18" charset="0"/>
                                          </a:rPr>
                                          <m:t>2</m:t>
                                        </m:r>
                                      </m:sub>
                                    </m:sSub>
                                    <m:r>
                                      <a:rPr lang="sr-Latn-RS" sz="2800" b="0" i="1" smtClean="0">
                                        <a:latin typeface="Cambria Math" panose="02040503050406030204" pitchFamily="18" charset="0"/>
                                      </a:rPr>
                                      <m:t>)</m:t>
                                    </m:r>
                                  </m:sup>
                                </m:sSup>
                              </m:e>
                            </m:mr>
                          </m:m>
                        </m:e>
                      </m:d>
                    </m:oMath>
                  </m:oMathPara>
                </a14:m>
                <a:endParaRPr lang="en-US" sz="2800" dirty="0"/>
              </a:p>
            </p:txBody>
          </p:sp>
        </mc:Choice>
        <mc:Fallback xmlns="">
          <p:sp>
            <p:nvSpPr>
              <p:cNvPr id="4" name="Rectangle 3">
                <a:extLst>
                  <a:ext uri="{FF2B5EF4-FFF2-40B4-BE49-F238E27FC236}">
                    <a16:creationId xmlns:a16="http://schemas.microsoft.com/office/drawing/2014/main" id="{561ECE00-15A1-1946-B32E-AAB518E507AF}"/>
                  </a:ext>
                </a:extLst>
              </p:cNvPr>
              <p:cNvSpPr>
                <a:spLocks noRot="1" noChangeAspect="1" noMove="1" noResize="1" noEditPoints="1" noAdjustHandles="1" noChangeArrowheads="1" noChangeShapeType="1" noTextEdit="1"/>
              </p:cNvSpPr>
              <p:nvPr/>
            </p:nvSpPr>
            <p:spPr>
              <a:xfrm>
                <a:off x="2680172" y="2188068"/>
                <a:ext cx="6342249" cy="823559"/>
              </a:xfrm>
              <a:prstGeom prst="rect">
                <a:avLst/>
              </a:prstGeom>
              <a:blipFill>
                <a:blip r:embed="rId3"/>
                <a:stretch>
                  <a:fillRect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A15D5DD-95B5-124A-ABC6-D17E61DE672F}"/>
                  </a:ext>
                </a:extLst>
              </p:cNvPr>
              <p:cNvSpPr/>
              <p:nvPr/>
            </p:nvSpPr>
            <p:spPr>
              <a:xfrm>
                <a:off x="2265537" y="1058163"/>
                <a:ext cx="144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3200" i="1" smtClean="0">
                              <a:solidFill>
                                <a:schemeClr val="tx1"/>
                              </a:solidFill>
                              <a:latin typeface="Cambria Math" panose="02040503050406030204" pitchFamily="18" charset="0"/>
                            </a:rPr>
                          </m:ctrlPr>
                        </m:sSubPr>
                        <m:e>
                          <m:r>
                            <m:rPr>
                              <m:sty m:val="p"/>
                            </m:rPr>
                            <a:rPr lang="sr-Latn-RS" sz="3200" b="0" i="0" smtClean="0">
                              <a:solidFill>
                                <a:schemeClr val="tx1"/>
                              </a:solidFill>
                              <a:latin typeface="Cambria Math" panose="02040503050406030204" pitchFamily="18" charset="0"/>
                            </a:rPr>
                            <m:t>P</m:t>
                          </m:r>
                          <m:r>
                            <a:rPr lang="sr-Latn-RS" sz="3200" b="0" i="1" smtClean="0">
                              <a:solidFill>
                                <a:schemeClr val="tx1"/>
                              </a:solidFill>
                              <a:latin typeface="Cambria Math" panose="02040503050406030204" pitchFamily="18" charset="0"/>
                            </a:rPr>
                            <m:t>(</m:t>
                          </m:r>
                          <m:r>
                            <a:rPr lang="en-US" sz="3200" i="1">
                              <a:solidFill>
                                <a:schemeClr val="tx1"/>
                              </a:solidFill>
                              <a:latin typeface="Cambria Math" panose="02040503050406030204" pitchFamily="18" charset="0"/>
                            </a:rPr>
                            <m:t>𝜑</m:t>
                          </m:r>
                        </m:e>
                        <m:sub>
                          <m:r>
                            <a:rPr lang="sr-Latn-RS" sz="3200" i="1">
                              <a:solidFill>
                                <a:schemeClr val="tx1"/>
                              </a:solidFill>
                              <a:latin typeface="Cambria Math" panose="02040503050406030204" pitchFamily="18" charset="0"/>
                            </a:rPr>
                            <m:t>1</m:t>
                          </m:r>
                        </m:sub>
                      </m:sSub>
                      <m:r>
                        <a:rPr lang="sr-Latn-RS" sz="3200" b="0" i="1" smtClean="0">
                          <a:solidFill>
                            <a:schemeClr val="tx1"/>
                          </a:solidFill>
                          <a:latin typeface="Cambria Math" panose="02040503050406030204" pitchFamily="18" charset="0"/>
                        </a:rPr>
                        <m:t>)</m:t>
                      </m:r>
                    </m:oMath>
                  </m:oMathPara>
                </a14:m>
                <a:endParaRPr lang="en-US" sz="3200" dirty="0">
                  <a:solidFill>
                    <a:schemeClr val="tx1"/>
                  </a:solidFill>
                  <a:latin typeface="Times" pitchFamily="2" charset="0"/>
                </a:endParaRPr>
              </a:p>
            </p:txBody>
          </p:sp>
        </mc:Choice>
        <mc:Fallback xmlns="">
          <p:sp>
            <p:nvSpPr>
              <p:cNvPr id="5" name="Rectangle 4">
                <a:extLst>
                  <a:ext uri="{FF2B5EF4-FFF2-40B4-BE49-F238E27FC236}">
                    <a16:creationId xmlns:a16="http://schemas.microsoft.com/office/drawing/2014/main" id="{7A15D5DD-95B5-124A-ABC6-D17E61DE672F}"/>
                  </a:ext>
                </a:extLst>
              </p:cNvPr>
              <p:cNvSpPr>
                <a:spLocks noRot="1" noChangeAspect="1" noMove="1" noResize="1" noEditPoints="1" noAdjustHandles="1" noChangeArrowheads="1" noChangeShapeType="1" noTextEdit="1"/>
              </p:cNvSpPr>
              <p:nvPr/>
            </p:nvSpPr>
            <p:spPr>
              <a:xfrm>
                <a:off x="2265537" y="1058163"/>
                <a:ext cx="1440000" cy="720000"/>
              </a:xfrm>
              <a:prstGeom prst="rect">
                <a:avLst/>
              </a:prstGeom>
              <a:blipFill>
                <a:blip r:embed="rId4"/>
                <a:stretch>
                  <a:fillRect b="-3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DCC6660-A620-4348-BABB-EF0F6B2B6B0C}"/>
                  </a:ext>
                </a:extLst>
              </p:cNvPr>
              <p:cNvSpPr/>
              <p:nvPr/>
            </p:nvSpPr>
            <p:spPr>
              <a:xfrm>
                <a:off x="4061000" y="1058163"/>
                <a:ext cx="144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3200" i="1" smtClean="0">
                              <a:solidFill>
                                <a:schemeClr val="tx1"/>
                              </a:solidFill>
                              <a:latin typeface="Cambria Math" panose="02040503050406030204" pitchFamily="18" charset="0"/>
                            </a:rPr>
                          </m:ctrlPr>
                        </m:sSubPr>
                        <m:e>
                          <m:r>
                            <m:rPr>
                              <m:sty m:val="p"/>
                            </m:rPr>
                            <a:rPr lang="sr-Latn-RS" sz="3200" b="0" i="0" smtClean="0">
                              <a:solidFill>
                                <a:schemeClr val="tx1"/>
                              </a:solidFill>
                              <a:latin typeface="Cambria Math" panose="02040503050406030204" pitchFamily="18" charset="0"/>
                            </a:rPr>
                            <m:t>P</m:t>
                          </m:r>
                          <m:r>
                            <a:rPr lang="sr-Latn-RS" sz="3200" b="1" i="1" smtClean="0">
                              <a:solidFill>
                                <a:schemeClr val="tx1"/>
                              </a:solidFill>
                              <a:latin typeface="Cambria Math" panose="02040503050406030204" pitchFamily="18" charset="0"/>
                            </a:rPr>
                            <m:t>(</m:t>
                          </m:r>
                          <m:r>
                            <a:rPr lang="en-US" sz="3200" i="1">
                              <a:solidFill>
                                <a:schemeClr val="tx1"/>
                              </a:solidFill>
                              <a:latin typeface="Cambria Math" panose="02040503050406030204" pitchFamily="18" charset="0"/>
                            </a:rPr>
                            <m:t>𝜑</m:t>
                          </m:r>
                        </m:e>
                        <m:sub>
                          <m:r>
                            <a:rPr lang="sr-Latn-RS" sz="3200" b="0" i="1" smtClean="0">
                              <a:solidFill>
                                <a:schemeClr val="tx1"/>
                              </a:solidFill>
                              <a:latin typeface="Cambria Math" panose="02040503050406030204" pitchFamily="18" charset="0"/>
                            </a:rPr>
                            <m:t>2</m:t>
                          </m:r>
                        </m:sub>
                      </m:sSub>
                      <m:r>
                        <a:rPr lang="sr-Latn-RS" sz="3200" b="0" i="1" smtClean="0">
                          <a:solidFill>
                            <a:schemeClr val="tx1"/>
                          </a:solidFill>
                          <a:latin typeface="Cambria Math" panose="02040503050406030204" pitchFamily="18" charset="0"/>
                        </a:rPr>
                        <m:t>)</m:t>
                      </m:r>
                    </m:oMath>
                  </m:oMathPara>
                </a14:m>
                <a:endParaRPr lang="en-US" sz="3200" dirty="0">
                  <a:solidFill>
                    <a:schemeClr val="tx1"/>
                  </a:solidFill>
                  <a:latin typeface="Times" pitchFamily="2" charset="0"/>
                </a:endParaRPr>
              </a:p>
            </p:txBody>
          </p:sp>
        </mc:Choice>
        <mc:Fallback xmlns="">
          <p:sp>
            <p:nvSpPr>
              <p:cNvPr id="6" name="Rectangle 5">
                <a:extLst>
                  <a:ext uri="{FF2B5EF4-FFF2-40B4-BE49-F238E27FC236}">
                    <a16:creationId xmlns:a16="http://schemas.microsoft.com/office/drawing/2014/main" id="{FDCC6660-A620-4348-BABB-EF0F6B2B6B0C}"/>
                  </a:ext>
                </a:extLst>
              </p:cNvPr>
              <p:cNvSpPr>
                <a:spLocks noRot="1" noChangeAspect="1" noMove="1" noResize="1" noEditPoints="1" noAdjustHandles="1" noChangeArrowheads="1" noChangeShapeType="1" noTextEdit="1"/>
              </p:cNvSpPr>
              <p:nvPr/>
            </p:nvSpPr>
            <p:spPr>
              <a:xfrm>
                <a:off x="4061000" y="1058163"/>
                <a:ext cx="1440000" cy="720000"/>
              </a:xfrm>
              <a:prstGeom prst="rect">
                <a:avLst/>
              </a:prstGeom>
              <a:blipFill>
                <a:blip r:embed="rId5"/>
                <a:stretch>
                  <a:fillRect b="-3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F546837B-9EEB-4F41-8FDB-52B1C7A3BE50}"/>
                  </a:ext>
                </a:extLst>
              </p:cNvPr>
              <p:cNvSpPr/>
              <p:nvPr/>
            </p:nvSpPr>
            <p:spPr>
              <a:xfrm>
                <a:off x="7390014" y="1053936"/>
                <a:ext cx="2058786"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sr-Latn-RS" sz="3200" b="0" i="0" smtClean="0">
                          <a:solidFill>
                            <a:schemeClr val="tx1"/>
                          </a:solidFill>
                          <a:latin typeface="Cambria Math" panose="02040503050406030204" pitchFamily="18" charset="0"/>
                        </a:rPr>
                        <m:t>P</m:t>
                      </m:r>
                      <m:sSub>
                        <m:sSubPr>
                          <m:ctrlPr>
                            <a:rPr lang="en-US" sz="3200" i="1">
                              <a:solidFill>
                                <a:schemeClr val="tx1"/>
                              </a:solidFill>
                              <a:latin typeface="Cambria Math" panose="02040503050406030204" pitchFamily="18" charset="0"/>
                            </a:rPr>
                          </m:ctrlPr>
                        </m:sSubPr>
                        <m:e>
                          <m:r>
                            <a:rPr lang="sr-Latn-RS" sz="3200" i="1">
                              <a:solidFill>
                                <a:schemeClr val="tx1"/>
                              </a:solidFill>
                              <a:latin typeface="Cambria Math" panose="02040503050406030204" pitchFamily="18" charset="0"/>
                            </a:rPr>
                            <m:t>(</m:t>
                          </m:r>
                          <m:r>
                            <a:rPr lang="en-US" sz="3200" i="1">
                              <a:solidFill>
                                <a:schemeClr val="tx1"/>
                              </a:solidFill>
                              <a:latin typeface="Cambria Math" panose="02040503050406030204" pitchFamily="18" charset="0"/>
                            </a:rPr>
                            <m:t>𝜑</m:t>
                          </m:r>
                        </m:e>
                        <m:sub>
                          <m:r>
                            <a:rPr lang="sr-Latn-RS" sz="3200" i="1">
                              <a:solidFill>
                                <a:schemeClr val="tx1"/>
                              </a:solidFill>
                              <a:latin typeface="Cambria Math" panose="02040503050406030204" pitchFamily="18" charset="0"/>
                            </a:rPr>
                            <m:t>1</m:t>
                          </m:r>
                        </m:sub>
                      </m:sSub>
                      <m:r>
                        <a:rPr lang="sr-Latn-RS" sz="3200" i="1">
                          <a:solidFill>
                            <a:schemeClr val="tx1"/>
                          </a:solidFill>
                          <a:latin typeface="Cambria Math" panose="02040503050406030204" pitchFamily="18" charset="0"/>
                        </a:rPr>
                        <m:t>+</m:t>
                      </m:r>
                      <m:sSub>
                        <m:sSubPr>
                          <m:ctrlPr>
                            <a:rPr lang="en-US" sz="3200" i="1">
                              <a:solidFill>
                                <a:schemeClr val="tx1"/>
                              </a:solidFill>
                              <a:latin typeface="Cambria Math" panose="02040503050406030204" pitchFamily="18" charset="0"/>
                            </a:rPr>
                          </m:ctrlPr>
                        </m:sSubPr>
                        <m:e>
                          <m:r>
                            <a:rPr lang="en-US" sz="3200" i="1">
                              <a:solidFill>
                                <a:schemeClr val="tx1"/>
                              </a:solidFill>
                              <a:latin typeface="Cambria Math" panose="02040503050406030204" pitchFamily="18" charset="0"/>
                            </a:rPr>
                            <m:t>𝜑</m:t>
                          </m:r>
                        </m:e>
                        <m:sub>
                          <m:r>
                            <a:rPr lang="sr-Latn-RS" sz="3200" i="1">
                              <a:solidFill>
                                <a:schemeClr val="tx1"/>
                              </a:solidFill>
                              <a:latin typeface="Cambria Math" panose="02040503050406030204" pitchFamily="18" charset="0"/>
                            </a:rPr>
                            <m:t>2</m:t>
                          </m:r>
                        </m:sub>
                      </m:sSub>
                      <m:r>
                        <a:rPr lang="sr-Latn-RS" sz="3200" i="1">
                          <a:solidFill>
                            <a:schemeClr val="tx1"/>
                          </a:solidFill>
                          <a:latin typeface="Cambria Math" panose="02040503050406030204" pitchFamily="18" charset="0"/>
                        </a:rPr>
                        <m:t>)</m:t>
                      </m:r>
                    </m:oMath>
                  </m:oMathPara>
                </a14:m>
                <a:endParaRPr lang="en-US" sz="3200" dirty="0">
                  <a:solidFill>
                    <a:schemeClr val="tx1"/>
                  </a:solidFill>
                  <a:latin typeface="Times" pitchFamily="2" charset="0"/>
                </a:endParaRPr>
              </a:p>
            </p:txBody>
          </p:sp>
        </mc:Choice>
        <mc:Fallback xmlns="">
          <p:sp>
            <p:nvSpPr>
              <p:cNvPr id="7" name="Rectangle 6">
                <a:extLst>
                  <a:ext uri="{FF2B5EF4-FFF2-40B4-BE49-F238E27FC236}">
                    <a16:creationId xmlns:a16="http://schemas.microsoft.com/office/drawing/2014/main" id="{F546837B-9EEB-4F41-8FDB-52B1C7A3BE50}"/>
                  </a:ext>
                </a:extLst>
              </p:cNvPr>
              <p:cNvSpPr>
                <a:spLocks noRot="1" noChangeAspect="1" noMove="1" noResize="1" noEditPoints="1" noAdjustHandles="1" noChangeArrowheads="1" noChangeShapeType="1" noTextEdit="1"/>
              </p:cNvSpPr>
              <p:nvPr/>
            </p:nvSpPr>
            <p:spPr>
              <a:xfrm>
                <a:off x="7390014" y="1053936"/>
                <a:ext cx="2058786" cy="720000"/>
              </a:xfrm>
              <a:prstGeom prst="rect">
                <a:avLst/>
              </a:prstGeom>
              <a:blipFill>
                <a:blip r:embed="rId6"/>
                <a:stretch>
                  <a:fillRect l="-2439" b="-3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1A24566C-E0D6-804A-9327-D9C5D8031442}"/>
                  </a:ext>
                </a:extLst>
              </p:cNvPr>
              <p:cNvSpPr/>
              <p:nvPr/>
            </p:nvSpPr>
            <p:spPr>
              <a:xfrm>
                <a:off x="6128753" y="1090770"/>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8" name="Rectangle 7">
                <a:extLst>
                  <a:ext uri="{FF2B5EF4-FFF2-40B4-BE49-F238E27FC236}">
                    <a16:creationId xmlns:a16="http://schemas.microsoft.com/office/drawing/2014/main" id="{1A24566C-E0D6-804A-9327-D9C5D8031442}"/>
                  </a:ext>
                </a:extLst>
              </p:cNvPr>
              <p:cNvSpPr>
                <a:spLocks noRot="1" noChangeAspect="1" noMove="1" noResize="1" noEditPoints="1" noAdjustHandles="1" noChangeArrowheads="1" noChangeShapeType="1" noTextEdit="1"/>
              </p:cNvSpPr>
              <p:nvPr/>
            </p:nvSpPr>
            <p:spPr>
              <a:xfrm>
                <a:off x="6128753" y="1090770"/>
                <a:ext cx="633507" cy="646331"/>
              </a:xfrm>
              <a:prstGeom prst="rect">
                <a:avLst/>
              </a:prstGeom>
              <a:blipFill>
                <a:blip r:embed="rId7"/>
                <a:stretch>
                  <a:fillRect/>
                </a:stretch>
              </a:blipFill>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C7F5DEA5-7D18-AC43-A98D-40858E56AA88}"/>
              </a:ext>
            </a:extLst>
          </p:cNvPr>
          <p:cNvGrpSpPr/>
          <p:nvPr/>
        </p:nvGrpSpPr>
        <p:grpSpPr>
          <a:xfrm>
            <a:off x="326920" y="4116821"/>
            <a:ext cx="10447925" cy="2334991"/>
            <a:chOff x="326920" y="4116821"/>
            <a:chExt cx="10447925" cy="2334991"/>
          </a:xfrm>
        </p:grpSpPr>
        <p:cxnSp>
          <p:nvCxnSpPr>
            <p:cNvPr id="13" name="Straight Connector 12">
              <a:extLst>
                <a:ext uri="{FF2B5EF4-FFF2-40B4-BE49-F238E27FC236}">
                  <a16:creationId xmlns:a16="http://schemas.microsoft.com/office/drawing/2014/main" id="{F035E314-9B79-5A48-AEFF-312E2205169B}"/>
                </a:ext>
              </a:extLst>
            </p:cNvPr>
            <p:cNvCxnSpPr>
              <a:cxnSpLocks/>
            </p:cNvCxnSpPr>
            <p:nvPr/>
          </p:nvCxnSpPr>
          <p:spPr>
            <a:xfrm>
              <a:off x="6979407" y="4476820"/>
              <a:ext cx="28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2BB921B-207D-2749-AF54-5B60FF87C79A}"/>
                </a:ext>
              </a:extLst>
            </p:cNvPr>
            <p:cNvCxnSpPr>
              <a:cxnSpLocks/>
            </p:cNvCxnSpPr>
            <p:nvPr/>
          </p:nvCxnSpPr>
          <p:spPr>
            <a:xfrm>
              <a:off x="1909477" y="4476820"/>
              <a:ext cx="40788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E41321AE-5AA1-2845-9DF0-CD569C3E6AB5}"/>
                    </a:ext>
                  </a:extLst>
                </p:cNvPr>
                <p:cNvSpPr/>
                <p:nvPr/>
              </p:nvSpPr>
              <p:spPr>
                <a:xfrm>
                  <a:off x="2265537" y="4121048"/>
                  <a:ext cx="1440000"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3200" i="1" smtClean="0">
                                <a:solidFill>
                                  <a:schemeClr val="bg1"/>
                                </a:solidFill>
                                <a:latin typeface="Cambria Math" panose="02040503050406030204" pitchFamily="18" charset="0"/>
                              </a:rPr>
                            </m:ctrlPr>
                          </m:sSubPr>
                          <m:e>
                            <m:r>
                              <m:rPr>
                                <m:sty m:val="p"/>
                              </m:rPr>
                              <a:rPr lang="sr-Latn-RS" sz="3200" b="0" i="0" smtClean="0">
                                <a:solidFill>
                                  <a:schemeClr val="bg1"/>
                                </a:solidFill>
                                <a:latin typeface="Cambria Math" panose="02040503050406030204" pitchFamily="18" charset="0"/>
                              </a:rPr>
                              <m:t>Rx</m:t>
                            </m:r>
                            <m:r>
                              <a:rPr lang="sr-Latn-RS" sz="3200" b="0" i="1" smtClean="0">
                                <a:solidFill>
                                  <a:schemeClr val="bg1"/>
                                </a:solidFill>
                                <a:latin typeface="Cambria Math" panose="02040503050406030204" pitchFamily="18" charset="0"/>
                              </a:rPr>
                              <m:t>(</m:t>
                            </m:r>
                            <m:r>
                              <a:rPr lang="el-GR" sz="3200" i="1">
                                <a:solidFill>
                                  <a:schemeClr val="bg1"/>
                                </a:solidFill>
                                <a:latin typeface="Cambria Math" panose="02040503050406030204" pitchFamily="18" charset="0"/>
                              </a:rPr>
                              <m:t>𝜃</m:t>
                            </m:r>
                          </m:e>
                          <m:sub>
                            <m:r>
                              <a:rPr lang="sr-Latn-RS" sz="3200" i="1">
                                <a:solidFill>
                                  <a:schemeClr val="bg1"/>
                                </a:solidFill>
                                <a:latin typeface="Cambria Math" panose="02040503050406030204" pitchFamily="18" charset="0"/>
                              </a:rPr>
                              <m:t>1</m:t>
                            </m:r>
                          </m:sub>
                        </m:sSub>
                        <m:r>
                          <a:rPr lang="sr-Latn-RS" sz="3200" b="0" i="1" smtClean="0">
                            <a:solidFill>
                              <a:schemeClr val="bg1"/>
                            </a:solidFill>
                            <a:latin typeface="Cambria Math" panose="02040503050406030204" pitchFamily="18" charset="0"/>
                          </a:rPr>
                          <m:t>)</m:t>
                        </m:r>
                      </m:oMath>
                    </m:oMathPara>
                  </a14:m>
                  <a:endParaRPr lang="en-US" sz="3200" dirty="0">
                    <a:solidFill>
                      <a:schemeClr val="bg1"/>
                    </a:solidFill>
                    <a:latin typeface="Times" pitchFamily="2" charset="0"/>
                  </a:endParaRPr>
                </a:p>
              </p:txBody>
            </p:sp>
          </mc:Choice>
          <mc:Fallback xmlns="">
            <p:sp>
              <p:nvSpPr>
                <p:cNvPr id="15" name="Rectangle 14">
                  <a:extLst>
                    <a:ext uri="{FF2B5EF4-FFF2-40B4-BE49-F238E27FC236}">
                      <a16:creationId xmlns:a16="http://schemas.microsoft.com/office/drawing/2014/main" id="{E41321AE-5AA1-2845-9DF0-CD569C3E6AB5}"/>
                    </a:ext>
                  </a:extLst>
                </p:cNvPr>
                <p:cNvSpPr>
                  <a:spLocks noRot="1" noChangeAspect="1" noMove="1" noResize="1" noEditPoints="1" noAdjustHandles="1" noChangeArrowheads="1" noChangeShapeType="1" noTextEdit="1"/>
                </p:cNvSpPr>
                <p:nvPr/>
              </p:nvSpPr>
              <p:spPr>
                <a:xfrm>
                  <a:off x="2265537" y="4121048"/>
                  <a:ext cx="1440000" cy="720000"/>
                </a:xfrm>
                <a:prstGeom prst="rect">
                  <a:avLst/>
                </a:prstGeom>
                <a:blipFill>
                  <a:blip r:embed="rId8"/>
                  <a:stretch>
                    <a:fillRect l="-3448"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1465AF08-6BEC-8449-B2AC-9F5835158D14}"/>
                    </a:ext>
                  </a:extLst>
                </p:cNvPr>
                <p:cNvSpPr/>
                <p:nvPr/>
              </p:nvSpPr>
              <p:spPr>
                <a:xfrm>
                  <a:off x="4061000" y="4121048"/>
                  <a:ext cx="1440000"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3200" i="1" smtClean="0">
                                <a:solidFill>
                                  <a:schemeClr val="bg1"/>
                                </a:solidFill>
                                <a:latin typeface="Cambria Math" panose="02040503050406030204" pitchFamily="18" charset="0"/>
                              </a:rPr>
                            </m:ctrlPr>
                          </m:sSubPr>
                          <m:e>
                            <m:r>
                              <m:rPr>
                                <m:sty m:val="p"/>
                              </m:rPr>
                              <a:rPr lang="sr-Latn-RS" sz="3200">
                                <a:solidFill>
                                  <a:schemeClr val="bg1"/>
                                </a:solidFill>
                                <a:latin typeface="Cambria Math" panose="02040503050406030204" pitchFamily="18" charset="0"/>
                              </a:rPr>
                              <m:t>Rx</m:t>
                            </m:r>
                            <m:r>
                              <a:rPr lang="sr-Latn-RS" sz="3200" b="0" i="1" smtClean="0">
                                <a:solidFill>
                                  <a:schemeClr val="bg1"/>
                                </a:solidFill>
                                <a:latin typeface="Cambria Math" panose="02040503050406030204" pitchFamily="18" charset="0"/>
                              </a:rPr>
                              <m:t>(</m:t>
                            </m:r>
                            <m:r>
                              <a:rPr lang="el-GR" sz="3200" i="1">
                                <a:solidFill>
                                  <a:schemeClr val="bg1"/>
                                </a:solidFill>
                                <a:latin typeface="Cambria Math" panose="02040503050406030204" pitchFamily="18" charset="0"/>
                              </a:rPr>
                              <m:t>𝜃</m:t>
                            </m:r>
                          </m:e>
                          <m:sub>
                            <m:r>
                              <a:rPr lang="sr-Latn-RS" sz="3200" b="0" i="1" smtClean="0">
                                <a:solidFill>
                                  <a:schemeClr val="bg1"/>
                                </a:solidFill>
                                <a:latin typeface="Cambria Math" panose="02040503050406030204" pitchFamily="18" charset="0"/>
                              </a:rPr>
                              <m:t>2</m:t>
                            </m:r>
                          </m:sub>
                        </m:sSub>
                        <m:r>
                          <a:rPr lang="sr-Latn-RS" sz="3200" b="0" i="1" smtClean="0">
                            <a:solidFill>
                              <a:schemeClr val="bg1"/>
                            </a:solidFill>
                            <a:latin typeface="Cambria Math" panose="02040503050406030204" pitchFamily="18" charset="0"/>
                          </a:rPr>
                          <m:t>)</m:t>
                        </m:r>
                      </m:oMath>
                    </m:oMathPara>
                  </a14:m>
                  <a:endParaRPr lang="en-US" sz="3200" dirty="0">
                    <a:solidFill>
                      <a:schemeClr val="bg1"/>
                    </a:solidFill>
                    <a:latin typeface="Times" pitchFamily="2" charset="0"/>
                  </a:endParaRPr>
                </a:p>
              </p:txBody>
            </p:sp>
          </mc:Choice>
          <mc:Fallback xmlns="">
            <p:sp>
              <p:nvSpPr>
                <p:cNvPr id="16" name="Rectangle 15">
                  <a:extLst>
                    <a:ext uri="{FF2B5EF4-FFF2-40B4-BE49-F238E27FC236}">
                      <a16:creationId xmlns:a16="http://schemas.microsoft.com/office/drawing/2014/main" id="{1465AF08-6BEC-8449-B2AC-9F5835158D14}"/>
                    </a:ext>
                  </a:extLst>
                </p:cNvPr>
                <p:cNvSpPr>
                  <a:spLocks noRot="1" noChangeAspect="1" noMove="1" noResize="1" noEditPoints="1" noAdjustHandles="1" noChangeArrowheads="1" noChangeShapeType="1" noTextEdit="1"/>
                </p:cNvSpPr>
                <p:nvPr/>
              </p:nvSpPr>
              <p:spPr>
                <a:xfrm>
                  <a:off x="4061000" y="4121048"/>
                  <a:ext cx="1440000" cy="720000"/>
                </a:xfrm>
                <a:prstGeom prst="rect">
                  <a:avLst/>
                </a:prstGeom>
                <a:blipFill>
                  <a:blip r:embed="rId9"/>
                  <a:stretch>
                    <a:fillRect l="-4348"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513906A3-149E-D440-A609-09C678C828CB}"/>
                    </a:ext>
                  </a:extLst>
                </p:cNvPr>
                <p:cNvSpPr/>
                <p:nvPr/>
              </p:nvSpPr>
              <p:spPr>
                <a:xfrm>
                  <a:off x="7390014" y="4116821"/>
                  <a:ext cx="2058786"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sr-Latn-RS" sz="3200" smtClean="0">
                            <a:solidFill>
                              <a:schemeClr val="bg1"/>
                            </a:solidFill>
                            <a:latin typeface="Cambria Math" panose="02040503050406030204" pitchFamily="18" charset="0"/>
                          </a:rPr>
                          <m:t>Rx</m:t>
                        </m:r>
                        <m:sSub>
                          <m:sSubPr>
                            <m:ctrlPr>
                              <a:rPr lang="en-US" sz="3200" i="1">
                                <a:solidFill>
                                  <a:schemeClr val="bg1"/>
                                </a:solidFill>
                                <a:latin typeface="Cambria Math" panose="02040503050406030204" pitchFamily="18" charset="0"/>
                              </a:rPr>
                            </m:ctrlPr>
                          </m:sSubPr>
                          <m:e>
                            <m:r>
                              <a:rPr lang="sr-Latn-RS" sz="3200" i="1">
                                <a:solidFill>
                                  <a:schemeClr val="bg1"/>
                                </a:solidFill>
                                <a:latin typeface="Cambria Math" panose="02040503050406030204" pitchFamily="18" charset="0"/>
                              </a:rPr>
                              <m:t>(</m:t>
                            </m:r>
                            <m:r>
                              <a:rPr lang="el-GR" sz="3200" i="1">
                                <a:solidFill>
                                  <a:schemeClr val="bg1"/>
                                </a:solidFill>
                                <a:latin typeface="Cambria Math" panose="02040503050406030204" pitchFamily="18" charset="0"/>
                              </a:rPr>
                              <m:t>𝜃</m:t>
                            </m:r>
                          </m:e>
                          <m:sub>
                            <m:r>
                              <a:rPr lang="sr-Latn-RS" sz="3200" i="1">
                                <a:solidFill>
                                  <a:schemeClr val="bg1"/>
                                </a:solidFill>
                                <a:latin typeface="Cambria Math" panose="02040503050406030204" pitchFamily="18" charset="0"/>
                              </a:rPr>
                              <m:t>1</m:t>
                            </m:r>
                          </m:sub>
                        </m:sSub>
                        <m:r>
                          <a:rPr lang="sr-Latn-RS" sz="3200" i="1">
                            <a:solidFill>
                              <a:schemeClr val="bg1"/>
                            </a:solidFill>
                            <a:latin typeface="Cambria Math" panose="02040503050406030204" pitchFamily="18" charset="0"/>
                          </a:rPr>
                          <m:t>+</m:t>
                        </m:r>
                        <m:sSub>
                          <m:sSubPr>
                            <m:ctrlPr>
                              <a:rPr lang="en-US" sz="3200" i="1">
                                <a:solidFill>
                                  <a:schemeClr val="bg1"/>
                                </a:solidFill>
                                <a:latin typeface="Cambria Math" panose="02040503050406030204" pitchFamily="18" charset="0"/>
                              </a:rPr>
                            </m:ctrlPr>
                          </m:sSubPr>
                          <m:e>
                            <m:r>
                              <a:rPr lang="el-GR" sz="3200" i="1">
                                <a:solidFill>
                                  <a:schemeClr val="bg1"/>
                                </a:solidFill>
                                <a:latin typeface="Cambria Math" panose="02040503050406030204" pitchFamily="18" charset="0"/>
                              </a:rPr>
                              <m:t>𝜃</m:t>
                            </m:r>
                          </m:e>
                          <m:sub>
                            <m:r>
                              <a:rPr lang="sr-Latn-RS" sz="3200" i="1">
                                <a:solidFill>
                                  <a:schemeClr val="bg1"/>
                                </a:solidFill>
                                <a:latin typeface="Cambria Math" panose="02040503050406030204" pitchFamily="18" charset="0"/>
                              </a:rPr>
                              <m:t>2</m:t>
                            </m:r>
                          </m:sub>
                        </m:sSub>
                        <m:r>
                          <a:rPr lang="sr-Latn-RS" sz="3200" i="1">
                            <a:solidFill>
                              <a:schemeClr val="bg1"/>
                            </a:solidFill>
                            <a:latin typeface="Cambria Math" panose="02040503050406030204" pitchFamily="18" charset="0"/>
                          </a:rPr>
                          <m:t>)</m:t>
                        </m:r>
                      </m:oMath>
                    </m:oMathPara>
                  </a14:m>
                  <a:endParaRPr lang="en-US" sz="3200" dirty="0">
                    <a:solidFill>
                      <a:schemeClr val="bg1"/>
                    </a:solidFill>
                    <a:latin typeface="Times" pitchFamily="2" charset="0"/>
                  </a:endParaRPr>
                </a:p>
              </p:txBody>
            </p:sp>
          </mc:Choice>
          <mc:Fallback xmlns="">
            <p:sp>
              <p:nvSpPr>
                <p:cNvPr id="17" name="Rectangle 16">
                  <a:extLst>
                    <a:ext uri="{FF2B5EF4-FFF2-40B4-BE49-F238E27FC236}">
                      <a16:creationId xmlns:a16="http://schemas.microsoft.com/office/drawing/2014/main" id="{513906A3-149E-D440-A609-09C678C828CB}"/>
                    </a:ext>
                  </a:extLst>
                </p:cNvPr>
                <p:cNvSpPr>
                  <a:spLocks noRot="1" noChangeAspect="1" noMove="1" noResize="1" noEditPoints="1" noAdjustHandles="1" noChangeArrowheads="1" noChangeShapeType="1" noTextEdit="1"/>
                </p:cNvSpPr>
                <p:nvPr/>
              </p:nvSpPr>
              <p:spPr>
                <a:xfrm>
                  <a:off x="7390014" y="4116821"/>
                  <a:ext cx="2058786" cy="720000"/>
                </a:xfrm>
                <a:prstGeom prst="rect">
                  <a:avLst/>
                </a:prstGeom>
                <a:blipFill>
                  <a:blip r:embed="rId10"/>
                  <a:stretch>
                    <a:fillRect l="-4268" r="-1829"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4AE8D49D-B144-F24D-A004-0B572A70F335}"/>
                    </a:ext>
                  </a:extLst>
                </p:cNvPr>
                <p:cNvSpPr/>
                <p:nvPr/>
              </p:nvSpPr>
              <p:spPr>
                <a:xfrm>
                  <a:off x="6128753" y="4153655"/>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18" name="Rectangle 17">
                  <a:extLst>
                    <a:ext uri="{FF2B5EF4-FFF2-40B4-BE49-F238E27FC236}">
                      <a16:creationId xmlns:a16="http://schemas.microsoft.com/office/drawing/2014/main" id="{4AE8D49D-B144-F24D-A004-0B572A70F335}"/>
                    </a:ext>
                  </a:extLst>
                </p:cNvPr>
                <p:cNvSpPr>
                  <a:spLocks noRot="1" noChangeAspect="1" noMove="1" noResize="1" noEditPoints="1" noAdjustHandles="1" noChangeArrowheads="1" noChangeShapeType="1" noTextEdit="1"/>
                </p:cNvSpPr>
                <p:nvPr/>
              </p:nvSpPr>
              <p:spPr>
                <a:xfrm>
                  <a:off x="6128753" y="4153655"/>
                  <a:ext cx="633507" cy="646331"/>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B544EEE8-72A3-DD47-AFB0-089B9C1432BB}"/>
                    </a:ext>
                  </a:extLst>
                </p:cNvPr>
                <p:cNvSpPr/>
                <p:nvPr/>
              </p:nvSpPr>
              <p:spPr>
                <a:xfrm>
                  <a:off x="326920" y="5170436"/>
                  <a:ext cx="10447925" cy="1281376"/>
                </a:xfrm>
                <a:prstGeom prst="rect">
                  <a:avLst/>
                </a:prstGeom>
              </p:spPr>
              <p:txBody>
                <a:bodyPr wrap="none">
                  <a:spAutoFit/>
                </a:bodyPr>
                <a:lstStyle/>
                <a:p>
                  <a14:m>
                    <m:oMath xmlns:m="http://schemas.openxmlformats.org/officeDocument/2006/math">
                      <m:d>
                        <m:dPr>
                          <m:ctrlPr>
                            <a:rPr lang="en-US" sz="2400" i="1" smtClean="0">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𝑐𝑜𝑠</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l-GR" sz="2400" i="1">
                                            <a:latin typeface="Cambria Math" panose="02040503050406030204" pitchFamily="18" charset="0"/>
                                          </a:rPr>
                                          <m:t>𝜃</m:t>
                                        </m:r>
                                      </m:e>
                                      <m:sub>
                                        <m:r>
                                          <a:rPr lang="sr-Latn-RS" sz="2400" b="0" i="1" smtClean="0">
                                            <a:latin typeface="Cambria Math" panose="02040503050406030204" pitchFamily="18" charset="0"/>
                                          </a:rPr>
                                          <m:t>2</m:t>
                                        </m:r>
                                      </m:sub>
                                    </m:sSub>
                                  </m:num>
                                  <m:den>
                                    <m:r>
                                      <a:rPr lang="en-US" sz="2400">
                                        <a:latin typeface="Cambria Math" panose="02040503050406030204" pitchFamily="18" charset="0"/>
                                      </a:rPr>
                                      <m:t>2</m:t>
                                    </m:r>
                                  </m:den>
                                </m:f>
                              </m:e>
                              <m:e>
                                <m:r>
                                  <a:rPr lang="en-US" sz="2400">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 </m:t>
                                </m:r>
                                <m:r>
                                  <a:rPr lang="en-US" sz="2400" i="1">
                                    <a:latin typeface="Cambria Math" panose="02040503050406030204" pitchFamily="18" charset="0"/>
                                  </a:rPr>
                                  <m:t>𝑠𝑖𝑛</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l-GR" sz="2400" i="1">
                                            <a:latin typeface="Cambria Math" panose="02040503050406030204" pitchFamily="18" charset="0"/>
                                          </a:rPr>
                                          <m:t>𝜃</m:t>
                                        </m:r>
                                      </m:e>
                                      <m:sub>
                                        <m:r>
                                          <a:rPr lang="sr-Latn-RS" sz="2400" b="0" i="1" smtClean="0">
                                            <a:latin typeface="Cambria Math" panose="02040503050406030204" pitchFamily="18" charset="0"/>
                                          </a:rPr>
                                          <m:t>2</m:t>
                                        </m:r>
                                      </m:sub>
                                    </m:sSub>
                                  </m:num>
                                  <m:den>
                                    <m:r>
                                      <a:rPr lang="en-US" sz="2400">
                                        <a:latin typeface="Cambria Math" panose="02040503050406030204" pitchFamily="18" charset="0"/>
                                      </a:rPr>
                                      <m:t>2</m:t>
                                    </m:r>
                                  </m:den>
                                </m:f>
                              </m:e>
                            </m:mr>
                            <m:mr>
                              <m:e>
                                <m:r>
                                  <a:rPr lang="en-US" sz="2400">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 </m:t>
                                </m:r>
                                <m:r>
                                  <a:rPr lang="en-US" sz="2400" i="1">
                                    <a:latin typeface="Cambria Math" panose="02040503050406030204" pitchFamily="18" charset="0"/>
                                  </a:rPr>
                                  <m:t>𝑠𝑖𝑛</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l-GR" sz="2400" i="1">
                                            <a:latin typeface="Cambria Math" panose="02040503050406030204" pitchFamily="18" charset="0"/>
                                          </a:rPr>
                                          <m:t>𝜃</m:t>
                                        </m:r>
                                      </m:e>
                                      <m:sub>
                                        <m:r>
                                          <a:rPr lang="sr-Latn-RS" sz="2400" b="0" i="1" smtClean="0">
                                            <a:latin typeface="Cambria Math" panose="02040503050406030204" pitchFamily="18" charset="0"/>
                                          </a:rPr>
                                          <m:t>2</m:t>
                                        </m:r>
                                      </m:sub>
                                    </m:sSub>
                                  </m:num>
                                  <m:den>
                                    <m:r>
                                      <a:rPr lang="en-US" sz="2400">
                                        <a:latin typeface="Cambria Math" panose="02040503050406030204" pitchFamily="18" charset="0"/>
                                      </a:rPr>
                                      <m:t>2</m:t>
                                    </m:r>
                                  </m:den>
                                </m:f>
                              </m:e>
                              <m:e>
                                <m:r>
                                  <a:rPr lang="en-US" sz="2400" i="1">
                                    <a:latin typeface="Cambria Math" panose="02040503050406030204" pitchFamily="18" charset="0"/>
                                  </a:rPr>
                                  <m:t>𝑐𝑜𝑠</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l-GR" sz="2400" i="1">
                                            <a:latin typeface="Cambria Math" panose="02040503050406030204" pitchFamily="18" charset="0"/>
                                          </a:rPr>
                                          <m:t>𝜃</m:t>
                                        </m:r>
                                      </m:e>
                                      <m:sub>
                                        <m:r>
                                          <a:rPr lang="sr-Latn-RS" sz="2400" b="0" i="1" smtClean="0">
                                            <a:latin typeface="Cambria Math" panose="02040503050406030204" pitchFamily="18" charset="0"/>
                                          </a:rPr>
                                          <m:t>2</m:t>
                                        </m:r>
                                      </m:sub>
                                    </m:sSub>
                                  </m:num>
                                  <m:den>
                                    <m:r>
                                      <a:rPr lang="en-US" sz="2400">
                                        <a:latin typeface="Cambria Math" panose="02040503050406030204" pitchFamily="18" charset="0"/>
                                      </a:rPr>
                                      <m:t>2</m:t>
                                    </m:r>
                                  </m:den>
                                </m:f>
                              </m:e>
                            </m:mr>
                          </m:m>
                        </m:e>
                      </m:d>
                      <m:r>
                        <a:rPr lang="en-US" sz="2400" i="1">
                          <a:latin typeface="Cambria Math" panose="02040503050406030204" pitchFamily="18" charset="0"/>
                        </a:rPr>
                        <m:t> </m:t>
                      </m:r>
                      <m:d>
                        <m:dPr>
                          <m:ctrlPr>
                            <a:rPr lang="en-US" sz="2400" i="1" smtClean="0">
                              <a:solidFill>
                                <a:schemeClr val="tx1"/>
                              </a:solidFill>
                              <a:latin typeface="Cambria Math" panose="02040503050406030204" pitchFamily="18" charset="0"/>
                            </a:rPr>
                          </m:ctrlPr>
                        </m:dPr>
                        <m:e>
                          <m:m>
                            <m:mPr>
                              <m:plcHide m:val="on"/>
                              <m:mcs>
                                <m:mc>
                                  <m:mcPr>
                                    <m:count m:val="2"/>
                                    <m:mcJc m:val="center"/>
                                  </m:mcPr>
                                </m:mc>
                              </m:mcs>
                              <m:ctrlPr>
                                <a:rPr lang="en-US" sz="2400" i="1">
                                  <a:solidFill>
                                    <a:schemeClr val="tx1"/>
                                  </a:solidFill>
                                  <a:latin typeface="Cambria Math" panose="02040503050406030204" pitchFamily="18" charset="0"/>
                                </a:rPr>
                              </m:ctrlPr>
                            </m:mPr>
                            <m:mr>
                              <m:e>
                                <m:r>
                                  <a:rPr lang="en-US" sz="2400" i="1">
                                    <a:solidFill>
                                      <a:schemeClr val="tx1"/>
                                    </a:solidFill>
                                    <a:latin typeface="Cambria Math" panose="02040503050406030204" pitchFamily="18" charset="0"/>
                                  </a:rPr>
                                  <m:t>𝑐𝑜𝑠</m:t>
                                </m:r>
                                <m:f>
                                  <m:fPr>
                                    <m:ctrlPr>
                                      <a:rPr lang="en-US" sz="2400" i="1">
                                        <a:solidFill>
                                          <a:schemeClr val="tx1"/>
                                        </a:solidFill>
                                        <a:latin typeface="Cambria Math" panose="02040503050406030204" pitchFamily="18" charset="0"/>
                                      </a:rPr>
                                    </m:ctrlPr>
                                  </m:fPr>
                                  <m:num>
                                    <m:sSub>
                                      <m:sSubPr>
                                        <m:ctrlPr>
                                          <a:rPr lang="en-US" sz="2400" i="1" smtClean="0">
                                            <a:solidFill>
                                              <a:schemeClr val="tx1"/>
                                            </a:solidFill>
                                            <a:latin typeface="Cambria Math" panose="02040503050406030204" pitchFamily="18" charset="0"/>
                                          </a:rPr>
                                        </m:ctrlPr>
                                      </m:sSubPr>
                                      <m:e>
                                        <m:r>
                                          <a:rPr lang="el-GR" sz="2400" i="1">
                                            <a:latin typeface="Cambria Math" panose="02040503050406030204" pitchFamily="18" charset="0"/>
                                          </a:rPr>
                                          <m:t>𝜃</m:t>
                                        </m:r>
                                      </m:e>
                                      <m:sub>
                                        <m:r>
                                          <a:rPr lang="sr-Latn-RS" sz="2400" b="0" i="1" smtClean="0">
                                            <a:solidFill>
                                              <a:schemeClr val="tx1"/>
                                            </a:solidFill>
                                            <a:latin typeface="Cambria Math" panose="02040503050406030204" pitchFamily="18" charset="0"/>
                                          </a:rPr>
                                          <m:t>1</m:t>
                                        </m:r>
                                      </m:sub>
                                    </m:sSub>
                                  </m:num>
                                  <m:den>
                                    <m:r>
                                      <a:rPr lang="en-US" sz="2400">
                                        <a:solidFill>
                                          <a:schemeClr val="tx1"/>
                                        </a:solidFill>
                                        <a:latin typeface="Cambria Math" panose="02040503050406030204" pitchFamily="18" charset="0"/>
                                      </a:rPr>
                                      <m:t>2</m:t>
                                    </m:r>
                                  </m:den>
                                </m:f>
                              </m:e>
                              <m:e>
                                <m:r>
                                  <a:rPr lang="en-US" sz="240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𝑖</m:t>
                                </m:r>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𝑠𝑖𝑛</m:t>
                                </m:r>
                                <m:f>
                                  <m:fPr>
                                    <m:ctrlPr>
                                      <a:rPr lang="en-US" sz="2400" i="1">
                                        <a:solidFill>
                                          <a:schemeClr val="tx1"/>
                                        </a:solidFill>
                                        <a:latin typeface="Cambria Math" panose="02040503050406030204" pitchFamily="18" charset="0"/>
                                      </a:rPr>
                                    </m:ctrlPr>
                                  </m:fPr>
                                  <m:num>
                                    <m:sSub>
                                      <m:sSubPr>
                                        <m:ctrlPr>
                                          <a:rPr lang="en-US" sz="2400" i="1">
                                            <a:latin typeface="Cambria Math" panose="02040503050406030204" pitchFamily="18" charset="0"/>
                                          </a:rPr>
                                        </m:ctrlPr>
                                      </m:sSubPr>
                                      <m:e>
                                        <m:r>
                                          <a:rPr lang="el-GR" sz="2400" i="1">
                                            <a:latin typeface="Cambria Math" panose="02040503050406030204" pitchFamily="18" charset="0"/>
                                          </a:rPr>
                                          <m:t>𝜃</m:t>
                                        </m:r>
                                      </m:e>
                                      <m:sub>
                                        <m:r>
                                          <a:rPr lang="sr-Latn-RS" sz="2400" i="1">
                                            <a:latin typeface="Cambria Math" panose="02040503050406030204" pitchFamily="18" charset="0"/>
                                          </a:rPr>
                                          <m:t>1</m:t>
                                        </m:r>
                                      </m:sub>
                                    </m:sSub>
                                  </m:num>
                                  <m:den>
                                    <m:r>
                                      <a:rPr lang="en-US" sz="2400">
                                        <a:solidFill>
                                          <a:schemeClr val="tx1"/>
                                        </a:solidFill>
                                        <a:latin typeface="Cambria Math" panose="02040503050406030204" pitchFamily="18" charset="0"/>
                                      </a:rPr>
                                      <m:t>2</m:t>
                                    </m:r>
                                  </m:den>
                                </m:f>
                              </m:e>
                            </m:mr>
                            <m:mr>
                              <m:e>
                                <m:r>
                                  <a:rPr lang="en-US" sz="240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𝑖</m:t>
                                </m:r>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𝑠𝑖𝑛</m:t>
                                </m:r>
                                <m:f>
                                  <m:fPr>
                                    <m:ctrlPr>
                                      <a:rPr lang="en-US" sz="2400" i="1">
                                        <a:solidFill>
                                          <a:schemeClr val="tx1"/>
                                        </a:solidFill>
                                        <a:latin typeface="Cambria Math" panose="02040503050406030204" pitchFamily="18" charset="0"/>
                                      </a:rPr>
                                    </m:ctrlPr>
                                  </m:fPr>
                                  <m:num>
                                    <m:sSub>
                                      <m:sSubPr>
                                        <m:ctrlPr>
                                          <a:rPr lang="en-US" sz="2400" i="1">
                                            <a:latin typeface="Cambria Math" panose="02040503050406030204" pitchFamily="18" charset="0"/>
                                          </a:rPr>
                                        </m:ctrlPr>
                                      </m:sSubPr>
                                      <m:e>
                                        <m:r>
                                          <a:rPr lang="el-GR" sz="2400" i="1">
                                            <a:latin typeface="Cambria Math" panose="02040503050406030204" pitchFamily="18" charset="0"/>
                                          </a:rPr>
                                          <m:t>𝜃</m:t>
                                        </m:r>
                                      </m:e>
                                      <m:sub>
                                        <m:r>
                                          <a:rPr lang="sr-Latn-RS" sz="2400" i="1">
                                            <a:latin typeface="Cambria Math" panose="02040503050406030204" pitchFamily="18" charset="0"/>
                                          </a:rPr>
                                          <m:t>1</m:t>
                                        </m:r>
                                      </m:sub>
                                    </m:sSub>
                                  </m:num>
                                  <m:den>
                                    <m:r>
                                      <a:rPr lang="en-US" sz="2400">
                                        <a:solidFill>
                                          <a:schemeClr val="tx1"/>
                                        </a:solidFill>
                                        <a:latin typeface="Cambria Math" panose="02040503050406030204" pitchFamily="18" charset="0"/>
                                      </a:rPr>
                                      <m:t>2</m:t>
                                    </m:r>
                                  </m:den>
                                </m:f>
                              </m:e>
                              <m:e>
                                <m:r>
                                  <a:rPr lang="en-US" sz="2400" i="1">
                                    <a:solidFill>
                                      <a:schemeClr val="tx1"/>
                                    </a:solidFill>
                                    <a:latin typeface="Cambria Math" panose="02040503050406030204" pitchFamily="18" charset="0"/>
                                  </a:rPr>
                                  <m:t>𝑐𝑜𝑠</m:t>
                                </m:r>
                                <m:f>
                                  <m:fPr>
                                    <m:ctrlPr>
                                      <a:rPr lang="en-US" sz="2400" i="1">
                                        <a:solidFill>
                                          <a:schemeClr val="tx1"/>
                                        </a:solidFill>
                                        <a:latin typeface="Cambria Math" panose="02040503050406030204" pitchFamily="18" charset="0"/>
                                      </a:rPr>
                                    </m:ctrlPr>
                                  </m:fPr>
                                  <m:num>
                                    <m:sSub>
                                      <m:sSubPr>
                                        <m:ctrlPr>
                                          <a:rPr lang="en-US" sz="2400" i="1" smtClean="0">
                                            <a:latin typeface="Cambria Math" panose="02040503050406030204" pitchFamily="18" charset="0"/>
                                          </a:rPr>
                                        </m:ctrlPr>
                                      </m:sSubPr>
                                      <m:e>
                                        <m:r>
                                          <a:rPr lang="el-GR" sz="2400" i="1">
                                            <a:latin typeface="Cambria Math" panose="02040503050406030204" pitchFamily="18" charset="0"/>
                                          </a:rPr>
                                          <m:t>𝜃</m:t>
                                        </m:r>
                                      </m:e>
                                      <m:sub>
                                        <m:r>
                                          <a:rPr lang="sr-Latn-RS" sz="2400" i="1">
                                            <a:latin typeface="Cambria Math" panose="02040503050406030204" pitchFamily="18" charset="0"/>
                                          </a:rPr>
                                          <m:t>1</m:t>
                                        </m:r>
                                      </m:sub>
                                    </m:sSub>
                                  </m:num>
                                  <m:den>
                                    <m:r>
                                      <a:rPr lang="en-US" sz="2400">
                                        <a:solidFill>
                                          <a:schemeClr val="tx1"/>
                                        </a:solidFill>
                                        <a:latin typeface="Cambria Math" panose="02040503050406030204" pitchFamily="18" charset="0"/>
                                      </a:rPr>
                                      <m:t>2</m:t>
                                    </m:r>
                                  </m:den>
                                </m:f>
                              </m:e>
                            </m:mr>
                          </m:m>
                        </m:e>
                      </m:d>
                      <m:groupChr>
                        <m:groupChrPr>
                          <m:chr m:val="→"/>
                          <m:vertJc m:val="bot"/>
                          <m:ctrlPr>
                            <a:rPr lang="en-US" sz="2400" i="1" smtClean="0">
                              <a:solidFill>
                                <a:schemeClr val="tx1"/>
                              </a:solidFill>
                              <a:latin typeface="Cambria Math" panose="02040503050406030204" pitchFamily="18" charset="0"/>
                            </a:rPr>
                          </m:ctrlPr>
                        </m:groupChrPr>
                        <m:e/>
                      </m:groupChr>
                    </m:oMath>
                  </a14:m>
                  <a:r>
                    <a:rPr lang="en-US" sz="2400" dirty="0"/>
                    <a:t> </a:t>
                  </a:r>
                  <a14:m>
                    <m:oMath xmlns:m="http://schemas.openxmlformats.org/officeDocument/2006/math">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𝑐𝑜𝑠</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l-GR" sz="2400" i="1">
                                                <a:latin typeface="Cambria Math" panose="02040503050406030204" pitchFamily="18" charset="0"/>
                                              </a:rPr>
                                              <m:t>𝜃</m:t>
                                            </m:r>
                                          </m:e>
                                          <m:sub>
                                            <m:r>
                                              <a:rPr lang="sr-Latn-RS" sz="2400" b="0" i="1" smtClean="0">
                                                <a:latin typeface="Cambria Math" panose="02040503050406030204" pitchFamily="18" charset="0"/>
                                              </a:rPr>
                                              <m:t>1</m:t>
                                            </m:r>
                                          </m:sub>
                                        </m:sSub>
                                        <m:r>
                                          <a:rPr lang="sr-Latn-RS" sz="2400" b="0" i="1" smtClean="0">
                                            <a:latin typeface="Cambria Math" panose="02040503050406030204" pitchFamily="18" charset="0"/>
                                          </a:rPr>
                                          <m:t>+</m:t>
                                        </m:r>
                                        <m:r>
                                          <a:rPr lang="el-GR" sz="2400" i="1">
                                            <a:latin typeface="Cambria Math" panose="02040503050406030204" pitchFamily="18" charset="0"/>
                                          </a:rPr>
                                          <m:t>𝜃</m:t>
                                        </m:r>
                                      </m:e>
                                      <m:sub>
                                        <m:r>
                                          <a:rPr lang="sr-Latn-RS" sz="2400" i="1">
                                            <a:latin typeface="Cambria Math" panose="02040503050406030204" pitchFamily="18" charset="0"/>
                                          </a:rPr>
                                          <m:t>2</m:t>
                                        </m:r>
                                      </m:sub>
                                    </m:sSub>
                                  </m:num>
                                  <m:den>
                                    <m:r>
                                      <a:rPr lang="en-US" sz="2400">
                                        <a:latin typeface="Cambria Math" panose="02040503050406030204" pitchFamily="18" charset="0"/>
                                      </a:rPr>
                                      <m:t>2</m:t>
                                    </m:r>
                                  </m:den>
                                </m:f>
                              </m:e>
                              <m:e>
                                <m:r>
                                  <a:rPr lang="en-US" sz="2400">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 </m:t>
                                </m:r>
                                <m:r>
                                  <a:rPr lang="en-US" sz="2400" i="1">
                                    <a:latin typeface="Cambria Math" panose="02040503050406030204" pitchFamily="18" charset="0"/>
                                  </a:rPr>
                                  <m:t>𝑠𝑖𝑛</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l-GR" sz="2400" i="1">
                                                <a:latin typeface="Cambria Math" panose="02040503050406030204" pitchFamily="18" charset="0"/>
                                              </a:rPr>
                                              <m:t>𝜃</m:t>
                                            </m:r>
                                          </m:e>
                                          <m:sub>
                                            <m:r>
                                              <a:rPr lang="sr-Latn-RS" sz="2400" i="1">
                                                <a:latin typeface="Cambria Math" panose="02040503050406030204" pitchFamily="18" charset="0"/>
                                              </a:rPr>
                                              <m:t>1</m:t>
                                            </m:r>
                                          </m:sub>
                                        </m:sSub>
                                        <m:r>
                                          <a:rPr lang="sr-Latn-RS" sz="2400" i="1">
                                            <a:latin typeface="Cambria Math" panose="02040503050406030204" pitchFamily="18" charset="0"/>
                                          </a:rPr>
                                          <m:t>+</m:t>
                                        </m:r>
                                        <m:r>
                                          <a:rPr lang="el-GR" sz="2400" i="1">
                                            <a:latin typeface="Cambria Math" panose="02040503050406030204" pitchFamily="18" charset="0"/>
                                          </a:rPr>
                                          <m:t>𝜃</m:t>
                                        </m:r>
                                      </m:e>
                                      <m:sub>
                                        <m:r>
                                          <a:rPr lang="sr-Latn-RS" sz="2400" i="1">
                                            <a:latin typeface="Cambria Math" panose="02040503050406030204" pitchFamily="18" charset="0"/>
                                          </a:rPr>
                                          <m:t>2</m:t>
                                        </m:r>
                                      </m:sub>
                                    </m:sSub>
                                  </m:num>
                                  <m:den>
                                    <m:r>
                                      <a:rPr lang="en-US" sz="2400">
                                        <a:latin typeface="Cambria Math" panose="02040503050406030204" pitchFamily="18" charset="0"/>
                                      </a:rPr>
                                      <m:t>2</m:t>
                                    </m:r>
                                  </m:den>
                                </m:f>
                              </m:e>
                            </m:mr>
                            <m:mr>
                              <m:e>
                                <m:r>
                                  <a:rPr lang="en-US" sz="2400">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 </m:t>
                                </m:r>
                                <m:r>
                                  <a:rPr lang="en-US" sz="2400" i="1">
                                    <a:latin typeface="Cambria Math" panose="02040503050406030204" pitchFamily="18" charset="0"/>
                                  </a:rPr>
                                  <m:t>𝑠𝑖𝑛</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l-GR" sz="2400" i="1">
                                                <a:latin typeface="Cambria Math" panose="02040503050406030204" pitchFamily="18" charset="0"/>
                                              </a:rPr>
                                              <m:t>𝜃</m:t>
                                            </m:r>
                                          </m:e>
                                          <m:sub>
                                            <m:r>
                                              <a:rPr lang="sr-Latn-RS" sz="2400" i="1">
                                                <a:latin typeface="Cambria Math" panose="02040503050406030204" pitchFamily="18" charset="0"/>
                                              </a:rPr>
                                              <m:t>1</m:t>
                                            </m:r>
                                          </m:sub>
                                        </m:sSub>
                                        <m:r>
                                          <a:rPr lang="sr-Latn-RS" sz="2400" i="1">
                                            <a:latin typeface="Cambria Math" panose="02040503050406030204" pitchFamily="18" charset="0"/>
                                          </a:rPr>
                                          <m:t>+</m:t>
                                        </m:r>
                                        <m:r>
                                          <a:rPr lang="el-GR" sz="2400" i="1">
                                            <a:latin typeface="Cambria Math" panose="02040503050406030204" pitchFamily="18" charset="0"/>
                                          </a:rPr>
                                          <m:t>𝜃</m:t>
                                        </m:r>
                                      </m:e>
                                      <m:sub>
                                        <m:r>
                                          <a:rPr lang="sr-Latn-RS" sz="2400" i="1">
                                            <a:latin typeface="Cambria Math" panose="02040503050406030204" pitchFamily="18" charset="0"/>
                                          </a:rPr>
                                          <m:t>2</m:t>
                                        </m:r>
                                      </m:sub>
                                    </m:sSub>
                                  </m:num>
                                  <m:den>
                                    <m:r>
                                      <a:rPr lang="en-US" sz="2400">
                                        <a:latin typeface="Cambria Math" panose="02040503050406030204" pitchFamily="18" charset="0"/>
                                      </a:rPr>
                                      <m:t>2</m:t>
                                    </m:r>
                                  </m:den>
                                </m:f>
                              </m:e>
                              <m:e>
                                <m:r>
                                  <a:rPr lang="en-US" sz="2400" i="1">
                                    <a:latin typeface="Cambria Math" panose="02040503050406030204" pitchFamily="18" charset="0"/>
                                  </a:rPr>
                                  <m:t>𝑐𝑜𝑠</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l-GR" sz="2400" i="1">
                                                <a:latin typeface="Cambria Math" panose="02040503050406030204" pitchFamily="18" charset="0"/>
                                              </a:rPr>
                                              <m:t>𝜃</m:t>
                                            </m:r>
                                          </m:e>
                                          <m:sub>
                                            <m:r>
                                              <a:rPr lang="sr-Latn-RS" sz="2400" i="1">
                                                <a:latin typeface="Cambria Math" panose="02040503050406030204" pitchFamily="18" charset="0"/>
                                              </a:rPr>
                                              <m:t>1</m:t>
                                            </m:r>
                                          </m:sub>
                                        </m:sSub>
                                        <m:r>
                                          <a:rPr lang="sr-Latn-RS" sz="2400" i="1">
                                            <a:latin typeface="Cambria Math" panose="02040503050406030204" pitchFamily="18" charset="0"/>
                                          </a:rPr>
                                          <m:t>+</m:t>
                                        </m:r>
                                        <m:r>
                                          <a:rPr lang="el-GR" sz="2400" i="1">
                                            <a:latin typeface="Cambria Math" panose="02040503050406030204" pitchFamily="18" charset="0"/>
                                          </a:rPr>
                                          <m:t>𝜃</m:t>
                                        </m:r>
                                      </m:e>
                                      <m:sub>
                                        <m:r>
                                          <a:rPr lang="sr-Latn-RS" sz="2400" i="1">
                                            <a:latin typeface="Cambria Math" panose="02040503050406030204" pitchFamily="18" charset="0"/>
                                          </a:rPr>
                                          <m:t>2</m:t>
                                        </m:r>
                                      </m:sub>
                                    </m:sSub>
                                  </m:num>
                                  <m:den>
                                    <m:r>
                                      <a:rPr lang="en-US" sz="2400">
                                        <a:latin typeface="Cambria Math" panose="02040503050406030204" pitchFamily="18" charset="0"/>
                                      </a:rPr>
                                      <m:t>2</m:t>
                                    </m:r>
                                  </m:den>
                                </m:f>
                              </m:e>
                            </m:mr>
                          </m:m>
                        </m:e>
                      </m:d>
                    </m:oMath>
                  </a14:m>
                  <a:endParaRPr lang="en-US" sz="2400" dirty="0">
                    <a:solidFill>
                      <a:schemeClr val="tx1"/>
                    </a:solidFill>
                  </a:endParaRPr>
                </a:p>
              </p:txBody>
            </p:sp>
          </mc:Choice>
          <mc:Fallback xmlns="">
            <p:sp>
              <p:nvSpPr>
                <p:cNvPr id="19" name="Rectangle 18">
                  <a:extLst>
                    <a:ext uri="{FF2B5EF4-FFF2-40B4-BE49-F238E27FC236}">
                      <a16:creationId xmlns:a16="http://schemas.microsoft.com/office/drawing/2014/main" id="{B544EEE8-72A3-DD47-AFB0-089B9C1432BB}"/>
                    </a:ext>
                  </a:extLst>
                </p:cNvPr>
                <p:cNvSpPr>
                  <a:spLocks noRot="1" noChangeAspect="1" noMove="1" noResize="1" noEditPoints="1" noAdjustHandles="1" noChangeArrowheads="1" noChangeShapeType="1" noTextEdit="1"/>
                </p:cNvSpPr>
                <p:nvPr/>
              </p:nvSpPr>
              <p:spPr>
                <a:xfrm>
                  <a:off x="326920" y="5170436"/>
                  <a:ext cx="10447925" cy="1281376"/>
                </a:xfrm>
                <a:prstGeom prst="rect">
                  <a:avLst/>
                </a:prstGeom>
                <a:blipFill>
                  <a:blip r:embed="rId12"/>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975845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ssolv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D0916-B9DF-BC48-9ACD-E5ED8335EFC0}"/>
              </a:ext>
            </a:extLst>
          </p:cNvPr>
          <p:cNvSpPr>
            <a:spLocks noGrp="1"/>
          </p:cNvSpPr>
          <p:nvPr>
            <p:ph type="title"/>
          </p:nvPr>
        </p:nvSpPr>
        <p:spPr/>
        <p:txBody>
          <a:bodyPr/>
          <a:lstStyle/>
          <a:p>
            <a:r>
              <a:rPr lang="en-ZA" dirty="0"/>
              <a:t>Phase and Rotation Gates: Angle Addition Rule (2)</a:t>
            </a:r>
            <a:endParaRPr lang="en-US" dirty="0"/>
          </a:p>
        </p:txBody>
      </p:sp>
      <p:sp>
        <p:nvSpPr>
          <p:cNvPr id="3" name="Slide Number Placeholder 2">
            <a:extLst>
              <a:ext uri="{FF2B5EF4-FFF2-40B4-BE49-F238E27FC236}">
                <a16:creationId xmlns:a16="http://schemas.microsoft.com/office/drawing/2014/main" id="{367F924B-60EB-E944-A794-B82A3FD82CD9}"/>
              </a:ext>
            </a:extLst>
          </p:cNvPr>
          <p:cNvSpPr>
            <a:spLocks noGrp="1"/>
          </p:cNvSpPr>
          <p:nvPr>
            <p:ph type="sldNum" sz="quarter" idx="12"/>
          </p:nvPr>
        </p:nvSpPr>
        <p:spPr/>
        <p:txBody>
          <a:bodyPr/>
          <a:lstStyle/>
          <a:p>
            <a:fld id="{591A223C-FA10-BC46-A853-03BA373D023C}" type="slidenum">
              <a:rPr lang="en-US" smtClean="0"/>
              <a:t>8</a:t>
            </a:fld>
            <a:endParaRPr lang="en-US"/>
          </a:p>
        </p:txBody>
      </p:sp>
      <p:cxnSp>
        <p:nvCxnSpPr>
          <p:cNvPr id="10" name="Straight Connector 9">
            <a:extLst>
              <a:ext uri="{FF2B5EF4-FFF2-40B4-BE49-F238E27FC236}">
                <a16:creationId xmlns:a16="http://schemas.microsoft.com/office/drawing/2014/main" id="{B47A5C54-E035-AC45-A797-4F3BAD6A7268}"/>
              </a:ext>
            </a:extLst>
          </p:cNvPr>
          <p:cNvCxnSpPr>
            <a:cxnSpLocks/>
          </p:cNvCxnSpPr>
          <p:nvPr/>
        </p:nvCxnSpPr>
        <p:spPr>
          <a:xfrm>
            <a:off x="3859852" y="1490650"/>
            <a:ext cx="174254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7FDA7065-88DC-1C4D-B3F8-875F1654F9F1}"/>
                  </a:ext>
                </a:extLst>
              </p:cNvPr>
              <p:cNvSpPr/>
              <p:nvPr/>
            </p:nvSpPr>
            <p:spPr>
              <a:xfrm>
                <a:off x="4270459" y="1130651"/>
                <a:ext cx="1002002"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sr-Latn-RS" sz="3200" smtClean="0">
                          <a:solidFill>
                            <a:schemeClr val="bg1"/>
                          </a:solidFill>
                          <a:latin typeface="Cambria Math" panose="02040503050406030204" pitchFamily="18" charset="0"/>
                        </a:rPr>
                        <m:t>R</m:t>
                      </m:r>
                      <m:r>
                        <a:rPr lang="sr-Latn-RS" sz="3200" b="0" i="1" smtClean="0">
                          <a:solidFill>
                            <a:schemeClr val="bg1"/>
                          </a:solidFill>
                          <a:latin typeface="Cambria Math" panose="02040503050406030204" pitchFamily="18" charset="0"/>
                        </a:rPr>
                        <m:t>(0</m:t>
                      </m:r>
                      <m:r>
                        <a:rPr lang="sr-Latn-RS" sz="3200" i="1">
                          <a:solidFill>
                            <a:schemeClr val="bg1"/>
                          </a:solidFill>
                          <a:latin typeface="Cambria Math" panose="02040503050406030204" pitchFamily="18" charset="0"/>
                        </a:rPr>
                        <m:t>)</m:t>
                      </m:r>
                    </m:oMath>
                  </m:oMathPara>
                </a14:m>
                <a:endParaRPr lang="en-US" sz="3200" dirty="0">
                  <a:solidFill>
                    <a:schemeClr val="bg1"/>
                  </a:solidFill>
                  <a:latin typeface="Times" pitchFamily="2" charset="0"/>
                </a:endParaRPr>
              </a:p>
            </p:txBody>
          </p:sp>
        </mc:Choice>
        <mc:Fallback xmlns="">
          <p:sp>
            <p:nvSpPr>
              <p:cNvPr id="11" name="Rectangle 10">
                <a:extLst>
                  <a:ext uri="{FF2B5EF4-FFF2-40B4-BE49-F238E27FC236}">
                    <a16:creationId xmlns:a16="http://schemas.microsoft.com/office/drawing/2014/main" id="{7FDA7065-88DC-1C4D-B3F8-875F1654F9F1}"/>
                  </a:ext>
                </a:extLst>
              </p:cNvPr>
              <p:cNvSpPr>
                <a:spLocks noRot="1" noChangeAspect="1" noMove="1" noResize="1" noEditPoints="1" noAdjustHandles="1" noChangeArrowheads="1" noChangeShapeType="1" noTextEdit="1"/>
              </p:cNvSpPr>
              <p:nvPr/>
            </p:nvSpPr>
            <p:spPr>
              <a:xfrm>
                <a:off x="4270459" y="1130651"/>
                <a:ext cx="1002002" cy="720000"/>
              </a:xfrm>
              <a:prstGeom prst="rect">
                <a:avLst/>
              </a:prstGeom>
              <a:blipFill>
                <a:blip r:embed="rId3"/>
                <a:stretch>
                  <a:fillRect l="-10000" r="-3750" b="-3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EC395623-B78D-334C-BF0B-EED411E9B8E1}"/>
                  </a:ext>
                </a:extLst>
              </p:cNvPr>
              <p:cNvSpPr/>
              <p:nvPr/>
            </p:nvSpPr>
            <p:spPr>
              <a:xfrm>
                <a:off x="5799948" y="1130650"/>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12" name="Rectangle 11">
                <a:extLst>
                  <a:ext uri="{FF2B5EF4-FFF2-40B4-BE49-F238E27FC236}">
                    <a16:creationId xmlns:a16="http://schemas.microsoft.com/office/drawing/2014/main" id="{EC395623-B78D-334C-BF0B-EED411E9B8E1}"/>
                  </a:ext>
                </a:extLst>
              </p:cNvPr>
              <p:cNvSpPr>
                <a:spLocks noRot="1" noChangeAspect="1" noMove="1" noResize="1" noEditPoints="1" noAdjustHandles="1" noChangeArrowheads="1" noChangeShapeType="1" noTextEdit="1"/>
              </p:cNvSpPr>
              <p:nvPr/>
            </p:nvSpPr>
            <p:spPr>
              <a:xfrm>
                <a:off x="5799948" y="1130650"/>
                <a:ext cx="633507" cy="646331"/>
              </a:xfrm>
              <a:prstGeom prst="rect">
                <a:avLst/>
              </a:prstGeom>
              <a:blipFill>
                <a:blip r:embed="rId4"/>
                <a:stretch>
                  <a:fillRect/>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CB64CCDB-6086-2B41-B75C-2448AE5E116D}"/>
              </a:ext>
            </a:extLst>
          </p:cNvPr>
          <p:cNvSpPr/>
          <p:nvPr/>
        </p:nvSpPr>
        <p:spPr>
          <a:xfrm>
            <a:off x="6600942" y="1130650"/>
            <a:ext cx="720000" cy="720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I</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96095F2-421D-A14F-9AFF-8ECC4009A9D1}"/>
                  </a:ext>
                </a:extLst>
              </p:cNvPr>
              <p:cNvSpPr/>
              <p:nvPr/>
            </p:nvSpPr>
            <p:spPr>
              <a:xfrm>
                <a:off x="194121" y="2148753"/>
                <a:ext cx="4389215" cy="1083182"/>
              </a:xfrm>
              <a:prstGeom prst="rect">
                <a:avLst/>
              </a:prstGeom>
            </p:spPr>
            <p:txBody>
              <a:bodyPr wrap="none">
                <a:spAutoFit/>
              </a:bodyPr>
              <a:lstStyle/>
              <a:p>
                <a14:m>
                  <m:oMath xmlns:m="http://schemas.openxmlformats.org/officeDocument/2006/math">
                    <m:m>
                      <m:mPr>
                        <m:plcHide m:val="on"/>
                        <m:mcs>
                          <m:mc>
                            <m:mcPr>
                              <m:count m:val="1"/>
                              <m:mcJc m:val="center"/>
                            </m:mcPr>
                          </m:mc>
                        </m:mcs>
                        <m:ctrlPr>
                          <a:rPr lang="en-US" sz="2000" i="1" smtClean="0">
                            <a:latin typeface="Cambria Math" panose="02040503050406030204" pitchFamily="18" charset="0"/>
                          </a:rPr>
                        </m:ctrlPr>
                      </m:mPr>
                      <m:m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𝑥</m:t>
                              </m:r>
                            </m:sub>
                          </m:sSub>
                          <m:r>
                            <a:rPr lang="en-US" sz="2000" b="0" i="1" smtClean="0">
                              <a:latin typeface="Cambria Math" panose="02040503050406030204" pitchFamily="18" charset="0"/>
                            </a:rPr>
                            <m:t>=</m:t>
                          </m:r>
                          <m:d>
                            <m:dPr>
                              <m:ctrlPr>
                                <a:rPr lang="en-US" sz="2000" i="1" smtClean="0">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a:rPr lang="en-US" sz="2000" b="0" i="1" smtClean="0">
                                        <a:latin typeface="Cambria Math" panose="02040503050406030204" pitchFamily="18" charset="0"/>
                                      </a:rPr>
                                      <m:t>𝑐𝑜𝑠</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e>
                                  <m:e>
                                    <m:r>
                                      <a:rPr lang="en-US" sz="2000" b="0" i="0" smtClean="0">
                                        <a:latin typeface="Cambria Math" panose="02040503050406030204" pitchFamily="18" charset="0"/>
                                      </a:rPr>
                                      <m:t>−</m:t>
                                    </m:r>
                                    <m:r>
                                      <a:rPr lang="en-US" sz="2000" b="0" i="1" smtClean="0">
                                        <a:latin typeface="Cambria Math" panose="02040503050406030204" pitchFamily="18" charset="0"/>
                                      </a:rPr>
                                      <m:t>𝑖</m:t>
                                    </m:r>
                                    <m:r>
                                      <a:rPr lang="en-US" sz="2000" b="0" i="1" smtClean="0">
                                        <a:latin typeface="Cambria Math" panose="02040503050406030204" pitchFamily="18" charset="0"/>
                                      </a:rPr>
                                      <m:t> </m:t>
                                    </m:r>
                                    <m:r>
                                      <a:rPr lang="en-US" sz="2000" b="0" i="1" smtClean="0">
                                        <a:latin typeface="Cambria Math" panose="02040503050406030204" pitchFamily="18" charset="0"/>
                                      </a:rPr>
                                      <m:t>𝑠𝑖𝑛</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e>
                                </m:mr>
                                <m:mr>
                                  <m:e>
                                    <m:r>
                                      <a:rPr lang="en-US" sz="2000">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rPr>
                                      <m:t> </m:t>
                                    </m:r>
                                    <m:r>
                                      <a:rPr lang="en-US" sz="2000" i="1">
                                        <a:latin typeface="Cambria Math" panose="02040503050406030204" pitchFamily="18" charset="0"/>
                                      </a:rPr>
                                      <m:t>𝑠𝑖𝑛</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e>
                                  <m:e>
                                    <m:r>
                                      <a:rPr lang="en-US" sz="2000" i="1">
                                        <a:latin typeface="Cambria Math" panose="02040503050406030204" pitchFamily="18" charset="0"/>
                                      </a:rPr>
                                      <m:t>𝑐𝑜𝑠</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e>
                                </m:mr>
                              </m:m>
                            </m:e>
                          </m:d>
                          <m:groupChr>
                            <m:groupChrPr>
                              <m:chr m:val="→"/>
                              <m:vertJc m:val="bot"/>
                              <m:ctrlPr>
                                <a:rPr lang="en-US" sz="2000" i="1" smtClean="0">
                                  <a:latin typeface="Cambria Math" panose="02040503050406030204" pitchFamily="18" charset="0"/>
                                </a:rPr>
                              </m:ctrlPr>
                            </m:groupChrPr>
                            <m:e>
                              <m:r>
                                <a:rPr lang="en-US" sz="2000" i="1">
                                  <a:latin typeface="Cambria Math" panose="02040503050406030204" pitchFamily="18" charset="0"/>
                                </a:rPr>
                                <m:t>𝜃</m:t>
                              </m:r>
                              <m:r>
                                <a:rPr lang="sr-Latn-RS" sz="2000" b="0" i="1" smtClean="0">
                                  <a:latin typeface="Cambria Math" panose="02040503050406030204" pitchFamily="18" charset="0"/>
                                </a:rPr>
                                <m:t>=0</m:t>
                              </m:r>
                            </m:e>
                          </m:groupChr>
                        </m:e>
                      </m:mr>
                    </m:m>
                  </m:oMath>
                </a14:m>
                <a:r>
                  <a:rPr lang="en-US" sz="2000" dirty="0"/>
                  <a:t> </a:t>
                </a:r>
                <a14:m>
                  <m:oMath xmlns:m="http://schemas.openxmlformats.org/officeDocument/2006/math">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m:rPr>
                                  <m:nor/>
                                </m:rPr>
                                <a:rPr lang="en-US" sz="2000">
                                  <a:latin typeface="Cambria Math" panose="02040503050406030204" pitchFamily="18" charset="0"/>
                                </a:rPr>
                                <m:t>1</m:t>
                              </m:r>
                            </m:e>
                            <m:e>
                              <m:r>
                                <m:rPr>
                                  <m:nor/>
                                </m:rPr>
                                <a:rPr lang="en-US" sz="2000">
                                  <a:latin typeface="Cambria Math" panose="02040503050406030204" pitchFamily="18" charset="0"/>
                                </a:rPr>
                                <m:t>0</m:t>
                              </m:r>
                            </m:e>
                          </m:mr>
                          <m:mr>
                            <m:e>
                              <m:r>
                                <m:rPr>
                                  <m:nor/>
                                </m:rPr>
                                <a:rPr lang="en-US" sz="2000">
                                  <a:latin typeface="Cambria Math" panose="02040503050406030204" pitchFamily="18" charset="0"/>
                                </a:rPr>
                                <m:t>0</m:t>
                              </m:r>
                            </m:e>
                            <m:e>
                              <m:r>
                                <m:rPr>
                                  <m:nor/>
                                </m:rPr>
                                <a:rPr lang="en-US" sz="2000">
                                  <a:latin typeface="Cambria Math" panose="02040503050406030204" pitchFamily="18" charset="0"/>
                                </a:rPr>
                                <m:t>1</m:t>
                              </m:r>
                            </m:e>
                          </m:mr>
                        </m:m>
                      </m:e>
                    </m:d>
                  </m:oMath>
                </a14:m>
                <a:endParaRPr lang="en-US" sz="2000" dirty="0"/>
              </a:p>
            </p:txBody>
          </p:sp>
        </mc:Choice>
        <mc:Fallback xmlns="">
          <p:sp>
            <p:nvSpPr>
              <p:cNvPr id="15" name="Rectangle 14">
                <a:extLst>
                  <a:ext uri="{FF2B5EF4-FFF2-40B4-BE49-F238E27FC236}">
                    <a16:creationId xmlns:a16="http://schemas.microsoft.com/office/drawing/2014/main" id="{496095F2-421D-A14F-9AFF-8ECC4009A9D1}"/>
                  </a:ext>
                </a:extLst>
              </p:cNvPr>
              <p:cNvSpPr>
                <a:spLocks noRot="1" noChangeAspect="1" noMove="1" noResize="1" noEditPoints="1" noAdjustHandles="1" noChangeArrowheads="1" noChangeShapeType="1" noTextEdit="1"/>
              </p:cNvSpPr>
              <p:nvPr/>
            </p:nvSpPr>
            <p:spPr>
              <a:xfrm>
                <a:off x="194121" y="2148753"/>
                <a:ext cx="4389215" cy="108318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C29DCFAB-C539-1D4F-975F-BE439BF5D734}"/>
                  </a:ext>
                </a:extLst>
              </p:cNvPr>
              <p:cNvSpPr/>
              <p:nvPr/>
            </p:nvSpPr>
            <p:spPr>
              <a:xfrm>
                <a:off x="4528361" y="2043276"/>
                <a:ext cx="4063548" cy="129413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sz="2000" i="1" smtClean="0">
                              <a:latin typeface="Cambria Math" panose="02040503050406030204" pitchFamily="18" charset="0"/>
                            </a:rPr>
                          </m:ctrlPr>
                        </m:mPr>
                        <m:m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𝑦</m:t>
                                </m:r>
                              </m:sub>
                            </m:sSub>
                            <m:r>
                              <a:rPr lang="en-US" sz="2000" b="0" i="1" smtClean="0">
                                <a:latin typeface="Cambria Math" panose="02040503050406030204" pitchFamily="18" charset="0"/>
                              </a:rPr>
                              <m:t>=</m:t>
                            </m:r>
                            <m:d>
                              <m:dPr>
                                <m:ctrlPr>
                                  <a:rPr lang="en-US" sz="2000" i="1" smtClean="0">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a:rPr lang="en-US" sz="2000" b="0" i="1" smtClean="0">
                                          <a:latin typeface="Cambria Math" panose="02040503050406030204" pitchFamily="18" charset="0"/>
                                        </a:rPr>
                                        <m:t>𝑐𝑜𝑠</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e>
                                    <m:e>
                                      <m:r>
                                        <a:rPr lang="en-US" sz="2000" b="0" i="1" smtClean="0">
                                          <a:latin typeface="Cambria Math" panose="02040503050406030204" pitchFamily="18" charset="0"/>
                                        </a:rPr>
                                        <m:t>−</m:t>
                                      </m:r>
                                      <m:r>
                                        <a:rPr lang="en-US" sz="2000" b="0" i="1" smtClean="0">
                                          <a:latin typeface="Cambria Math" panose="02040503050406030204" pitchFamily="18" charset="0"/>
                                        </a:rPr>
                                        <m:t>𝑠𝑖𝑛</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e>
                                  </m:mr>
                                  <m:mr>
                                    <m:e>
                                      <m:r>
                                        <a:rPr lang="en-US" sz="2000" i="1">
                                          <a:latin typeface="Cambria Math" panose="02040503050406030204" pitchFamily="18" charset="0"/>
                                        </a:rPr>
                                        <m:t>𝑠𝑖𝑛</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e>
                                    <m:e>
                                      <m:r>
                                        <a:rPr lang="en-US" sz="2000" i="1">
                                          <a:latin typeface="Cambria Math" panose="02040503050406030204" pitchFamily="18" charset="0"/>
                                        </a:rPr>
                                        <m:t>𝑐𝑜𝑠</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e>
                                  </m:mr>
                                </m:m>
                              </m:e>
                            </m:d>
                            <m:groupChr>
                              <m:groupChrPr>
                                <m:chr m:val="→"/>
                                <m:vertJc m:val="bot"/>
                                <m:ctrlPr>
                                  <a:rPr lang="en-US" sz="2000" i="1">
                                    <a:latin typeface="Cambria Math" panose="02040503050406030204" pitchFamily="18" charset="0"/>
                                  </a:rPr>
                                </m:ctrlPr>
                              </m:groupChrPr>
                              <m:e>
                                <m:r>
                                  <a:rPr lang="en-US" sz="2000" i="1">
                                    <a:latin typeface="Cambria Math" panose="02040503050406030204" pitchFamily="18" charset="0"/>
                                  </a:rPr>
                                  <m:t>𝜃</m:t>
                                </m:r>
                                <m:r>
                                  <a:rPr lang="sr-Latn-RS" sz="2000" i="1">
                                    <a:latin typeface="Cambria Math" panose="02040503050406030204" pitchFamily="18" charset="0"/>
                                  </a:rPr>
                                  <m:t>=0</m:t>
                                </m:r>
                              </m:e>
                            </m:groupChr>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m:rPr>
                                          <m:nor/>
                                        </m:rPr>
                                        <a:rPr lang="en-US" sz="2000">
                                          <a:latin typeface="Cambria Math" panose="02040503050406030204" pitchFamily="18" charset="0"/>
                                        </a:rPr>
                                        <m:t>1</m:t>
                                      </m:r>
                                    </m:e>
                                    <m:e>
                                      <m:r>
                                        <m:rPr>
                                          <m:nor/>
                                        </m:rPr>
                                        <a:rPr lang="en-US" sz="2000">
                                          <a:latin typeface="Cambria Math" panose="02040503050406030204" pitchFamily="18" charset="0"/>
                                        </a:rPr>
                                        <m:t>0</m:t>
                                      </m:r>
                                    </m:e>
                                  </m:mr>
                                  <m:mr>
                                    <m:e>
                                      <m:r>
                                        <m:rPr>
                                          <m:nor/>
                                        </m:rPr>
                                        <a:rPr lang="en-US" sz="2000">
                                          <a:latin typeface="Cambria Math" panose="02040503050406030204" pitchFamily="18" charset="0"/>
                                        </a:rPr>
                                        <m:t>0</m:t>
                                      </m:r>
                                    </m:e>
                                    <m:e>
                                      <m:r>
                                        <m:rPr>
                                          <m:nor/>
                                        </m:rPr>
                                        <a:rPr lang="en-US" sz="2000">
                                          <a:latin typeface="Cambria Math" panose="02040503050406030204" pitchFamily="18" charset="0"/>
                                        </a:rPr>
                                        <m:t>1</m:t>
                                      </m:r>
                                    </m:e>
                                  </m:mr>
                                </m:m>
                              </m:e>
                            </m:d>
                          </m:e>
                        </m:mr>
                      </m:m>
                    </m:oMath>
                  </m:oMathPara>
                </a14:m>
                <a:endParaRPr lang="en-US" sz="2000" dirty="0"/>
              </a:p>
            </p:txBody>
          </p:sp>
        </mc:Choice>
        <mc:Fallback xmlns="">
          <p:sp>
            <p:nvSpPr>
              <p:cNvPr id="16" name="Rectangle 15">
                <a:extLst>
                  <a:ext uri="{FF2B5EF4-FFF2-40B4-BE49-F238E27FC236}">
                    <a16:creationId xmlns:a16="http://schemas.microsoft.com/office/drawing/2014/main" id="{C29DCFAB-C539-1D4F-975F-BE439BF5D734}"/>
                  </a:ext>
                </a:extLst>
              </p:cNvPr>
              <p:cNvSpPr>
                <a:spLocks noRot="1" noChangeAspect="1" noMove="1" noResize="1" noEditPoints="1" noAdjustHandles="1" noChangeArrowheads="1" noChangeShapeType="1" noTextEdit="1"/>
              </p:cNvSpPr>
              <p:nvPr/>
            </p:nvSpPr>
            <p:spPr>
              <a:xfrm>
                <a:off x="4528361" y="2043276"/>
                <a:ext cx="4063548" cy="1294137"/>
              </a:xfrm>
              <a:prstGeom prst="rect">
                <a:avLst/>
              </a:prstGeom>
              <a:blipFill>
                <a:blip r:embed="rId6"/>
                <a:stretch>
                  <a:fillRect b="-9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99FF209F-D094-4348-BD7A-310D45F6AD58}"/>
                  </a:ext>
                </a:extLst>
              </p:cNvPr>
              <p:cNvSpPr/>
              <p:nvPr/>
            </p:nvSpPr>
            <p:spPr>
              <a:xfrm>
                <a:off x="8536934" y="2237047"/>
                <a:ext cx="3419334" cy="906595"/>
              </a:xfrm>
              <a:prstGeom prst="rect">
                <a:avLst/>
              </a:prstGeom>
            </p:spPr>
            <p:txBody>
              <a:bodyPr wrap="none">
                <a:spAutoFit/>
              </a:bodyPr>
              <a:lstStyle/>
              <a:p>
                <a14:m>
                  <m:oMath xmlns:m="http://schemas.openxmlformats.org/officeDocument/2006/math">
                    <m:m>
                      <m:mPr>
                        <m:plcHide m:val="on"/>
                        <m:mcs>
                          <m:mc>
                            <m:mcPr>
                              <m:count m:val="1"/>
                              <m:mcJc m:val="center"/>
                            </m:mcPr>
                          </m:mc>
                        </m:mcs>
                        <m:ctrlPr>
                          <a:rPr lang="en-US" sz="2000" i="1" smtClean="0">
                            <a:latin typeface="Cambria Math" panose="02040503050406030204" pitchFamily="18" charset="0"/>
                          </a:rPr>
                        </m:ctrlPr>
                      </m:mPr>
                      <m:m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𝑧</m:t>
                              </m:r>
                            </m:sub>
                          </m:sSub>
                          <m:r>
                            <a:rPr lang="en-US" sz="2000" b="0" i="1" smtClean="0">
                              <a:latin typeface="Cambria Math" panose="02040503050406030204" pitchFamily="18" charset="0"/>
                            </a:rPr>
                            <m:t>=</m:t>
                          </m:r>
                          <m:d>
                            <m:dPr>
                              <m:ctrlPr>
                                <a:rPr lang="en-US" sz="2000" i="1" smtClean="0">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sSup>
                                      <m:sSupPr>
                                        <m:ctrlPr>
                                          <a:rPr lang="en-US"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m:t>
                                        </m:r>
                                        <m:r>
                                          <a:rPr lang="en-US" sz="2000" i="1">
                                            <a:latin typeface="Cambria Math" panose="02040503050406030204" pitchFamily="18" charset="0"/>
                                          </a:rPr>
                                          <m:t>𝑖</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sup>
                                    </m:sSup>
                                  </m:e>
                                  <m:e>
                                    <m:r>
                                      <a:rPr lang="en-US" sz="2000" b="0" i="1" smtClean="0">
                                        <a:latin typeface="Cambria Math" panose="02040503050406030204" pitchFamily="18" charset="0"/>
                                      </a:rPr>
                                      <m:t>0</m:t>
                                    </m:r>
                                  </m:e>
                                </m:mr>
                                <m:mr>
                                  <m:e>
                                    <m:r>
                                      <a:rPr lang="en-US" sz="2000" b="0" i="1" smtClean="0">
                                        <a:latin typeface="Cambria Math" panose="02040503050406030204" pitchFamily="18" charset="0"/>
                                      </a:rPr>
                                      <m:t>0</m:t>
                                    </m:r>
                                  </m:e>
                                  <m:e>
                                    <m:sSup>
                                      <m:sSupPr>
                                        <m:ctrlPr>
                                          <a:rPr lang="en-US"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𝑖</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sup>
                                    </m:sSup>
                                  </m:e>
                                </m:mr>
                              </m:m>
                            </m:e>
                          </m:d>
                        </m:e>
                      </m:mr>
                    </m:m>
                  </m:oMath>
                </a14:m>
                <a:r>
                  <a:rPr lang="en-US" sz="2000" dirty="0"/>
                  <a:t> </a:t>
                </a:r>
                <a14:m>
                  <m:oMath xmlns:m="http://schemas.openxmlformats.org/officeDocument/2006/math">
                    <m:groupChr>
                      <m:groupChrPr>
                        <m:chr m:val="→"/>
                        <m:vertJc m:val="bot"/>
                        <m:ctrlPr>
                          <a:rPr lang="en-US" sz="2000" i="1">
                            <a:latin typeface="Cambria Math" panose="02040503050406030204" pitchFamily="18" charset="0"/>
                          </a:rPr>
                        </m:ctrlPr>
                      </m:groupChrPr>
                      <m:e>
                        <m:r>
                          <a:rPr lang="en-US" sz="2000" i="1">
                            <a:latin typeface="Cambria Math" panose="02040503050406030204" pitchFamily="18" charset="0"/>
                          </a:rPr>
                          <m:t>𝜃</m:t>
                        </m:r>
                        <m:r>
                          <a:rPr lang="sr-Latn-RS" sz="2000" i="1">
                            <a:latin typeface="Cambria Math" panose="02040503050406030204" pitchFamily="18" charset="0"/>
                          </a:rPr>
                          <m:t>=0</m:t>
                        </m:r>
                      </m:e>
                    </m:groupChr>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m:rPr>
                                  <m:nor/>
                                </m:rPr>
                                <a:rPr lang="en-US" sz="2000">
                                  <a:latin typeface="Cambria Math" panose="02040503050406030204" pitchFamily="18" charset="0"/>
                                </a:rPr>
                                <m:t>1</m:t>
                              </m:r>
                            </m:e>
                            <m:e>
                              <m:r>
                                <m:rPr>
                                  <m:nor/>
                                </m:rPr>
                                <a:rPr lang="en-US" sz="2000">
                                  <a:latin typeface="Cambria Math" panose="02040503050406030204" pitchFamily="18" charset="0"/>
                                </a:rPr>
                                <m:t>0</m:t>
                              </m:r>
                            </m:e>
                          </m:mr>
                          <m:mr>
                            <m:e>
                              <m:r>
                                <m:rPr>
                                  <m:nor/>
                                </m:rPr>
                                <a:rPr lang="en-US" sz="2000">
                                  <a:latin typeface="Cambria Math" panose="02040503050406030204" pitchFamily="18" charset="0"/>
                                </a:rPr>
                                <m:t>0</m:t>
                              </m:r>
                            </m:e>
                            <m:e>
                              <m:r>
                                <m:rPr>
                                  <m:nor/>
                                </m:rPr>
                                <a:rPr lang="en-US" sz="2000">
                                  <a:latin typeface="Cambria Math" panose="02040503050406030204" pitchFamily="18" charset="0"/>
                                </a:rPr>
                                <m:t>1</m:t>
                              </m:r>
                            </m:e>
                          </m:mr>
                        </m:m>
                      </m:e>
                    </m:d>
                  </m:oMath>
                </a14:m>
                <a:endParaRPr lang="en-US" sz="2000" dirty="0"/>
              </a:p>
            </p:txBody>
          </p:sp>
        </mc:Choice>
        <mc:Fallback xmlns="">
          <p:sp>
            <p:nvSpPr>
              <p:cNvPr id="17" name="Rectangle 16">
                <a:extLst>
                  <a:ext uri="{FF2B5EF4-FFF2-40B4-BE49-F238E27FC236}">
                    <a16:creationId xmlns:a16="http://schemas.microsoft.com/office/drawing/2014/main" id="{99FF209F-D094-4348-BD7A-310D45F6AD58}"/>
                  </a:ext>
                </a:extLst>
              </p:cNvPr>
              <p:cNvSpPr>
                <a:spLocks noRot="1" noChangeAspect="1" noMove="1" noResize="1" noEditPoints="1" noAdjustHandles="1" noChangeArrowheads="1" noChangeShapeType="1" noTextEdit="1"/>
              </p:cNvSpPr>
              <p:nvPr/>
            </p:nvSpPr>
            <p:spPr>
              <a:xfrm>
                <a:off x="8536934" y="2237047"/>
                <a:ext cx="3419334" cy="906595"/>
              </a:xfrm>
              <a:prstGeom prst="rect">
                <a:avLst/>
              </a:prstGeom>
              <a:blipFill>
                <a:blip r:embed="rId7"/>
                <a:stretch>
                  <a:fillRect b="-2740"/>
                </a:stretch>
              </a:blipFill>
            </p:spPr>
            <p:txBody>
              <a:bodyPr/>
              <a:lstStyle/>
              <a:p>
                <a:r>
                  <a:rPr lang="en-US">
                    <a:noFill/>
                  </a:rPr>
                  <a:t> </a:t>
                </a:r>
              </a:p>
            </p:txBody>
          </p:sp>
        </mc:Fallback>
      </mc:AlternateContent>
      <p:grpSp>
        <p:nvGrpSpPr>
          <p:cNvPr id="37" name="Group 36">
            <a:extLst>
              <a:ext uri="{FF2B5EF4-FFF2-40B4-BE49-F238E27FC236}">
                <a16:creationId xmlns:a16="http://schemas.microsoft.com/office/drawing/2014/main" id="{F30F72C9-0743-0545-97D2-93DEE42312B9}"/>
              </a:ext>
            </a:extLst>
          </p:cNvPr>
          <p:cNvGrpSpPr/>
          <p:nvPr/>
        </p:nvGrpSpPr>
        <p:grpSpPr>
          <a:xfrm>
            <a:off x="1900364" y="3990662"/>
            <a:ext cx="8391271" cy="2327742"/>
            <a:chOff x="1900364" y="3990662"/>
            <a:chExt cx="8391271" cy="2327742"/>
          </a:xfrm>
        </p:grpSpPr>
        <p:cxnSp>
          <p:nvCxnSpPr>
            <p:cNvPr id="19" name="Straight Connector 18">
              <a:extLst>
                <a:ext uri="{FF2B5EF4-FFF2-40B4-BE49-F238E27FC236}">
                  <a16:creationId xmlns:a16="http://schemas.microsoft.com/office/drawing/2014/main" id="{A0C196A4-3BAE-7246-B1BC-7429761B83F0}"/>
                </a:ext>
              </a:extLst>
            </p:cNvPr>
            <p:cNvCxnSpPr>
              <a:cxnSpLocks/>
            </p:cNvCxnSpPr>
            <p:nvPr/>
          </p:nvCxnSpPr>
          <p:spPr>
            <a:xfrm>
              <a:off x="2276956" y="4426034"/>
              <a:ext cx="447011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3F223DBE-3C6C-7F47-BFA5-CBB2D7C0389E}"/>
                </a:ext>
              </a:extLst>
            </p:cNvPr>
            <p:cNvSpPr/>
            <p:nvPr/>
          </p:nvSpPr>
          <p:spPr>
            <a:xfrm>
              <a:off x="2720507" y="406603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53B58599-81C5-0E4C-835D-6E3022F627F7}"/>
                    </a:ext>
                  </a:extLst>
                </p:cNvPr>
                <p:cNvSpPr/>
                <p:nvPr/>
              </p:nvSpPr>
              <p:spPr>
                <a:xfrm>
                  <a:off x="3748080" y="4066035"/>
                  <a:ext cx="1670511"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sr-Latn-RS" sz="3200" smtClean="0">
                            <a:solidFill>
                              <a:schemeClr val="bg1"/>
                            </a:solidFill>
                            <a:latin typeface="Cambria Math" panose="02040503050406030204" pitchFamily="18" charset="0"/>
                          </a:rPr>
                          <m:t>R</m:t>
                        </m:r>
                        <m:r>
                          <a:rPr lang="sr-Latn-RS" sz="3200" b="0" i="1" baseline="-25000" smtClean="0">
                            <a:solidFill>
                              <a:schemeClr val="bg1"/>
                            </a:solidFill>
                            <a:latin typeface="Cambria Math" panose="02040503050406030204" pitchFamily="18" charset="0"/>
                          </a:rPr>
                          <m:t>𝑦</m:t>
                        </m:r>
                        <m:r>
                          <a:rPr lang="sr-Latn-RS" sz="3200" b="0" i="1" baseline="-25000" smtClean="0">
                            <a:solidFill>
                              <a:schemeClr val="bg1"/>
                            </a:solidFill>
                            <a:latin typeface="Cambria Math" panose="02040503050406030204" pitchFamily="18" charset="0"/>
                          </a:rPr>
                          <m:t>,</m:t>
                        </m:r>
                        <m:r>
                          <a:rPr lang="sr-Latn-RS" sz="3200" b="0" i="1" baseline="-25000" smtClean="0">
                            <a:solidFill>
                              <a:schemeClr val="bg1"/>
                            </a:solidFill>
                            <a:latin typeface="Cambria Math" panose="02040503050406030204" pitchFamily="18" charset="0"/>
                          </a:rPr>
                          <m:t>𝑧</m:t>
                        </m:r>
                        <m:r>
                          <a:rPr lang="sr-Latn-RS" sz="3200" b="0" i="1" smtClean="0">
                            <a:solidFill>
                              <a:schemeClr val="bg1"/>
                            </a:solidFill>
                            <a:latin typeface="Cambria Math" panose="02040503050406030204" pitchFamily="18" charset="0"/>
                          </a:rPr>
                          <m:t>(</m:t>
                        </m:r>
                        <m:r>
                          <a:rPr lang="en-US" sz="3200" i="1">
                            <a:latin typeface="Cambria Math" panose="02040503050406030204" pitchFamily="18" charset="0"/>
                          </a:rPr>
                          <m:t>𝜃</m:t>
                        </m:r>
                        <m:r>
                          <a:rPr lang="sr-Latn-RS" sz="3200" i="1">
                            <a:solidFill>
                              <a:schemeClr val="bg1"/>
                            </a:solidFill>
                            <a:latin typeface="Cambria Math" panose="02040503050406030204" pitchFamily="18" charset="0"/>
                          </a:rPr>
                          <m:t>)</m:t>
                        </m:r>
                      </m:oMath>
                    </m:oMathPara>
                  </a14:m>
                  <a:endParaRPr lang="en-US" sz="3200" dirty="0">
                    <a:solidFill>
                      <a:schemeClr val="bg1"/>
                    </a:solidFill>
                    <a:latin typeface="Times" pitchFamily="2" charset="0"/>
                  </a:endParaRPr>
                </a:p>
              </p:txBody>
            </p:sp>
          </mc:Choice>
          <mc:Fallback xmlns="">
            <p:sp>
              <p:nvSpPr>
                <p:cNvPr id="20" name="Rectangle 19">
                  <a:extLst>
                    <a:ext uri="{FF2B5EF4-FFF2-40B4-BE49-F238E27FC236}">
                      <a16:creationId xmlns:a16="http://schemas.microsoft.com/office/drawing/2014/main" id="{53B58599-81C5-0E4C-835D-6E3022F627F7}"/>
                    </a:ext>
                  </a:extLst>
                </p:cNvPr>
                <p:cNvSpPr>
                  <a:spLocks noRot="1" noChangeAspect="1" noMove="1" noResize="1" noEditPoints="1" noAdjustHandles="1" noChangeArrowheads="1" noChangeShapeType="1" noTextEdit="1"/>
                </p:cNvSpPr>
                <p:nvPr/>
              </p:nvSpPr>
              <p:spPr>
                <a:xfrm>
                  <a:off x="3748080" y="4066035"/>
                  <a:ext cx="1670511" cy="720000"/>
                </a:xfrm>
                <a:prstGeom prst="rect">
                  <a:avLst/>
                </a:prstGeom>
                <a:blipFill>
                  <a:blip r:embed="rId8"/>
                  <a:stretch>
                    <a:fillRect b="-3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56E6880B-C04D-D34D-8EB9-B4BADC4A173E}"/>
                    </a:ext>
                  </a:extLst>
                </p:cNvPr>
                <p:cNvSpPr/>
                <p:nvPr/>
              </p:nvSpPr>
              <p:spPr>
                <a:xfrm>
                  <a:off x="5946078" y="4066034"/>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21" name="Rectangle 20">
                  <a:extLst>
                    <a:ext uri="{FF2B5EF4-FFF2-40B4-BE49-F238E27FC236}">
                      <a16:creationId xmlns:a16="http://schemas.microsoft.com/office/drawing/2014/main" id="{56E6880B-C04D-D34D-8EB9-B4BADC4A173E}"/>
                    </a:ext>
                  </a:extLst>
                </p:cNvPr>
                <p:cNvSpPr>
                  <a:spLocks noRot="1" noChangeAspect="1" noMove="1" noResize="1" noEditPoints="1" noAdjustHandles="1" noChangeArrowheads="1" noChangeShapeType="1" noTextEdit="1"/>
                </p:cNvSpPr>
                <p:nvPr/>
              </p:nvSpPr>
              <p:spPr>
                <a:xfrm>
                  <a:off x="5946078" y="4066034"/>
                  <a:ext cx="633507" cy="646331"/>
                </a:xfrm>
                <a:prstGeom prst="rect">
                  <a:avLst/>
                </a:prstGeom>
                <a:blipFill>
                  <a:blip r:embed="rId9"/>
                  <a:stretch>
                    <a:fillRect/>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F33FD4E1-B422-B243-A7A7-2CAFDAB2493A}"/>
                </a:ext>
              </a:extLst>
            </p:cNvPr>
            <p:cNvSpPr/>
            <p:nvPr/>
          </p:nvSpPr>
          <p:spPr>
            <a:xfrm>
              <a:off x="5765749" y="406603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4C42F82E-559D-104B-9483-F98E279FEB45}"/>
                    </a:ext>
                  </a:extLst>
                </p:cNvPr>
                <p:cNvSpPr/>
                <p:nvPr/>
              </p:nvSpPr>
              <p:spPr>
                <a:xfrm>
                  <a:off x="6952062" y="4066034"/>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26" name="Rectangle 25">
                  <a:extLst>
                    <a:ext uri="{FF2B5EF4-FFF2-40B4-BE49-F238E27FC236}">
                      <a16:creationId xmlns:a16="http://schemas.microsoft.com/office/drawing/2014/main" id="{4C42F82E-559D-104B-9483-F98E279FEB45}"/>
                    </a:ext>
                  </a:extLst>
                </p:cNvPr>
                <p:cNvSpPr>
                  <a:spLocks noRot="1" noChangeAspect="1" noMove="1" noResize="1" noEditPoints="1" noAdjustHandles="1" noChangeArrowheads="1" noChangeShapeType="1" noTextEdit="1"/>
                </p:cNvSpPr>
                <p:nvPr/>
              </p:nvSpPr>
              <p:spPr>
                <a:xfrm>
                  <a:off x="6952062" y="4066034"/>
                  <a:ext cx="633507" cy="64633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FDC5B217-BB13-CB4A-99D4-A14A6EE03754}"/>
                    </a:ext>
                  </a:extLst>
                </p:cNvPr>
                <p:cNvSpPr/>
                <p:nvPr/>
              </p:nvSpPr>
              <p:spPr>
                <a:xfrm>
                  <a:off x="7680867" y="3990662"/>
                  <a:ext cx="2333493"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sr-Latn-RS" sz="3200" smtClean="0">
                            <a:solidFill>
                              <a:schemeClr val="bg1"/>
                            </a:solidFill>
                            <a:latin typeface="Cambria Math" panose="02040503050406030204" pitchFamily="18" charset="0"/>
                          </a:rPr>
                          <m:t>R</m:t>
                        </m:r>
                        <m:r>
                          <a:rPr lang="sr-Latn-RS" sz="3200" b="0" i="1" baseline="-25000" smtClean="0">
                            <a:solidFill>
                              <a:schemeClr val="bg1"/>
                            </a:solidFill>
                            <a:latin typeface="Cambria Math" panose="02040503050406030204" pitchFamily="18" charset="0"/>
                          </a:rPr>
                          <m:t>𝑦</m:t>
                        </m:r>
                        <m:r>
                          <a:rPr lang="sr-Latn-RS" sz="3200" b="0" i="1" baseline="-25000" smtClean="0">
                            <a:solidFill>
                              <a:schemeClr val="bg1"/>
                            </a:solidFill>
                            <a:latin typeface="Cambria Math" panose="02040503050406030204" pitchFamily="18" charset="0"/>
                          </a:rPr>
                          <m:t>,</m:t>
                        </m:r>
                        <m:r>
                          <a:rPr lang="sr-Latn-RS" sz="3200" b="0" i="1" baseline="-25000" smtClean="0">
                            <a:solidFill>
                              <a:schemeClr val="bg1"/>
                            </a:solidFill>
                            <a:latin typeface="Cambria Math" panose="02040503050406030204" pitchFamily="18" charset="0"/>
                          </a:rPr>
                          <m:t>𝑧</m:t>
                        </m:r>
                        <m:r>
                          <a:rPr lang="sr-Latn-RS" sz="3200" b="0" i="1" smtClean="0">
                            <a:solidFill>
                              <a:schemeClr val="bg1"/>
                            </a:solidFill>
                            <a:latin typeface="Cambria Math" panose="02040503050406030204" pitchFamily="18" charset="0"/>
                          </a:rPr>
                          <m:t>(−</m:t>
                        </m:r>
                        <m:r>
                          <a:rPr lang="en-US" sz="3200" i="1">
                            <a:latin typeface="Cambria Math" panose="02040503050406030204" pitchFamily="18" charset="0"/>
                          </a:rPr>
                          <m:t>𝜃</m:t>
                        </m:r>
                        <m:r>
                          <a:rPr lang="sr-Latn-RS" sz="3200" i="1">
                            <a:solidFill>
                              <a:schemeClr val="bg1"/>
                            </a:solidFill>
                            <a:latin typeface="Cambria Math" panose="02040503050406030204" pitchFamily="18" charset="0"/>
                          </a:rPr>
                          <m:t>)</m:t>
                        </m:r>
                      </m:oMath>
                    </m:oMathPara>
                  </a14:m>
                  <a:endParaRPr lang="en-US" sz="3200" dirty="0">
                    <a:solidFill>
                      <a:schemeClr val="bg1"/>
                    </a:solidFill>
                    <a:latin typeface="Times" pitchFamily="2" charset="0"/>
                  </a:endParaRPr>
                </a:p>
              </p:txBody>
            </p:sp>
          </mc:Choice>
          <mc:Fallback xmlns="">
            <p:sp>
              <p:nvSpPr>
                <p:cNvPr id="27" name="Rectangle 26">
                  <a:extLst>
                    <a:ext uri="{FF2B5EF4-FFF2-40B4-BE49-F238E27FC236}">
                      <a16:creationId xmlns:a16="http://schemas.microsoft.com/office/drawing/2014/main" id="{FDC5B217-BB13-CB4A-99D4-A14A6EE03754}"/>
                    </a:ext>
                  </a:extLst>
                </p:cNvPr>
                <p:cNvSpPr>
                  <a:spLocks noRot="1" noChangeAspect="1" noMove="1" noResize="1" noEditPoints="1" noAdjustHandles="1" noChangeArrowheads="1" noChangeShapeType="1" noTextEdit="1"/>
                </p:cNvSpPr>
                <p:nvPr/>
              </p:nvSpPr>
              <p:spPr>
                <a:xfrm>
                  <a:off x="7680867" y="3990662"/>
                  <a:ext cx="2333493" cy="720000"/>
                </a:xfrm>
                <a:prstGeom prst="rect">
                  <a:avLst/>
                </a:prstGeom>
                <a:blipFill>
                  <a:blip r:embed="rId11"/>
                  <a:stretch>
                    <a:fillRect b="-3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F17DD680-11C3-344A-944E-56381804C60C}"/>
                    </a:ext>
                  </a:extLst>
                </p:cNvPr>
                <p:cNvSpPr/>
                <p:nvPr/>
              </p:nvSpPr>
              <p:spPr>
                <a:xfrm>
                  <a:off x="1900364" y="5235222"/>
                  <a:ext cx="8391271" cy="1083182"/>
                </a:xfrm>
                <a:prstGeom prst="rect">
                  <a:avLst/>
                </a:prstGeom>
              </p:spPr>
              <p:txBody>
                <a:bodyPr wrap="none">
                  <a:spAutoFit/>
                </a:bodyPr>
                <a:lstStyle/>
                <a:p>
                  <a14:m>
                    <m:oMath xmlns:m="http://schemas.openxmlformats.org/officeDocument/2006/math">
                      <m:m>
                        <m:mPr>
                          <m:plcHide m:val="on"/>
                          <m:mcs>
                            <m:mc>
                              <m:mcPr>
                                <m:count m:val="1"/>
                                <m:mcJc m:val="center"/>
                              </m:mcPr>
                            </m:mc>
                          </m:mcs>
                          <m:ctrlPr>
                            <a:rPr lang="en-US" sz="2000" i="1" smtClean="0">
                              <a:latin typeface="Cambria Math" panose="02040503050406030204" pitchFamily="18" charset="0"/>
                            </a:rPr>
                          </m:ctrlPr>
                        </m:mPr>
                        <m:mr>
                          <m:e>
                            <m:sSub>
                              <m:sSubPr>
                                <m:ctrlPr>
                                  <a:rPr lang="en-US" sz="2000" i="1" smtClean="0">
                                    <a:latin typeface="Cambria Math" panose="02040503050406030204" pitchFamily="18" charset="0"/>
                                  </a:rPr>
                                </m:ctrlPr>
                              </m:sSubPr>
                              <m:e>
                                <m:r>
                                  <a:rPr lang="sr-Latn-RS" sz="2000" b="0" i="1" smtClean="0">
                                    <a:latin typeface="Cambria Math" panose="02040503050406030204" pitchFamily="18" charset="0"/>
                                  </a:rPr>
                                  <m:t>𝑋</m:t>
                                </m:r>
                                <m:r>
                                  <a:rPr lang="en-US" sz="2000" b="0" i="1" smtClean="0">
                                    <a:latin typeface="Cambria Math" panose="02040503050406030204" pitchFamily="18" charset="0"/>
                                  </a:rPr>
                                  <m:t>𝑅</m:t>
                                </m:r>
                              </m:e>
                              <m:sub>
                                <m:r>
                                  <a:rPr lang="en-US" sz="2000" b="0" i="1" smtClean="0">
                                    <a:latin typeface="Cambria Math" panose="02040503050406030204" pitchFamily="18" charset="0"/>
                                  </a:rPr>
                                  <m:t>𝑦</m:t>
                                </m:r>
                              </m:sub>
                            </m:sSub>
                            <m:d>
                              <m:dPr>
                                <m:ctrlPr>
                                  <a:rPr lang="sr-Latn-RS" sz="2000" b="0" i="1" smtClean="0">
                                    <a:latin typeface="Cambria Math" panose="02040503050406030204" pitchFamily="18" charset="0"/>
                                  </a:rPr>
                                </m:ctrlPr>
                              </m:dPr>
                              <m:e>
                                <m:r>
                                  <a:rPr lang="en-US" sz="2000" i="1">
                                    <a:latin typeface="Cambria Math" panose="02040503050406030204" pitchFamily="18" charset="0"/>
                                  </a:rPr>
                                  <m:t>𝜃</m:t>
                                </m:r>
                              </m:e>
                            </m:d>
                            <m:r>
                              <a:rPr lang="sr-Latn-RS" sz="2000" i="1">
                                <a:latin typeface="Cambria Math" panose="02040503050406030204" pitchFamily="18" charset="0"/>
                              </a:rPr>
                              <m:t>𝑋</m:t>
                            </m:r>
                            <m:r>
                              <a:rPr lang="en-US" sz="2000" b="0" i="1" smtClean="0">
                                <a:latin typeface="Cambria Math" panose="02040503050406030204" pitchFamily="18" charset="0"/>
                              </a:rPr>
                              <m:t>=</m:t>
                            </m:r>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m:rPr>
                                          <m:nor/>
                                        </m:rPr>
                                        <a:rPr lang="sr-Latn-RS" sz="2000" b="0" i="0" smtClean="0">
                                          <a:latin typeface="Cambria Math" panose="02040503050406030204" pitchFamily="18" charset="0"/>
                                        </a:rPr>
                                        <m:t>0</m:t>
                                      </m:r>
                                    </m:e>
                                    <m:e>
                                      <m:r>
                                        <m:rPr>
                                          <m:nor/>
                                        </m:rPr>
                                        <a:rPr lang="sr-Latn-RS" sz="2000" b="0" i="0" smtClean="0">
                                          <a:latin typeface="Cambria Math" panose="02040503050406030204" pitchFamily="18" charset="0"/>
                                        </a:rPr>
                                        <m:t>1</m:t>
                                      </m:r>
                                    </m:e>
                                  </m:mr>
                                  <m:mr>
                                    <m:e>
                                      <m:r>
                                        <m:rPr>
                                          <m:nor/>
                                        </m:rPr>
                                        <a:rPr lang="sr-Latn-RS" sz="2000" b="0" i="0" smtClean="0">
                                          <a:latin typeface="Cambria Math" panose="02040503050406030204" pitchFamily="18" charset="0"/>
                                        </a:rPr>
                                        <m:t>1</m:t>
                                      </m:r>
                                    </m:e>
                                    <m:e>
                                      <m:r>
                                        <m:rPr>
                                          <m:nor/>
                                        </m:rPr>
                                        <a:rPr lang="sr-Latn-RS" sz="2000" b="0" i="0" smtClean="0">
                                          <a:latin typeface="Cambria Math" panose="02040503050406030204" pitchFamily="18" charset="0"/>
                                        </a:rPr>
                                        <m:t>0</m:t>
                                      </m:r>
                                    </m:e>
                                  </m:mr>
                                </m:m>
                              </m:e>
                            </m:d>
                            <m:d>
                              <m:dPr>
                                <m:ctrlPr>
                                  <a:rPr lang="en-US" sz="2000" i="1" smtClean="0">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a:rPr lang="en-US" sz="2000" b="0" i="1" smtClean="0">
                                          <a:latin typeface="Cambria Math" panose="02040503050406030204" pitchFamily="18" charset="0"/>
                                        </a:rPr>
                                        <m:t>𝑐𝑜𝑠</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e>
                                    <m:e>
                                      <m:r>
                                        <a:rPr lang="en-US" sz="2000" b="0" i="0" smtClean="0">
                                          <a:latin typeface="Cambria Math" panose="02040503050406030204" pitchFamily="18" charset="0"/>
                                        </a:rPr>
                                        <m:t>−</m:t>
                                      </m:r>
                                      <m:r>
                                        <a:rPr lang="en-US" sz="2000" b="0" i="1" smtClean="0">
                                          <a:latin typeface="Cambria Math" panose="02040503050406030204" pitchFamily="18" charset="0"/>
                                        </a:rPr>
                                        <m:t>𝑠𝑖𝑛</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e>
                                  </m:mr>
                                  <m:mr>
                                    <m:e>
                                      <m:r>
                                        <a:rPr lang="en-US" sz="2000" i="1">
                                          <a:latin typeface="Cambria Math" panose="02040503050406030204" pitchFamily="18" charset="0"/>
                                        </a:rPr>
                                        <m:t>𝑠𝑖𝑛</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e>
                                    <m:e>
                                      <m:r>
                                        <a:rPr lang="en-US" sz="2000" i="1">
                                          <a:latin typeface="Cambria Math" panose="02040503050406030204" pitchFamily="18" charset="0"/>
                                        </a:rPr>
                                        <m:t>𝑐𝑜𝑠</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e>
                                  </m:mr>
                                </m:m>
                              </m:e>
                            </m:d>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m:rPr>
                                          <m:nor/>
                                        </m:rPr>
                                        <a:rPr lang="sr-Latn-RS" sz="2000">
                                          <a:latin typeface="Cambria Math" panose="02040503050406030204" pitchFamily="18" charset="0"/>
                                        </a:rPr>
                                        <m:t>0</m:t>
                                      </m:r>
                                    </m:e>
                                    <m:e>
                                      <m:r>
                                        <m:rPr>
                                          <m:nor/>
                                        </m:rPr>
                                        <a:rPr lang="sr-Latn-RS" sz="2000">
                                          <a:latin typeface="Cambria Math" panose="02040503050406030204" pitchFamily="18" charset="0"/>
                                        </a:rPr>
                                        <m:t>1</m:t>
                                      </m:r>
                                    </m:e>
                                  </m:mr>
                                  <m:mr>
                                    <m:e>
                                      <m:r>
                                        <m:rPr>
                                          <m:nor/>
                                        </m:rPr>
                                        <a:rPr lang="sr-Latn-RS" sz="2000">
                                          <a:latin typeface="Cambria Math" panose="02040503050406030204" pitchFamily="18" charset="0"/>
                                        </a:rPr>
                                        <m:t>1</m:t>
                                      </m:r>
                                    </m:e>
                                    <m:e>
                                      <m:r>
                                        <m:rPr>
                                          <m:nor/>
                                        </m:rPr>
                                        <a:rPr lang="sr-Latn-RS" sz="2000">
                                          <a:latin typeface="Cambria Math" panose="02040503050406030204" pitchFamily="18" charset="0"/>
                                        </a:rPr>
                                        <m:t>0</m:t>
                                      </m:r>
                                    </m:e>
                                  </m:mr>
                                </m:m>
                              </m:e>
                            </m:d>
                            <m:r>
                              <a:rPr lang="sr-Latn-RS" sz="2000" b="0" i="1" smtClean="0">
                                <a:latin typeface="Cambria Math" panose="02040503050406030204" pitchFamily="18" charset="0"/>
                              </a:rPr>
                              <m:t>=</m:t>
                            </m:r>
                          </m:e>
                        </m:mr>
                      </m:m>
                    </m:oMath>
                  </a14:m>
                  <a:r>
                    <a:rPr lang="en-US" sz="2000" dirty="0"/>
                    <a:t> </a:t>
                  </a:r>
                  <a14:m>
                    <m:oMath xmlns:m="http://schemas.openxmlformats.org/officeDocument/2006/math">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a:rPr lang="en-US" sz="2000" i="1">
                                    <a:latin typeface="Cambria Math" panose="02040503050406030204" pitchFamily="18" charset="0"/>
                                  </a:rPr>
                                  <m:t>𝑐𝑜𝑠</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e>
                              <m:e>
                                <m:r>
                                  <a:rPr lang="en-US" sz="2000" i="1">
                                    <a:latin typeface="Cambria Math" panose="02040503050406030204" pitchFamily="18" charset="0"/>
                                  </a:rPr>
                                  <m:t>𝑠𝑖𝑛</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e>
                            </m:mr>
                            <m:mr>
                              <m:e>
                                <m:r>
                                  <a:rPr lang="en-US" sz="2000">
                                    <a:latin typeface="Cambria Math" panose="02040503050406030204" pitchFamily="18" charset="0"/>
                                  </a:rPr>
                                  <m:t>−</m:t>
                                </m:r>
                                <m:r>
                                  <a:rPr lang="en-US" sz="2000" i="1">
                                    <a:latin typeface="Cambria Math" panose="02040503050406030204" pitchFamily="18" charset="0"/>
                                  </a:rPr>
                                  <m:t>𝑠𝑖𝑛</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e>
                              <m:e>
                                <m:r>
                                  <a:rPr lang="en-US" sz="2000" i="1">
                                    <a:latin typeface="Cambria Math" panose="02040503050406030204" pitchFamily="18" charset="0"/>
                                  </a:rPr>
                                  <m:t>𝑐𝑜𝑠</m:t>
                                </m:r>
                                <m:f>
                                  <m:fPr>
                                    <m:ctrlPr>
                                      <a:rPr lang="en-US" sz="2000" i="1">
                                        <a:latin typeface="Cambria Math" panose="02040503050406030204" pitchFamily="18" charset="0"/>
                                      </a:rPr>
                                    </m:ctrlPr>
                                  </m:fPr>
                                  <m:num>
                                    <m:r>
                                      <a:rPr lang="en-US" sz="2000" i="1">
                                        <a:latin typeface="Cambria Math" panose="02040503050406030204" pitchFamily="18" charset="0"/>
                                      </a:rPr>
                                      <m:t>𝜃</m:t>
                                    </m:r>
                                  </m:num>
                                  <m:den>
                                    <m:r>
                                      <a:rPr lang="en-US" sz="2000">
                                        <a:latin typeface="Cambria Math" panose="02040503050406030204" pitchFamily="18" charset="0"/>
                                      </a:rPr>
                                      <m:t>2</m:t>
                                    </m:r>
                                  </m:den>
                                </m:f>
                              </m:e>
                            </m:mr>
                          </m:m>
                        </m:e>
                      </m:d>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𝑦</m:t>
                          </m:r>
                        </m:sub>
                      </m:sSub>
                      <m:d>
                        <m:dPr>
                          <m:ctrlPr>
                            <a:rPr lang="sr-Latn-RS" sz="2000" i="1">
                              <a:latin typeface="Cambria Math" panose="02040503050406030204" pitchFamily="18" charset="0"/>
                            </a:rPr>
                          </m:ctrlPr>
                        </m:dPr>
                        <m:e>
                          <m:r>
                            <a:rPr lang="en-US" sz="2000" b="0" i="1" smtClean="0">
                              <a:latin typeface="Cambria Math" panose="02040503050406030204" pitchFamily="18" charset="0"/>
                            </a:rPr>
                            <m:t>−</m:t>
                          </m:r>
                          <m:r>
                            <a:rPr lang="en-US" sz="2000" i="1">
                              <a:latin typeface="Cambria Math" panose="02040503050406030204" pitchFamily="18" charset="0"/>
                            </a:rPr>
                            <m:t>𝜃</m:t>
                          </m:r>
                        </m:e>
                      </m:d>
                    </m:oMath>
                  </a14:m>
                  <a:endParaRPr lang="en-US" sz="2000" dirty="0"/>
                </a:p>
              </p:txBody>
            </p:sp>
          </mc:Choice>
          <mc:Fallback xmlns="">
            <p:sp>
              <p:nvSpPr>
                <p:cNvPr id="28" name="Rectangle 27">
                  <a:extLst>
                    <a:ext uri="{FF2B5EF4-FFF2-40B4-BE49-F238E27FC236}">
                      <a16:creationId xmlns:a16="http://schemas.microsoft.com/office/drawing/2014/main" id="{F17DD680-11C3-344A-944E-56381804C60C}"/>
                    </a:ext>
                  </a:extLst>
                </p:cNvPr>
                <p:cNvSpPr>
                  <a:spLocks noRot="1" noChangeAspect="1" noMove="1" noResize="1" noEditPoints="1" noAdjustHandles="1" noChangeArrowheads="1" noChangeShapeType="1" noTextEdit="1"/>
                </p:cNvSpPr>
                <p:nvPr/>
              </p:nvSpPr>
              <p:spPr>
                <a:xfrm>
                  <a:off x="1900364" y="5235222"/>
                  <a:ext cx="8391271" cy="1083182"/>
                </a:xfrm>
                <a:prstGeom prst="rect">
                  <a:avLst/>
                </a:prstGeom>
                <a:blipFill>
                  <a:blip r:embed="rId12"/>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600800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dissolve">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B0F6D-5A31-B843-A1A8-0F2717324FEC}"/>
              </a:ext>
            </a:extLst>
          </p:cNvPr>
          <p:cNvSpPr>
            <a:spLocks noGrp="1"/>
          </p:cNvSpPr>
          <p:nvPr>
            <p:ph type="title"/>
          </p:nvPr>
        </p:nvSpPr>
        <p:spPr/>
        <p:txBody>
          <a:bodyPr/>
          <a:lstStyle/>
          <a:p>
            <a:r>
              <a:rPr lang="en-ZA" dirty="0"/>
              <a:t>Simplifying Controlled Operations (1)</a:t>
            </a:r>
            <a:endParaRPr lang="en-US" dirty="0"/>
          </a:p>
        </p:txBody>
      </p:sp>
      <p:sp>
        <p:nvSpPr>
          <p:cNvPr id="3" name="Slide Number Placeholder 2">
            <a:extLst>
              <a:ext uri="{FF2B5EF4-FFF2-40B4-BE49-F238E27FC236}">
                <a16:creationId xmlns:a16="http://schemas.microsoft.com/office/drawing/2014/main" id="{82411152-1937-D549-9934-0813606A2F94}"/>
              </a:ext>
            </a:extLst>
          </p:cNvPr>
          <p:cNvSpPr>
            <a:spLocks noGrp="1"/>
          </p:cNvSpPr>
          <p:nvPr>
            <p:ph type="sldNum" sz="quarter" idx="12"/>
          </p:nvPr>
        </p:nvSpPr>
        <p:spPr/>
        <p:txBody>
          <a:bodyPr/>
          <a:lstStyle/>
          <a:p>
            <a:fld id="{591A223C-FA10-BC46-A853-03BA373D023C}" type="slidenum">
              <a:rPr lang="en-US" smtClean="0"/>
              <a:t>9</a:t>
            </a:fld>
            <a:endParaRPr lang="en-US"/>
          </a:p>
        </p:txBody>
      </p:sp>
      <p:cxnSp>
        <p:nvCxnSpPr>
          <p:cNvPr id="4" name="Straight Connector 3">
            <a:extLst>
              <a:ext uri="{FF2B5EF4-FFF2-40B4-BE49-F238E27FC236}">
                <a16:creationId xmlns:a16="http://schemas.microsoft.com/office/drawing/2014/main" id="{F89497B1-3EBE-B14B-8837-9717BD049AA4}"/>
              </a:ext>
            </a:extLst>
          </p:cNvPr>
          <p:cNvCxnSpPr>
            <a:cxnSpLocks/>
          </p:cNvCxnSpPr>
          <p:nvPr/>
        </p:nvCxnSpPr>
        <p:spPr>
          <a:xfrm>
            <a:off x="1191249" y="2947659"/>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AD4277D-27E3-1749-B625-60278C5D64AB}"/>
              </a:ext>
            </a:extLst>
          </p:cNvPr>
          <p:cNvCxnSpPr>
            <a:cxnSpLocks/>
          </p:cNvCxnSpPr>
          <p:nvPr/>
        </p:nvCxnSpPr>
        <p:spPr>
          <a:xfrm>
            <a:off x="1191249" y="1863288"/>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D8A0E489-437F-2F44-BDA1-222662E35ABD}"/>
              </a:ext>
            </a:extLst>
          </p:cNvPr>
          <p:cNvSpPr/>
          <p:nvPr/>
        </p:nvSpPr>
        <p:spPr>
          <a:xfrm>
            <a:off x="1764642" y="1721239"/>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8" name="Straight Connector 7">
            <a:extLst>
              <a:ext uri="{FF2B5EF4-FFF2-40B4-BE49-F238E27FC236}">
                <a16:creationId xmlns:a16="http://schemas.microsoft.com/office/drawing/2014/main" id="{9B1D03C9-773D-A440-91EE-1167DE9C4D6C}"/>
              </a:ext>
            </a:extLst>
          </p:cNvPr>
          <p:cNvCxnSpPr>
            <a:cxnSpLocks/>
            <a:endCxn id="7" idx="4"/>
          </p:cNvCxnSpPr>
          <p:nvPr/>
        </p:nvCxnSpPr>
        <p:spPr>
          <a:xfrm flipV="1">
            <a:off x="1899642" y="1991239"/>
            <a:ext cx="0" cy="5964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077AEB21-81A6-1A4C-BF08-C09FB50C4A9E}"/>
                  </a:ext>
                </a:extLst>
              </p:cNvPr>
              <p:cNvSpPr/>
              <p:nvPr/>
            </p:nvSpPr>
            <p:spPr>
              <a:xfrm>
                <a:off x="515298" y="1625406"/>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|0⟩</m:t>
                      </m:r>
                    </m:oMath>
                  </m:oMathPara>
                </a14:m>
                <a:endParaRPr lang="en-US" sz="2400" dirty="0"/>
              </a:p>
            </p:txBody>
          </p:sp>
        </mc:Choice>
        <mc:Fallback xmlns="">
          <p:sp>
            <p:nvSpPr>
              <p:cNvPr id="9" name="Rectangle 8">
                <a:extLst>
                  <a:ext uri="{FF2B5EF4-FFF2-40B4-BE49-F238E27FC236}">
                    <a16:creationId xmlns:a16="http://schemas.microsoft.com/office/drawing/2014/main" id="{077AEB21-81A6-1A4C-BF08-C09FB50C4A9E}"/>
                  </a:ext>
                </a:extLst>
              </p:cNvPr>
              <p:cNvSpPr>
                <a:spLocks noRot="1" noChangeAspect="1" noMove="1" noResize="1" noEditPoints="1" noAdjustHandles="1" noChangeArrowheads="1" noChangeShapeType="1" noTextEdit="1"/>
              </p:cNvSpPr>
              <p:nvPr/>
            </p:nvSpPr>
            <p:spPr>
              <a:xfrm>
                <a:off x="515298" y="1625406"/>
                <a:ext cx="631904" cy="461665"/>
              </a:xfrm>
              <a:prstGeom prst="rect">
                <a:avLst/>
              </a:prstGeom>
              <a:blipFill>
                <a:blip r:embed="rId3"/>
                <a:stretch>
                  <a:fillRect l="-2000" r="-2000" b="-16216"/>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4CB296D0-3CAF-B248-B945-583D53392093}"/>
              </a:ext>
            </a:extLst>
          </p:cNvPr>
          <p:cNvSpPr/>
          <p:nvPr/>
        </p:nvSpPr>
        <p:spPr>
          <a:xfrm>
            <a:off x="1539642" y="2587659"/>
            <a:ext cx="720000" cy="720000"/>
          </a:xfrm>
          <a:prstGeom prst="rect">
            <a:avLst/>
          </a:prstGeom>
          <a:solidFill>
            <a:srgbClr val="9B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G</a:t>
            </a:r>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4B3B25E2-7119-5442-837C-646596D32D4A}"/>
                  </a:ext>
                </a:extLst>
              </p:cNvPr>
              <p:cNvSpPr/>
              <p:nvPr/>
            </p:nvSpPr>
            <p:spPr>
              <a:xfrm>
                <a:off x="2652082" y="1625406"/>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|0⟩</m:t>
                      </m:r>
                    </m:oMath>
                  </m:oMathPara>
                </a14:m>
                <a:endParaRPr lang="en-US" sz="2400" dirty="0"/>
              </a:p>
            </p:txBody>
          </p:sp>
        </mc:Choice>
        <mc:Fallback xmlns="">
          <p:sp>
            <p:nvSpPr>
              <p:cNvPr id="19" name="Rectangle 18">
                <a:extLst>
                  <a:ext uri="{FF2B5EF4-FFF2-40B4-BE49-F238E27FC236}">
                    <a16:creationId xmlns:a16="http://schemas.microsoft.com/office/drawing/2014/main" id="{4B3B25E2-7119-5442-837C-646596D32D4A}"/>
                  </a:ext>
                </a:extLst>
              </p:cNvPr>
              <p:cNvSpPr>
                <a:spLocks noRot="1" noChangeAspect="1" noMove="1" noResize="1" noEditPoints="1" noAdjustHandles="1" noChangeArrowheads="1" noChangeShapeType="1" noTextEdit="1"/>
              </p:cNvSpPr>
              <p:nvPr/>
            </p:nvSpPr>
            <p:spPr>
              <a:xfrm>
                <a:off x="2652082" y="1625406"/>
                <a:ext cx="631904" cy="461665"/>
              </a:xfrm>
              <a:prstGeom prst="rect">
                <a:avLst/>
              </a:prstGeom>
              <a:blipFill>
                <a:blip r:embed="rId4"/>
                <a:stretch>
                  <a:fillRect l="-1961"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5C9938CB-7466-5342-A6F9-81CDCD2EDD40}"/>
                  </a:ext>
                </a:extLst>
              </p:cNvPr>
              <p:cNvSpPr/>
              <p:nvPr/>
            </p:nvSpPr>
            <p:spPr>
              <a:xfrm>
                <a:off x="495000" y="2641126"/>
                <a:ext cx="6315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r>
                        <a:rPr lang="sr-Latn-RS" sz="2400" b="0" i="1" smtClean="0">
                          <a:latin typeface="Cambria Math" panose="02040503050406030204" pitchFamily="18" charset="0"/>
                        </a:rPr>
                        <m:t>𝑆</m:t>
                      </m:r>
                      <m:r>
                        <a:rPr lang="en-US" sz="2400" i="1">
                          <a:latin typeface="Cambria Math" panose="02040503050406030204" pitchFamily="18" charset="0"/>
                        </a:rPr>
                        <m:t>⟩</m:t>
                      </m:r>
                    </m:oMath>
                  </m:oMathPara>
                </a14:m>
                <a:endParaRPr lang="en-US" sz="2400" dirty="0"/>
              </a:p>
            </p:txBody>
          </p:sp>
        </mc:Choice>
        <mc:Fallback xmlns="">
          <p:sp>
            <p:nvSpPr>
              <p:cNvPr id="20" name="Rectangle 19">
                <a:extLst>
                  <a:ext uri="{FF2B5EF4-FFF2-40B4-BE49-F238E27FC236}">
                    <a16:creationId xmlns:a16="http://schemas.microsoft.com/office/drawing/2014/main" id="{5C9938CB-7466-5342-A6F9-81CDCD2EDD40}"/>
                  </a:ext>
                </a:extLst>
              </p:cNvPr>
              <p:cNvSpPr>
                <a:spLocks noRot="1" noChangeAspect="1" noMove="1" noResize="1" noEditPoints="1" noAdjustHandles="1" noChangeArrowheads="1" noChangeShapeType="1" noTextEdit="1"/>
              </p:cNvSpPr>
              <p:nvPr/>
            </p:nvSpPr>
            <p:spPr>
              <a:xfrm>
                <a:off x="495000" y="2641126"/>
                <a:ext cx="631520" cy="461665"/>
              </a:xfrm>
              <a:prstGeom prst="rect">
                <a:avLst/>
              </a:prstGeom>
              <a:blipFill>
                <a:blip r:embed="rId5"/>
                <a:stretch>
                  <a:fillRect l="-1961" b="-189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1A6A8E4D-6166-3F45-A620-82946A70AEDD}"/>
                  </a:ext>
                </a:extLst>
              </p:cNvPr>
              <p:cNvSpPr/>
              <p:nvPr/>
            </p:nvSpPr>
            <p:spPr>
              <a:xfrm>
                <a:off x="2649687" y="2651442"/>
                <a:ext cx="6315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r>
                        <a:rPr lang="sr-Latn-RS" sz="2400" b="0" i="1" smtClean="0">
                          <a:latin typeface="Cambria Math" panose="02040503050406030204" pitchFamily="18" charset="0"/>
                        </a:rPr>
                        <m:t>𝑆</m:t>
                      </m:r>
                      <m:r>
                        <a:rPr lang="en-US" sz="2400" i="1">
                          <a:latin typeface="Cambria Math" panose="02040503050406030204" pitchFamily="18" charset="0"/>
                        </a:rPr>
                        <m:t>⟩</m:t>
                      </m:r>
                    </m:oMath>
                  </m:oMathPara>
                </a14:m>
                <a:endParaRPr lang="en-US" sz="2400" dirty="0"/>
              </a:p>
            </p:txBody>
          </p:sp>
        </mc:Choice>
        <mc:Fallback xmlns="">
          <p:sp>
            <p:nvSpPr>
              <p:cNvPr id="21" name="Rectangle 20">
                <a:extLst>
                  <a:ext uri="{FF2B5EF4-FFF2-40B4-BE49-F238E27FC236}">
                    <a16:creationId xmlns:a16="http://schemas.microsoft.com/office/drawing/2014/main" id="{1A6A8E4D-6166-3F45-A620-82946A70AEDD}"/>
                  </a:ext>
                </a:extLst>
              </p:cNvPr>
              <p:cNvSpPr>
                <a:spLocks noRot="1" noChangeAspect="1" noMove="1" noResize="1" noEditPoints="1" noAdjustHandles="1" noChangeArrowheads="1" noChangeShapeType="1" noTextEdit="1"/>
              </p:cNvSpPr>
              <p:nvPr/>
            </p:nvSpPr>
            <p:spPr>
              <a:xfrm>
                <a:off x="2649687" y="2651442"/>
                <a:ext cx="631520" cy="461665"/>
              </a:xfrm>
              <a:prstGeom prst="rect">
                <a:avLst/>
              </a:prstGeom>
              <a:blipFill>
                <a:blip r:embed="rId6"/>
                <a:stretch>
                  <a:fillRect l="-2000" r="-2000" b="-16216"/>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DA5BB5EA-8A19-EF43-9828-52A988497BE1}"/>
              </a:ext>
            </a:extLst>
          </p:cNvPr>
          <p:cNvGrpSpPr/>
          <p:nvPr/>
        </p:nvGrpSpPr>
        <p:grpSpPr>
          <a:xfrm>
            <a:off x="859932" y="4117531"/>
            <a:ext cx="9978953" cy="1471941"/>
            <a:chOff x="859932" y="4117531"/>
            <a:chExt cx="9978953" cy="1471941"/>
          </a:xfrm>
        </p:grpSpPr>
        <p:cxnSp>
          <p:nvCxnSpPr>
            <p:cNvPr id="16" name="Straight Connector 15">
              <a:extLst>
                <a:ext uri="{FF2B5EF4-FFF2-40B4-BE49-F238E27FC236}">
                  <a16:creationId xmlns:a16="http://schemas.microsoft.com/office/drawing/2014/main" id="{DF33E1CE-9FC1-1A44-83E0-B806C6DA8A89}"/>
                </a:ext>
              </a:extLst>
            </p:cNvPr>
            <p:cNvCxnSpPr>
              <a:cxnSpLocks/>
            </p:cNvCxnSpPr>
            <p:nvPr/>
          </p:nvCxnSpPr>
          <p:spPr>
            <a:xfrm>
              <a:off x="878337" y="4260807"/>
              <a:ext cx="21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C5C1332-E8E7-354B-9804-0F2D9491F5B8}"/>
                </a:ext>
              </a:extLst>
            </p:cNvPr>
            <p:cNvCxnSpPr>
              <a:cxnSpLocks/>
            </p:cNvCxnSpPr>
            <p:nvPr/>
          </p:nvCxnSpPr>
          <p:spPr>
            <a:xfrm>
              <a:off x="859932" y="5242232"/>
              <a:ext cx="21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6D844F57-1F35-0041-9FAF-B717BD7FAD34}"/>
                </a:ext>
              </a:extLst>
            </p:cNvPr>
            <p:cNvSpPr/>
            <p:nvPr/>
          </p:nvSpPr>
          <p:spPr>
            <a:xfrm>
              <a:off x="1044642" y="486947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cxnSp>
          <p:nvCxnSpPr>
            <p:cNvPr id="15" name="Straight Connector 14">
              <a:extLst>
                <a:ext uri="{FF2B5EF4-FFF2-40B4-BE49-F238E27FC236}">
                  <a16:creationId xmlns:a16="http://schemas.microsoft.com/office/drawing/2014/main" id="{EB19EDA6-9574-B747-B120-B329367BF9D3}"/>
                </a:ext>
              </a:extLst>
            </p:cNvPr>
            <p:cNvCxnSpPr>
              <a:cxnSpLocks/>
              <a:endCxn id="13" idx="0"/>
            </p:cNvCxnSpPr>
            <p:nvPr/>
          </p:nvCxnSpPr>
          <p:spPr>
            <a:xfrm>
              <a:off x="1399312" y="4383750"/>
              <a:ext cx="0" cy="4857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3663A9A9-C0C3-A94E-AF6C-4CFC9BE2EE3A}"/>
                    </a:ext>
                  </a:extLst>
                </p:cNvPr>
                <p:cNvSpPr/>
                <p:nvPr/>
              </p:nvSpPr>
              <p:spPr>
                <a:xfrm>
                  <a:off x="3993037" y="4117531"/>
                  <a:ext cx="6845848" cy="14719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smtClean="0">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1</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mr>
                            </m:m>
                          </m:e>
                        </m:d>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1</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mr>
                            </m:m>
                          </m:e>
                        </m:d>
                        <m:r>
                          <a:rPr lang="sr-Latn-RS" sz="2400" b="0" i="1" smtClean="0">
                            <a:latin typeface="Cambria Math" panose="02040503050406030204" pitchFamily="18" charset="0"/>
                          </a:rPr>
                          <m:t>=</m:t>
                        </m:r>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sr-Latn-RS" sz="2400" b="0" i="1" smtClean="0">
                                      <a:latin typeface="Cambria Math" panose="02040503050406030204" pitchFamily="18" charset="0"/>
                                    </a:rPr>
                                    <m:t>1</m:t>
                                  </m:r>
                                </m:e>
                                <m:e>
                                  <m:r>
                                    <a:rPr lang="sr-Latn-RS" sz="2400" b="0" i="1" smtClean="0">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sr-Latn-RS" sz="2400" b="0" i="1" smtClean="0">
                                      <a:latin typeface="Cambria Math" panose="02040503050406030204" pitchFamily="18" charset="0"/>
                                    </a:rPr>
                                    <m:t>0</m:t>
                                  </m:r>
                                </m:e>
                                <m:e>
                                  <m:r>
                                    <a:rPr lang="sr-Latn-RS" sz="2400" b="0" i="1" smtClean="0">
                                      <a:latin typeface="Cambria Math" panose="02040503050406030204" pitchFamily="18" charset="0"/>
                                    </a:rPr>
                                    <m:t>1</m:t>
                                  </m:r>
                                </m:e>
                              </m:mr>
                            </m:m>
                          </m:e>
                        </m:d>
                      </m:oMath>
                    </m:oMathPara>
                  </a14:m>
                  <a:endParaRPr lang="en-US" sz="2400" baseline="30000" dirty="0"/>
                </a:p>
              </p:txBody>
            </p:sp>
          </mc:Choice>
          <mc:Fallback xmlns="">
            <p:sp>
              <p:nvSpPr>
                <p:cNvPr id="30" name="Rectangle 29">
                  <a:extLst>
                    <a:ext uri="{FF2B5EF4-FFF2-40B4-BE49-F238E27FC236}">
                      <a16:creationId xmlns:a16="http://schemas.microsoft.com/office/drawing/2014/main" id="{3663A9A9-C0C3-A94E-AF6C-4CFC9BE2EE3A}"/>
                    </a:ext>
                  </a:extLst>
                </p:cNvPr>
                <p:cNvSpPr>
                  <a:spLocks noRot="1" noChangeAspect="1" noMove="1" noResize="1" noEditPoints="1" noAdjustHandles="1" noChangeArrowheads="1" noChangeShapeType="1" noTextEdit="1"/>
                </p:cNvSpPr>
                <p:nvPr/>
              </p:nvSpPr>
              <p:spPr>
                <a:xfrm>
                  <a:off x="3993037" y="4117531"/>
                  <a:ext cx="6845848" cy="1471941"/>
                </a:xfrm>
                <a:prstGeom prst="rect">
                  <a:avLst/>
                </a:prstGeom>
                <a:blipFill>
                  <a:blip r:embed="rId7"/>
                  <a:stretch>
                    <a:fillRect b="-1724"/>
                  </a:stretch>
                </a:blipFill>
              </p:spPr>
              <p:txBody>
                <a:bodyPr/>
                <a:lstStyle/>
                <a:p>
                  <a:r>
                    <a:rPr lang="en-US">
                      <a:noFill/>
                    </a:rPr>
                    <a:t> </a:t>
                  </a:r>
                </a:p>
              </p:txBody>
            </p:sp>
          </mc:Fallback>
        </mc:AlternateContent>
        <p:sp>
          <p:nvSpPr>
            <p:cNvPr id="27" name="Oval 26">
              <a:extLst>
                <a:ext uri="{FF2B5EF4-FFF2-40B4-BE49-F238E27FC236}">
                  <a16:creationId xmlns:a16="http://schemas.microsoft.com/office/drawing/2014/main" id="{1D99916E-3CA0-6841-A433-4BA41335CF98}"/>
                </a:ext>
              </a:extLst>
            </p:cNvPr>
            <p:cNvSpPr/>
            <p:nvPr/>
          </p:nvSpPr>
          <p:spPr>
            <a:xfrm>
              <a:off x="1269642" y="4129542"/>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28" name="Oval 27">
              <a:extLst>
                <a:ext uri="{FF2B5EF4-FFF2-40B4-BE49-F238E27FC236}">
                  <a16:creationId xmlns:a16="http://schemas.microsoft.com/office/drawing/2014/main" id="{BC3F97A7-EF8D-724A-8E15-39B387BA2744}"/>
                </a:ext>
              </a:extLst>
            </p:cNvPr>
            <p:cNvSpPr/>
            <p:nvPr/>
          </p:nvSpPr>
          <p:spPr>
            <a:xfrm>
              <a:off x="2139672" y="486947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cxnSp>
          <p:nvCxnSpPr>
            <p:cNvPr id="29" name="Straight Connector 28">
              <a:extLst>
                <a:ext uri="{FF2B5EF4-FFF2-40B4-BE49-F238E27FC236}">
                  <a16:creationId xmlns:a16="http://schemas.microsoft.com/office/drawing/2014/main" id="{03E45D97-9487-B54C-BE3E-45939C5F2F1D}"/>
                </a:ext>
              </a:extLst>
            </p:cNvPr>
            <p:cNvCxnSpPr>
              <a:cxnSpLocks/>
              <a:endCxn id="28" idx="0"/>
            </p:cNvCxnSpPr>
            <p:nvPr/>
          </p:nvCxnSpPr>
          <p:spPr>
            <a:xfrm>
              <a:off x="2494342" y="4383750"/>
              <a:ext cx="0" cy="4857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DD91F63E-CD5A-A141-BB89-3028FB2BF182}"/>
                </a:ext>
              </a:extLst>
            </p:cNvPr>
            <p:cNvSpPr/>
            <p:nvPr/>
          </p:nvSpPr>
          <p:spPr>
            <a:xfrm>
              <a:off x="2364672" y="4129542"/>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grpSp>
      <p:cxnSp>
        <p:nvCxnSpPr>
          <p:cNvPr id="23" name="Straight Connector 22">
            <a:extLst>
              <a:ext uri="{FF2B5EF4-FFF2-40B4-BE49-F238E27FC236}">
                <a16:creationId xmlns:a16="http://schemas.microsoft.com/office/drawing/2014/main" id="{8D02CDEB-A33F-6B4F-A59E-45F38D6A768C}"/>
              </a:ext>
            </a:extLst>
          </p:cNvPr>
          <p:cNvCxnSpPr>
            <a:cxnSpLocks/>
          </p:cNvCxnSpPr>
          <p:nvPr/>
        </p:nvCxnSpPr>
        <p:spPr>
          <a:xfrm>
            <a:off x="5164535" y="2947659"/>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BD20732-61A9-C648-8F7D-1AB79FFF190B}"/>
              </a:ext>
            </a:extLst>
          </p:cNvPr>
          <p:cNvCxnSpPr>
            <a:cxnSpLocks/>
          </p:cNvCxnSpPr>
          <p:nvPr/>
        </p:nvCxnSpPr>
        <p:spPr>
          <a:xfrm>
            <a:off x="5164535" y="1863288"/>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4CE9838F-D82B-E54A-88D8-3693C39E5941}"/>
                  </a:ext>
                </a:extLst>
              </p:cNvPr>
              <p:cNvSpPr/>
              <p:nvPr/>
            </p:nvSpPr>
            <p:spPr>
              <a:xfrm>
                <a:off x="4488584" y="1625406"/>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|0⟩</m:t>
                      </m:r>
                    </m:oMath>
                  </m:oMathPara>
                </a14:m>
                <a:endParaRPr lang="en-US" sz="2400" dirty="0"/>
              </a:p>
            </p:txBody>
          </p:sp>
        </mc:Choice>
        <mc:Fallback xmlns="">
          <p:sp>
            <p:nvSpPr>
              <p:cNvPr id="31" name="Rectangle 30">
                <a:extLst>
                  <a:ext uri="{FF2B5EF4-FFF2-40B4-BE49-F238E27FC236}">
                    <a16:creationId xmlns:a16="http://schemas.microsoft.com/office/drawing/2014/main" id="{4CE9838F-D82B-E54A-88D8-3693C39E5941}"/>
                  </a:ext>
                </a:extLst>
              </p:cNvPr>
              <p:cNvSpPr>
                <a:spLocks noRot="1" noChangeAspect="1" noMove="1" noResize="1" noEditPoints="1" noAdjustHandles="1" noChangeArrowheads="1" noChangeShapeType="1" noTextEdit="1"/>
              </p:cNvSpPr>
              <p:nvPr/>
            </p:nvSpPr>
            <p:spPr>
              <a:xfrm>
                <a:off x="4488584" y="1625406"/>
                <a:ext cx="631904" cy="461665"/>
              </a:xfrm>
              <a:prstGeom prst="rect">
                <a:avLst/>
              </a:prstGeom>
              <a:blipFill>
                <a:blip r:embed="rId8"/>
                <a:stretch>
                  <a:fillRect r="-1961"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43A84827-280E-0B4C-9A5C-026630A3750C}"/>
                  </a:ext>
                </a:extLst>
              </p:cNvPr>
              <p:cNvSpPr/>
              <p:nvPr/>
            </p:nvSpPr>
            <p:spPr>
              <a:xfrm>
                <a:off x="6625368" y="1625406"/>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|0⟩</m:t>
                      </m:r>
                    </m:oMath>
                  </m:oMathPara>
                </a14:m>
                <a:endParaRPr lang="en-US" sz="2400" dirty="0"/>
              </a:p>
            </p:txBody>
          </p:sp>
        </mc:Choice>
        <mc:Fallback xmlns="">
          <p:sp>
            <p:nvSpPr>
              <p:cNvPr id="33" name="Rectangle 32">
                <a:extLst>
                  <a:ext uri="{FF2B5EF4-FFF2-40B4-BE49-F238E27FC236}">
                    <a16:creationId xmlns:a16="http://schemas.microsoft.com/office/drawing/2014/main" id="{43A84827-280E-0B4C-9A5C-026630A3750C}"/>
                  </a:ext>
                </a:extLst>
              </p:cNvPr>
              <p:cNvSpPr>
                <a:spLocks noRot="1" noChangeAspect="1" noMove="1" noResize="1" noEditPoints="1" noAdjustHandles="1" noChangeArrowheads="1" noChangeShapeType="1" noTextEdit="1"/>
              </p:cNvSpPr>
              <p:nvPr/>
            </p:nvSpPr>
            <p:spPr>
              <a:xfrm>
                <a:off x="6625368" y="1625406"/>
                <a:ext cx="631904" cy="461665"/>
              </a:xfrm>
              <a:prstGeom prst="rect">
                <a:avLst/>
              </a:prstGeom>
              <a:blipFill>
                <a:blip r:embed="rId9"/>
                <a:stretch>
                  <a:fillRect l="-2000" r="-2000"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D5A13091-5AA0-A941-B492-4A3F4C97C6B8}"/>
                  </a:ext>
                </a:extLst>
              </p:cNvPr>
              <p:cNvSpPr/>
              <p:nvPr/>
            </p:nvSpPr>
            <p:spPr>
              <a:xfrm>
                <a:off x="4468286" y="2641126"/>
                <a:ext cx="6315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r>
                        <a:rPr lang="sr-Latn-RS" sz="2400" b="0" i="1" smtClean="0">
                          <a:latin typeface="Cambria Math" panose="02040503050406030204" pitchFamily="18" charset="0"/>
                        </a:rPr>
                        <m:t>𝑆</m:t>
                      </m:r>
                      <m:r>
                        <a:rPr lang="en-US" sz="2400" i="1">
                          <a:latin typeface="Cambria Math" panose="02040503050406030204" pitchFamily="18" charset="0"/>
                        </a:rPr>
                        <m:t>⟩</m:t>
                      </m:r>
                    </m:oMath>
                  </m:oMathPara>
                </a14:m>
                <a:endParaRPr lang="en-US" sz="2400" dirty="0"/>
              </a:p>
            </p:txBody>
          </p:sp>
        </mc:Choice>
        <mc:Fallback xmlns="">
          <p:sp>
            <p:nvSpPr>
              <p:cNvPr id="35" name="Rectangle 34">
                <a:extLst>
                  <a:ext uri="{FF2B5EF4-FFF2-40B4-BE49-F238E27FC236}">
                    <a16:creationId xmlns:a16="http://schemas.microsoft.com/office/drawing/2014/main" id="{D5A13091-5AA0-A941-B492-4A3F4C97C6B8}"/>
                  </a:ext>
                </a:extLst>
              </p:cNvPr>
              <p:cNvSpPr>
                <a:spLocks noRot="1" noChangeAspect="1" noMove="1" noResize="1" noEditPoints="1" noAdjustHandles="1" noChangeArrowheads="1" noChangeShapeType="1" noTextEdit="1"/>
              </p:cNvSpPr>
              <p:nvPr/>
            </p:nvSpPr>
            <p:spPr>
              <a:xfrm>
                <a:off x="4468286" y="2641126"/>
                <a:ext cx="631520" cy="461665"/>
              </a:xfrm>
              <a:prstGeom prst="rect">
                <a:avLst/>
              </a:prstGeom>
              <a:blipFill>
                <a:blip r:embed="rId10"/>
                <a:stretch>
                  <a:fillRect l="-1961" b="-189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BD74B121-B808-9746-B4D9-C6911D8904B6}"/>
                  </a:ext>
                </a:extLst>
              </p:cNvPr>
              <p:cNvSpPr/>
              <p:nvPr/>
            </p:nvSpPr>
            <p:spPr>
              <a:xfrm>
                <a:off x="6622973" y="2651442"/>
                <a:ext cx="6315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r>
                        <a:rPr lang="sr-Latn-RS" sz="2400" b="0" i="1" smtClean="0">
                          <a:latin typeface="Cambria Math" panose="02040503050406030204" pitchFamily="18" charset="0"/>
                        </a:rPr>
                        <m:t>𝑆</m:t>
                      </m:r>
                      <m:r>
                        <a:rPr lang="en-US" sz="2400" i="1">
                          <a:latin typeface="Cambria Math" panose="02040503050406030204" pitchFamily="18" charset="0"/>
                        </a:rPr>
                        <m:t>⟩</m:t>
                      </m:r>
                    </m:oMath>
                  </m:oMathPara>
                </a14:m>
                <a:endParaRPr lang="en-US" sz="2400" dirty="0"/>
              </a:p>
            </p:txBody>
          </p:sp>
        </mc:Choice>
        <mc:Fallback xmlns="">
          <p:sp>
            <p:nvSpPr>
              <p:cNvPr id="36" name="Rectangle 35">
                <a:extLst>
                  <a:ext uri="{FF2B5EF4-FFF2-40B4-BE49-F238E27FC236}">
                    <a16:creationId xmlns:a16="http://schemas.microsoft.com/office/drawing/2014/main" id="{BD74B121-B808-9746-B4D9-C6911D8904B6}"/>
                  </a:ext>
                </a:extLst>
              </p:cNvPr>
              <p:cNvSpPr>
                <a:spLocks noRot="1" noChangeAspect="1" noMove="1" noResize="1" noEditPoints="1" noAdjustHandles="1" noChangeArrowheads="1" noChangeShapeType="1" noTextEdit="1"/>
              </p:cNvSpPr>
              <p:nvPr/>
            </p:nvSpPr>
            <p:spPr>
              <a:xfrm>
                <a:off x="6622973" y="2651442"/>
                <a:ext cx="631520" cy="461665"/>
              </a:xfrm>
              <a:prstGeom prst="rect">
                <a:avLst/>
              </a:prstGeom>
              <a:blipFill>
                <a:blip r:embed="rId11"/>
                <a:stretch>
                  <a:fillRect r="-1961" b="-16216"/>
                </a:stretch>
              </a:blipFill>
            </p:spPr>
            <p:txBody>
              <a:bodyPr/>
              <a:lstStyle/>
              <a:p>
                <a:r>
                  <a:rPr lang="en-US">
                    <a:noFill/>
                  </a:rPr>
                  <a:t> </a:t>
                </a:r>
              </a:p>
            </p:txBody>
          </p:sp>
        </mc:Fallback>
      </mc:AlternateContent>
      <p:sp>
        <p:nvSpPr>
          <p:cNvPr id="5" name="Right Arrow 4">
            <a:extLst>
              <a:ext uri="{FF2B5EF4-FFF2-40B4-BE49-F238E27FC236}">
                <a16:creationId xmlns:a16="http://schemas.microsoft.com/office/drawing/2014/main" id="{B8EF2216-27C7-E44A-BB5F-8BE96D4A367F}"/>
              </a:ext>
            </a:extLst>
          </p:cNvPr>
          <p:cNvSpPr/>
          <p:nvPr/>
        </p:nvSpPr>
        <p:spPr>
          <a:xfrm>
            <a:off x="3419534" y="2102283"/>
            <a:ext cx="711830" cy="538843"/>
          </a:xfrm>
          <a:prstGeom prst="rightArrow">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1221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B0F6D-5A31-B843-A1A8-0F2717324FEC}"/>
              </a:ext>
            </a:extLst>
          </p:cNvPr>
          <p:cNvSpPr>
            <a:spLocks noGrp="1"/>
          </p:cNvSpPr>
          <p:nvPr>
            <p:ph type="title"/>
          </p:nvPr>
        </p:nvSpPr>
        <p:spPr/>
        <p:txBody>
          <a:bodyPr/>
          <a:lstStyle/>
          <a:p>
            <a:r>
              <a:rPr lang="en-ZA" dirty="0"/>
              <a:t>Simplifying Controlled Operations (2)</a:t>
            </a:r>
            <a:endParaRPr lang="en-US" dirty="0"/>
          </a:p>
        </p:txBody>
      </p:sp>
      <p:sp>
        <p:nvSpPr>
          <p:cNvPr id="3" name="Slide Number Placeholder 2">
            <a:extLst>
              <a:ext uri="{FF2B5EF4-FFF2-40B4-BE49-F238E27FC236}">
                <a16:creationId xmlns:a16="http://schemas.microsoft.com/office/drawing/2014/main" id="{82411152-1937-D549-9934-0813606A2F94}"/>
              </a:ext>
            </a:extLst>
          </p:cNvPr>
          <p:cNvSpPr>
            <a:spLocks noGrp="1"/>
          </p:cNvSpPr>
          <p:nvPr>
            <p:ph type="sldNum" sz="quarter" idx="12"/>
          </p:nvPr>
        </p:nvSpPr>
        <p:spPr/>
        <p:txBody>
          <a:bodyPr/>
          <a:lstStyle/>
          <a:p>
            <a:fld id="{591A223C-FA10-BC46-A853-03BA373D023C}" type="slidenum">
              <a:rPr lang="en-US" smtClean="0"/>
              <a:t>10</a:t>
            </a:fld>
            <a:endParaRPr lang="en-US"/>
          </a:p>
        </p:txBody>
      </p:sp>
      <p:cxnSp>
        <p:nvCxnSpPr>
          <p:cNvPr id="12" name="Straight Connector 11">
            <a:extLst>
              <a:ext uri="{FF2B5EF4-FFF2-40B4-BE49-F238E27FC236}">
                <a16:creationId xmlns:a16="http://schemas.microsoft.com/office/drawing/2014/main" id="{BC5C1332-E8E7-354B-9804-0F2D9491F5B8}"/>
              </a:ext>
            </a:extLst>
          </p:cNvPr>
          <p:cNvCxnSpPr>
            <a:cxnSpLocks/>
          </p:cNvCxnSpPr>
          <p:nvPr/>
        </p:nvCxnSpPr>
        <p:spPr>
          <a:xfrm>
            <a:off x="4797387" y="2272649"/>
            <a:ext cx="116559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6D844F57-1F35-0041-9FAF-B717BD7FAD34}"/>
              </a:ext>
            </a:extLst>
          </p:cNvPr>
          <p:cNvSpPr/>
          <p:nvPr/>
        </p:nvSpPr>
        <p:spPr>
          <a:xfrm>
            <a:off x="5023662" y="189988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4" name="Oval 13">
            <a:extLst>
              <a:ext uri="{FF2B5EF4-FFF2-40B4-BE49-F238E27FC236}">
                <a16:creationId xmlns:a16="http://schemas.microsoft.com/office/drawing/2014/main" id="{2DCB036C-C4D3-8B45-8621-D90A657FDDE1}"/>
              </a:ext>
            </a:extLst>
          </p:cNvPr>
          <p:cNvSpPr/>
          <p:nvPr/>
        </p:nvSpPr>
        <p:spPr>
          <a:xfrm>
            <a:off x="5288332" y="1234167"/>
            <a:ext cx="180000" cy="18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5" name="Straight Connector 14">
            <a:extLst>
              <a:ext uri="{FF2B5EF4-FFF2-40B4-BE49-F238E27FC236}">
                <a16:creationId xmlns:a16="http://schemas.microsoft.com/office/drawing/2014/main" id="{EB19EDA6-9574-B747-B120-B329367BF9D3}"/>
              </a:ext>
            </a:extLst>
          </p:cNvPr>
          <p:cNvCxnSpPr>
            <a:cxnSpLocks/>
            <a:stCxn id="14" idx="4"/>
            <a:endCxn id="13" idx="0"/>
          </p:cNvCxnSpPr>
          <p:nvPr/>
        </p:nvCxnSpPr>
        <p:spPr>
          <a:xfrm>
            <a:off x="5378332" y="1414167"/>
            <a:ext cx="0" cy="48572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F33E1CE-9FC1-1A44-83E0-B806C6DA8A89}"/>
              </a:ext>
            </a:extLst>
          </p:cNvPr>
          <p:cNvCxnSpPr>
            <a:cxnSpLocks/>
          </p:cNvCxnSpPr>
          <p:nvPr/>
        </p:nvCxnSpPr>
        <p:spPr>
          <a:xfrm>
            <a:off x="4824532" y="1332788"/>
            <a:ext cx="1165590" cy="0"/>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5BD579B0-5E19-C747-8BE6-2D4714132EFA}"/>
                  </a:ext>
                </a:extLst>
              </p:cNvPr>
              <p:cNvSpPr/>
              <p:nvPr/>
            </p:nvSpPr>
            <p:spPr>
              <a:xfrm>
                <a:off x="6133707" y="1041407"/>
                <a:ext cx="6315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r>
                        <a:rPr lang="sr-Latn-RS" sz="2400" b="0" i="1" smtClean="0">
                          <a:latin typeface="Cambria Math" panose="02040503050406030204" pitchFamily="18" charset="0"/>
                        </a:rPr>
                        <m:t>𝑆</m:t>
                      </m:r>
                      <m:r>
                        <a:rPr lang="en-US" sz="2400" i="1">
                          <a:latin typeface="Cambria Math" panose="02040503050406030204" pitchFamily="18" charset="0"/>
                        </a:rPr>
                        <m:t>⟩</m:t>
                      </m:r>
                    </m:oMath>
                  </m:oMathPara>
                </a14:m>
                <a:endParaRPr lang="en-US" sz="2400" dirty="0"/>
              </a:p>
            </p:txBody>
          </p:sp>
        </mc:Choice>
        <mc:Fallback xmlns="">
          <p:sp>
            <p:nvSpPr>
              <p:cNvPr id="23" name="Rectangle 22">
                <a:extLst>
                  <a:ext uri="{FF2B5EF4-FFF2-40B4-BE49-F238E27FC236}">
                    <a16:creationId xmlns:a16="http://schemas.microsoft.com/office/drawing/2014/main" id="{5BD579B0-5E19-C747-8BE6-2D4714132EFA}"/>
                  </a:ext>
                </a:extLst>
              </p:cNvPr>
              <p:cNvSpPr>
                <a:spLocks noRot="1" noChangeAspect="1" noMove="1" noResize="1" noEditPoints="1" noAdjustHandles="1" noChangeArrowheads="1" noChangeShapeType="1" noTextEdit="1"/>
              </p:cNvSpPr>
              <p:nvPr/>
            </p:nvSpPr>
            <p:spPr>
              <a:xfrm>
                <a:off x="6133707" y="1041407"/>
                <a:ext cx="631520" cy="461665"/>
              </a:xfrm>
              <a:prstGeom prst="rect">
                <a:avLst/>
              </a:prstGeom>
              <a:blipFill>
                <a:blip r:embed="rId3"/>
                <a:stretch>
                  <a:fillRect l="-1961"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99128E6A-EC49-4F4A-8D07-1618CB5B1440}"/>
                  </a:ext>
                </a:extLst>
              </p:cNvPr>
              <p:cNvSpPr/>
              <p:nvPr/>
            </p:nvSpPr>
            <p:spPr>
              <a:xfrm>
                <a:off x="6154005" y="2039406"/>
                <a:ext cx="69121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r>
                        <a:rPr lang="sr-Latn-RS" sz="2400" b="0" i="1" smtClean="0">
                          <a:latin typeface="Cambria Math" panose="02040503050406030204" pitchFamily="18" charset="0"/>
                        </a:rPr>
                        <m:t>+</m:t>
                      </m:r>
                      <m:r>
                        <a:rPr lang="en-US" sz="2400" i="1">
                          <a:latin typeface="Cambria Math" panose="02040503050406030204" pitchFamily="18" charset="0"/>
                        </a:rPr>
                        <m:t>⟩</m:t>
                      </m:r>
                    </m:oMath>
                  </m:oMathPara>
                </a14:m>
                <a:endParaRPr lang="en-US" sz="2400" dirty="0"/>
              </a:p>
            </p:txBody>
          </p:sp>
        </mc:Choice>
        <mc:Fallback xmlns="">
          <p:sp>
            <p:nvSpPr>
              <p:cNvPr id="25" name="Rectangle 24">
                <a:extLst>
                  <a:ext uri="{FF2B5EF4-FFF2-40B4-BE49-F238E27FC236}">
                    <a16:creationId xmlns:a16="http://schemas.microsoft.com/office/drawing/2014/main" id="{99128E6A-EC49-4F4A-8D07-1618CB5B1440}"/>
                  </a:ext>
                </a:extLst>
              </p:cNvPr>
              <p:cNvSpPr>
                <a:spLocks noRot="1" noChangeAspect="1" noMove="1" noResize="1" noEditPoints="1" noAdjustHandles="1" noChangeArrowheads="1" noChangeShapeType="1" noTextEdit="1"/>
              </p:cNvSpPr>
              <p:nvPr/>
            </p:nvSpPr>
            <p:spPr>
              <a:xfrm>
                <a:off x="6154005" y="2039406"/>
                <a:ext cx="691215" cy="461665"/>
              </a:xfrm>
              <a:prstGeom prst="rect">
                <a:avLst/>
              </a:prstGeom>
              <a:blipFill>
                <a:blip r:embed="rId4"/>
                <a:stretch>
                  <a:fillRect l="-1818" r="-1818"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3663A9A9-C0C3-A94E-AF6C-4CFC9BE2EE3A}"/>
                  </a:ext>
                </a:extLst>
              </p:cNvPr>
              <p:cNvSpPr/>
              <p:nvPr/>
            </p:nvSpPr>
            <p:spPr>
              <a:xfrm>
                <a:off x="1249536" y="4763943"/>
                <a:ext cx="4803366" cy="14719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smtClean="0">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1</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mr>
                          </m:m>
                        </m:e>
                      </m:d>
                      <m:f>
                        <m:fPr>
                          <m:ctrlPr>
                            <a:rPr lang="sr-Latn-RS" sz="2400" i="1">
                              <a:latin typeface="Cambria Math" panose="02040503050406030204" pitchFamily="18" charset="0"/>
                            </a:rPr>
                          </m:ctrlPr>
                        </m:fPr>
                        <m:num>
                          <m:r>
                            <a:rPr lang="sr-Latn-RS" sz="2400" i="1">
                              <a:latin typeface="Cambria Math" panose="02040503050406030204" pitchFamily="18" charset="0"/>
                            </a:rPr>
                            <m:t>1</m:t>
                          </m:r>
                        </m:num>
                        <m:den>
                          <m:rad>
                            <m:radPr>
                              <m:degHide m:val="on"/>
                              <m:ctrlPr>
                                <a:rPr lang="sr-Latn-RS" sz="2400" i="1">
                                  <a:latin typeface="Cambria Math" panose="02040503050406030204" pitchFamily="18" charset="0"/>
                                </a:rPr>
                              </m:ctrlPr>
                            </m:radPr>
                            <m:deg/>
                            <m:e>
                              <m:r>
                                <a:rPr lang="sr-Latn-RS" sz="2400" i="1">
                                  <a:latin typeface="Cambria Math" panose="02040503050406030204" pitchFamily="18" charset="0"/>
                                </a:rPr>
                                <m:t>2</m:t>
                              </m:r>
                            </m:e>
                          </m:rad>
                        </m:den>
                      </m:f>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sr-Latn-RS" sz="2400" i="1">
                                    <a:latin typeface="Cambria Math" panose="02040503050406030204" pitchFamily="18" charset="0"/>
                                  </a:rPr>
                                  <m:t>𝑎</m:t>
                                </m:r>
                              </m:e>
                            </m:mr>
                            <m:mr>
                              <m:e>
                                <m:r>
                                  <a:rPr lang="sr-Latn-RS" sz="2400" i="1">
                                    <a:latin typeface="Cambria Math" panose="02040503050406030204" pitchFamily="18" charset="0"/>
                                  </a:rPr>
                                  <m:t>𝑎</m:t>
                                </m:r>
                              </m:e>
                            </m:mr>
                            <m:mr>
                              <m:e>
                                <m:r>
                                  <a:rPr lang="sr-Latn-RS" sz="2400" i="1">
                                    <a:latin typeface="Cambria Math" panose="02040503050406030204" pitchFamily="18" charset="0"/>
                                  </a:rPr>
                                  <m:t>𝑏</m:t>
                                </m:r>
                              </m:e>
                            </m:mr>
                            <m:mr>
                              <m:e>
                                <m:r>
                                  <a:rPr lang="sr-Latn-RS" sz="2400" i="1">
                                    <a:latin typeface="Cambria Math" panose="02040503050406030204" pitchFamily="18" charset="0"/>
                                  </a:rPr>
                                  <m:t>𝑏</m:t>
                                </m:r>
                              </m:e>
                            </m:mr>
                          </m:m>
                        </m:e>
                      </m:d>
                      <m:r>
                        <a:rPr lang="sr-Latn-RS" sz="2400" b="0" i="1" smtClean="0">
                          <a:latin typeface="Cambria Math" panose="02040503050406030204" pitchFamily="18" charset="0"/>
                        </a:rPr>
                        <m:t>=</m:t>
                      </m:r>
                      <m:f>
                        <m:fPr>
                          <m:ctrlPr>
                            <a:rPr lang="sr-Latn-RS" sz="2400" i="1">
                              <a:latin typeface="Cambria Math" panose="02040503050406030204" pitchFamily="18" charset="0"/>
                            </a:rPr>
                          </m:ctrlPr>
                        </m:fPr>
                        <m:num>
                          <m:r>
                            <a:rPr lang="sr-Latn-RS" sz="2400" i="1">
                              <a:latin typeface="Cambria Math" panose="02040503050406030204" pitchFamily="18" charset="0"/>
                            </a:rPr>
                            <m:t>1</m:t>
                          </m:r>
                        </m:num>
                        <m:den>
                          <m:rad>
                            <m:radPr>
                              <m:degHide m:val="on"/>
                              <m:ctrlPr>
                                <a:rPr lang="sr-Latn-RS" sz="2400" i="1">
                                  <a:latin typeface="Cambria Math" panose="02040503050406030204" pitchFamily="18" charset="0"/>
                                </a:rPr>
                              </m:ctrlPr>
                            </m:radPr>
                            <m:deg/>
                            <m:e>
                              <m:r>
                                <a:rPr lang="sr-Latn-RS" sz="2400" i="1">
                                  <a:latin typeface="Cambria Math" panose="02040503050406030204" pitchFamily="18" charset="0"/>
                                </a:rPr>
                                <m:t>2</m:t>
                              </m:r>
                            </m:e>
                          </m:rad>
                        </m:den>
                      </m:f>
                      <m:d>
                        <m:dPr>
                          <m:ctrlPr>
                            <a:rPr lang="en-US" sz="2400" i="1" smtClean="0">
                              <a:latin typeface="Cambria Math" panose="02040503050406030204" pitchFamily="18" charset="0"/>
                            </a:rPr>
                          </m:ctrlPr>
                        </m:dPr>
                        <m:e>
                          <m:m>
                            <m:mPr>
                              <m:mcs>
                                <m:mc>
                                  <m:mcPr>
                                    <m:count m:val="1"/>
                                    <m:mcJc m:val="center"/>
                                  </m:mcPr>
                                </m:mc>
                              </m:mcs>
                              <m:ctrlPr>
                                <a:rPr lang="en-US" sz="2400" i="1" smtClean="0">
                                  <a:latin typeface="Cambria Math" panose="02040503050406030204" pitchFamily="18" charset="0"/>
                                </a:rPr>
                              </m:ctrlPr>
                            </m:mPr>
                            <m:mr>
                              <m:e>
                                <m:r>
                                  <m:rPr>
                                    <m:brk m:alnAt="7"/>
                                  </m:rPr>
                                  <a:rPr lang="sr-Latn-RS" sz="2400" b="0" i="1" smtClean="0">
                                    <a:latin typeface="Cambria Math" panose="02040503050406030204" pitchFamily="18" charset="0"/>
                                  </a:rPr>
                                  <m:t>𝑎</m:t>
                                </m:r>
                              </m:e>
                            </m:mr>
                            <m:mr>
                              <m:e>
                                <m:r>
                                  <a:rPr lang="sr-Latn-RS" sz="2400" b="0" i="1" smtClean="0">
                                    <a:latin typeface="Cambria Math" panose="02040503050406030204" pitchFamily="18" charset="0"/>
                                  </a:rPr>
                                  <m:t>𝑎</m:t>
                                </m:r>
                              </m:e>
                            </m:mr>
                            <m:mr>
                              <m:e>
                                <m:r>
                                  <a:rPr lang="sr-Latn-RS" sz="2400" b="0" i="1" smtClean="0">
                                    <a:latin typeface="Cambria Math" panose="02040503050406030204" pitchFamily="18" charset="0"/>
                                  </a:rPr>
                                  <m:t>𝑏</m:t>
                                </m:r>
                              </m:e>
                            </m:mr>
                            <m:mr>
                              <m:e>
                                <m:r>
                                  <a:rPr lang="sr-Latn-RS" sz="2400" b="0" i="1" smtClean="0">
                                    <a:latin typeface="Cambria Math" panose="02040503050406030204" pitchFamily="18" charset="0"/>
                                  </a:rPr>
                                  <m:t>𝑏</m:t>
                                </m:r>
                              </m:e>
                            </m:mr>
                          </m:m>
                        </m:e>
                      </m:d>
                    </m:oMath>
                  </m:oMathPara>
                </a14:m>
                <a:endParaRPr lang="en-US" sz="2400" dirty="0"/>
              </a:p>
            </p:txBody>
          </p:sp>
        </mc:Choice>
        <mc:Fallback xmlns="">
          <p:sp>
            <p:nvSpPr>
              <p:cNvPr id="30" name="Rectangle 29">
                <a:extLst>
                  <a:ext uri="{FF2B5EF4-FFF2-40B4-BE49-F238E27FC236}">
                    <a16:creationId xmlns:a16="http://schemas.microsoft.com/office/drawing/2014/main" id="{3663A9A9-C0C3-A94E-AF6C-4CFC9BE2EE3A}"/>
                  </a:ext>
                </a:extLst>
              </p:cNvPr>
              <p:cNvSpPr>
                <a:spLocks noRot="1" noChangeAspect="1" noMove="1" noResize="1" noEditPoints="1" noAdjustHandles="1" noChangeArrowheads="1" noChangeShapeType="1" noTextEdit="1"/>
              </p:cNvSpPr>
              <p:nvPr/>
            </p:nvSpPr>
            <p:spPr>
              <a:xfrm>
                <a:off x="1249536" y="4763943"/>
                <a:ext cx="4803366" cy="1471941"/>
              </a:xfrm>
              <a:prstGeom prst="rect">
                <a:avLst/>
              </a:prstGeom>
              <a:blipFill>
                <a:blip r:embed="rId5"/>
                <a:stretch>
                  <a:fillRect b="-8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49771B54-01C0-0E44-8770-E38253DEA19D}"/>
                  </a:ext>
                </a:extLst>
              </p:cNvPr>
              <p:cNvSpPr/>
              <p:nvPr/>
            </p:nvSpPr>
            <p:spPr>
              <a:xfrm>
                <a:off x="2029259" y="1070754"/>
                <a:ext cx="250408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sr-Latn-RS" sz="2400" i="1">
                              <a:latin typeface="Cambria Math" panose="02040503050406030204" pitchFamily="18" charset="0"/>
                            </a:rPr>
                            <m:t>𝑆</m:t>
                          </m:r>
                        </m:e>
                      </m:d>
                      <m:r>
                        <a:rPr lang="sr-Latn-RS" sz="2400" b="0" i="1" smtClean="0">
                          <a:latin typeface="Cambria Math" panose="02040503050406030204" pitchFamily="18" charset="0"/>
                        </a:rPr>
                        <m:t>=</m:t>
                      </m:r>
                      <m:r>
                        <a:rPr lang="sr-Latn-RS" sz="2400" b="0" i="1" smtClean="0">
                          <a:latin typeface="Cambria Math" panose="02040503050406030204" pitchFamily="18" charset="0"/>
                        </a:rPr>
                        <m:t>𝑎</m:t>
                      </m:r>
                      <m:d>
                        <m:dPr>
                          <m:begChr m:val="|"/>
                          <m:endChr m:val="⟩"/>
                          <m:ctrlPr>
                            <a:rPr lang="en-US" sz="2400" i="1">
                              <a:latin typeface="Cambria Math" panose="02040503050406030204" pitchFamily="18" charset="0"/>
                            </a:rPr>
                          </m:ctrlPr>
                        </m:dPr>
                        <m:e>
                          <m:r>
                            <a:rPr lang="sr-Latn-RS" sz="2400" b="0" i="1" smtClean="0">
                              <a:latin typeface="Cambria Math" panose="02040503050406030204" pitchFamily="18" charset="0"/>
                            </a:rPr>
                            <m:t>0</m:t>
                          </m:r>
                        </m:e>
                      </m:d>
                      <m:r>
                        <a:rPr lang="sr-Latn-RS" sz="2400" b="0" i="1" smtClean="0">
                          <a:latin typeface="Cambria Math" panose="02040503050406030204" pitchFamily="18" charset="0"/>
                        </a:rPr>
                        <m:t>+</m:t>
                      </m:r>
                      <m:r>
                        <a:rPr lang="sr-Latn-RS" sz="2400" b="0" i="1" smtClean="0">
                          <a:latin typeface="Cambria Math" panose="02040503050406030204" pitchFamily="18" charset="0"/>
                        </a:rPr>
                        <m:t>𝑏</m:t>
                      </m:r>
                      <m:d>
                        <m:dPr>
                          <m:begChr m:val="|"/>
                          <m:endChr m:val="⟩"/>
                          <m:ctrlPr>
                            <a:rPr lang="en-US" sz="2400" i="1">
                              <a:latin typeface="Cambria Math" panose="02040503050406030204" pitchFamily="18" charset="0"/>
                            </a:rPr>
                          </m:ctrlPr>
                        </m:dPr>
                        <m:e>
                          <m:r>
                            <a:rPr lang="sr-Latn-RS" sz="2400" b="0" i="1" smtClean="0">
                              <a:latin typeface="Cambria Math" panose="02040503050406030204" pitchFamily="18" charset="0"/>
                            </a:rPr>
                            <m:t>1</m:t>
                          </m:r>
                        </m:e>
                      </m:d>
                    </m:oMath>
                  </m:oMathPara>
                </a14:m>
                <a:endParaRPr lang="en-US" sz="2400" dirty="0"/>
              </a:p>
            </p:txBody>
          </p:sp>
        </mc:Choice>
        <mc:Fallback xmlns="">
          <p:sp>
            <p:nvSpPr>
              <p:cNvPr id="31" name="Rectangle 30">
                <a:extLst>
                  <a:ext uri="{FF2B5EF4-FFF2-40B4-BE49-F238E27FC236}">
                    <a16:creationId xmlns:a16="http://schemas.microsoft.com/office/drawing/2014/main" id="{49771B54-01C0-0E44-8770-E38253DEA19D}"/>
                  </a:ext>
                </a:extLst>
              </p:cNvPr>
              <p:cNvSpPr>
                <a:spLocks noRot="1" noChangeAspect="1" noMove="1" noResize="1" noEditPoints="1" noAdjustHandles="1" noChangeArrowheads="1" noChangeShapeType="1" noTextEdit="1"/>
              </p:cNvSpPr>
              <p:nvPr/>
            </p:nvSpPr>
            <p:spPr>
              <a:xfrm>
                <a:off x="2029259" y="1070754"/>
                <a:ext cx="2504082"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37A52148-3BAE-6D4A-B475-52C7984A33E2}"/>
                  </a:ext>
                </a:extLst>
              </p:cNvPr>
              <p:cNvSpPr/>
              <p:nvPr/>
            </p:nvSpPr>
            <p:spPr>
              <a:xfrm>
                <a:off x="2320377" y="1806193"/>
                <a:ext cx="2212913"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sr-Latn-RS" sz="2400" b="0" i="1" smtClean="0">
                              <a:latin typeface="Cambria Math" panose="02040503050406030204" pitchFamily="18" charset="0"/>
                            </a:rPr>
                            <m:t>+</m:t>
                          </m:r>
                        </m:e>
                      </m:d>
                      <m:r>
                        <a:rPr lang="sr-Latn-RS" sz="2400" b="0" i="1" smtClean="0">
                          <a:latin typeface="Cambria Math" panose="02040503050406030204" pitchFamily="18" charset="0"/>
                        </a:rPr>
                        <m:t>=</m:t>
                      </m:r>
                      <m:f>
                        <m:fPr>
                          <m:ctrlPr>
                            <a:rPr lang="sr-Latn-R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sr-Latn-RS" sz="2400" b="0" i="1" smtClean="0">
                                  <a:latin typeface="Cambria Math" panose="02040503050406030204" pitchFamily="18" charset="0"/>
                                </a:rPr>
                                <m:t>0</m:t>
                              </m:r>
                            </m:e>
                          </m:d>
                          <m:r>
                            <a:rPr lang="sr-Latn-R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sr-Latn-RS" sz="2400" i="1">
                                  <a:latin typeface="Cambria Math" panose="02040503050406030204" pitchFamily="18" charset="0"/>
                                </a:rPr>
                                <m:t>1</m:t>
                              </m:r>
                            </m:e>
                          </m:d>
                        </m:num>
                        <m:den>
                          <m:rad>
                            <m:radPr>
                              <m:degHide m:val="on"/>
                              <m:ctrlPr>
                                <a:rPr lang="sr-Latn-RS" sz="2400" i="1">
                                  <a:latin typeface="Cambria Math" panose="02040503050406030204" pitchFamily="18" charset="0"/>
                                </a:rPr>
                              </m:ctrlPr>
                            </m:radPr>
                            <m:deg/>
                            <m:e>
                              <m:r>
                                <a:rPr lang="sr-Latn-RS" sz="2400" i="1">
                                  <a:latin typeface="Cambria Math" panose="02040503050406030204" pitchFamily="18" charset="0"/>
                                </a:rPr>
                                <m:t>2</m:t>
                              </m:r>
                            </m:e>
                          </m:rad>
                        </m:den>
                      </m:f>
                    </m:oMath>
                  </m:oMathPara>
                </a14:m>
                <a:endParaRPr lang="en-US" sz="2400" dirty="0"/>
              </a:p>
            </p:txBody>
          </p:sp>
        </mc:Choice>
        <mc:Fallback xmlns="">
          <p:sp>
            <p:nvSpPr>
              <p:cNvPr id="32" name="Rectangle 31">
                <a:extLst>
                  <a:ext uri="{FF2B5EF4-FFF2-40B4-BE49-F238E27FC236}">
                    <a16:creationId xmlns:a16="http://schemas.microsoft.com/office/drawing/2014/main" id="{37A52148-3BAE-6D4A-B475-52C7984A33E2}"/>
                  </a:ext>
                </a:extLst>
              </p:cNvPr>
              <p:cNvSpPr>
                <a:spLocks noRot="1" noChangeAspect="1" noMove="1" noResize="1" noEditPoints="1" noAdjustHandles="1" noChangeArrowheads="1" noChangeShapeType="1" noTextEdit="1"/>
              </p:cNvSpPr>
              <p:nvPr/>
            </p:nvSpPr>
            <p:spPr>
              <a:xfrm>
                <a:off x="2320377" y="1806193"/>
                <a:ext cx="2212913" cy="876202"/>
              </a:xfrm>
              <a:prstGeom prst="rect">
                <a:avLst/>
              </a:prstGeom>
              <a:blipFill>
                <a:blip r:embed="rId7"/>
                <a:stretch>
                  <a:fillRect b="-1429"/>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7DBE6D55-D7DE-924F-A8CE-C4B4BC03DA67}"/>
              </a:ext>
            </a:extLst>
          </p:cNvPr>
          <p:cNvSpPr txBox="1"/>
          <p:nvPr/>
        </p:nvSpPr>
        <p:spPr>
          <a:xfrm>
            <a:off x="304799" y="2938694"/>
            <a:ext cx="1000595" cy="461665"/>
          </a:xfrm>
          <a:prstGeom prst="rect">
            <a:avLst/>
          </a:prstGeom>
          <a:solidFill>
            <a:schemeClr val="accent4">
              <a:lumMod val="20000"/>
              <a:lumOff val="80000"/>
            </a:schemeClr>
          </a:solidFill>
        </p:spPr>
        <p:txBody>
          <a:bodyPr wrap="none" rtlCol="0">
            <a:spAutoFit/>
          </a:bodyPr>
          <a:lstStyle/>
          <a:p>
            <a:r>
              <a:rPr lang="en-US" sz="2400" dirty="0"/>
              <a:t>Input: </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3351E2EA-CD16-B44D-B3DC-97A91A283CCF}"/>
                  </a:ext>
                </a:extLst>
              </p:cNvPr>
              <p:cNvSpPr/>
              <p:nvPr/>
            </p:nvSpPr>
            <p:spPr>
              <a:xfrm>
                <a:off x="1266469" y="3047260"/>
                <a:ext cx="3494483" cy="13683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sr-Latn-RS" sz="2400" i="1" smtClean="0">
                              <a:latin typeface="Cambria Math" panose="02040503050406030204" pitchFamily="18" charset="0"/>
                            </a:rPr>
                          </m:ctrlPr>
                        </m:fPr>
                        <m:num>
                          <m:r>
                            <a:rPr lang="sr-Latn-RS" sz="2400" i="1">
                              <a:latin typeface="Cambria Math" panose="02040503050406030204" pitchFamily="18" charset="0"/>
                            </a:rPr>
                            <m:t>1</m:t>
                          </m:r>
                        </m:num>
                        <m:den>
                          <m:rad>
                            <m:radPr>
                              <m:degHide m:val="on"/>
                              <m:ctrlPr>
                                <a:rPr lang="sr-Latn-RS" sz="2400" i="1">
                                  <a:latin typeface="Cambria Math" panose="02040503050406030204" pitchFamily="18" charset="0"/>
                                </a:rPr>
                              </m:ctrlPr>
                            </m:radPr>
                            <m:deg/>
                            <m:e>
                              <m:r>
                                <a:rPr lang="sr-Latn-RS" sz="2400" i="1">
                                  <a:latin typeface="Cambria Math" panose="02040503050406030204" pitchFamily="18" charset="0"/>
                                </a:rPr>
                                <m:t>2</m:t>
                              </m:r>
                            </m:e>
                          </m:rad>
                        </m:den>
                      </m:f>
                      <m:d>
                        <m:dPr>
                          <m:ctrlPr>
                            <a:rPr lang="sr-Latn-RS" sz="2400" i="1">
                              <a:latin typeface="Cambria Math" panose="02040503050406030204" pitchFamily="18" charset="0"/>
                            </a:rPr>
                          </m:ctrlPr>
                        </m:dPr>
                        <m:e>
                          <m:m>
                            <m:mPr>
                              <m:mcs>
                                <m:mc>
                                  <m:mcPr>
                                    <m:count m:val="1"/>
                                    <m:mcJc m:val="center"/>
                                  </m:mcPr>
                                </m:mc>
                              </m:mcs>
                              <m:ctrlPr>
                                <a:rPr lang="sr-Latn-RS" sz="2400" i="1">
                                  <a:latin typeface="Cambria Math" panose="02040503050406030204" pitchFamily="18" charset="0"/>
                                </a:rPr>
                              </m:ctrlPr>
                            </m:mPr>
                            <m:mr>
                              <m:e>
                                <m:r>
                                  <m:rPr>
                                    <m:brk m:alnAt="7"/>
                                  </m:rPr>
                                  <a:rPr lang="sr-Latn-RS" sz="2400" i="1">
                                    <a:latin typeface="Cambria Math" panose="02040503050406030204" pitchFamily="18" charset="0"/>
                                  </a:rPr>
                                  <m:t>𝑎</m:t>
                                </m:r>
                              </m:e>
                            </m:mr>
                            <m:mr>
                              <m:e>
                                <m:r>
                                  <a:rPr lang="sr-Latn-RS" sz="2400" i="1">
                                    <a:latin typeface="Cambria Math" panose="02040503050406030204" pitchFamily="18" charset="0"/>
                                  </a:rPr>
                                  <m:t>𝑏</m:t>
                                </m:r>
                              </m:e>
                            </m:mr>
                          </m:m>
                        </m:e>
                      </m:d>
                      <m:r>
                        <a:rPr lang="en-US" sz="2400" dirty="0">
                          <a:latin typeface="Cambria Math" panose="02040503050406030204" pitchFamily="18" charset="0"/>
                          <a:ea typeface="Cambria Math" panose="02040503050406030204" pitchFamily="18" charset="0"/>
                        </a:rPr>
                        <m:t>⊗</m:t>
                      </m:r>
                      <m:d>
                        <m:dPr>
                          <m:ctrlPr>
                            <a:rPr lang="sr-Latn-RS" sz="2400" i="1">
                              <a:latin typeface="Cambria Math" panose="02040503050406030204" pitchFamily="18" charset="0"/>
                            </a:rPr>
                          </m:ctrlPr>
                        </m:dPr>
                        <m:e>
                          <m:m>
                            <m:mPr>
                              <m:mcs>
                                <m:mc>
                                  <m:mcPr>
                                    <m:count m:val="1"/>
                                    <m:mcJc m:val="center"/>
                                  </m:mcPr>
                                </m:mc>
                              </m:mcs>
                              <m:ctrlPr>
                                <a:rPr lang="sr-Latn-RS" sz="2400" i="1">
                                  <a:latin typeface="Cambria Math" panose="02040503050406030204" pitchFamily="18" charset="0"/>
                                </a:rPr>
                              </m:ctrlPr>
                            </m:mPr>
                            <m:mr>
                              <m:e>
                                <m:r>
                                  <m:rPr>
                                    <m:brk m:alnAt="7"/>
                                  </m:rPr>
                                  <a:rPr lang="sr-Latn-RS" sz="2400" i="1">
                                    <a:latin typeface="Cambria Math" panose="02040503050406030204" pitchFamily="18" charset="0"/>
                                  </a:rPr>
                                  <m:t>1</m:t>
                                </m:r>
                              </m:e>
                            </m:mr>
                            <m:mr>
                              <m:e>
                                <m:r>
                                  <a:rPr lang="sr-Latn-RS" sz="2400" i="1">
                                    <a:latin typeface="Cambria Math" panose="02040503050406030204" pitchFamily="18" charset="0"/>
                                  </a:rPr>
                                  <m:t>1</m:t>
                                </m:r>
                              </m:e>
                            </m:mr>
                          </m:m>
                        </m:e>
                      </m:d>
                      <m:r>
                        <a:rPr lang="sr-Latn-RS" sz="2400" b="0" i="1" smtClean="0">
                          <a:latin typeface="Cambria Math" panose="02040503050406030204" pitchFamily="18" charset="0"/>
                        </a:rPr>
                        <m:t>=</m:t>
                      </m:r>
                      <m:f>
                        <m:fPr>
                          <m:ctrlPr>
                            <a:rPr lang="sr-Latn-RS" sz="2400" i="1">
                              <a:latin typeface="Cambria Math" panose="02040503050406030204" pitchFamily="18" charset="0"/>
                            </a:rPr>
                          </m:ctrlPr>
                        </m:fPr>
                        <m:num>
                          <m:r>
                            <a:rPr lang="sr-Latn-RS" sz="2400" i="1">
                              <a:latin typeface="Cambria Math" panose="02040503050406030204" pitchFamily="18" charset="0"/>
                            </a:rPr>
                            <m:t>1</m:t>
                          </m:r>
                        </m:num>
                        <m:den>
                          <m:rad>
                            <m:radPr>
                              <m:degHide m:val="on"/>
                              <m:ctrlPr>
                                <a:rPr lang="sr-Latn-RS" sz="2400" i="1">
                                  <a:latin typeface="Cambria Math" panose="02040503050406030204" pitchFamily="18" charset="0"/>
                                </a:rPr>
                              </m:ctrlPr>
                            </m:radPr>
                            <m:deg/>
                            <m:e>
                              <m:r>
                                <a:rPr lang="sr-Latn-RS" sz="2400" i="1">
                                  <a:latin typeface="Cambria Math" panose="02040503050406030204" pitchFamily="18" charset="0"/>
                                </a:rPr>
                                <m:t>2</m:t>
                              </m:r>
                            </m:e>
                          </m:rad>
                        </m:den>
                      </m:f>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sr-Latn-RS" sz="2400" i="1">
                                    <a:latin typeface="Cambria Math" panose="02040503050406030204" pitchFamily="18" charset="0"/>
                                  </a:rPr>
                                  <m:t>𝑎</m:t>
                                </m:r>
                              </m:e>
                            </m:mr>
                            <m:mr>
                              <m:e>
                                <m:r>
                                  <a:rPr lang="sr-Latn-RS" sz="2400" i="1">
                                    <a:latin typeface="Cambria Math" panose="02040503050406030204" pitchFamily="18" charset="0"/>
                                  </a:rPr>
                                  <m:t>𝑎</m:t>
                                </m:r>
                              </m:e>
                            </m:mr>
                            <m:mr>
                              <m:e>
                                <m:r>
                                  <a:rPr lang="sr-Latn-RS" sz="2400" i="1">
                                    <a:latin typeface="Cambria Math" panose="02040503050406030204" pitchFamily="18" charset="0"/>
                                  </a:rPr>
                                  <m:t>𝑏</m:t>
                                </m:r>
                              </m:e>
                            </m:mr>
                            <m:mr>
                              <m:e>
                                <m:r>
                                  <a:rPr lang="sr-Latn-RS" sz="2400" i="1">
                                    <a:latin typeface="Cambria Math" panose="02040503050406030204" pitchFamily="18" charset="0"/>
                                  </a:rPr>
                                  <m:t>𝑏</m:t>
                                </m:r>
                              </m:e>
                            </m:mr>
                          </m:m>
                        </m:e>
                      </m:d>
                    </m:oMath>
                  </m:oMathPara>
                </a14:m>
                <a:endParaRPr lang="en-US" sz="2400" dirty="0"/>
              </a:p>
            </p:txBody>
          </p:sp>
        </mc:Choice>
        <mc:Fallback xmlns="">
          <p:sp>
            <p:nvSpPr>
              <p:cNvPr id="10" name="Rectangle 9">
                <a:extLst>
                  <a:ext uri="{FF2B5EF4-FFF2-40B4-BE49-F238E27FC236}">
                    <a16:creationId xmlns:a16="http://schemas.microsoft.com/office/drawing/2014/main" id="{3351E2EA-CD16-B44D-B3DC-97A91A283CCF}"/>
                  </a:ext>
                </a:extLst>
              </p:cNvPr>
              <p:cNvSpPr>
                <a:spLocks noRot="1" noChangeAspect="1" noMove="1" noResize="1" noEditPoints="1" noAdjustHandles="1" noChangeArrowheads="1" noChangeShapeType="1" noTextEdit="1"/>
              </p:cNvSpPr>
              <p:nvPr/>
            </p:nvSpPr>
            <p:spPr>
              <a:xfrm>
                <a:off x="1266469" y="3047260"/>
                <a:ext cx="3494483" cy="1368388"/>
              </a:xfrm>
              <a:prstGeom prst="rect">
                <a:avLst/>
              </a:prstGeom>
              <a:blipFill>
                <a:blip r:embed="rId8"/>
                <a:stretch>
                  <a:fillRect b="-2778"/>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6BEC7A9A-F345-0D4B-96DE-FAE85D6133F9}"/>
              </a:ext>
            </a:extLst>
          </p:cNvPr>
          <p:cNvSpPr txBox="1"/>
          <p:nvPr/>
        </p:nvSpPr>
        <p:spPr>
          <a:xfrm>
            <a:off x="304798" y="4256626"/>
            <a:ext cx="1229824" cy="461665"/>
          </a:xfrm>
          <a:prstGeom prst="rect">
            <a:avLst/>
          </a:prstGeom>
          <a:solidFill>
            <a:schemeClr val="accent4">
              <a:lumMod val="20000"/>
              <a:lumOff val="80000"/>
            </a:schemeClr>
          </a:solidFill>
        </p:spPr>
        <p:txBody>
          <a:bodyPr wrap="none" rtlCol="0">
            <a:spAutoFit/>
          </a:bodyPr>
          <a:lstStyle/>
          <a:p>
            <a:r>
              <a:rPr lang="en-US" sz="2400" dirty="0"/>
              <a:t>Output: </a:t>
            </a:r>
          </a:p>
        </p:txBody>
      </p:sp>
    </p:spTree>
    <p:extLst>
      <p:ext uri="{BB962C8B-B14F-4D97-AF65-F5344CB8AC3E}">
        <p14:creationId xmlns:p14="http://schemas.microsoft.com/office/powerpoint/2010/main" val="814515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5E220-419B-264E-B5D8-C7FDEE271111}"/>
              </a:ext>
            </a:extLst>
          </p:cNvPr>
          <p:cNvSpPr>
            <a:spLocks noGrp="1"/>
          </p:cNvSpPr>
          <p:nvPr>
            <p:ph type="title"/>
          </p:nvPr>
        </p:nvSpPr>
        <p:spPr/>
        <p:txBody>
          <a:bodyPr/>
          <a:lstStyle/>
          <a:p>
            <a:r>
              <a:rPr lang="en-ZA" dirty="0"/>
              <a:t>Commutativity of X and CNOT Gate</a:t>
            </a:r>
            <a:endParaRPr lang="en-US" dirty="0"/>
          </a:p>
        </p:txBody>
      </p:sp>
      <p:sp>
        <p:nvSpPr>
          <p:cNvPr id="3" name="Slide Number Placeholder 2">
            <a:extLst>
              <a:ext uri="{FF2B5EF4-FFF2-40B4-BE49-F238E27FC236}">
                <a16:creationId xmlns:a16="http://schemas.microsoft.com/office/drawing/2014/main" id="{E8E06DB5-BDD6-9944-84EC-D537A4089351}"/>
              </a:ext>
            </a:extLst>
          </p:cNvPr>
          <p:cNvSpPr>
            <a:spLocks noGrp="1"/>
          </p:cNvSpPr>
          <p:nvPr>
            <p:ph type="sldNum" sz="quarter" idx="12"/>
          </p:nvPr>
        </p:nvSpPr>
        <p:spPr/>
        <p:txBody>
          <a:bodyPr/>
          <a:lstStyle/>
          <a:p>
            <a:fld id="{591A223C-FA10-BC46-A853-03BA373D023C}" type="slidenum">
              <a:rPr lang="en-US" smtClean="0"/>
              <a:t>11</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C8E62BE4-707D-4D4A-9A01-45CC8A528978}"/>
                  </a:ext>
                </a:extLst>
              </p:cNvPr>
              <p:cNvSpPr/>
              <p:nvPr/>
            </p:nvSpPr>
            <p:spPr>
              <a:xfrm>
                <a:off x="5531573" y="1528117"/>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4" name="Rectangle 3">
                <a:extLst>
                  <a:ext uri="{FF2B5EF4-FFF2-40B4-BE49-F238E27FC236}">
                    <a16:creationId xmlns:a16="http://schemas.microsoft.com/office/drawing/2014/main" id="{C8E62BE4-707D-4D4A-9A01-45CC8A528978}"/>
                  </a:ext>
                </a:extLst>
              </p:cNvPr>
              <p:cNvSpPr>
                <a:spLocks noRot="1" noChangeAspect="1" noMove="1" noResize="1" noEditPoints="1" noAdjustHandles="1" noChangeArrowheads="1" noChangeShapeType="1" noTextEdit="1"/>
              </p:cNvSpPr>
              <p:nvPr/>
            </p:nvSpPr>
            <p:spPr>
              <a:xfrm>
                <a:off x="5531573" y="1528117"/>
                <a:ext cx="633507" cy="646331"/>
              </a:xfrm>
              <a:prstGeom prst="rect">
                <a:avLst/>
              </a:prstGeom>
              <a:blipFill>
                <a:blip r:embed="rId3"/>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80DB6DBA-782B-694E-8139-D7E92AEA4B2B}"/>
              </a:ext>
            </a:extLst>
          </p:cNvPr>
          <p:cNvCxnSpPr>
            <a:cxnSpLocks/>
          </p:cNvCxnSpPr>
          <p:nvPr/>
        </p:nvCxnSpPr>
        <p:spPr>
          <a:xfrm>
            <a:off x="2363509" y="2339887"/>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5D99A83-6E0B-0948-9BB5-E7EE5C524CF8}"/>
              </a:ext>
            </a:extLst>
          </p:cNvPr>
          <p:cNvCxnSpPr>
            <a:cxnSpLocks/>
          </p:cNvCxnSpPr>
          <p:nvPr/>
        </p:nvCxnSpPr>
        <p:spPr>
          <a:xfrm>
            <a:off x="2247104" y="1379799"/>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7007BC3-0680-AF4B-BB43-465B90FF29BE}"/>
              </a:ext>
            </a:extLst>
          </p:cNvPr>
          <p:cNvSpPr/>
          <p:nvPr/>
        </p:nvSpPr>
        <p:spPr>
          <a:xfrm rot="10800000" flipV="1">
            <a:off x="3661674" y="1951291"/>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0" name="Oval 9">
            <a:extLst>
              <a:ext uri="{FF2B5EF4-FFF2-40B4-BE49-F238E27FC236}">
                <a16:creationId xmlns:a16="http://schemas.microsoft.com/office/drawing/2014/main" id="{805990E4-0DD5-3843-ACB8-77126228BB23}"/>
              </a:ext>
            </a:extLst>
          </p:cNvPr>
          <p:cNvSpPr/>
          <p:nvPr/>
        </p:nvSpPr>
        <p:spPr>
          <a:xfrm rot="10800000" flipV="1">
            <a:off x="3889634" y="1249055"/>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1" name="Straight Connector 10">
            <a:extLst>
              <a:ext uri="{FF2B5EF4-FFF2-40B4-BE49-F238E27FC236}">
                <a16:creationId xmlns:a16="http://schemas.microsoft.com/office/drawing/2014/main" id="{B1017E28-0DD0-8E47-A2D1-95A0774C1D5C}"/>
              </a:ext>
            </a:extLst>
          </p:cNvPr>
          <p:cNvCxnSpPr>
            <a:cxnSpLocks/>
            <a:stCxn id="10" idx="4"/>
            <a:endCxn id="9" idx="0"/>
          </p:cNvCxnSpPr>
          <p:nvPr/>
        </p:nvCxnSpPr>
        <p:spPr>
          <a:xfrm flipH="1">
            <a:off x="4021674" y="1519055"/>
            <a:ext cx="2960" cy="4322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4C2D26AF-F9C1-9049-9453-958070D4A06B}"/>
              </a:ext>
            </a:extLst>
          </p:cNvPr>
          <p:cNvSpPr/>
          <p:nvPr/>
        </p:nvSpPr>
        <p:spPr>
          <a:xfrm rot="10800000" flipV="1">
            <a:off x="2652591" y="1951291"/>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cxnSp>
        <p:nvCxnSpPr>
          <p:cNvPr id="14" name="Straight Connector 13">
            <a:extLst>
              <a:ext uri="{FF2B5EF4-FFF2-40B4-BE49-F238E27FC236}">
                <a16:creationId xmlns:a16="http://schemas.microsoft.com/office/drawing/2014/main" id="{FBE055B1-A5D1-7D45-9A58-58FE355A8337}"/>
              </a:ext>
            </a:extLst>
          </p:cNvPr>
          <p:cNvCxnSpPr>
            <a:cxnSpLocks/>
          </p:cNvCxnSpPr>
          <p:nvPr/>
        </p:nvCxnSpPr>
        <p:spPr>
          <a:xfrm>
            <a:off x="6660567" y="2339887"/>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CCA097-D702-9143-8B2E-7F1BE48C41E1}"/>
              </a:ext>
            </a:extLst>
          </p:cNvPr>
          <p:cNvCxnSpPr>
            <a:cxnSpLocks/>
          </p:cNvCxnSpPr>
          <p:nvPr/>
        </p:nvCxnSpPr>
        <p:spPr>
          <a:xfrm>
            <a:off x="6544162" y="1379799"/>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6C5EBB62-841F-D341-92C1-67220C0E696F}"/>
              </a:ext>
            </a:extLst>
          </p:cNvPr>
          <p:cNvSpPr/>
          <p:nvPr/>
        </p:nvSpPr>
        <p:spPr>
          <a:xfrm rot="10800000" flipV="1">
            <a:off x="7001370" y="1951291"/>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7" name="Oval 16">
            <a:extLst>
              <a:ext uri="{FF2B5EF4-FFF2-40B4-BE49-F238E27FC236}">
                <a16:creationId xmlns:a16="http://schemas.microsoft.com/office/drawing/2014/main" id="{55BE12C9-2740-694D-ABC3-994516DC17C6}"/>
              </a:ext>
            </a:extLst>
          </p:cNvPr>
          <p:cNvSpPr/>
          <p:nvPr/>
        </p:nvSpPr>
        <p:spPr>
          <a:xfrm rot="10800000" flipV="1">
            <a:off x="7229330" y="1249055"/>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8" name="Straight Connector 17">
            <a:extLst>
              <a:ext uri="{FF2B5EF4-FFF2-40B4-BE49-F238E27FC236}">
                <a16:creationId xmlns:a16="http://schemas.microsoft.com/office/drawing/2014/main" id="{6A7F134B-AD95-1C43-8110-0C90868AFC0D}"/>
              </a:ext>
            </a:extLst>
          </p:cNvPr>
          <p:cNvCxnSpPr>
            <a:cxnSpLocks/>
            <a:stCxn id="17" idx="4"/>
            <a:endCxn id="16" idx="0"/>
          </p:cNvCxnSpPr>
          <p:nvPr/>
        </p:nvCxnSpPr>
        <p:spPr>
          <a:xfrm flipH="1">
            <a:off x="7361370" y="1519055"/>
            <a:ext cx="2960" cy="4322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A5AC929-D79A-D34D-AFFC-C737A40C4E0D}"/>
              </a:ext>
            </a:extLst>
          </p:cNvPr>
          <p:cNvSpPr/>
          <p:nvPr/>
        </p:nvSpPr>
        <p:spPr>
          <a:xfrm rot="10800000" flipV="1">
            <a:off x="8282941" y="1979887"/>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650D35A-1F4F-964E-93B4-0050EB764823}"/>
                  </a:ext>
                </a:extLst>
              </p:cNvPr>
              <p:cNvSpPr txBox="1"/>
              <p:nvPr/>
            </p:nvSpPr>
            <p:spPr>
              <a:xfrm>
                <a:off x="3623509" y="2975182"/>
                <a:ext cx="4578369"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3200" i="1" dirty="0">
                          <a:latin typeface="Cambria Math" panose="02040503050406030204" pitchFamily="18" charset="0"/>
                          <a:ea typeface="Cambria Math" panose="02040503050406030204" pitchFamily="18" charset="0"/>
                        </a:rPr>
                        <m:t>𝑐𝑋</m:t>
                      </m:r>
                      <m:d>
                        <m:dPr>
                          <m:ctrlPr>
                            <a:rPr lang="sr-Latn-RS" sz="3200" b="0" i="1" dirty="0" smtClean="0">
                              <a:latin typeface="Cambria Math" panose="02040503050406030204" pitchFamily="18" charset="0"/>
                              <a:ea typeface="Cambria Math" panose="02040503050406030204" pitchFamily="18" charset="0"/>
                            </a:rPr>
                          </m:ctrlPr>
                        </m:dPr>
                        <m:e>
                          <m:r>
                            <a:rPr lang="sr-Latn-RS" sz="3200" b="0" i="1" dirty="0" smtClean="0">
                              <a:latin typeface="Cambria Math" panose="02040503050406030204" pitchFamily="18" charset="0"/>
                              <a:ea typeface="Cambria Math" panose="02040503050406030204" pitchFamily="18" charset="0"/>
                            </a:rPr>
                            <m:t>𝐼</m:t>
                          </m:r>
                          <m:r>
                            <a:rPr lang="en-US" sz="3200" i="1" dirty="0">
                              <a:latin typeface="Cambria Math" panose="02040503050406030204" pitchFamily="18" charset="0"/>
                              <a:ea typeface="Cambria Math" panose="02040503050406030204" pitchFamily="18" charset="0"/>
                            </a:rPr>
                            <m:t>⊗</m:t>
                          </m:r>
                          <m:r>
                            <a:rPr lang="sr-Latn-RS" sz="3200" b="0" i="1" dirty="0" smtClean="0">
                              <a:latin typeface="Cambria Math" panose="02040503050406030204" pitchFamily="18" charset="0"/>
                              <a:ea typeface="Cambria Math" panose="02040503050406030204" pitchFamily="18" charset="0"/>
                            </a:rPr>
                            <m:t>𝑋</m:t>
                          </m:r>
                        </m:e>
                      </m:d>
                      <m:r>
                        <a:rPr lang="sr-Latn-RS" sz="3200" b="0" i="1" dirty="0" smtClean="0">
                          <a:latin typeface="Cambria Math" panose="02040503050406030204" pitchFamily="18" charset="0"/>
                          <a:ea typeface="Cambria Math" panose="02040503050406030204" pitchFamily="18" charset="0"/>
                        </a:rPr>
                        <m:t> =</m:t>
                      </m:r>
                      <m:d>
                        <m:dPr>
                          <m:ctrlPr>
                            <a:rPr lang="sr-Latn-RS" sz="3200" i="1" dirty="0">
                              <a:latin typeface="Cambria Math" panose="02040503050406030204" pitchFamily="18" charset="0"/>
                              <a:ea typeface="Cambria Math" panose="02040503050406030204" pitchFamily="18" charset="0"/>
                            </a:rPr>
                          </m:ctrlPr>
                        </m:dPr>
                        <m:e>
                          <m:r>
                            <a:rPr lang="sr-Latn-RS" sz="3200" b="0" i="1" dirty="0" smtClean="0">
                              <a:latin typeface="Cambria Math" panose="02040503050406030204" pitchFamily="18" charset="0"/>
                              <a:ea typeface="Cambria Math" panose="02040503050406030204" pitchFamily="18" charset="0"/>
                            </a:rPr>
                            <m:t>𝐼</m:t>
                          </m:r>
                          <m:r>
                            <a:rPr lang="en-US" sz="3200" i="1" dirty="0">
                              <a:latin typeface="Cambria Math" panose="02040503050406030204" pitchFamily="18" charset="0"/>
                              <a:ea typeface="Cambria Math" panose="02040503050406030204" pitchFamily="18" charset="0"/>
                            </a:rPr>
                            <m:t>⊗</m:t>
                          </m:r>
                          <m:r>
                            <a:rPr lang="sr-Latn-RS" sz="3200" b="0" i="1" dirty="0" smtClean="0">
                              <a:latin typeface="Cambria Math" panose="02040503050406030204" pitchFamily="18" charset="0"/>
                              <a:ea typeface="Cambria Math" panose="02040503050406030204" pitchFamily="18" charset="0"/>
                            </a:rPr>
                            <m:t>𝑋</m:t>
                          </m:r>
                        </m:e>
                      </m:d>
                      <m:r>
                        <a:rPr lang="sr-Latn-RS" sz="3200" i="1" dirty="0">
                          <a:latin typeface="Cambria Math" panose="02040503050406030204" pitchFamily="18" charset="0"/>
                          <a:ea typeface="Cambria Math" panose="02040503050406030204" pitchFamily="18" charset="0"/>
                        </a:rPr>
                        <m:t>𝑐𝑋</m:t>
                      </m:r>
                    </m:oMath>
                  </m:oMathPara>
                </a14:m>
                <a:endParaRPr lang="en-US" sz="3200" i="1" dirty="0"/>
              </a:p>
            </p:txBody>
          </p:sp>
        </mc:Choice>
        <mc:Fallback xmlns="">
          <p:sp>
            <p:nvSpPr>
              <p:cNvPr id="21" name="TextBox 20">
                <a:extLst>
                  <a:ext uri="{FF2B5EF4-FFF2-40B4-BE49-F238E27FC236}">
                    <a16:creationId xmlns:a16="http://schemas.microsoft.com/office/drawing/2014/main" id="{E650D35A-1F4F-964E-93B4-0050EB764823}"/>
                  </a:ext>
                </a:extLst>
              </p:cNvPr>
              <p:cNvSpPr txBox="1">
                <a:spLocks noRot="1" noChangeAspect="1" noMove="1" noResize="1" noEditPoints="1" noAdjustHandles="1" noChangeArrowheads="1" noChangeShapeType="1" noTextEdit="1"/>
              </p:cNvSpPr>
              <p:nvPr/>
            </p:nvSpPr>
            <p:spPr>
              <a:xfrm>
                <a:off x="3623509" y="2975182"/>
                <a:ext cx="4578369" cy="584775"/>
              </a:xfrm>
              <a:prstGeom prst="rect">
                <a:avLst/>
              </a:prstGeom>
              <a:blipFill>
                <a:blip r:embed="rId4"/>
                <a:stretch>
                  <a:fillRect b="-234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FB21F9AE-B1C9-0741-B4FE-824CA406148F}"/>
                  </a:ext>
                </a:extLst>
              </p:cNvPr>
              <p:cNvSpPr/>
              <p:nvPr/>
            </p:nvSpPr>
            <p:spPr>
              <a:xfrm>
                <a:off x="388081" y="3707751"/>
                <a:ext cx="11696664" cy="1242007"/>
              </a:xfrm>
              <a:prstGeom prst="rect">
                <a:avLst/>
              </a:prstGeom>
            </p:spPr>
            <p:txBody>
              <a:bodyPr wrap="none">
                <a:spAutoFit/>
              </a:bodyPr>
              <a:lstStyle/>
              <a:p>
                <a14:m>
                  <m:oMath xmlns:m="http://schemas.openxmlformats.org/officeDocument/2006/math">
                    <m:r>
                      <a:rPr lang="sr-Latn-RS" sz="2000" i="1" dirty="0" smtClean="0">
                        <a:latin typeface="Cambria Math" panose="02040503050406030204" pitchFamily="18" charset="0"/>
                        <a:ea typeface="Cambria Math" panose="02040503050406030204" pitchFamily="18" charset="0"/>
                      </a:rPr>
                      <m:t>𝑐𝑋</m:t>
                    </m:r>
                    <m:d>
                      <m:dPr>
                        <m:ctrlPr>
                          <a:rPr lang="sr-Latn-RS" sz="2000" i="1" dirty="0">
                            <a:latin typeface="Cambria Math" panose="02040503050406030204" pitchFamily="18" charset="0"/>
                            <a:ea typeface="Cambria Math" panose="02040503050406030204" pitchFamily="18" charset="0"/>
                          </a:rPr>
                        </m:ctrlPr>
                      </m:dPr>
                      <m:e>
                        <m:r>
                          <a:rPr lang="sr-Latn-RS" sz="2000" i="1" dirty="0">
                            <a:latin typeface="Cambria Math" panose="02040503050406030204" pitchFamily="18" charset="0"/>
                            <a:ea typeface="Cambria Math" panose="02040503050406030204" pitchFamily="18" charset="0"/>
                          </a:rPr>
                          <m:t>𝐼</m:t>
                        </m:r>
                        <m:r>
                          <a:rPr lang="en-US" sz="2000" i="1" dirty="0">
                            <a:latin typeface="Cambria Math" panose="02040503050406030204" pitchFamily="18" charset="0"/>
                            <a:ea typeface="Cambria Math" panose="02040503050406030204" pitchFamily="18" charset="0"/>
                          </a:rPr>
                          <m:t>⊗</m:t>
                        </m:r>
                        <m:r>
                          <a:rPr lang="sr-Latn-RS" sz="2000" i="1" dirty="0">
                            <a:latin typeface="Cambria Math" panose="02040503050406030204" pitchFamily="18" charset="0"/>
                            <a:ea typeface="Cambria Math" panose="02040503050406030204" pitchFamily="18" charset="0"/>
                          </a:rPr>
                          <m:t>𝑋</m:t>
                        </m:r>
                      </m:e>
                    </m:d>
                    <m:r>
                      <a:rPr lang="sr-Latn-RS" sz="2000" b="0" i="1" dirty="0" smtClean="0">
                        <a:latin typeface="Cambria Math" panose="02040503050406030204" pitchFamily="18" charset="0"/>
                        <a:ea typeface="Cambria Math" panose="02040503050406030204" pitchFamily="18" charset="0"/>
                      </a:rPr>
                      <m:t>=</m:t>
                    </m:r>
                    <m:d>
                      <m:dPr>
                        <m:ctrlPr>
                          <a:rPr lang="en-ZA" sz="2000" i="1" smtClean="0">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e>
                              <m:r>
                                <a:rPr lang="en-US" sz="2000" i="1">
                                  <a:latin typeface="Cambria Math" panose="02040503050406030204" pitchFamily="18" charset="0"/>
                                  <a:ea typeface="Cambria Math" panose="02040503050406030204" pitchFamily="18" charset="0"/>
                                </a:rPr>
                                <m:t>0</m:t>
                              </m:r>
                            </m:e>
                          </m:mr>
                        </m:m>
                      </m:e>
                    </m:d>
                    <m:d>
                      <m:dPr>
                        <m:ctrlPr>
                          <a:rPr lang="en-US" sz="2000" i="1">
                            <a:latin typeface="Cambria Math" panose="02040503050406030204" pitchFamily="18" charset="0"/>
                          </a:rPr>
                        </m:ctrlPr>
                      </m:dPr>
                      <m:e>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m:rPr>
                                      <m:nor/>
                                    </m:rPr>
                                    <a:rPr lang="en-US" sz="2000">
                                      <a:latin typeface="Cambria Math" panose="02040503050406030204" pitchFamily="18" charset="0"/>
                                    </a:rPr>
                                    <m:t>1</m:t>
                                  </m:r>
                                </m:e>
                                <m:e>
                                  <m:r>
                                    <m:rPr>
                                      <m:nor/>
                                    </m:rPr>
                                    <a:rPr lang="sr-Latn-RS" sz="2000" b="0" i="0" smtClean="0">
                                      <a:latin typeface="Cambria Math" panose="02040503050406030204" pitchFamily="18" charset="0"/>
                                    </a:rPr>
                                    <m:t>0</m:t>
                                  </m:r>
                                </m:e>
                              </m:mr>
                              <m:mr>
                                <m:e>
                                  <m:r>
                                    <m:rPr>
                                      <m:nor/>
                                    </m:rPr>
                                    <a:rPr lang="sr-Latn-RS" sz="2000" b="0" i="0" smtClean="0">
                                      <a:latin typeface="Cambria Math" panose="02040503050406030204" pitchFamily="18" charset="0"/>
                                    </a:rPr>
                                    <m:t>0</m:t>
                                  </m:r>
                                </m:e>
                                <m:e>
                                  <m:r>
                                    <m:rPr>
                                      <m:nor/>
                                    </m:rPr>
                                    <a:rPr lang="en-US" sz="2000">
                                      <a:latin typeface="Cambria Math" panose="02040503050406030204" pitchFamily="18" charset="0"/>
                                    </a:rPr>
                                    <m:t>1</m:t>
                                  </m:r>
                                </m:e>
                              </m:mr>
                            </m:m>
                          </m:e>
                        </m:d>
                        <m:r>
                          <a:rPr lang="en-US" sz="2000" dirty="0">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m:rPr>
                                      <m:nor/>
                                    </m:rPr>
                                    <a:rPr lang="sr-Latn-RS" sz="2000" b="0" i="0" smtClean="0">
                                      <a:latin typeface="Cambria Math" panose="02040503050406030204" pitchFamily="18" charset="0"/>
                                    </a:rPr>
                                    <m:t>0</m:t>
                                  </m:r>
                                </m:e>
                                <m:e>
                                  <m:r>
                                    <m:rPr>
                                      <m:nor/>
                                    </m:rPr>
                                    <a:rPr lang="sr-Latn-RS" sz="2000" b="0" i="0" smtClean="0">
                                      <a:latin typeface="Cambria Math" panose="02040503050406030204" pitchFamily="18" charset="0"/>
                                    </a:rPr>
                                    <m:t>1</m:t>
                                  </m:r>
                                </m:e>
                              </m:mr>
                              <m:mr>
                                <m:e>
                                  <m:r>
                                    <m:rPr>
                                      <m:nor/>
                                    </m:rPr>
                                    <a:rPr lang="sr-Latn-RS" sz="2000" b="0" i="0" smtClean="0">
                                      <a:latin typeface="Cambria Math" panose="02040503050406030204" pitchFamily="18" charset="0"/>
                                    </a:rPr>
                                    <m:t>1</m:t>
                                  </m:r>
                                </m:e>
                                <m:e>
                                  <m:r>
                                    <m:rPr>
                                      <m:nor/>
                                    </m:rPr>
                                    <a:rPr lang="sr-Latn-RS" sz="2000" b="0" i="0" smtClean="0">
                                      <a:latin typeface="Cambria Math" panose="02040503050406030204" pitchFamily="18" charset="0"/>
                                    </a:rPr>
                                    <m:t>0</m:t>
                                  </m:r>
                                </m:e>
                              </m:mr>
                            </m:m>
                          </m:e>
                        </m:d>
                      </m:e>
                    </m:d>
                    <m:r>
                      <a:rPr lang="sr-Latn-RS" sz="2000" b="0" i="1" smtClean="0">
                        <a:latin typeface="Cambria Math" panose="02040503050406030204" pitchFamily="18" charset="0"/>
                      </a:rPr>
                      <m:t>=</m:t>
                    </m:r>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e>
                              <m:r>
                                <a:rPr lang="en-US" sz="2000" i="1">
                                  <a:latin typeface="Cambria Math" panose="02040503050406030204" pitchFamily="18" charset="0"/>
                                  <a:ea typeface="Cambria Math" panose="02040503050406030204" pitchFamily="18" charset="0"/>
                                </a:rPr>
                                <m:t>0</m:t>
                              </m:r>
                            </m:e>
                          </m:mr>
                        </m:m>
                      </m:e>
                    </m:d>
                  </m:oMath>
                </a14:m>
                <a:r>
                  <a:rPr lang="en-ZA" sz="2000" dirty="0">
                    <a:ea typeface="Cambria Math" panose="02040503050406030204" pitchFamily="18" charset="0"/>
                  </a:rPr>
                  <a:t> </a:t>
                </a:r>
                <a14:m>
                  <m:oMath xmlns:m="http://schemas.openxmlformats.org/officeDocument/2006/math">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m:rPr>
                                  <m:brk m:alnAt="7"/>
                                </m:rP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1</m:t>
                              </m:r>
                            </m:e>
                            <m:e>
                              <m:r>
                                <a:rPr lang="sr-Latn-RS" sz="2000" b="0" i="1" smtClean="0">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e>
                              <m:r>
                                <a:rPr lang="en-US" sz="2000" i="1">
                                  <a:latin typeface="Cambria Math" panose="02040503050406030204" pitchFamily="18" charset="0"/>
                                  <a:ea typeface="Cambria Math" panose="02040503050406030204" pitchFamily="18" charset="0"/>
                                </a:rPr>
                                <m:t>0</m:t>
                              </m:r>
                            </m:e>
                          </m:mr>
                        </m:m>
                      </m:e>
                    </m:d>
                    <m:r>
                      <a:rPr lang="sr-Latn-RS" sz="2000" b="0" i="1" smtClean="0">
                        <a:latin typeface="Cambria Math" panose="02040503050406030204" pitchFamily="18" charset="0"/>
                        <a:ea typeface="Cambria Math" panose="02040503050406030204" pitchFamily="18" charset="0"/>
                      </a:rPr>
                      <m:t>=</m:t>
                    </m:r>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m:rPr>
                                  <m:brk m:alnAt="7"/>
                                </m:rP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1</m:t>
                              </m:r>
                            </m:e>
                            <m:e>
                              <m:r>
                                <a:rPr lang="sr-Latn-RS" sz="2000" b="0" i="1" smtClean="0">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e>
                              <m:r>
                                <a:rPr lang="sr-Latn-RS" sz="2000" b="0" i="1" smtClean="0">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mr>
                        </m:m>
                      </m:e>
                    </m:d>
                  </m:oMath>
                </a14:m>
                <a:endParaRPr lang="en-US" sz="2000" dirty="0"/>
              </a:p>
            </p:txBody>
          </p:sp>
        </mc:Choice>
        <mc:Fallback xmlns="">
          <p:sp>
            <p:nvSpPr>
              <p:cNvPr id="22" name="Rectangle 21">
                <a:extLst>
                  <a:ext uri="{FF2B5EF4-FFF2-40B4-BE49-F238E27FC236}">
                    <a16:creationId xmlns:a16="http://schemas.microsoft.com/office/drawing/2014/main" id="{FB21F9AE-B1C9-0741-B4FE-824CA406148F}"/>
                  </a:ext>
                </a:extLst>
              </p:cNvPr>
              <p:cNvSpPr>
                <a:spLocks noRot="1" noChangeAspect="1" noMove="1" noResize="1" noEditPoints="1" noAdjustHandles="1" noChangeArrowheads="1" noChangeShapeType="1" noTextEdit="1"/>
              </p:cNvSpPr>
              <p:nvPr/>
            </p:nvSpPr>
            <p:spPr>
              <a:xfrm>
                <a:off x="388081" y="3707751"/>
                <a:ext cx="11696664" cy="124200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95C68F38-192D-C44B-9278-D3307457CCE8}"/>
                  </a:ext>
                </a:extLst>
              </p:cNvPr>
              <p:cNvSpPr/>
              <p:nvPr/>
            </p:nvSpPr>
            <p:spPr>
              <a:xfrm>
                <a:off x="388081" y="5285842"/>
                <a:ext cx="11525527" cy="1242007"/>
              </a:xfrm>
              <a:prstGeom prst="rect">
                <a:avLst/>
              </a:prstGeom>
            </p:spPr>
            <p:txBody>
              <a:bodyPr wrap="none">
                <a:spAutoFit/>
              </a:bodyPr>
              <a:lstStyle/>
              <a:p>
                <a14:m>
                  <m:oMath xmlns:m="http://schemas.openxmlformats.org/officeDocument/2006/math">
                    <m:d>
                      <m:dPr>
                        <m:ctrlPr>
                          <a:rPr lang="sr-Latn-RS" sz="2000" i="1" dirty="0" smtClean="0">
                            <a:latin typeface="Cambria Math" panose="02040503050406030204" pitchFamily="18" charset="0"/>
                            <a:ea typeface="Cambria Math" panose="02040503050406030204" pitchFamily="18" charset="0"/>
                          </a:rPr>
                        </m:ctrlPr>
                      </m:dPr>
                      <m:e>
                        <m:r>
                          <a:rPr lang="sr-Latn-RS" sz="2000" i="1" dirty="0">
                            <a:latin typeface="Cambria Math" panose="02040503050406030204" pitchFamily="18" charset="0"/>
                            <a:ea typeface="Cambria Math" panose="02040503050406030204" pitchFamily="18" charset="0"/>
                          </a:rPr>
                          <m:t>𝐼</m:t>
                        </m:r>
                        <m:r>
                          <a:rPr lang="en-US" sz="2000" i="1" dirty="0">
                            <a:latin typeface="Cambria Math" panose="02040503050406030204" pitchFamily="18" charset="0"/>
                            <a:ea typeface="Cambria Math" panose="02040503050406030204" pitchFamily="18" charset="0"/>
                          </a:rPr>
                          <m:t>⊗</m:t>
                        </m:r>
                        <m:r>
                          <a:rPr lang="sr-Latn-RS" sz="2000" i="1" dirty="0">
                            <a:latin typeface="Cambria Math" panose="02040503050406030204" pitchFamily="18" charset="0"/>
                            <a:ea typeface="Cambria Math" panose="02040503050406030204" pitchFamily="18" charset="0"/>
                          </a:rPr>
                          <m:t>𝑋</m:t>
                        </m:r>
                      </m:e>
                    </m:d>
                    <m:r>
                      <a:rPr lang="sr-Latn-RS" sz="2000" i="1" dirty="0">
                        <a:latin typeface="Cambria Math" panose="02040503050406030204" pitchFamily="18" charset="0"/>
                        <a:ea typeface="Cambria Math" panose="02040503050406030204" pitchFamily="18" charset="0"/>
                      </a:rPr>
                      <m:t>𝑐𝑋</m:t>
                    </m:r>
                    <m:r>
                      <a:rPr lang="sr-Latn-RS" sz="2000" b="0" i="1" dirty="0" smtClean="0">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rPr>
                        </m:ctrlPr>
                      </m:dPr>
                      <m:e>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m:rPr>
                                      <m:nor/>
                                    </m:rPr>
                                    <a:rPr lang="en-US" sz="2000">
                                      <a:latin typeface="Cambria Math" panose="02040503050406030204" pitchFamily="18" charset="0"/>
                                    </a:rPr>
                                    <m:t>1</m:t>
                                  </m:r>
                                </m:e>
                                <m:e>
                                  <m:r>
                                    <m:rPr>
                                      <m:nor/>
                                    </m:rPr>
                                    <a:rPr lang="sr-Latn-RS" sz="2000" b="0" i="0" smtClean="0">
                                      <a:latin typeface="Cambria Math" panose="02040503050406030204" pitchFamily="18" charset="0"/>
                                    </a:rPr>
                                    <m:t>0</m:t>
                                  </m:r>
                                </m:e>
                              </m:mr>
                              <m:mr>
                                <m:e>
                                  <m:r>
                                    <m:rPr>
                                      <m:nor/>
                                    </m:rPr>
                                    <a:rPr lang="sr-Latn-RS" sz="2000" b="0" i="0" smtClean="0">
                                      <a:latin typeface="Cambria Math" panose="02040503050406030204" pitchFamily="18" charset="0"/>
                                    </a:rPr>
                                    <m:t>0</m:t>
                                  </m:r>
                                </m:e>
                                <m:e>
                                  <m:r>
                                    <m:rPr>
                                      <m:nor/>
                                    </m:rPr>
                                    <a:rPr lang="en-US" sz="2000">
                                      <a:latin typeface="Cambria Math" panose="02040503050406030204" pitchFamily="18" charset="0"/>
                                    </a:rPr>
                                    <m:t>1</m:t>
                                  </m:r>
                                </m:e>
                              </m:mr>
                            </m:m>
                          </m:e>
                        </m:d>
                        <m:r>
                          <a:rPr lang="en-US" sz="2000" dirty="0">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m:rPr>
                                      <m:nor/>
                                    </m:rPr>
                                    <a:rPr lang="sr-Latn-RS" sz="2000" b="0" i="0" smtClean="0">
                                      <a:latin typeface="Cambria Math" panose="02040503050406030204" pitchFamily="18" charset="0"/>
                                    </a:rPr>
                                    <m:t>0</m:t>
                                  </m:r>
                                </m:e>
                                <m:e>
                                  <m:r>
                                    <m:rPr>
                                      <m:nor/>
                                    </m:rPr>
                                    <a:rPr lang="sr-Latn-RS" sz="2000" b="0" i="0" smtClean="0">
                                      <a:latin typeface="Cambria Math" panose="02040503050406030204" pitchFamily="18" charset="0"/>
                                    </a:rPr>
                                    <m:t>1</m:t>
                                  </m:r>
                                </m:e>
                              </m:mr>
                              <m:mr>
                                <m:e>
                                  <m:r>
                                    <m:rPr>
                                      <m:nor/>
                                    </m:rPr>
                                    <a:rPr lang="sr-Latn-RS" sz="2000" b="0" i="0" smtClean="0">
                                      <a:latin typeface="Cambria Math" panose="02040503050406030204" pitchFamily="18" charset="0"/>
                                    </a:rPr>
                                    <m:t>1</m:t>
                                  </m:r>
                                </m:e>
                                <m:e>
                                  <m:r>
                                    <m:rPr>
                                      <m:nor/>
                                    </m:rPr>
                                    <a:rPr lang="sr-Latn-RS" sz="2000" b="0" i="0" smtClean="0">
                                      <a:latin typeface="Cambria Math" panose="02040503050406030204" pitchFamily="18" charset="0"/>
                                    </a:rPr>
                                    <m:t>0</m:t>
                                  </m:r>
                                </m:e>
                              </m:mr>
                            </m:m>
                          </m:e>
                        </m:d>
                      </m:e>
                    </m:d>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e>
                              <m:r>
                                <a:rPr lang="en-US" sz="2000" i="1">
                                  <a:latin typeface="Cambria Math" panose="02040503050406030204" pitchFamily="18" charset="0"/>
                                  <a:ea typeface="Cambria Math" panose="02040503050406030204" pitchFamily="18" charset="0"/>
                                </a:rPr>
                                <m:t>0</m:t>
                              </m:r>
                            </m:e>
                          </m:mr>
                        </m:m>
                      </m:e>
                    </m:d>
                    <m:r>
                      <a:rPr lang="sr-Latn-RS" sz="2000" b="0" i="1" smtClean="0">
                        <a:latin typeface="Cambria Math" panose="02040503050406030204" pitchFamily="18" charset="0"/>
                      </a:rPr>
                      <m:t>=</m:t>
                    </m:r>
                  </m:oMath>
                </a14:m>
                <a:r>
                  <a:rPr lang="en-ZA" sz="2000" dirty="0">
                    <a:ea typeface="Cambria Math" panose="02040503050406030204" pitchFamily="18" charset="0"/>
                  </a:rPr>
                  <a:t> </a:t>
                </a:r>
                <a14:m>
                  <m:oMath xmlns:m="http://schemas.openxmlformats.org/officeDocument/2006/math">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m:rPr>
                                  <m:brk m:alnAt="7"/>
                                </m:rP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1</m:t>
                              </m:r>
                            </m:e>
                            <m:e>
                              <m:r>
                                <a:rPr lang="sr-Latn-RS" sz="2000" b="0" i="1" smtClean="0">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e>
                              <m:r>
                                <a:rPr lang="en-US" sz="2000" i="1">
                                  <a:latin typeface="Cambria Math" panose="02040503050406030204" pitchFamily="18" charset="0"/>
                                  <a:ea typeface="Cambria Math" panose="02040503050406030204" pitchFamily="18" charset="0"/>
                                </a:rPr>
                                <m:t>0</m:t>
                              </m:r>
                            </m:e>
                          </m:mr>
                        </m:m>
                      </m:e>
                    </m:d>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e>
                              <m:r>
                                <a:rPr lang="en-US" sz="2000" i="1">
                                  <a:latin typeface="Cambria Math" panose="02040503050406030204" pitchFamily="18" charset="0"/>
                                  <a:ea typeface="Cambria Math" panose="02040503050406030204" pitchFamily="18" charset="0"/>
                                </a:rPr>
                                <m:t>0</m:t>
                              </m:r>
                            </m:e>
                          </m:mr>
                        </m:m>
                      </m:e>
                    </m:d>
                    <m:r>
                      <a:rPr lang="sr-Latn-RS" sz="2000" b="0" i="1" smtClean="0">
                        <a:latin typeface="Cambria Math" panose="02040503050406030204" pitchFamily="18" charset="0"/>
                        <a:ea typeface="Cambria Math" panose="02040503050406030204" pitchFamily="18" charset="0"/>
                      </a:rPr>
                      <m:t>=</m:t>
                    </m:r>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m:rPr>
                                  <m:brk m:alnAt="7"/>
                                </m:rP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1</m:t>
                              </m:r>
                            </m:e>
                            <m:e>
                              <m:r>
                                <a:rPr lang="sr-Latn-RS" sz="2000" b="0" i="1" smtClean="0">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e>
                              <m:r>
                                <a:rPr lang="sr-Latn-RS" sz="2000" b="0" i="1" smtClean="0">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mr>
                        </m:m>
                      </m:e>
                    </m:d>
                  </m:oMath>
                </a14:m>
                <a:endParaRPr lang="en-US" sz="2000" dirty="0"/>
              </a:p>
            </p:txBody>
          </p:sp>
        </mc:Choice>
        <mc:Fallback xmlns="">
          <p:sp>
            <p:nvSpPr>
              <p:cNvPr id="23" name="Rectangle 22">
                <a:extLst>
                  <a:ext uri="{FF2B5EF4-FFF2-40B4-BE49-F238E27FC236}">
                    <a16:creationId xmlns:a16="http://schemas.microsoft.com/office/drawing/2014/main" id="{95C68F38-192D-C44B-9278-D3307457CCE8}"/>
                  </a:ext>
                </a:extLst>
              </p:cNvPr>
              <p:cNvSpPr>
                <a:spLocks noRot="1" noChangeAspect="1" noMove="1" noResize="1" noEditPoints="1" noAdjustHandles="1" noChangeArrowheads="1" noChangeShapeType="1" noTextEdit="1"/>
              </p:cNvSpPr>
              <p:nvPr/>
            </p:nvSpPr>
            <p:spPr>
              <a:xfrm>
                <a:off x="388081" y="5285842"/>
                <a:ext cx="11525527" cy="1242007"/>
              </a:xfrm>
              <a:prstGeom prst="rect">
                <a:avLst/>
              </a:prstGeom>
              <a:blipFill>
                <a:blip r:embed="rId6"/>
                <a:stretch>
                  <a:fillRect b="-1010"/>
                </a:stretch>
              </a:blipFill>
            </p:spPr>
            <p:txBody>
              <a:bodyPr/>
              <a:lstStyle/>
              <a:p>
                <a:r>
                  <a:rPr lang="en-US">
                    <a:noFill/>
                  </a:rPr>
                  <a:t> </a:t>
                </a:r>
              </a:p>
            </p:txBody>
          </p:sp>
        </mc:Fallback>
      </mc:AlternateContent>
    </p:spTree>
    <p:extLst>
      <p:ext uri="{BB962C8B-B14F-4D97-AF65-F5344CB8AC3E}">
        <p14:creationId xmlns:p14="http://schemas.microsoft.com/office/powerpoint/2010/main" val="3588872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2BC60-0E7E-B94B-94E7-0F423213FB4A}"/>
              </a:ext>
            </a:extLst>
          </p:cNvPr>
          <p:cNvSpPr>
            <a:spLocks noGrp="1"/>
          </p:cNvSpPr>
          <p:nvPr>
            <p:ph type="title"/>
          </p:nvPr>
        </p:nvSpPr>
        <p:spPr/>
        <p:txBody>
          <a:bodyPr/>
          <a:lstStyle/>
          <a:p>
            <a:r>
              <a:rPr lang="en-ZA" dirty="0"/>
              <a:t>Commutativity of Rx</a:t>
            </a:r>
            <a:r>
              <a:rPr lang="el-GR" dirty="0"/>
              <a:t> </a:t>
            </a:r>
            <a:r>
              <a:rPr lang="en-ZA" dirty="0"/>
              <a:t>and CNOT Gates</a:t>
            </a:r>
            <a:endParaRPr lang="en-US" dirty="0"/>
          </a:p>
        </p:txBody>
      </p:sp>
      <p:sp>
        <p:nvSpPr>
          <p:cNvPr id="3" name="Slide Number Placeholder 2">
            <a:extLst>
              <a:ext uri="{FF2B5EF4-FFF2-40B4-BE49-F238E27FC236}">
                <a16:creationId xmlns:a16="http://schemas.microsoft.com/office/drawing/2014/main" id="{AD247319-591A-2240-88B3-54D7E3854941}"/>
              </a:ext>
            </a:extLst>
          </p:cNvPr>
          <p:cNvSpPr>
            <a:spLocks noGrp="1"/>
          </p:cNvSpPr>
          <p:nvPr>
            <p:ph type="sldNum" sz="quarter" idx="12"/>
          </p:nvPr>
        </p:nvSpPr>
        <p:spPr/>
        <p:txBody>
          <a:bodyPr/>
          <a:lstStyle/>
          <a:p>
            <a:fld id="{591A223C-FA10-BC46-A853-03BA373D023C}" type="slidenum">
              <a:rPr lang="en-US" smtClean="0"/>
              <a:t>12</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DEC24AF4-86F6-524C-8BE2-38329BEE4536}"/>
                  </a:ext>
                </a:extLst>
              </p:cNvPr>
              <p:cNvSpPr/>
              <p:nvPr/>
            </p:nvSpPr>
            <p:spPr>
              <a:xfrm>
                <a:off x="5374768" y="1525191"/>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4" name="Rectangle 3">
                <a:extLst>
                  <a:ext uri="{FF2B5EF4-FFF2-40B4-BE49-F238E27FC236}">
                    <a16:creationId xmlns:a16="http://schemas.microsoft.com/office/drawing/2014/main" id="{DEC24AF4-86F6-524C-8BE2-38329BEE4536}"/>
                  </a:ext>
                </a:extLst>
              </p:cNvPr>
              <p:cNvSpPr>
                <a:spLocks noRot="1" noChangeAspect="1" noMove="1" noResize="1" noEditPoints="1" noAdjustHandles="1" noChangeArrowheads="1" noChangeShapeType="1" noTextEdit="1"/>
              </p:cNvSpPr>
              <p:nvPr/>
            </p:nvSpPr>
            <p:spPr>
              <a:xfrm>
                <a:off x="5374768" y="1525191"/>
                <a:ext cx="633507" cy="646331"/>
              </a:xfrm>
              <a:prstGeom prst="rect">
                <a:avLst/>
              </a:prstGeom>
              <a:blipFill>
                <a:blip r:embed="rId3"/>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A0E94CFA-9C64-4747-A0BB-BCA8DDD09D21}"/>
              </a:ext>
            </a:extLst>
          </p:cNvPr>
          <p:cNvCxnSpPr>
            <a:cxnSpLocks/>
          </p:cNvCxnSpPr>
          <p:nvPr/>
        </p:nvCxnSpPr>
        <p:spPr>
          <a:xfrm>
            <a:off x="2363509" y="2339887"/>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B0CA22B-11FA-4A42-86DF-2484AA73931C}"/>
              </a:ext>
            </a:extLst>
          </p:cNvPr>
          <p:cNvCxnSpPr>
            <a:cxnSpLocks/>
          </p:cNvCxnSpPr>
          <p:nvPr/>
        </p:nvCxnSpPr>
        <p:spPr>
          <a:xfrm>
            <a:off x="2247104" y="1379799"/>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9D07F7B1-EE6E-7547-A2A8-B09A0FC6C1CB}"/>
              </a:ext>
            </a:extLst>
          </p:cNvPr>
          <p:cNvSpPr/>
          <p:nvPr/>
        </p:nvSpPr>
        <p:spPr>
          <a:xfrm rot="10800000" flipV="1">
            <a:off x="3661674" y="1951291"/>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8" name="Oval 7">
            <a:extLst>
              <a:ext uri="{FF2B5EF4-FFF2-40B4-BE49-F238E27FC236}">
                <a16:creationId xmlns:a16="http://schemas.microsoft.com/office/drawing/2014/main" id="{6EAD4E8B-CDF8-DC4C-BBCF-CEDAACE1652C}"/>
              </a:ext>
            </a:extLst>
          </p:cNvPr>
          <p:cNvSpPr/>
          <p:nvPr/>
        </p:nvSpPr>
        <p:spPr>
          <a:xfrm rot="10800000" flipV="1">
            <a:off x="3889634" y="1249055"/>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9" name="Straight Connector 8">
            <a:extLst>
              <a:ext uri="{FF2B5EF4-FFF2-40B4-BE49-F238E27FC236}">
                <a16:creationId xmlns:a16="http://schemas.microsoft.com/office/drawing/2014/main" id="{E6FBFD33-0CC2-6E48-9D2B-94AD8CD69610}"/>
              </a:ext>
            </a:extLst>
          </p:cNvPr>
          <p:cNvCxnSpPr>
            <a:cxnSpLocks/>
            <a:stCxn id="8" idx="4"/>
            <a:endCxn id="7" idx="0"/>
          </p:cNvCxnSpPr>
          <p:nvPr/>
        </p:nvCxnSpPr>
        <p:spPr>
          <a:xfrm flipH="1">
            <a:off x="4021674" y="1519055"/>
            <a:ext cx="2960" cy="4322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707577D-43D5-7F4B-9568-6867A792FEDB}"/>
              </a:ext>
            </a:extLst>
          </p:cNvPr>
          <p:cNvCxnSpPr>
            <a:cxnSpLocks/>
          </p:cNvCxnSpPr>
          <p:nvPr/>
        </p:nvCxnSpPr>
        <p:spPr>
          <a:xfrm>
            <a:off x="6660567" y="2339887"/>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2BB1BB7-48CD-474B-AC9C-FD23D1664DA2}"/>
              </a:ext>
            </a:extLst>
          </p:cNvPr>
          <p:cNvCxnSpPr>
            <a:cxnSpLocks/>
          </p:cNvCxnSpPr>
          <p:nvPr/>
        </p:nvCxnSpPr>
        <p:spPr>
          <a:xfrm>
            <a:off x="6544162" y="1379799"/>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DF73A074-1ADA-7441-9E34-27BE0B062542}"/>
              </a:ext>
            </a:extLst>
          </p:cNvPr>
          <p:cNvSpPr/>
          <p:nvPr/>
        </p:nvSpPr>
        <p:spPr>
          <a:xfrm rot="10800000" flipV="1">
            <a:off x="7001370" y="1951291"/>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4" name="Oval 13">
            <a:extLst>
              <a:ext uri="{FF2B5EF4-FFF2-40B4-BE49-F238E27FC236}">
                <a16:creationId xmlns:a16="http://schemas.microsoft.com/office/drawing/2014/main" id="{9496225D-00CE-B048-9B00-71D733F561B1}"/>
              </a:ext>
            </a:extLst>
          </p:cNvPr>
          <p:cNvSpPr/>
          <p:nvPr/>
        </p:nvSpPr>
        <p:spPr>
          <a:xfrm rot="10800000" flipV="1">
            <a:off x="7229330" y="1249055"/>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5" name="Straight Connector 14">
            <a:extLst>
              <a:ext uri="{FF2B5EF4-FFF2-40B4-BE49-F238E27FC236}">
                <a16:creationId xmlns:a16="http://schemas.microsoft.com/office/drawing/2014/main" id="{A8D80527-24D6-A345-B438-8C84EB2D4677}"/>
              </a:ext>
            </a:extLst>
          </p:cNvPr>
          <p:cNvCxnSpPr>
            <a:cxnSpLocks/>
            <a:stCxn id="14" idx="4"/>
            <a:endCxn id="13" idx="0"/>
          </p:cNvCxnSpPr>
          <p:nvPr/>
        </p:nvCxnSpPr>
        <p:spPr>
          <a:xfrm flipH="1">
            <a:off x="7361370" y="1519055"/>
            <a:ext cx="2960" cy="4322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EFD426D3-FCE8-C843-8EB2-1AD6C752F2F6}"/>
              </a:ext>
            </a:extLst>
          </p:cNvPr>
          <p:cNvPicPr>
            <a:picLocks noChangeAspect="1"/>
          </p:cNvPicPr>
          <p:nvPr/>
        </p:nvPicPr>
        <p:blipFill>
          <a:blip r:embed="rId4"/>
          <a:stretch>
            <a:fillRect/>
          </a:stretch>
        </p:blipFill>
        <p:spPr>
          <a:xfrm>
            <a:off x="2557436" y="1979887"/>
            <a:ext cx="701538" cy="720000"/>
          </a:xfrm>
          <a:prstGeom prst="rect">
            <a:avLst/>
          </a:prstGeom>
        </p:spPr>
      </p:pic>
      <p:pic>
        <p:nvPicPr>
          <p:cNvPr id="18" name="Picture 17">
            <a:extLst>
              <a:ext uri="{FF2B5EF4-FFF2-40B4-BE49-F238E27FC236}">
                <a16:creationId xmlns:a16="http://schemas.microsoft.com/office/drawing/2014/main" id="{78E8A2C7-B44A-6A42-8842-8113627FBDB5}"/>
              </a:ext>
            </a:extLst>
          </p:cNvPr>
          <p:cNvPicPr>
            <a:picLocks noChangeAspect="1"/>
          </p:cNvPicPr>
          <p:nvPr/>
        </p:nvPicPr>
        <p:blipFill>
          <a:blip r:embed="rId4"/>
          <a:stretch>
            <a:fillRect/>
          </a:stretch>
        </p:blipFill>
        <p:spPr>
          <a:xfrm>
            <a:off x="8206891" y="1979887"/>
            <a:ext cx="701538" cy="720000"/>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B8B6494-EB8C-9446-92BD-83ACAABA9406}"/>
                  </a:ext>
                </a:extLst>
              </p:cNvPr>
              <p:cNvSpPr txBox="1"/>
              <p:nvPr/>
            </p:nvSpPr>
            <p:spPr>
              <a:xfrm>
                <a:off x="3623509" y="2975182"/>
                <a:ext cx="5012847"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3200" i="1" dirty="0" smtClean="0">
                          <a:latin typeface="Cambria Math" panose="02040503050406030204" pitchFamily="18" charset="0"/>
                          <a:ea typeface="Cambria Math" panose="02040503050406030204" pitchFamily="18" charset="0"/>
                        </a:rPr>
                        <m:t>𝑐𝑋</m:t>
                      </m:r>
                      <m:d>
                        <m:dPr>
                          <m:ctrlPr>
                            <a:rPr lang="sr-Latn-RS" sz="3200" b="0" i="1" dirty="0" smtClean="0">
                              <a:latin typeface="Cambria Math" panose="02040503050406030204" pitchFamily="18" charset="0"/>
                              <a:ea typeface="Cambria Math" panose="02040503050406030204" pitchFamily="18" charset="0"/>
                            </a:rPr>
                          </m:ctrlPr>
                        </m:dPr>
                        <m:e>
                          <m:r>
                            <a:rPr lang="sr-Latn-RS" sz="3200" b="0" i="1" dirty="0" smtClean="0">
                              <a:latin typeface="Cambria Math" panose="02040503050406030204" pitchFamily="18" charset="0"/>
                              <a:ea typeface="Cambria Math" panose="02040503050406030204" pitchFamily="18" charset="0"/>
                            </a:rPr>
                            <m:t>𝐼</m:t>
                          </m:r>
                          <m:r>
                            <a:rPr lang="en-US" sz="3200" i="1" dirty="0">
                              <a:latin typeface="Cambria Math" panose="02040503050406030204" pitchFamily="18" charset="0"/>
                              <a:ea typeface="Cambria Math" panose="02040503050406030204" pitchFamily="18" charset="0"/>
                            </a:rPr>
                            <m:t>⊗</m:t>
                          </m:r>
                          <m:r>
                            <a:rPr lang="sr-Latn-RS" sz="3200" b="0" i="1" dirty="0" smtClean="0">
                              <a:latin typeface="Cambria Math" panose="02040503050406030204" pitchFamily="18" charset="0"/>
                              <a:ea typeface="Cambria Math" panose="02040503050406030204" pitchFamily="18" charset="0"/>
                            </a:rPr>
                            <m:t>𝑅𝑥</m:t>
                          </m:r>
                        </m:e>
                      </m:d>
                      <m:r>
                        <a:rPr lang="sr-Latn-RS" sz="3200" b="0" i="1" dirty="0" smtClean="0">
                          <a:latin typeface="Cambria Math" panose="02040503050406030204" pitchFamily="18" charset="0"/>
                          <a:ea typeface="Cambria Math" panose="02040503050406030204" pitchFamily="18" charset="0"/>
                        </a:rPr>
                        <m:t> =</m:t>
                      </m:r>
                      <m:d>
                        <m:dPr>
                          <m:ctrlPr>
                            <a:rPr lang="sr-Latn-RS" sz="3200" i="1" dirty="0">
                              <a:latin typeface="Cambria Math" panose="02040503050406030204" pitchFamily="18" charset="0"/>
                              <a:ea typeface="Cambria Math" panose="02040503050406030204" pitchFamily="18" charset="0"/>
                            </a:rPr>
                          </m:ctrlPr>
                        </m:dPr>
                        <m:e>
                          <m:r>
                            <a:rPr lang="sr-Latn-RS" sz="3200" b="0" i="1" dirty="0" smtClean="0">
                              <a:latin typeface="Cambria Math" panose="02040503050406030204" pitchFamily="18" charset="0"/>
                              <a:ea typeface="Cambria Math" panose="02040503050406030204" pitchFamily="18" charset="0"/>
                            </a:rPr>
                            <m:t>𝐼</m:t>
                          </m:r>
                          <m:r>
                            <a:rPr lang="en-US" sz="3200" i="1" dirty="0">
                              <a:latin typeface="Cambria Math" panose="02040503050406030204" pitchFamily="18" charset="0"/>
                              <a:ea typeface="Cambria Math" panose="02040503050406030204" pitchFamily="18" charset="0"/>
                            </a:rPr>
                            <m:t>⊗</m:t>
                          </m:r>
                          <m:r>
                            <a:rPr lang="sr-Latn-RS" sz="3200" b="0" i="1" dirty="0" smtClean="0">
                              <a:latin typeface="Cambria Math" panose="02040503050406030204" pitchFamily="18" charset="0"/>
                              <a:ea typeface="Cambria Math" panose="02040503050406030204" pitchFamily="18" charset="0"/>
                            </a:rPr>
                            <m:t>𝑅𝑥</m:t>
                          </m:r>
                        </m:e>
                      </m:d>
                      <m:r>
                        <a:rPr lang="sr-Latn-RS" sz="3200" i="1" dirty="0">
                          <a:latin typeface="Cambria Math" panose="02040503050406030204" pitchFamily="18" charset="0"/>
                          <a:ea typeface="Cambria Math" panose="02040503050406030204" pitchFamily="18" charset="0"/>
                        </a:rPr>
                        <m:t>𝑐𝑋</m:t>
                      </m:r>
                    </m:oMath>
                  </m:oMathPara>
                </a14:m>
                <a:endParaRPr lang="en-US" sz="3200" i="1" dirty="0"/>
              </a:p>
            </p:txBody>
          </p:sp>
        </mc:Choice>
        <mc:Fallback xmlns="">
          <p:sp>
            <p:nvSpPr>
              <p:cNvPr id="19" name="TextBox 18">
                <a:extLst>
                  <a:ext uri="{FF2B5EF4-FFF2-40B4-BE49-F238E27FC236}">
                    <a16:creationId xmlns:a16="http://schemas.microsoft.com/office/drawing/2014/main" id="{AB8B6494-EB8C-9446-92BD-83ACAABA9406}"/>
                  </a:ext>
                </a:extLst>
              </p:cNvPr>
              <p:cNvSpPr txBox="1">
                <a:spLocks noRot="1" noChangeAspect="1" noMove="1" noResize="1" noEditPoints="1" noAdjustHandles="1" noChangeArrowheads="1" noChangeShapeType="1" noTextEdit="1"/>
              </p:cNvSpPr>
              <p:nvPr/>
            </p:nvSpPr>
            <p:spPr>
              <a:xfrm>
                <a:off x="3623509" y="2975182"/>
                <a:ext cx="5012847" cy="584775"/>
              </a:xfrm>
              <a:prstGeom prst="rect">
                <a:avLst/>
              </a:prstGeom>
              <a:blipFill>
                <a:blip r:embed="rId5"/>
                <a:stretch>
                  <a:fillRect b="-234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5EF24164-0EF5-9B49-B481-0663BCE8CD70}"/>
                  </a:ext>
                </a:extLst>
              </p:cNvPr>
              <p:cNvSpPr/>
              <p:nvPr/>
            </p:nvSpPr>
            <p:spPr>
              <a:xfrm>
                <a:off x="71327" y="3935270"/>
                <a:ext cx="11839075" cy="1242007"/>
              </a:xfrm>
              <a:prstGeom prst="rect">
                <a:avLst/>
              </a:prstGeom>
            </p:spPr>
            <p:txBody>
              <a:bodyPr wrap="none">
                <a:spAutoFit/>
              </a:bodyPr>
              <a:lstStyle/>
              <a:p>
                <a14:m>
                  <m:oMath xmlns:m="http://schemas.openxmlformats.org/officeDocument/2006/math">
                    <m:r>
                      <a:rPr lang="sr-Latn-RS" sz="2000" i="1" dirty="0" smtClean="0">
                        <a:latin typeface="Cambria Math" panose="02040503050406030204" pitchFamily="18" charset="0"/>
                        <a:ea typeface="Cambria Math" panose="02040503050406030204" pitchFamily="18" charset="0"/>
                      </a:rPr>
                      <m:t>𝑐𝑋</m:t>
                    </m:r>
                    <m:d>
                      <m:dPr>
                        <m:ctrlPr>
                          <a:rPr lang="sr-Latn-RS" sz="2000" i="1" dirty="0">
                            <a:latin typeface="Cambria Math" panose="02040503050406030204" pitchFamily="18" charset="0"/>
                            <a:ea typeface="Cambria Math" panose="02040503050406030204" pitchFamily="18" charset="0"/>
                          </a:rPr>
                        </m:ctrlPr>
                      </m:dPr>
                      <m:e>
                        <m:r>
                          <a:rPr lang="sr-Latn-RS" sz="2000" i="1" dirty="0">
                            <a:latin typeface="Cambria Math" panose="02040503050406030204" pitchFamily="18" charset="0"/>
                            <a:ea typeface="Cambria Math" panose="02040503050406030204" pitchFamily="18" charset="0"/>
                          </a:rPr>
                          <m:t>𝐼</m:t>
                        </m:r>
                        <m:r>
                          <a:rPr lang="en-US" sz="2000" i="1" dirty="0">
                            <a:latin typeface="Cambria Math" panose="02040503050406030204" pitchFamily="18" charset="0"/>
                            <a:ea typeface="Cambria Math" panose="02040503050406030204" pitchFamily="18" charset="0"/>
                          </a:rPr>
                          <m:t>⊗</m:t>
                        </m:r>
                        <m:r>
                          <a:rPr lang="sr-Latn-RS" sz="2000" b="0" i="1" dirty="0" smtClean="0">
                            <a:latin typeface="Cambria Math" panose="02040503050406030204" pitchFamily="18" charset="0"/>
                            <a:ea typeface="Cambria Math" panose="02040503050406030204" pitchFamily="18" charset="0"/>
                          </a:rPr>
                          <m:t>𝑅𝑥</m:t>
                        </m:r>
                      </m:e>
                    </m:d>
                    <m:r>
                      <a:rPr lang="sr-Latn-RS" sz="2000" b="0" i="1" dirty="0" smtClean="0">
                        <a:latin typeface="Cambria Math" panose="02040503050406030204" pitchFamily="18" charset="0"/>
                        <a:ea typeface="Cambria Math" panose="02040503050406030204" pitchFamily="18" charset="0"/>
                      </a:rPr>
                      <m:t>=</m:t>
                    </m:r>
                    <m:d>
                      <m:dPr>
                        <m:ctrlPr>
                          <a:rPr lang="en-ZA" sz="2000" i="1" smtClean="0">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e>
                              <m:r>
                                <a:rPr lang="en-US" sz="2000" i="1">
                                  <a:latin typeface="Cambria Math" panose="02040503050406030204" pitchFamily="18" charset="0"/>
                                  <a:ea typeface="Cambria Math" panose="02040503050406030204" pitchFamily="18" charset="0"/>
                                </a:rPr>
                                <m:t>0</m:t>
                              </m:r>
                            </m:e>
                          </m:mr>
                        </m:m>
                      </m:e>
                    </m:d>
                    <m:d>
                      <m:dPr>
                        <m:ctrlPr>
                          <a:rPr lang="en-US" sz="2000" i="1">
                            <a:latin typeface="Cambria Math" panose="02040503050406030204" pitchFamily="18" charset="0"/>
                          </a:rPr>
                        </m:ctrlPr>
                      </m:dPr>
                      <m:e>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m:rPr>
                                      <m:nor/>
                                    </m:rPr>
                                    <a:rPr lang="en-US" sz="2000">
                                      <a:latin typeface="Cambria Math" panose="02040503050406030204" pitchFamily="18" charset="0"/>
                                    </a:rPr>
                                    <m:t>1</m:t>
                                  </m:r>
                                </m:e>
                                <m:e>
                                  <m:r>
                                    <m:rPr>
                                      <m:nor/>
                                    </m:rPr>
                                    <a:rPr lang="sr-Latn-RS" sz="2000" b="0" i="0" smtClean="0">
                                      <a:latin typeface="Cambria Math" panose="02040503050406030204" pitchFamily="18" charset="0"/>
                                    </a:rPr>
                                    <m:t>0</m:t>
                                  </m:r>
                                </m:e>
                              </m:mr>
                              <m:mr>
                                <m:e>
                                  <m:r>
                                    <m:rPr>
                                      <m:nor/>
                                    </m:rPr>
                                    <a:rPr lang="sr-Latn-RS" sz="2000" b="0" i="0" smtClean="0">
                                      <a:latin typeface="Cambria Math" panose="02040503050406030204" pitchFamily="18" charset="0"/>
                                    </a:rPr>
                                    <m:t>0</m:t>
                                  </m:r>
                                </m:e>
                                <m:e>
                                  <m:r>
                                    <m:rPr>
                                      <m:nor/>
                                    </m:rPr>
                                    <a:rPr lang="en-US" sz="2000">
                                      <a:latin typeface="Cambria Math" panose="02040503050406030204" pitchFamily="18" charset="0"/>
                                    </a:rPr>
                                    <m:t>1</m:t>
                                  </m:r>
                                </m:e>
                              </m:mr>
                            </m:m>
                          </m:e>
                        </m:d>
                        <m:r>
                          <a:rPr lang="en-US" sz="2000" dirty="0">
                            <a:latin typeface="Cambria Math" panose="02040503050406030204" pitchFamily="18" charset="0"/>
                            <a:ea typeface="Cambria Math" panose="02040503050406030204" pitchFamily="18" charset="0"/>
                          </a:rPr>
                          <m:t>⊗</m:t>
                        </m:r>
                        <m:d>
                          <m:dPr>
                            <m:ctrlPr>
                              <a:rPr lang="en-US" sz="2000" i="1" smtClean="0">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a:rPr lang="sr-Latn-RS" sz="2000" b="0" i="1" smtClean="0">
                                      <a:latin typeface="Cambria Math" panose="02040503050406030204" pitchFamily="18" charset="0"/>
                                    </a:rPr>
                                    <m:t>𝑎</m:t>
                                  </m:r>
                                </m:e>
                                <m:e>
                                  <m:r>
                                    <m:rPr>
                                      <m:nor/>
                                    </m:rPr>
                                    <a:rPr lang="sr-Latn-RS" sz="2000" b="0" i="0" smtClean="0">
                                      <a:latin typeface="Cambria Math" panose="02040503050406030204" pitchFamily="18" charset="0"/>
                                    </a:rPr>
                                    <m:t>b</m:t>
                                  </m:r>
                                </m:e>
                              </m:mr>
                              <m:mr>
                                <m:e>
                                  <m:r>
                                    <m:rPr>
                                      <m:nor/>
                                    </m:rPr>
                                    <a:rPr lang="sr-Latn-RS" sz="2000" b="0" i="0" smtClean="0">
                                      <a:latin typeface="Cambria Math" panose="02040503050406030204" pitchFamily="18" charset="0"/>
                                    </a:rPr>
                                    <m:t>b</m:t>
                                  </m:r>
                                </m:e>
                                <m:e>
                                  <m:r>
                                    <m:rPr>
                                      <m:nor/>
                                    </m:rPr>
                                    <a:rPr lang="sr-Latn-RS" sz="2000" b="0" i="0" smtClean="0">
                                      <a:latin typeface="Cambria Math" panose="02040503050406030204" pitchFamily="18" charset="0"/>
                                    </a:rPr>
                                    <m:t>a</m:t>
                                  </m:r>
                                </m:e>
                              </m:mr>
                            </m:m>
                          </m:e>
                        </m:d>
                      </m:e>
                    </m:d>
                    <m:r>
                      <a:rPr lang="sr-Latn-RS" sz="2000" b="0" i="1" smtClean="0">
                        <a:latin typeface="Cambria Math" panose="02040503050406030204" pitchFamily="18" charset="0"/>
                      </a:rPr>
                      <m:t>=</m:t>
                    </m:r>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e>
                              <m:r>
                                <a:rPr lang="en-US" sz="2000" i="1">
                                  <a:latin typeface="Cambria Math" panose="02040503050406030204" pitchFamily="18" charset="0"/>
                                  <a:ea typeface="Cambria Math" panose="02040503050406030204" pitchFamily="18" charset="0"/>
                                </a:rPr>
                                <m:t>0</m:t>
                              </m:r>
                            </m:e>
                          </m:mr>
                        </m:m>
                      </m:e>
                    </m:d>
                  </m:oMath>
                </a14:m>
                <a:r>
                  <a:rPr lang="en-ZA" sz="2000" dirty="0">
                    <a:ea typeface="Cambria Math" panose="02040503050406030204" pitchFamily="18" charset="0"/>
                  </a:rPr>
                  <a:t> </a:t>
                </a:r>
                <a14:m>
                  <m:oMath xmlns:m="http://schemas.openxmlformats.org/officeDocument/2006/math">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m:rPr>
                                  <m:brk m:alnAt="7"/>
                                </m:rPr>
                                <a:rPr lang="sr-Latn-RS" sz="2000" b="0" i="1" smtClean="0">
                                  <a:latin typeface="Cambria Math" panose="02040503050406030204" pitchFamily="18" charset="0"/>
                                  <a:ea typeface="Cambria Math" panose="02040503050406030204" pitchFamily="18" charset="0"/>
                                </a:rPr>
                                <m:t>𝑎</m:t>
                              </m:r>
                            </m:e>
                            <m:e>
                              <m:r>
                                <a:rPr lang="sr-Latn-RS" sz="2000" b="0" i="1" smtClean="0">
                                  <a:latin typeface="Cambria Math" panose="02040503050406030204" pitchFamily="18" charset="0"/>
                                  <a:ea typeface="Cambria Math" panose="02040503050406030204" pitchFamily="18" charset="0"/>
                                </a:rPr>
                                <m:t>𝑏</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𝑏</m:t>
                              </m:r>
                            </m:e>
                            <m:e>
                              <m:r>
                                <a:rPr lang="sr-Latn-RS" sz="2000" b="0" i="1" smtClean="0">
                                  <a:latin typeface="Cambria Math" panose="02040503050406030204" pitchFamily="18" charset="0"/>
                                  <a:ea typeface="Cambria Math" panose="02040503050406030204" pitchFamily="18" charset="0"/>
                                </a:rPr>
                                <m:t>𝑎</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𝑎</m:t>
                              </m:r>
                            </m:e>
                            <m:e>
                              <m:r>
                                <a:rPr lang="sr-Latn-RS" sz="2000" b="0" i="1" smtClean="0">
                                  <a:latin typeface="Cambria Math" panose="02040503050406030204" pitchFamily="18" charset="0"/>
                                  <a:ea typeface="Cambria Math" panose="02040503050406030204" pitchFamily="18" charset="0"/>
                                </a:rPr>
                                <m:t>𝑏</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𝑏</m:t>
                              </m:r>
                            </m:e>
                            <m:e>
                              <m:r>
                                <a:rPr lang="sr-Latn-RS" sz="2000" b="0" i="1" smtClean="0">
                                  <a:latin typeface="Cambria Math" panose="02040503050406030204" pitchFamily="18" charset="0"/>
                                  <a:ea typeface="Cambria Math" panose="02040503050406030204" pitchFamily="18" charset="0"/>
                                </a:rPr>
                                <m:t>𝑎</m:t>
                              </m:r>
                            </m:e>
                          </m:mr>
                        </m:m>
                      </m:e>
                    </m:d>
                    <m:r>
                      <a:rPr lang="sr-Latn-RS" sz="2000" b="0" i="1" smtClean="0">
                        <a:latin typeface="Cambria Math" panose="02040503050406030204" pitchFamily="18" charset="0"/>
                        <a:ea typeface="Cambria Math" panose="02040503050406030204" pitchFamily="18" charset="0"/>
                      </a:rPr>
                      <m:t>=</m:t>
                    </m:r>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m:rPr>
                                  <m:brk m:alnAt="7"/>
                                </m:rPr>
                                <a:rPr lang="sr-Latn-RS" sz="2000" b="0" i="1" smtClean="0">
                                  <a:latin typeface="Cambria Math" panose="02040503050406030204" pitchFamily="18" charset="0"/>
                                  <a:ea typeface="Cambria Math" panose="02040503050406030204" pitchFamily="18" charset="0"/>
                                </a:rPr>
                                <m:t>𝑏</m:t>
                              </m:r>
                            </m:e>
                            <m:e>
                              <m:r>
                                <a:rPr lang="sr-Latn-RS" sz="2000" b="0" i="1" smtClean="0">
                                  <a:latin typeface="Cambria Math" panose="02040503050406030204" pitchFamily="18" charset="0"/>
                                  <a:ea typeface="Cambria Math" panose="02040503050406030204" pitchFamily="18" charset="0"/>
                                </a:rPr>
                                <m:t>𝑎</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𝑎</m:t>
                              </m:r>
                            </m:e>
                            <m:e>
                              <m:r>
                                <a:rPr lang="sr-Latn-RS" sz="2000" b="0" i="1" smtClean="0">
                                  <a:latin typeface="Cambria Math" panose="02040503050406030204" pitchFamily="18" charset="0"/>
                                  <a:ea typeface="Cambria Math" panose="02040503050406030204" pitchFamily="18" charset="0"/>
                                </a:rPr>
                                <m:t>𝑏</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𝑏</m:t>
                              </m:r>
                            </m:e>
                            <m:e>
                              <m:r>
                                <a:rPr lang="sr-Latn-RS" sz="2000" b="0" i="1" smtClean="0">
                                  <a:latin typeface="Cambria Math" panose="02040503050406030204" pitchFamily="18" charset="0"/>
                                  <a:ea typeface="Cambria Math" panose="02040503050406030204" pitchFamily="18" charset="0"/>
                                </a:rPr>
                                <m:t>𝑎</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𝑎</m:t>
                              </m:r>
                            </m:e>
                            <m:e>
                              <m:r>
                                <a:rPr lang="sr-Latn-RS" sz="2000" b="0" i="1" smtClean="0">
                                  <a:latin typeface="Cambria Math" panose="02040503050406030204" pitchFamily="18" charset="0"/>
                                  <a:ea typeface="Cambria Math" panose="02040503050406030204" pitchFamily="18" charset="0"/>
                                </a:rPr>
                                <m:t>𝑏</m:t>
                              </m:r>
                            </m:e>
                          </m:mr>
                        </m:m>
                      </m:e>
                    </m:d>
                  </m:oMath>
                </a14:m>
                <a:endParaRPr lang="en-US" sz="2000" dirty="0"/>
              </a:p>
            </p:txBody>
          </p:sp>
        </mc:Choice>
        <mc:Fallback xmlns="">
          <p:sp>
            <p:nvSpPr>
              <p:cNvPr id="20" name="Rectangle 19">
                <a:extLst>
                  <a:ext uri="{FF2B5EF4-FFF2-40B4-BE49-F238E27FC236}">
                    <a16:creationId xmlns:a16="http://schemas.microsoft.com/office/drawing/2014/main" id="{5EF24164-0EF5-9B49-B481-0663BCE8CD70}"/>
                  </a:ext>
                </a:extLst>
              </p:cNvPr>
              <p:cNvSpPr>
                <a:spLocks noRot="1" noChangeAspect="1" noMove="1" noResize="1" noEditPoints="1" noAdjustHandles="1" noChangeArrowheads="1" noChangeShapeType="1" noTextEdit="1"/>
              </p:cNvSpPr>
              <p:nvPr/>
            </p:nvSpPr>
            <p:spPr>
              <a:xfrm>
                <a:off x="71327" y="3935270"/>
                <a:ext cx="11839075" cy="124200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DF955049-3431-964F-B028-5C280F0FCE85}"/>
                  </a:ext>
                </a:extLst>
              </p:cNvPr>
              <p:cNvSpPr/>
              <p:nvPr/>
            </p:nvSpPr>
            <p:spPr>
              <a:xfrm>
                <a:off x="110669" y="2124793"/>
                <a:ext cx="2401106" cy="11739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a:rPr lang="en-US" i="1">
                                    <a:latin typeface="Cambria Math" panose="02040503050406030204" pitchFamily="18" charset="0"/>
                                  </a:rPr>
                                  <m:t>𝑐𝑜𝑠</m:t>
                                </m:r>
                                <m:f>
                                  <m:fPr>
                                    <m:ctrlPr>
                                      <a:rPr lang="en-US" i="1">
                                        <a:latin typeface="Cambria Math" panose="02040503050406030204" pitchFamily="18" charset="0"/>
                                      </a:rPr>
                                    </m:ctrlPr>
                                  </m:fPr>
                                  <m:num>
                                    <m:r>
                                      <a:rPr lang="en-US" i="1">
                                        <a:latin typeface="Cambria Math" panose="02040503050406030204" pitchFamily="18" charset="0"/>
                                      </a:rPr>
                                      <m:t>𝜃</m:t>
                                    </m:r>
                                  </m:num>
                                  <m:den>
                                    <m:r>
                                      <a:rPr lang="en-US">
                                        <a:latin typeface="Cambria Math" panose="02040503050406030204" pitchFamily="18" charset="0"/>
                                      </a:rPr>
                                      <m:t>2</m:t>
                                    </m:r>
                                  </m:den>
                                </m:f>
                              </m:e>
                              <m:e>
                                <m:r>
                                  <a:rPr lang="en-US">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 </m:t>
                                </m:r>
                                <m:r>
                                  <a:rPr lang="en-US" i="1">
                                    <a:latin typeface="Cambria Math" panose="02040503050406030204" pitchFamily="18" charset="0"/>
                                  </a:rPr>
                                  <m:t>𝑠𝑖𝑛</m:t>
                                </m:r>
                                <m:f>
                                  <m:fPr>
                                    <m:ctrlPr>
                                      <a:rPr lang="en-US" i="1">
                                        <a:latin typeface="Cambria Math" panose="02040503050406030204" pitchFamily="18" charset="0"/>
                                      </a:rPr>
                                    </m:ctrlPr>
                                  </m:fPr>
                                  <m:num>
                                    <m:r>
                                      <a:rPr lang="en-US" i="1">
                                        <a:latin typeface="Cambria Math" panose="02040503050406030204" pitchFamily="18" charset="0"/>
                                      </a:rPr>
                                      <m:t>𝜃</m:t>
                                    </m:r>
                                  </m:num>
                                  <m:den>
                                    <m:r>
                                      <a:rPr lang="en-US">
                                        <a:latin typeface="Cambria Math" panose="02040503050406030204" pitchFamily="18" charset="0"/>
                                      </a:rPr>
                                      <m:t>2</m:t>
                                    </m:r>
                                  </m:den>
                                </m:f>
                              </m:e>
                            </m:mr>
                            <m:mr>
                              <m:e>
                                <m:r>
                                  <a:rPr lang="en-US">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 </m:t>
                                </m:r>
                                <m:r>
                                  <a:rPr lang="en-US" i="1">
                                    <a:latin typeface="Cambria Math" panose="02040503050406030204" pitchFamily="18" charset="0"/>
                                  </a:rPr>
                                  <m:t>𝑠𝑖𝑛</m:t>
                                </m:r>
                                <m:f>
                                  <m:fPr>
                                    <m:ctrlPr>
                                      <a:rPr lang="en-US" i="1">
                                        <a:latin typeface="Cambria Math" panose="02040503050406030204" pitchFamily="18" charset="0"/>
                                      </a:rPr>
                                    </m:ctrlPr>
                                  </m:fPr>
                                  <m:num>
                                    <m:r>
                                      <a:rPr lang="en-US" i="1">
                                        <a:latin typeface="Cambria Math" panose="02040503050406030204" pitchFamily="18" charset="0"/>
                                      </a:rPr>
                                      <m:t>𝜃</m:t>
                                    </m:r>
                                  </m:num>
                                  <m:den>
                                    <m:r>
                                      <a:rPr lang="en-US">
                                        <a:latin typeface="Cambria Math" panose="02040503050406030204" pitchFamily="18" charset="0"/>
                                      </a:rPr>
                                      <m:t>2</m:t>
                                    </m:r>
                                  </m:den>
                                </m:f>
                              </m:e>
                              <m:e>
                                <m:r>
                                  <a:rPr lang="en-US" i="1">
                                    <a:latin typeface="Cambria Math" panose="02040503050406030204" pitchFamily="18" charset="0"/>
                                  </a:rPr>
                                  <m:t>𝑐𝑜𝑠</m:t>
                                </m:r>
                                <m:f>
                                  <m:fPr>
                                    <m:ctrlPr>
                                      <a:rPr lang="en-US" i="1">
                                        <a:latin typeface="Cambria Math" panose="02040503050406030204" pitchFamily="18" charset="0"/>
                                      </a:rPr>
                                    </m:ctrlPr>
                                  </m:fPr>
                                  <m:num>
                                    <m:r>
                                      <a:rPr lang="en-US" i="1">
                                        <a:latin typeface="Cambria Math" panose="02040503050406030204" pitchFamily="18" charset="0"/>
                                      </a:rPr>
                                      <m:t>𝜃</m:t>
                                    </m:r>
                                  </m:num>
                                  <m:den>
                                    <m:r>
                                      <a:rPr lang="en-US">
                                        <a:latin typeface="Cambria Math" panose="02040503050406030204" pitchFamily="18" charset="0"/>
                                      </a:rPr>
                                      <m:t>2</m:t>
                                    </m:r>
                                  </m:den>
                                </m:f>
                              </m:e>
                            </m:mr>
                          </m:m>
                        </m:e>
                      </m:d>
                    </m:oMath>
                  </m:oMathPara>
                </a14:m>
                <a:endParaRPr lang="en-US" dirty="0"/>
              </a:p>
            </p:txBody>
          </p:sp>
        </mc:Choice>
        <mc:Fallback xmlns="">
          <p:sp>
            <p:nvSpPr>
              <p:cNvPr id="21" name="Rectangle 20">
                <a:extLst>
                  <a:ext uri="{FF2B5EF4-FFF2-40B4-BE49-F238E27FC236}">
                    <a16:creationId xmlns:a16="http://schemas.microsoft.com/office/drawing/2014/main" id="{DF955049-3431-964F-B028-5C280F0FCE85}"/>
                  </a:ext>
                </a:extLst>
              </p:cNvPr>
              <p:cNvSpPr>
                <a:spLocks noRot="1" noChangeAspect="1" noMove="1" noResize="1" noEditPoints="1" noAdjustHandles="1" noChangeArrowheads="1" noChangeShapeType="1" noTextEdit="1"/>
              </p:cNvSpPr>
              <p:nvPr/>
            </p:nvSpPr>
            <p:spPr>
              <a:xfrm>
                <a:off x="110669" y="2124793"/>
                <a:ext cx="2401106" cy="1173976"/>
              </a:xfrm>
              <a:prstGeom prst="rect">
                <a:avLst/>
              </a:prstGeom>
              <a:blipFill>
                <a:blip r:embed="rId7"/>
                <a:stretch>
                  <a:fillRect b="-2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47C8A6BD-0FD7-0240-9186-52336892E2A0}"/>
                  </a:ext>
                </a:extLst>
              </p:cNvPr>
              <p:cNvSpPr/>
              <p:nvPr/>
            </p:nvSpPr>
            <p:spPr>
              <a:xfrm>
                <a:off x="71327" y="5308901"/>
                <a:ext cx="11716605" cy="1242007"/>
              </a:xfrm>
              <a:prstGeom prst="rect">
                <a:avLst/>
              </a:prstGeom>
            </p:spPr>
            <p:txBody>
              <a:bodyPr wrap="none">
                <a:spAutoFit/>
              </a:bodyPr>
              <a:lstStyle/>
              <a:p>
                <a14:m>
                  <m:oMath xmlns:m="http://schemas.openxmlformats.org/officeDocument/2006/math">
                    <m:d>
                      <m:dPr>
                        <m:ctrlPr>
                          <a:rPr lang="sr-Latn-RS" sz="2000" i="1" dirty="0">
                            <a:latin typeface="Cambria Math" panose="02040503050406030204" pitchFamily="18" charset="0"/>
                            <a:ea typeface="Cambria Math" panose="02040503050406030204" pitchFamily="18" charset="0"/>
                          </a:rPr>
                        </m:ctrlPr>
                      </m:dPr>
                      <m:e>
                        <m:r>
                          <a:rPr lang="sr-Latn-RS" sz="2000" i="1" dirty="0">
                            <a:latin typeface="Cambria Math" panose="02040503050406030204" pitchFamily="18" charset="0"/>
                            <a:ea typeface="Cambria Math" panose="02040503050406030204" pitchFamily="18" charset="0"/>
                          </a:rPr>
                          <m:t>𝐼</m:t>
                        </m:r>
                        <m:r>
                          <a:rPr lang="en-US" sz="2000" i="1" dirty="0">
                            <a:latin typeface="Cambria Math" panose="02040503050406030204" pitchFamily="18" charset="0"/>
                            <a:ea typeface="Cambria Math" panose="02040503050406030204" pitchFamily="18" charset="0"/>
                          </a:rPr>
                          <m:t>⊗</m:t>
                        </m:r>
                        <m:r>
                          <a:rPr lang="sr-Latn-RS" sz="2000" b="0" i="1" dirty="0" smtClean="0">
                            <a:latin typeface="Cambria Math" panose="02040503050406030204" pitchFamily="18" charset="0"/>
                            <a:ea typeface="Cambria Math" panose="02040503050406030204" pitchFamily="18" charset="0"/>
                          </a:rPr>
                          <m:t>𝑅𝑥</m:t>
                        </m:r>
                      </m:e>
                    </m:d>
                    <m:r>
                      <a:rPr lang="sr-Latn-RS" sz="2000" i="1" dirty="0">
                        <a:latin typeface="Cambria Math" panose="02040503050406030204" pitchFamily="18" charset="0"/>
                        <a:ea typeface="Cambria Math" panose="02040503050406030204" pitchFamily="18" charset="0"/>
                      </a:rPr>
                      <m:t>𝑐𝑋</m:t>
                    </m:r>
                    <m:r>
                      <a:rPr lang="sr-Latn-RS" sz="2000" b="0" i="1" dirty="0" smtClean="0">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rPr>
                        </m:ctrlPr>
                      </m:dPr>
                      <m:e>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m:rPr>
                                      <m:nor/>
                                    </m:rPr>
                                    <a:rPr lang="en-US" sz="2000">
                                      <a:latin typeface="Cambria Math" panose="02040503050406030204" pitchFamily="18" charset="0"/>
                                    </a:rPr>
                                    <m:t>1</m:t>
                                  </m:r>
                                </m:e>
                                <m:e>
                                  <m:r>
                                    <m:rPr>
                                      <m:nor/>
                                    </m:rPr>
                                    <a:rPr lang="sr-Latn-RS" sz="2000" b="0" i="0" smtClean="0">
                                      <a:latin typeface="Cambria Math" panose="02040503050406030204" pitchFamily="18" charset="0"/>
                                    </a:rPr>
                                    <m:t>0</m:t>
                                  </m:r>
                                </m:e>
                              </m:mr>
                              <m:mr>
                                <m:e>
                                  <m:r>
                                    <m:rPr>
                                      <m:nor/>
                                    </m:rPr>
                                    <a:rPr lang="sr-Latn-RS" sz="2000" b="0" i="0" smtClean="0">
                                      <a:latin typeface="Cambria Math" panose="02040503050406030204" pitchFamily="18" charset="0"/>
                                    </a:rPr>
                                    <m:t>0</m:t>
                                  </m:r>
                                </m:e>
                                <m:e>
                                  <m:r>
                                    <m:rPr>
                                      <m:nor/>
                                    </m:rPr>
                                    <a:rPr lang="en-US" sz="2000">
                                      <a:latin typeface="Cambria Math" panose="02040503050406030204" pitchFamily="18" charset="0"/>
                                    </a:rPr>
                                    <m:t>1</m:t>
                                  </m:r>
                                </m:e>
                              </m:mr>
                            </m:m>
                          </m:e>
                        </m:d>
                        <m:r>
                          <a:rPr lang="en-US" sz="2000" dirty="0">
                            <a:latin typeface="Cambria Math" panose="02040503050406030204" pitchFamily="18" charset="0"/>
                            <a:ea typeface="Cambria Math" panose="02040503050406030204" pitchFamily="18" charset="0"/>
                          </a:rPr>
                          <m:t>⊗</m:t>
                        </m:r>
                        <m:d>
                          <m:dPr>
                            <m:ctrlPr>
                              <a:rPr lang="en-US" sz="2000" i="1" smtClean="0">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a:rPr lang="sr-Latn-RS" sz="2000" b="0" i="1" smtClean="0">
                                      <a:latin typeface="Cambria Math" panose="02040503050406030204" pitchFamily="18" charset="0"/>
                                    </a:rPr>
                                    <m:t>𝑎</m:t>
                                  </m:r>
                                </m:e>
                                <m:e>
                                  <m:r>
                                    <m:rPr>
                                      <m:nor/>
                                    </m:rPr>
                                    <a:rPr lang="sr-Latn-RS" sz="2000" b="0" i="0" smtClean="0">
                                      <a:latin typeface="Cambria Math" panose="02040503050406030204" pitchFamily="18" charset="0"/>
                                    </a:rPr>
                                    <m:t>b</m:t>
                                  </m:r>
                                </m:e>
                              </m:mr>
                              <m:mr>
                                <m:e>
                                  <m:r>
                                    <m:rPr>
                                      <m:nor/>
                                    </m:rPr>
                                    <a:rPr lang="sr-Latn-RS" sz="2000" b="0" i="0" smtClean="0">
                                      <a:latin typeface="Cambria Math" panose="02040503050406030204" pitchFamily="18" charset="0"/>
                                    </a:rPr>
                                    <m:t>b</m:t>
                                  </m:r>
                                </m:e>
                                <m:e>
                                  <m:r>
                                    <m:rPr>
                                      <m:nor/>
                                    </m:rPr>
                                    <a:rPr lang="sr-Latn-RS" sz="2000" b="0" i="0" smtClean="0">
                                      <a:latin typeface="Cambria Math" panose="02040503050406030204" pitchFamily="18" charset="0"/>
                                    </a:rPr>
                                    <m:t>a</m:t>
                                  </m:r>
                                </m:e>
                              </m:mr>
                            </m:m>
                          </m:e>
                        </m:d>
                      </m:e>
                    </m:d>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e>
                              <m:r>
                                <a:rPr lang="en-US" sz="2000" i="1">
                                  <a:latin typeface="Cambria Math" panose="02040503050406030204" pitchFamily="18" charset="0"/>
                                  <a:ea typeface="Cambria Math" panose="02040503050406030204" pitchFamily="18" charset="0"/>
                                </a:rPr>
                                <m:t>0</m:t>
                              </m:r>
                            </m:e>
                          </m:mr>
                        </m:m>
                      </m:e>
                    </m:d>
                    <m:r>
                      <a:rPr lang="sr-Latn-RS" sz="2000" b="0" i="1" smtClean="0">
                        <a:latin typeface="Cambria Math" panose="02040503050406030204" pitchFamily="18" charset="0"/>
                      </a:rPr>
                      <m:t>=</m:t>
                    </m:r>
                  </m:oMath>
                </a14:m>
                <a:r>
                  <a:rPr lang="en-ZA" sz="2000" dirty="0">
                    <a:ea typeface="Cambria Math" panose="02040503050406030204" pitchFamily="18" charset="0"/>
                  </a:rPr>
                  <a:t> </a:t>
                </a:r>
                <a14:m>
                  <m:oMath xmlns:m="http://schemas.openxmlformats.org/officeDocument/2006/math">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m:rPr>
                                  <m:brk m:alnAt="7"/>
                                </m:rPr>
                                <a:rPr lang="sr-Latn-RS" sz="2000" b="0" i="1" smtClean="0">
                                  <a:latin typeface="Cambria Math" panose="02040503050406030204" pitchFamily="18" charset="0"/>
                                  <a:ea typeface="Cambria Math" panose="02040503050406030204" pitchFamily="18" charset="0"/>
                                </a:rPr>
                                <m:t>𝑎</m:t>
                              </m:r>
                            </m:e>
                            <m:e>
                              <m:r>
                                <a:rPr lang="sr-Latn-RS" sz="2000" b="0" i="1" smtClean="0">
                                  <a:latin typeface="Cambria Math" panose="02040503050406030204" pitchFamily="18" charset="0"/>
                                  <a:ea typeface="Cambria Math" panose="02040503050406030204" pitchFamily="18" charset="0"/>
                                </a:rPr>
                                <m:t>𝑏</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𝑏</m:t>
                              </m:r>
                            </m:e>
                            <m:e>
                              <m:r>
                                <a:rPr lang="sr-Latn-RS" sz="2000" b="0" i="1" smtClean="0">
                                  <a:latin typeface="Cambria Math" panose="02040503050406030204" pitchFamily="18" charset="0"/>
                                  <a:ea typeface="Cambria Math" panose="02040503050406030204" pitchFamily="18" charset="0"/>
                                </a:rPr>
                                <m:t>𝑎</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𝑎</m:t>
                              </m:r>
                            </m:e>
                            <m:e>
                              <m:r>
                                <a:rPr lang="sr-Latn-RS" sz="2000" b="0" i="1" smtClean="0">
                                  <a:latin typeface="Cambria Math" panose="02040503050406030204" pitchFamily="18" charset="0"/>
                                  <a:ea typeface="Cambria Math" panose="02040503050406030204" pitchFamily="18" charset="0"/>
                                </a:rPr>
                                <m:t>𝑏</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𝑏</m:t>
                              </m:r>
                            </m:e>
                            <m:e>
                              <m:r>
                                <a:rPr lang="sr-Latn-RS" sz="2000" b="0" i="1" smtClean="0">
                                  <a:latin typeface="Cambria Math" panose="02040503050406030204" pitchFamily="18" charset="0"/>
                                  <a:ea typeface="Cambria Math" panose="02040503050406030204" pitchFamily="18" charset="0"/>
                                </a:rPr>
                                <m:t>𝑎</m:t>
                              </m:r>
                            </m:e>
                          </m:mr>
                        </m:m>
                      </m:e>
                    </m:d>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e>
                              <m:r>
                                <a:rPr lang="en-US" sz="2000" i="1">
                                  <a:latin typeface="Cambria Math" panose="02040503050406030204" pitchFamily="18" charset="0"/>
                                  <a:ea typeface="Cambria Math" panose="02040503050406030204" pitchFamily="18" charset="0"/>
                                </a:rPr>
                                <m:t>0</m:t>
                              </m:r>
                            </m:e>
                          </m:mr>
                        </m:m>
                      </m:e>
                    </m:d>
                    <m:r>
                      <a:rPr lang="sr-Latn-RS" sz="2000" b="0" i="1" smtClean="0">
                        <a:latin typeface="Cambria Math" panose="02040503050406030204" pitchFamily="18" charset="0"/>
                        <a:ea typeface="Cambria Math" panose="02040503050406030204" pitchFamily="18" charset="0"/>
                      </a:rPr>
                      <m:t>=</m:t>
                    </m:r>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m:rPr>
                                  <m:brk m:alnAt="7"/>
                                </m:rPr>
                                <a:rPr lang="sr-Latn-RS" sz="2000" b="0" i="1" smtClean="0">
                                  <a:latin typeface="Cambria Math" panose="02040503050406030204" pitchFamily="18" charset="0"/>
                                  <a:ea typeface="Cambria Math" panose="02040503050406030204" pitchFamily="18" charset="0"/>
                                </a:rPr>
                                <m:t>𝑏</m:t>
                              </m:r>
                            </m:e>
                            <m:e>
                              <m:r>
                                <a:rPr lang="sr-Latn-RS" sz="2000" b="0" i="1" smtClean="0">
                                  <a:latin typeface="Cambria Math" panose="02040503050406030204" pitchFamily="18" charset="0"/>
                                  <a:ea typeface="Cambria Math" panose="02040503050406030204" pitchFamily="18" charset="0"/>
                                </a:rPr>
                                <m:t>𝑎</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𝑎</m:t>
                              </m:r>
                            </m:e>
                            <m:e>
                              <m:r>
                                <a:rPr lang="sr-Latn-RS" sz="2000" b="0" i="1" smtClean="0">
                                  <a:latin typeface="Cambria Math" panose="02040503050406030204" pitchFamily="18" charset="0"/>
                                  <a:ea typeface="Cambria Math" panose="02040503050406030204" pitchFamily="18" charset="0"/>
                                </a:rPr>
                                <m:t>𝑏</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𝑏</m:t>
                              </m:r>
                            </m:e>
                            <m:e>
                              <m:r>
                                <a:rPr lang="sr-Latn-RS" sz="2000" b="0" i="1" smtClean="0">
                                  <a:latin typeface="Cambria Math" panose="02040503050406030204" pitchFamily="18" charset="0"/>
                                  <a:ea typeface="Cambria Math" panose="02040503050406030204" pitchFamily="18" charset="0"/>
                                </a:rPr>
                                <m:t>𝑎</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𝑎</m:t>
                              </m:r>
                            </m:e>
                            <m:e>
                              <m:r>
                                <a:rPr lang="sr-Latn-RS" sz="2000" b="0" i="1" smtClean="0">
                                  <a:latin typeface="Cambria Math" panose="02040503050406030204" pitchFamily="18" charset="0"/>
                                  <a:ea typeface="Cambria Math" panose="02040503050406030204" pitchFamily="18" charset="0"/>
                                </a:rPr>
                                <m:t>𝑏</m:t>
                              </m:r>
                            </m:e>
                          </m:mr>
                        </m:m>
                      </m:e>
                    </m:d>
                  </m:oMath>
                </a14:m>
                <a:endParaRPr lang="en-US" sz="2000" dirty="0"/>
              </a:p>
            </p:txBody>
          </p:sp>
        </mc:Choice>
        <mc:Fallback xmlns="">
          <p:sp>
            <p:nvSpPr>
              <p:cNvPr id="22" name="Rectangle 21">
                <a:extLst>
                  <a:ext uri="{FF2B5EF4-FFF2-40B4-BE49-F238E27FC236}">
                    <a16:creationId xmlns:a16="http://schemas.microsoft.com/office/drawing/2014/main" id="{47C8A6BD-0FD7-0240-9186-52336892E2A0}"/>
                  </a:ext>
                </a:extLst>
              </p:cNvPr>
              <p:cNvSpPr>
                <a:spLocks noRot="1" noChangeAspect="1" noMove="1" noResize="1" noEditPoints="1" noAdjustHandles="1" noChangeArrowheads="1" noChangeShapeType="1" noTextEdit="1"/>
              </p:cNvSpPr>
              <p:nvPr/>
            </p:nvSpPr>
            <p:spPr>
              <a:xfrm>
                <a:off x="71327" y="5308901"/>
                <a:ext cx="11716605" cy="1242007"/>
              </a:xfrm>
              <a:prstGeom prst="rect">
                <a:avLst/>
              </a:prstGeom>
              <a:blipFill>
                <a:blip r:embed="rId8"/>
                <a:stretch>
                  <a:fillRect b="-10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E5D25E5-D217-5746-966E-EC72B5C00D68}"/>
                  </a:ext>
                </a:extLst>
              </p:cNvPr>
              <p:cNvSpPr txBox="1"/>
              <p:nvPr/>
            </p:nvSpPr>
            <p:spPr>
              <a:xfrm>
                <a:off x="700708" y="1848357"/>
                <a:ext cx="3714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i="1" smtClean="0">
                          <a:solidFill>
                            <a:srgbClr val="C00000"/>
                          </a:solidFill>
                          <a:latin typeface="Cambria Math" panose="02040503050406030204" pitchFamily="18" charset="0"/>
                        </a:rPr>
                        <m:t>𝑎</m:t>
                      </m:r>
                    </m:oMath>
                  </m:oMathPara>
                </a14:m>
                <a:endParaRPr lang="en-US" dirty="0">
                  <a:solidFill>
                    <a:srgbClr val="C00000"/>
                  </a:solidFill>
                </a:endParaRPr>
              </a:p>
            </p:txBody>
          </p:sp>
        </mc:Choice>
        <mc:Fallback xmlns="">
          <p:sp>
            <p:nvSpPr>
              <p:cNvPr id="24" name="TextBox 23">
                <a:extLst>
                  <a:ext uri="{FF2B5EF4-FFF2-40B4-BE49-F238E27FC236}">
                    <a16:creationId xmlns:a16="http://schemas.microsoft.com/office/drawing/2014/main" id="{3E5D25E5-D217-5746-966E-EC72B5C00D68}"/>
                  </a:ext>
                </a:extLst>
              </p:cNvPr>
              <p:cNvSpPr txBox="1">
                <a:spLocks noRot="1" noChangeAspect="1" noMove="1" noResize="1" noEditPoints="1" noAdjustHandles="1" noChangeArrowheads="1" noChangeShapeType="1" noTextEdit="1"/>
              </p:cNvSpPr>
              <p:nvPr/>
            </p:nvSpPr>
            <p:spPr>
              <a:xfrm>
                <a:off x="700708" y="1848357"/>
                <a:ext cx="371447"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AB43331-0563-C441-9125-7527878AE760}"/>
                  </a:ext>
                </a:extLst>
              </p:cNvPr>
              <p:cNvSpPr txBox="1"/>
              <p:nvPr/>
            </p:nvSpPr>
            <p:spPr>
              <a:xfrm>
                <a:off x="1599376" y="2564796"/>
                <a:ext cx="3714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i="1" smtClean="0">
                          <a:solidFill>
                            <a:srgbClr val="C00000"/>
                          </a:solidFill>
                          <a:latin typeface="Cambria Math" panose="02040503050406030204" pitchFamily="18" charset="0"/>
                        </a:rPr>
                        <m:t>𝑎</m:t>
                      </m:r>
                    </m:oMath>
                  </m:oMathPara>
                </a14:m>
                <a:endParaRPr lang="en-US" dirty="0">
                  <a:solidFill>
                    <a:srgbClr val="C00000"/>
                  </a:solidFill>
                </a:endParaRPr>
              </a:p>
            </p:txBody>
          </p:sp>
        </mc:Choice>
        <mc:Fallback xmlns="">
          <p:sp>
            <p:nvSpPr>
              <p:cNvPr id="25" name="TextBox 24">
                <a:extLst>
                  <a:ext uri="{FF2B5EF4-FFF2-40B4-BE49-F238E27FC236}">
                    <a16:creationId xmlns:a16="http://schemas.microsoft.com/office/drawing/2014/main" id="{EAB43331-0563-C441-9125-7527878AE760}"/>
                  </a:ext>
                </a:extLst>
              </p:cNvPr>
              <p:cNvSpPr txBox="1">
                <a:spLocks noRot="1" noChangeAspect="1" noMove="1" noResize="1" noEditPoints="1" noAdjustHandles="1" noChangeArrowheads="1" noChangeShapeType="1" noTextEdit="1"/>
              </p:cNvSpPr>
              <p:nvPr/>
            </p:nvSpPr>
            <p:spPr>
              <a:xfrm>
                <a:off x="1599376" y="2564796"/>
                <a:ext cx="371447"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2C98647-344E-CE4A-A787-3EA13D1AB23E}"/>
                  </a:ext>
                </a:extLst>
              </p:cNvPr>
              <p:cNvSpPr txBox="1"/>
              <p:nvPr/>
            </p:nvSpPr>
            <p:spPr>
              <a:xfrm>
                <a:off x="1740826" y="1877214"/>
                <a:ext cx="36766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b="0" i="1" smtClean="0">
                          <a:solidFill>
                            <a:srgbClr val="C00000"/>
                          </a:solidFill>
                          <a:latin typeface="Cambria Math" panose="02040503050406030204" pitchFamily="18" charset="0"/>
                        </a:rPr>
                        <m:t>𝑏</m:t>
                      </m:r>
                    </m:oMath>
                  </m:oMathPara>
                </a14:m>
                <a:endParaRPr lang="en-US" i="1" dirty="0">
                  <a:solidFill>
                    <a:srgbClr val="C00000"/>
                  </a:solidFill>
                </a:endParaRPr>
              </a:p>
            </p:txBody>
          </p:sp>
        </mc:Choice>
        <mc:Fallback xmlns="">
          <p:sp>
            <p:nvSpPr>
              <p:cNvPr id="26" name="TextBox 25">
                <a:extLst>
                  <a:ext uri="{FF2B5EF4-FFF2-40B4-BE49-F238E27FC236}">
                    <a16:creationId xmlns:a16="http://schemas.microsoft.com/office/drawing/2014/main" id="{E2C98647-344E-CE4A-A787-3EA13D1AB23E}"/>
                  </a:ext>
                </a:extLst>
              </p:cNvPr>
              <p:cNvSpPr txBox="1">
                <a:spLocks noRot="1" noChangeAspect="1" noMove="1" noResize="1" noEditPoints="1" noAdjustHandles="1" noChangeArrowheads="1" noChangeShapeType="1" noTextEdit="1"/>
              </p:cNvSpPr>
              <p:nvPr/>
            </p:nvSpPr>
            <p:spPr>
              <a:xfrm>
                <a:off x="1740826" y="1877214"/>
                <a:ext cx="367665"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5E8D9FE-C870-6D46-8A6E-28762EFF018B}"/>
                  </a:ext>
                </a:extLst>
              </p:cNvPr>
              <p:cNvSpPr txBox="1"/>
              <p:nvPr/>
            </p:nvSpPr>
            <p:spPr>
              <a:xfrm>
                <a:off x="690414" y="2620434"/>
                <a:ext cx="36766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b="0" i="1" smtClean="0">
                          <a:solidFill>
                            <a:srgbClr val="C00000"/>
                          </a:solidFill>
                          <a:latin typeface="Cambria Math" panose="02040503050406030204" pitchFamily="18" charset="0"/>
                        </a:rPr>
                        <m:t>𝑏</m:t>
                      </m:r>
                    </m:oMath>
                  </m:oMathPara>
                </a14:m>
                <a:endParaRPr lang="en-US" i="1" dirty="0">
                  <a:solidFill>
                    <a:srgbClr val="C00000"/>
                  </a:solidFill>
                </a:endParaRPr>
              </a:p>
            </p:txBody>
          </p:sp>
        </mc:Choice>
        <mc:Fallback xmlns="">
          <p:sp>
            <p:nvSpPr>
              <p:cNvPr id="27" name="TextBox 26">
                <a:extLst>
                  <a:ext uri="{FF2B5EF4-FFF2-40B4-BE49-F238E27FC236}">
                    <a16:creationId xmlns:a16="http://schemas.microsoft.com/office/drawing/2014/main" id="{55E8D9FE-C870-6D46-8A6E-28762EFF018B}"/>
                  </a:ext>
                </a:extLst>
              </p:cNvPr>
              <p:cNvSpPr txBox="1">
                <a:spLocks noRot="1" noChangeAspect="1" noMove="1" noResize="1" noEditPoints="1" noAdjustHandles="1" noChangeArrowheads="1" noChangeShapeType="1" noTextEdit="1"/>
              </p:cNvSpPr>
              <p:nvPr/>
            </p:nvSpPr>
            <p:spPr>
              <a:xfrm>
                <a:off x="690414" y="2620434"/>
                <a:ext cx="367665" cy="369332"/>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02599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D9580-3F88-4F44-9347-C8537AF4F99C}"/>
              </a:ext>
            </a:extLst>
          </p:cNvPr>
          <p:cNvSpPr>
            <a:spLocks noGrp="1"/>
          </p:cNvSpPr>
          <p:nvPr>
            <p:ph type="title"/>
          </p:nvPr>
        </p:nvSpPr>
        <p:spPr/>
        <p:txBody>
          <a:bodyPr/>
          <a:lstStyle/>
          <a:p>
            <a:r>
              <a:rPr lang="en-US" dirty="0"/>
              <a:t>Decomposing CX </a:t>
            </a:r>
            <a:r>
              <a:rPr lang="en-ZA" dirty="0"/>
              <a:t>Gate</a:t>
            </a:r>
            <a:endParaRPr lang="en-US" dirty="0"/>
          </a:p>
        </p:txBody>
      </p:sp>
      <p:sp>
        <p:nvSpPr>
          <p:cNvPr id="3" name="Slide Number Placeholder 2">
            <a:extLst>
              <a:ext uri="{FF2B5EF4-FFF2-40B4-BE49-F238E27FC236}">
                <a16:creationId xmlns:a16="http://schemas.microsoft.com/office/drawing/2014/main" id="{9DAB86D1-A064-3546-A2B6-7D8F35E29F08}"/>
              </a:ext>
            </a:extLst>
          </p:cNvPr>
          <p:cNvSpPr>
            <a:spLocks noGrp="1"/>
          </p:cNvSpPr>
          <p:nvPr>
            <p:ph type="sldNum" sz="quarter" idx="12"/>
          </p:nvPr>
        </p:nvSpPr>
        <p:spPr/>
        <p:txBody>
          <a:bodyPr/>
          <a:lstStyle/>
          <a:p>
            <a:fld id="{591A223C-FA10-BC46-A853-03BA373D023C}" type="slidenum">
              <a:rPr lang="en-US" smtClean="0"/>
              <a:t>13</a:t>
            </a:fld>
            <a:endParaRPr lang="en-US"/>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70B68F02-96D5-3747-9F5A-D9463CE696D5}"/>
                  </a:ext>
                </a:extLst>
              </p:cNvPr>
              <p:cNvSpPr/>
              <p:nvPr/>
            </p:nvSpPr>
            <p:spPr>
              <a:xfrm>
                <a:off x="3093573" y="1716175"/>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16" name="Rectangle 15">
                <a:extLst>
                  <a:ext uri="{FF2B5EF4-FFF2-40B4-BE49-F238E27FC236}">
                    <a16:creationId xmlns:a16="http://schemas.microsoft.com/office/drawing/2014/main" id="{70B68F02-96D5-3747-9F5A-D9463CE696D5}"/>
                  </a:ext>
                </a:extLst>
              </p:cNvPr>
              <p:cNvSpPr>
                <a:spLocks noRot="1" noChangeAspect="1" noMove="1" noResize="1" noEditPoints="1" noAdjustHandles="1" noChangeArrowheads="1" noChangeShapeType="1" noTextEdit="1"/>
              </p:cNvSpPr>
              <p:nvPr/>
            </p:nvSpPr>
            <p:spPr>
              <a:xfrm>
                <a:off x="3093573" y="1716175"/>
                <a:ext cx="633507" cy="646331"/>
              </a:xfrm>
              <a:prstGeom prst="rect">
                <a:avLst/>
              </a:prstGeom>
              <a:blipFill>
                <a:blip r:embed="rId3"/>
                <a:stretch>
                  <a:fillRect/>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525EE4FF-45D5-9D4C-9A4D-44888D4AFBFE}"/>
              </a:ext>
            </a:extLst>
          </p:cNvPr>
          <p:cNvCxnSpPr>
            <a:cxnSpLocks/>
            <a:endCxn id="12" idx="0"/>
          </p:cNvCxnSpPr>
          <p:nvPr/>
        </p:nvCxnSpPr>
        <p:spPr>
          <a:xfrm flipH="1">
            <a:off x="5899660" y="1620469"/>
            <a:ext cx="5546" cy="5033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347528D-DA3D-8648-B991-A1370B56554C}"/>
              </a:ext>
            </a:extLst>
          </p:cNvPr>
          <p:cNvCxnSpPr>
            <a:cxnSpLocks/>
          </p:cNvCxnSpPr>
          <p:nvPr/>
        </p:nvCxnSpPr>
        <p:spPr>
          <a:xfrm>
            <a:off x="4174031" y="2472527"/>
            <a:ext cx="33834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134A3C1B-7EE9-744D-9888-791C265C5A23}"/>
              </a:ext>
            </a:extLst>
          </p:cNvPr>
          <p:cNvSpPr/>
          <p:nvPr/>
        </p:nvSpPr>
        <p:spPr>
          <a:xfrm>
            <a:off x="5539660" y="2123830"/>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Z</a:t>
            </a:r>
          </a:p>
        </p:txBody>
      </p:sp>
      <p:sp>
        <p:nvSpPr>
          <p:cNvPr id="13" name="Rectangle 12">
            <a:extLst>
              <a:ext uri="{FF2B5EF4-FFF2-40B4-BE49-F238E27FC236}">
                <a16:creationId xmlns:a16="http://schemas.microsoft.com/office/drawing/2014/main" id="{9D627339-D397-3F4C-9884-0AE77673AE51}"/>
              </a:ext>
            </a:extLst>
          </p:cNvPr>
          <p:cNvSpPr>
            <a:spLocks noChangeAspect="1"/>
          </p:cNvSpPr>
          <p:nvPr/>
        </p:nvSpPr>
        <p:spPr>
          <a:xfrm>
            <a:off x="4558327" y="2111070"/>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15" name="Rectangle 14">
            <a:extLst>
              <a:ext uri="{FF2B5EF4-FFF2-40B4-BE49-F238E27FC236}">
                <a16:creationId xmlns:a16="http://schemas.microsoft.com/office/drawing/2014/main" id="{B36AF43B-C43B-564C-B4E0-F89F94F83072}"/>
              </a:ext>
            </a:extLst>
          </p:cNvPr>
          <p:cNvSpPr>
            <a:spLocks noChangeAspect="1"/>
          </p:cNvSpPr>
          <p:nvPr/>
        </p:nvSpPr>
        <p:spPr>
          <a:xfrm>
            <a:off x="6475772" y="2111070"/>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cxnSp>
        <p:nvCxnSpPr>
          <p:cNvPr id="17" name="Straight Connector 16">
            <a:extLst>
              <a:ext uri="{FF2B5EF4-FFF2-40B4-BE49-F238E27FC236}">
                <a16:creationId xmlns:a16="http://schemas.microsoft.com/office/drawing/2014/main" id="{4AC4C88A-9A85-5D4F-8BE0-14BF46196724}"/>
              </a:ext>
            </a:extLst>
          </p:cNvPr>
          <p:cNvCxnSpPr>
            <a:cxnSpLocks/>
          </p:cNvCxnSpPr>
          <p:nvPr/>
        </p:nvCxnSpPr>
        <p:spPr>
          <a:xfrm>
            <a:off x="4057626" y="1543969"/>
            <a:ext cx="33834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AF1906C4-D5A2-7B43-8B6B-DADA1F49FBCD}"/>
              </a:ext>
            </a:extLst>
          </p:cNvPr>
          <p:cNvSpPr/>
          <p:nvPr/>
        </p:nvSpPr>
        <p:spPr>
          <a:xfrm>
            <a:off x="5809660" y="1440469"/>
            <a:ext cx="180000" cy="18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grpSp>
        <p:nvGrpSpPr>
          <p:cNvPr id="25" name="Group 24">
            <a:extLst>
              <a:ext uri="{FF2B5EF4-FFF2-40B4-BE49-F238E27FC236}">
                <a16:creationId xmlns:a16="http://schemas.microsoft.com/office/drawing/2014/main" id="{F3EDE8DE-3AA2-B841-A583-7ABA34C44FD3}"/>
              </a:ext>
            </a:extLst>
          </p:cNvPr>
          <p:cNvGrpSpPr/>
          <p:nvPr/>
        </p:nvGrpSpPr>
        <p:grpSpPr>
          <a:xfrm>
            <a:off x="4565080" y="1173572"/>
            <a:ext cx="6575983" cy="1050324"/>
            <a:chOff x="5325754" y="1311121"/>
            <a:chExt cx="6575983" cy="1050324"/>
          </a:xfrm>
        </p:grpSpPr>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1AB170C-4108-4044-BF24-D90605235CCB}"/>
                    </a:ext>
                  </a:extLst>
                </p:cNvPr>
                <p:cNvSpPr txBox="1"/>
                <p:nvPr/>
              </p:nvSpPr>
              <p:spPr>
                <a:xfrm>
                  <a:off x="8180847" y="1776670"/>
                  <a:ext cx="3720890"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sr-Latn-RS" sz="3200" b="0" i="1" dirty="0" smtClean="0">
                                <a:latin typeface="Cambria Math" panose="02040503050406030204" pitchFamily="18" charset="0"/>
                                <a:ea typeface="Cambria Math" panose="02040503050406030204" pitchFamily="18" charset="0"/>
                              </a:rPr>
                            </m:ctrlPr>
                          </m:dPr>
                          <m:e>
                            <m:r>
                              <a:rPr lang="sr-Latn-RS" sz="3200" b="0" i="1" dirty="0" smtClean="0">
                                <a:latin typeface="Cambria Math" panose="02040503050406030204" pitchFamily="18" charset="0"/>
                                <a:ea typeface="Cambria Math" panose="02040503050406030204" pitchFamily="18" charset="0"/>
                              </a:rPr>
                              <m:t>𝐼</m:t>
                            </m:r>
                            <m:r>
                              <a:rPr lang="en-US" sz="3200" i="1" dirty="0">
                                <a:latin typeface="Cambria Math" panose="02040503050406030204" pitchFamily="18" charset="0"/>
                                <a:ea typeface="Cambria Math" panose="02040503050406030204" pitchFamily="18" charset="0"/>
                              </a:rPr>
                              <m:t>⊗</m:t>
                            </m:r>
                            <m:r>
                              <a:rPr lang="sr-Latn-RS" sz="3200" b="0" i="1" dirty="0" smtClean="0">
                                <a:latin typeface="Cambria Math" panose="02040503050406030204" pitchFamily="18" charset="0"/>
                                <a:ea typeface="Cambria Math" panose="02040503050406030204" pitchFamily="18" charset="0"/>
                              </a:rPr>
                              <m:t>𝐻</m:t>
                            </m:r>
                          </m:e>
                        </m:d>
                        <m:r>
                          <a:rPr lang="sr-Latn-RS" sz="3200" b="0" i="1" dirty="0" smtClean="0">
                            <a:latin typeface="Cambria Math" panose="02040503050406030204" pitchFamily="18" charset="0"/>
                            <a:ea typeface="Cambria Math" panose="02040503050406030204" pitchFamily="18" charset="0"/>
                          </a:rPr>
                          <m:t> </m:t>
                        </m:r>
                        <m:r>
                          <a:rPr lang="sr-Latn-RS" sz="3200" b="0" i="1" dirty="0" smtClean="0">
                            <a:latin typeface="Cambria Math" panose="02040503050406030204" pitchFamily="18" charset="0"/>
                            <a:ea typeface="Cambria Math" panose="02040503050406030204" pitchFamily="18" charset="0"/>
                          </a:rPr>
                          <m:t>𝑐𝑍</m:t>
                        </m:r>
                        <m:r>
                          <a:rPr lang="sr-Latn-RS" sz="3200" b="0" i="1" dirty="0" smtClean="0">
                            <a:latin typeface="Cambria Math" panose="02040503050406030204" pitchFamily="18" charset="0"/>
                            <a:ea typeface="Cambria Math" panose="02040503050406030204" pitchFamily="18" charset="0"/>
                          </a:rPr>
                          <m:t> </m:t>
                        </m:r>
                        <m:d>
                          <m:dPr>
                            <m:ctrlPr>
                              <a:rPr lang="sr-Latn-RS" sz="3200" i="1" dirty="0">
                                <a:latin typeface="Cambria Math" panose="02040503050406030204" pitchFamily="18" charset="0"/>
                                <a:ea typeface="Cambria Math" panose="02040503050406030204" pitchFamily="18" charset="0"/>
                              </a:rPr>
                            </m:ctrlPr>
                          </m:dPr>
                          <m:e>
                            <m:r>
                              <a:rPr lang="sr-Latn-RS" sz="3200" i="1" dirty="0">
                                <a:latin typeface="Cambria Math" panose="02040503050406030204" pitchFamily="18" charset="0"/>
                                <a:ea typeface="Cambria Math" panose="02040503050406030204" pitchFamily="18" charset="0"/>
                              </a:rPr>
                              <m:t>𝐼</m:t>
                            </m:r>
                            <m:r>
                              <a:rPr lang="en-US" sz="3200" i="1" dirty="0">
                                <a:latin typeface="Cambria Math" panose="02040503050406030204" pitchFamily="18" charset="0"/>
                                <a:ea typeface="Cambria Math" panose="02040503050406030204" pitchFamily="18" charset="0"/>
                              </a:rPr>
                              <m:t>⊗</m:t>
                            </m:r>
                            <m:r>
                              <a:rPr lang="sr-Latn-RS" sz="3200" i="1" dirty="0">
                                <a:latin typeface="Cambria Math" panose="02040503050406030204" pitchFamily="18" charset="0"/>
                                <a:ea typeface="Cambria Math" panose="02040503050406030204" pitchFamily="18" charset="0"/>
                              </a:rPr>
                              <m:t>𝐻</m:t>
                            </m:r>
                          </m:e>
                        </m:d>
                      </m:oMath>
                    </m:oMathPara>
                  </a14:m>
                  <a:endParaRPr lang="en-US" sz="3200" i="1" dirty="0"/>
                </a:p>
              </p:txBody>
            </p:sp>
          </mc:Choice>
          <mc:Fallback xmlns="">
            <p:sp>
              <p:nvSpPr>
                <p:cNvPr id="22" name="TextBox 21">
                  <a:extLst>
                    <a:ext uri="{FF2B5EF4-FFF2-40B4-BE49-F238E27FC236}">
                      <a16:creationId xmlns:a16="http://schemas.microsoft.com/office/drawing/2014/main" id="{21AB170C-4108-4044-BF24-D90605235CCB}"/>
                    </a:ext>
                  </a:extLst>
                </p:cNvPr>
                <p:cNvSpPr txBox="1">
                  <a:spLocks noRot="1" noChangeAspect="1" noMove="1" noResize="1" noEditPoints="1" noAdjustHandles="1" noChangeArrowheads="1" noChangeShapeType="1" noTextEdit="1"/>
                </p:cNvSpPr>
                <p:nvPr/>
              </p:nvSpPr>
              <p:spPr>
                <a:xfrm>
                  <a:off x="8180847" y="1776670"/>
                  <a:ext cx="3720890" cy="584775"/>
                </a:xfrm>
                <a:prstGeom prst="rect">
                  <a:avLst/>
                </a:prstGeom>
                <a:blipFill>
                  <a:blip r:embed="rId4"/>
                  <a:stretch>
                    <a:fillRect b="-23404"/>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id="{CB3DA5E5-9FD1-A246-B57E-C0BF6282646C}"/>
                </a:ext>
              </a:extLst>
            </p:cNvPr>
            <p:cNvSpPr/>
            <p:nvPr/>
          </p:nvSpPr>
          <p:spPr>
            <a:xfrm>
              <a:off x="5325754" y="1338338"/>
              <a:ext cx="720000" cy="720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I</a:t>
              </a:r>
            </a:p>
          </p:txBody>
        </p:sp>
        <p:sp>
          <p:nvSpPr>
            <p:cNvPr id="24" name="Rectangle 23">
              <a:extLst>
                <a:ext uri="{FF2B5EF4-FFF2-40B4-BE49-F238E27FC236}">
                  <a16:creationId xmlns:a16="http://schemas.microsoft.com/office/drawing/2014/main" id="{BA05F6F7-7F7C-064E-AEDD-FECFB54EF5F3}"/>
                </a:ext>
              </a:extLst>
            </p:cNvPr>
            <p:cNvSpPr/>
            <p:nvPr/>
          </p:nvSpPr>
          <p:spPr>
            <a:xfrm>
              <a:off x="7233705" y="1311121"/>
              <a:ext cx="720000" cy="720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I</a:t>
              </a:r>
            </a:p>
          </p:txBody>
        </p:sp>
      </p:gr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80CDC3F7-5A5D-6343-A38E-7355C3F93C9F}"/>
                  </a:ext>
                </a:extLst>
              </p:cNvPr>
              <p:cNvSpPr/>
              <p:nvPr/>
            </p:nvSpPr>
            <p:spPr>
              <a:xfrm>
                <a:off x="179412" y="4553375"/>
                <a:ext cx="11833175" cy="14719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smtClean="0">
                              <a:latin typeface="Cambria Math" panose="02040503050406030204" pitchFamily="18" charset="0"/>
                            </a:rPr>
                          </m:ctrlPr>
                        </m:dPr>
                        <m:e>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en-US" sz="2400">
                                        <a:latin typeface="Cambria Math" panose="02040503050406030204" pitchFamily="18" charset="0"/>
                                      </a:rPr>
                                      <m:t>0</m:t>
                                    </m:r>
                                  </m:e>
                                </m:mr>
                                <m:mr>
                                  <m:e>
                                    <m:r>
                                      <m:rPr>
                                        <m:nor/>
                                      </m:rPr>
                                      <a:rPr lang="en-US" sz="2400">
                                        <a:latin typeface="Cambria Math" panose="02040503050406030204" pitchFamily="18" charset="0"/>
                                      </a:rPr>
                                      <m:t>0</m:t>
                                    </m:r>
                                  </m:e>
                                  <m:e>
                                    <m:r>
                                      <m:rPr>
                                        <m:nor/>
                                      </m:rPr>
                                      <a:rPr lang="en-US" sz="2400">
                                        <a:latin typeface="Cambria Math" panose="02040503050406030204" pitchFamily="18" charset="0"/>
                                      </a:rPr>
                                      <m:t>1</m:t>
                                    </m:r>
                                  </m:e>
                                </m:mr>
                              </m:m>
                            </m:e>
                          </m:d>
                          <m:r>
                            <a:rPr lang="en-US" sz="2400" i="0" dirty="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r>
                                <m:rPr>
                                  <m:nor/>
                                </m:rP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r>
                                    <m:rPr>
                                      <m:nor/>
                                    </m:rPr>
                                    <a:rPr lang="en-US" sz="2400">
                                      <a:latin typeface="Cambria Math" panose="02040503050406030204" pitchFamily="18" charset="0"/>
                                    </a:rPr>
                                    <m:t>2</m:t>
                                  </m:r>
                                </m:e>
                              </m:rad>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
                            </m:e>
                          </m:d>
                        </m:e>
                      </m:d>
                      <m:d>
                        <m:dPr>
                          <m:ctrlPr>
                            <a:rPr lang="en-ZA" sz="2400" i="1">
                              <a:latin typeface="Cambria Math" panose="02040503050406030204" pitchFamily="18" charset="0"/>
                              <a:ea typeface="Cambria Math" panose="02040503050406030204" pitchFamily="18" charset="0"/>
                            </a:rPr>
                          </m:ctrlPr>
                        </m:dPr>
                        <m:e>
                          <m:m>
                            <m:mPr>
                              <m:mcs>
                                <m:mc>
                                  <m:mcPr>
                                    <m:count m:val="4"/>
                                    <m:mcJc m:val="center"/>
                                  </m:mcPr>
                                </m:mc>
                              </m:mcs>
                              <m:ctrlPr>
                                <a:rPr lang="en-ZA" sz="2400" i="1">
                                  <a:latin typeface="Cambria Math" panose="02040503050406030204" pitchFamily="18" charset="0"/>
                                  <a:ea typeface="Cambria Math" panose="02040503050406030204" pitchFamily="18" charset="0"/>
                                </a:rPr>
                              </m:ctrlPr>
                            </m:mPr>
                            <m:mr>
                              <m:e>
                                <m:r>
                                  <a:rPr lang="sr-Latn-RS" sz="2400" i="0">
                                    <a:latin typeface="Cambria Math" panose="02040503050406030204" pitchFamily="18" charset="0"/>
                                    <a:ea typeface="Cambria Math" panose="02040503050406030204" pitchFamily="18" charset="0"/>
                                  </a:rPr>
                                  <m:t>1</m:t>
                                </m:r>
                              </m:e>
                              <m:e>
                                <m:r>
                                  <a:rPr lang="sr-Latn-RS" sz="2400" i="0">
                                    <a:latin typeface="Cambria Math" panose="02040503050406030204" pitchFamily="18" charset="0"/>
                                    <a:ea typeface="Cambria Math" panose="02040503050406030204" pitchFamily="18" charset="0"/>
                                  </a:rPr>
                                  <m:t>0</m:t>
                                </m:r>
                              </m:e>
                              <m:e>
                                <m:r>
                                  <a:rPr lang="sr-Latn-RS" sz="2400" i="0">
                                    <a:latin typeface="Cambria Math" panose="02040503050406030204" pitchFamily="18" charset="0"/>
                                    <a:ea typeface="Cambria Math" panose="02040503050406030204" pitchFamily="18" charset="0"/>
                                  </a:rPr>
                                  <m:t>0</m:t>
                                </m:r>
                              </m:e>
                              <m:e>
                                <m:r>
                                  <a:rPr lang="sr-Latn-RS" sz="2400" i="0">
                                    <a:latin typeface="Cambria Math" panose="02040503050406030204" pitchFamily="18" charset="0"/>
                                    <a:ea typeface="Cambria Math" panose="02040503050406030204" pitchFamily="18" charset="0"/>
                                  </a:rPr>
                                  <m:t>0</m:t>
                                </m:r>
                              </m:e>
                            </m:mr>
                            <m:mr>
                              <m:e>
                                <m:r>
                                  <a:rPr lang="sr-Latn-RS" sz="2400" i="0">
                                    <a:latin typeface="Cambria Math" panose="02040503050406030204" pitchFamily="18" charset="0"/>
                                    <a:ea typeface="Cambria Math" panose="02040503050406030204" pitchFamily="18" charset="0"/>
                                  </a:rPr>
                                  <m:t>0</m:t>
                                </m:r>
                              </m:e>
                              <m:e>
                                <m:r>
                                  <a:rPr lang="sr-Latn-RS" sz="2400" i="0">
                                    <a:latin typeface="Cambria Math" panose="02040503050406030204" pitchFamily="18" charset="0"/>
                                    <a:ea typeface="Cambria Math" panose="02040503050406030204" pitchFamily="18" charset="0"/>
                                  </a:rPr>
                                  <m:t>1</m:t>
                                </m:r>
                              </m:e>
                              <m:e>
                                <m:r>
                                  <a:rPr lang="sr-Latn-RS" sz="2400" i="0">
                                    <a:latin typeface="Cambria Math" panose="02040503050406030204" pitchFamily="18" charset="0"/>
                                    <a:ea typeface="Cambria Math" panose="02040503050406030204" pitchFamily="18" charset="0"/>
                                  </a:rPr>
                                  <m:t>0</m:t>
                                </m:r>
                              </m:e>
                              <m:e>
                                <m:r>
                                  <a:rPr lang="sr-Latn-RS" sz="2400" i="0">
                                    <a:latin typeface="Cambria Math" panose="02040503050406030204" pitchFamily="18" charset="0"/>
                                    <a:ea typeface="Cambria Math" panose="02040503050406030204" pitchFamily="18" charset="0"/>
                                  </a:rPr>
                                  <m:t>0</m:t>
                                </m:r>
                              </m:e>
                            </m:mr>
                            <m:mr>
                              <m:e>
                                <m:r>
                                  <a:rPr lang="sr-Latn-RS" sz="2400" i="0">
                                    <a:latin typeface="Cambria Math" panose="02040503050406030204" pitchFamily="18" charset="0"/>
                                    <a:ea typeface="Cambria Math" panose="02040503050406030204" pitchFamily="18" charset="0"/>
                                  </a:rPr>
                                  <m:t>0</m:t>
                                </m:r>
                              </m:e>
                              <m:e>
                                <m:r>
                                  <a:rPr lang="sr-Latn-RS" sz="2400" i="0">
                                    <a:latin typeface="Cambria Math" panose="02040503050406030204" pitchFamily="18" charset="0"/>
                                    <a:ea typeface="Cambria Math" panose="02040503050406030204" pitchFamily="18" charset="0"/>
                                  </a:rPr>
                                  <m:t>0</m:t>
                                </m:r>
                              </m:e>
                              <m:e>
                                <m:r>
                                  <a:rPr lang="sr-Latn-RS" sz="2400" i="0">
                                    <a:latin typeface="Cambria Math" panose="02040503050406030204" pitchFamily="18" charset="0"/>
                                    <a:ea typeface="Cambria Math" panose="02040503050406030204" pitchFamily="18" charset="0"/>
                                  </a:rPr>
                                  <m:t>1</m:t>
                                </m:r>
                              </m:e>
                              <m:e>
                                <m:r>
                                  <a:rPr lang="sr-Latn-RS" sz="2400" i="0">
                                    <a:latin typeface="Cambria Math" panose="02040503050406030204" pitchFamily="18" charset="0"/>
                                    <a:ea typeface="Cambria Math" panose="02040503050406030204" pitchFamily="18" charset="0"/>
                                  </a:rPr>
                                  <m:t>0</m:t>
                                </m:r>
                              </m:e>
                            </m:mr>
                            <m:mr>
                              <m:e>
                                <m:r>
                                  <a:rPr lang="sr-Latn-RS" sz="2400" i="0">
                                    <a:latin typeface="Cambria Math" panose="02040503050406030204" pitchFamily="18" charset="0"/>
                                    <a:ea typeface="Cambria Math" panose="02040503050406030204" pitchFamily="18" charset="0"/>
                                  </a:rPr>
                                  <m:t>0</m:t>
                                </m:r>
                              </m:e>
                              <m:e>
                                <m:r>
                                  <a:rPr lang="sr-Latn-RS" sz="2400" i="0">
                                    <a:latin typeface="Cambria Math" panose="02040503050406030204" pitchFamily="18" charset="0"/>
                                    <a:ea typeface="Cambria Math" panose="02040503050406030204" pitchFamily="18" charset="0"/>
                                  </a:rPr>
                                  <m:t>0</m:t>
                                </m:r>
                              </m:e>
                              <m:e>
                                <m:r>
                                  <a:rPr lang="sr-Latn-RS" sz="2400" i="0">
                                    <a:latin typeface="Cambria Math" panose="02040503050406030204" pitchFamily="18" charset="0"/>
                                    <a:ea typeface="Cambria Math" panose="02040503050406030204" pitchFamily="18" charset="0"/>
                                  </a:rPr>
                                  <m:t>0</m:t>
                                </m:r>
                              </m:e>
                              <m:e>
                                <m:r>
                                  <a:rPr lang="sr-Latn-RS" sz="2400" i="0">
                                    <a:latin typeface="Cambria Math" panose="02040503050406030204" pitchFamily="18" charset="0"/>
                                    <a:ea typeface="Cambria Math" panose="02040503050406030204" pitchFamily="18" charset="0"/>
                                  </a:rPr>
                                  <m:t>−1</m:t>
                                </m:r>
                              </m:e>
                            </m:mr>
                          </m:m>
                        </m:e>
                      </m:d>
                      <m:d>
                        <m:dPr>
                          <m:ctrlPr>
                            <a:rPr lang="en-US" sz="2400" i="1">
                              <a:latin typeface="Cambria Math" panose="02040503050406030204" pitchFamily="18" charset="0"/>
                            </a:rPr>
                          </m:ctrlPr>
                        </m:dPr>
                        <m:e>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en-US" sz="2400">
                                        <a:latin typeface="Cambria Math" panose="02040503050406030204" pitchFamily="18" charset="0"/>
                                      </a:rPr>
                                      <m:t>0</m:t>
                                    </m:r>
                                  </m:e>
                                </m:mr>
                                <m:mr>
                                  <m:e>
                                    <m:r>
                                      <m:rPr>
                                        <m:nor/>
                                      </m:rPr>
                                      <a:rPr lang="en-US" sz="2400">
                                        <a:latin typeface="Cambria Math" panose="02040503050406030204" pitchFamily="18" charset="0"/>
                                      </a:rPr>
                                      <m:t>0</m:t>
                                    </m:r>
                                  </m:e>
                                  <m:e>
                                    <m:r>
                                      <m:rPr>
                                        <m:nor/>
                                      </m:rPr>
                                      <a:rPr lang="en-US" sz="2400">
                                        <a:latin typeface="Cambria Math" panose="02040503050406030204" pitchFamily="18" charset="0"/>
                                      </a:rPr>
                                      <m:t>1</m:t>
                                    </m:r>
                                  </m:e>
                                </m:mr>
                              </m:m>
                            </m:e>
                          </m:d>
                          <m:r>
                            <a:rPr lang="en-US" sz="2400" i="0" dirty="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r>
                                <m:rPr>
                                  <m:nor/>
                                </m:rP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r>
                                    <m:rPr>
                                      <m:nor/>
                                    </m:rPr>
                                    <a:rPr lang="en-US" sz="2400">
                                      <a:latin typeface="Cambria Math" panose="02040503050406030204" pitchFamily="18" charset="0"/>
                                    </a:rPr>
                                    <m:t>2</m:t>
                                  </m:r>
                                </m:e>
                              </m:rad>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
                            </m:e>
                          </m:d>
                        </m:e>
                      </m:d>
                      <m:r>
                        <a:rPr lang="sr-Latn-RS" sz="2400" b="0" i="0" smtClean="0">
                          <a:latin typeface="Cambria Math" panose="02040503050406030204" pitchFamily="18" charset="0"/>
                        </a:rPr>
                        <m:t>=</m:t>
                      </m:r>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m:rPr>
                                    <m:brk m:alnAt="7"/>
                                  </m:rPr>
                                  <a:rPr lang="en-US" sz="2400" i="0">
                                    <a:latin typeface="Cambria Math" panose="02040503050406030204" pitchFamily="18" charset="0"/>
                                  </a:rPr>
                                  <m:t>1</m:t>
                                </m:r>
                              </m:e>
                              <m:e>
                                <m:r>
                                  <a:rPr lang="en-US" sz="2400" i="0">
                                    <a:latin typeface="Cambria Math" panose="02040503050406030204" pitchFamily="18" charset="0"/>
                                  </a:rPr>
                                  <m:t>0</m:t>
                                </m:r>
                              </m:e>
                              <m:e>
                                <m:r>
                                  <a:rPr lang="en-US" sz="2400" i="0">
                                    <a:latin typeface="Cambria Math" panose="02040503050406030204" pitchFamily="18" charset="0"/>
                                  </a:rPr>
                                  <m:t>0</m:t>
                                </m:r>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1</m:t>
                                </m:r>
                              </m:e>
                              <m:e>
                                <m:r>
                                  <a:rPr lang="en-US" sz="2400" i="0">
                                    <a:latin typeface="Cambria Math" panose="02040503050406030204" pitchFamily="18" charset="0"/>
                                  </a:rPr>
                                  <m:t>0</m:t>
                                </m:r>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0</m:t>
                                </m:r>
                              </m:e>
                              <m:e>
                                <m:r>
                                  <a:rPr lang="en-US" sz="2400" i="0">
                                    <a:latin typeface="Cambria Math" panose="02040503050406030204" pitchFamily="18" charset="0"/>
                                  </a:rPr>
                                  <m:t>0</m:t>
                                </m:r>
                              </m:e>
                              <m:e>
                                <m:r>
                                  <a:rPr lang="en-US" sz="2400" i="0">
                                    <a:latin typeface="Cambria Math" panose="02040503050406030204" pitchFamily="18" charset="0"/>
                                  </a:rPr>
                                  <m:t>1</m:t>
                                </m:r>
                              </m:e>
                            </m:mr>
                            <m:mr>
                              <m:e>
                                <m:r>
                                  <a:rPr lang="en-US" sz="2400" i="0">
                                    <a:latin typeface="Cambria Math" panose="02040503050406030204" pitchFamily="18" charset="0"/>
                                  </a:rPr>
                                  <m:t>0</m:t>
                                </m:r>
                              </m:e>
                              <m:e>
                                <m:r>
                                  <a:rPr lang="en-US" sz="2400" i="0">
                                    <a:latin typeface="Cambria Math" panose="02040503050406030204" pitchFamily="18" charset="0"/>
                                  </a:rPr>
                                  <m:t>0</m:t>
                                </m:r>
                              </m:e>
                              <m:e>
                                <m:r>
                                  <a:rPr lang="en-US" sz="2400" i="0">
                                    <a:latin typeface="Cambria Math" panose="02040503050406030204" pitchFamily="18" charset="0"/>
                                  </a:rPr>
                                  <m:t>1</m:t>
                                </m:r>
                              </m:e>
                              <m:e>
                                <m:r>
                                  <a:rPr lang="en-US" sz="2400" i="0">
                                    <a:latin typeface="Cambria Math" panose="02040503050406030204" pitchFamily="18" charset="0"/>
                                  </a:rPr>
                                  <m:t>0</m:t>
                                </m:r>
                              </m:e>
                            </m:mr>
                          </m:m>
                        </m:e>
                      </m:d>
                    </m:oMath>
                  </m:oMathPara>
                </a14:m>
                <a:endParaRPr lang="en-US" sz="2400" dirty="0"/>
              </a:p>
            </p:txBody>
          </p:sp>
        </mc:Choice>
        <mc:Fallback xmlns="">
          <p:sp>
            <p:nvSpPr>
              <p:cNvPr id="26" name="Rectangle 25">
                <a:extLst>
                  <a:ext uri="{FF2B5EF4-FFF2-40B4-BE49-F238E27FC236}">
                    <a16:creationId xmlns:a16="http://schemas.microsoft.com/office/drawing/2014/main" id="{80CDC3F7-5A5D-6343-A38E-7355C3F93C9F}"/>
                  </a:ext>
                </a:extLst>
              </p:cNvPr>
              <p:cNvSpPr>
                <a:spLocks noRot="1" noChangeAspect="1" noMove="1" noResize="1" noEditPoints="1" noAdjustHandles="1" noChangeArrowheads="1" noChangeShapeType="1" noTextEdit="1"/>
              </p:cNvSpPr>
              <p:nvPr/>
            </p:nvSpPr>
            <p:spPr>
              <a:xfrm>
                <a:off x="179412" y="4553375"/>
                <a:ext cx="11833175" cy="1471941"/>
              </a:xfrm>
              <a:prstGeom prst="rect">
                <a:avLst/>
              </a:prstGeom>
              <a:blipFill>
                <a:blip r:embed="rId5"/>
                <a:stretch>
                  <a:fillRect b="-1724"/>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B0ADD98D-9DE5-4649-9749-B3C583A9685C}"/>
              </a:ext>
            </a:extLst>
          </p:cNvPr>
          <p:cNvGrpSpPr/>
          <p:nvPr/>
        </p:nvGrpSpPr>
        <p:grpSpPr>
          <a:xfrm>
            <a:off x="1190682" y="1271234"/>
            <a:ext cx="1675526" cy="1559836"/>
            <a:chOff x="7711403" y="1272988"/>
            <a:chExt cx="1675526" cy="1559836"/>
          </a:xfrm>
        </p:grpSpPr>
        <p:cxnSp>
          <p:nvCxnSpPr>
            <p:cNvPr id="8" name="Straight Connector 7">
              <a:extLst>
                <a:ext uri="{FF2B5EF4-FFF2-40B4-BE49-F238E27FC236}">
                  <a16:creationId xmlns:a16="http://schemas.microsoft.com/office/drawing/2014/main" id="{6B63796A-7AB3-B144-ADB2-179F0CD39FD3}"/>
                </a:ext>
              </a:extLst>
            </p:cNvPr>
            <p:cNvCxnSpPr>
              <a:cxnSpLocks/>
            </p:cNvCxnSpPr>
            <p:nvPr/>
          </p:nvCxnSpPr>
          <p:spPr>
            <a:xfrm>
              <a:off x="8221339" y="1545723"/>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8419B223-82EB-3845-9645-A1517D6F8765}"/>
                </a:ext>
              </a:extLst>
            </p:cNvPr>
            <p:cNvCxnSpPr>
              <a:cxnSpLocks/>
            </p:cNvCxnSpPr>
            <p:nvPr/>
          </p:nvCxnSpPr>
          <p:spPr>
            <a:xfrm>
              <a:off x="8194194" y="2485584"/>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7063B773-106D-3C4C-8982-13ABE495549A}"/>
                </a:ext>
              </a:extLst>
            </p:cNvPr>
            <p:cNvSpPr/>
            <p:nvPr/>
          </p:nvSpPr>
          <p:spPr>
            <a:xfrm>
              <a:off x="8420469" y="211282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6" name="Oval 5">
              <a:extLst>
                <a:ext uri="{FF2B5EF4-FFF2-40B4-BE49-F238E27FC236}">
                  <a16:creationId xmlns:a16="http://schemas.microsoft.com/office/drawing/2014/main" id="{DA0C6938-7B50-8144-8745-5410BD101BBD}"/>
                </a:ext>
              </a:extLst>
            </p:cNvPr>
            <p:cNvSpPr/>
            <p:nvPr/>
          </p:nvSpPr>
          <p:spPr>
            <a:xfrm>
              <a:off x="8685139" y="1447102"/>
              <a:ext cx="180000" cy="18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7" name="Straight Connector 6">
              <a:extLst>
                <a:ext uri="{FF2B5EF4-FFF2-40B4-BE49-F238E27FC236}">
                  <a16:creationId xmlns:a16="http://schemas.microsoft.com/office/drawing/2014/main" id="{BAF133DE-0031-D346-A9FE-2538D8EB23AD}"/>
                </a:ext>
              </a:extLst>
            </p:cNvPr>
            <p:cNvCxnSpPr>
              <a:cxnSpLocks/>
              <a:stCxn id="6" idx="4"/>
              <a:endCxn id="5" idx="0"/>
            </p:cNvCxnSpPr>
            <p:nvPr/>
          </p:nvCxnSpPr>
          <p:spPr>
            <a:xfrm>
              <a:off x="8775139" y="1627102"/>
              <a:ext cx="0" cy="4857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A173CAF-8EB1-EE40-B516-B69E6152B428}"/>
                </a:ext>
              </a:extLst>
            </p:cNvPr>
            <p:cNvSpPr txBox="1"/>
            <p:nvPr/>
          </p:nvSpPr>
          <p:spPr>
            <a:xfrm>
              <a:off x="7729405" y="1272988"/>
              <a:ext cx="336952" cy="523220"/>
            </a:xfrm>
            <a:prstGeom prst="rect">
              <a:avLst/>
            </a:prstGeom>
            <a:noFill/>
          </p:spPr>
          <p:txBody>
            <a:bodyPr wrap="none" rtlCol="0">
              <a:spAutoFit/>
            </a:bodyPr>
            <a:lstStyle/>
            <a:p>
              <a:r>
                <a:rPr lang="en-US" sz="2800" dirty="0"/>
                <a:t>c</a:t>
              </a:r>
            </a:p>
          </p:txBody>
        </p:sp>
        <p:sp>
          <p:nvSpPr>
            <p:cNvPr id="28" name="TextBox 27">
              <a:extLst>
                <a:ext uri="{FF2B5EF4-FFF2-40B4-BE49-F238E27FC236}">
                  <a16:creationId xmlns:a16="http://schemas.microsoft.com/office/drawing/2014/main" id="{1200DF25-4B13-9043-A981-02AB27391321}"/>
                </a:ext>
              </a:extLst>
            </p:cNvPr>
            <p:cNvSpPr txBox="1"/>
            <p:nvPr/>
          </p:nvSpPr>
          <p:spPr>
            <a:xfrm>
              <a:off x="7711403" y="2207761"/>
              <a:ext cx="304892" cy="523220"/>
            </a:xfrm>
            <a:prstGeom prst="rect">
              <a:avLst/>
            </a:prstGeom>
            <a:noFill/>
          </p:spPr>
          <p:txBody>
            <a:bodyPr wrap="none" rtlCol="0">
              <a:spAutoFit/>
            </a:bodyPr>
            <a:lstStyle/>
            <a:p>
              <a:r>
                <a:rPr lang="en-US" sz="2800" dirty="0"/>
                <a:t>t</a:t>
              </a:r>
            </a:p>
          </p:txBody>
        </p:sp>
      </p:grpSp>
      <p:grpSp>
        <p:nvGrpSpPr>
          <p:cNvPr id="31" name="Group 30">
            <a:extLst>
              <a:ext uri="{FF2B5EF4-FFF2-40B4-BE49-F238E27FC236}">
                <a16:creationId xmlns:a16="http://schemas.microsoft.com/office/drawing/2014/main" id="{EEA082EC-9460-1E40-AD27-042C39DA1F76}"/>
              </a:ext>
            </a:extLst>
          </p:cNvPr>
          <p:cNvGrpSpPr/>
          <p:nvPr/>
        </p:nvGrpSpPr>
        <p:grpSpPr>
          <a:xfrm>
            <a:off x="610524" y="3244218"/>
            <a:ext cx="11168833" cy="1109315"/>
            <a:chOff x="610524" y="3244218"/>
            <a:chExt cx="11168833" cy="1109315"/>
          </a:xfrm>
        </p:grpSpPr>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E0F126D1-BE81-5F4F-A347-D3CD15B9637E}"/>
                    </a:ext>
                  </a:extLst>
                </p:cNvPr>
                <p:cNvSpPr/>
                <p:nvPr/>
              </p:nvSpPr>
              <p:spPr>
                <a:xfrm>
                  <a:off x="610524" y="3346719"/>
                  <a:ext cx="5286896" cy="10068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ea typeface="Cambria Math" panose="02040503050406030204" pitchFamily="18" charset="0"/>
                              </a:rPr>
                            </m:ctrlPr>
                          </m:sSubPr>
                          <m:e>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a:rPr lang="sr-Latn-RS" sz="2800" i="1">
                                    <a:latin typeface="Cambria Math" panose="02040503050406030204" pitchFamily="18" charset="0"/>
                                    <a:ea typeface="Cambria Math" panose="02040503050406030204" pitchFamily="18" charset="0"/>
                                  </a:rPr>
                                  <m:t>0</m:t>
                                </m:r>
                              </m:e>
                            </m:d>
                          </m:e>
                          <m:sub>
                            <m:r>
                              <a:rPr lang="sr-Latn-RS" sz="2800" b="0" i="1" smtClean="0">
                                <a:latin typeface="Cambria Math" panose="02040503050406030204" pitchFamily="18" charset="0"/>
                                <a:ea typeface="Cambria Math" panose="02040503050406030204" pitchFamily="18" charset="0"/>
                              </a:rPr>
                              <m:t>𝑡</m:t>
                            </m:r>
                          </m:sub>
                        </m:sSub>
                        <m:groupChr>
                          <m:groupChrPr>
                            <m:chr m:val="→"/>
                            <m:vertJc m:val="bot"/>
                            <m:ctrlPr>
                              <a:rPr lang="en-US" sz="2800" i="1" smtClean="0">
                                <a:latin typeface="Cambria Math" panose="02040503050406030204" pitchFamily="18" charset="0"/>
                                <a:ea typeface="Cambria Math" panose="02040503050406030204" pitchFamily="18" charset="0"/>
                              </a:rPr>
                            </m:ctrlPr>
                          </m:groupChrPr>
                          <m:e>
                            <m:r>
                              <m:rPr>
                                <m:brk m:alnAt="2"/>
                              </m:rPr>
                              <a:rPr lang="sr-Latn-RS" sz="2800" b="0" i="1" smtClean="0">
                                <a:latin typeface="Cambria Math" panose="02040503050406030204" pitchFamily="18" charset="0"/>
                                <a:ea typeface="Cambria Math" panose="02040503050406030204" pitchFamily="18" charset="0"/>
                              </a:rPr>
                              <m:t>𝐻</m:t>
                            </m:r>
                          </m:e>
                        </m:groupCh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a:latin typeface="Cambria Math" panose="02040503050406030204" pitchFamily="18" charset="0"/>
                                  </a:rPr>
                                  <m:t>0</m:t>
                                </m:r>
                              </m:e>
                            </m:d>
                            <m:r>
                              <a:rPr lang="en-US" sz="280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a:latin typeface="Cambria Math" panose="02040503050406030204" pitchFamily="18" charset="0"/>
                                  </a:rPr>
                                  <m:t>1</m:t>
                                </m:r>
                              </m:e>
                            </m:d>
                          </m:num>
                          <m:den>
                            <m:rad>
                              <m:radPr>
                                <m:degHide m:val="on"/>
                                <m:ctrlPr>
                                  <a:rPr lang="en-US" sz="2800" i="1">
                                    <a:latin typeface="Cambria Math" panose="02040503050406030204" pitchFamily="18" charset="0"/>
                                  </a:rPr>
                                </m:ctrlPr>
                              </m:radPr>
                              <m:deg/>
                              <m:e>
                                <m:r>
                                  <a:rPr lang="en-US" sz="2800">
                                    <a:latin typeface="Cambria Math" panose="02040503050406030204" pitchFamily="18" charset="0"/>
                                  </a:rPr>
                                  <m:t>2</m:t>
                                </m:r>
                              </m:e>
                            </m:rad>
                          </m:den>
                        </m:f>
                        <m:groupChr>
                          <m:groupChrPr>
                            <m:chr m:val="→"/>
                            <m:vertJc m:val="bot"/>
                            <m:ctrlPr>
                              <a:rPr lang="en-US" sz="2800" i="1">
                                <a:latin typeface="Cambria Math" panose="02040503050406030204" pitchFamily="18" charset="0"/>
                                <a:ea typeface="Cambria Math" panose="02040503050406030204" pitchFamily="18" charset="0"/>
                              </a:rPr>
                            </m:ctrlPr>
                          </m:groupChrPr>
                          <m:e>
                            <m:r>
                              <m:rPr>
                                <m:brk m:alnAt="2"/>
                              </m:rPr>
                              <a:rPr lang="sr-Latn-RS" sz="2800" b="0" i="1" smtClean="0">
                                <a:latin typeface="Cambria Math" panose="02040503050406030204" pitchFamily="18" charset="0"/>
                                <a:ea typeface="Cambria Math" panose="02040503050406030204" pitchFamily="18" charset="0"/>
                              </a:rPr>
                              <m:t>𝑐</m:t>
                            </m:r>
                            <m:r>
                              <a:rPr lang="sr-Latn-RS" sz="2800" b="0" i="1" smtClean="0">
                                <a:latin typeface="Cambria Math" panose="02040503050406030204" pitchFamily="18" charset="0"/>
                                <a:ea typeface="Cambria Math" panose="02040503050406030204" pitchFamily="18" charset="0"/>
                              </a:rPr>
                              <m:t>𝑍</m:t>
                            </m:r>
                          </m:e>
                        </m:groupCh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a:latin typeface="Cambria Math" panose="02040503050406030204" pitchFamily="18" charset="0"/>
                                  </a:rPr>
                                  <m:t>0</m:t>
                                </m:r>
                              </m:e>
                            </m:d>
                            <m:r>
                              <a:rPr lang="sr-Latn-RS" sz="2800" b="0" i="0"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a:latin typeface="Cambria Math" panose="02040503050406030204" pitchFamily="18" charset="0"/>
                                  </a:rPr>
                                  <m:t>1</m:t>
                                </m:r>
                              </m:e>
                            </m:d>
                          </m:num>
                          <m:den>
                            <m:rad>
                              <m:radPr>
                                <m:degHide m:val="on"/>
                                <m:ctrlPr>
                                  <a:rPr lang="en-US" sz="2800" i="1">
                                    <a:latin typeface="Cambria Math" panose="02040503050406030204" pitchFamily="18" charset="0"/>
                                  </a:rPr>
                                </m:ctrlPr>
                              </m:radPr>
                              <m:deg/>
                              <m:e>
                                <m:r>
                                  <a:rPr lang="en-US" sz="2800">
                                    <a:latin typeface="Cambria Math" panose="02040503050406030204" pitchFamily="18" charset="0"/>
                                  </a:rPr>
                                  <m:t>2</m:t>
                                </m:r>
                              </m:e>
                            </m:rad>
                          </m:den>
                        </m:f>
                        <m:groupChr>
                          <m:groupChrPr>
                            <m:chr m:val="→"/>
                            <m:vertJc m:val="bot"/>
                            <m:ctrlPr>
                              <a:rPr lang="en-US" sz="2800" i="1">
                                <a:latin typeface="Cambria Math" panose="02040503050406030204" pitchFamily="18" charset="0"/>
                                <a:ea typeface="Cambria Math" panose="02040503050406030204" pitchFamily="18" charset="0"/>
                              </a:rPr>
                            </m:ctrlPr>
                          </m:groupChrPr>
                          <m:e>
                            <m:r>
                              <m:rPr>
                                <m:brk m:alnAt="2"/>
                              </m:rPr>
                              <a:rPr lang="sr-Latn-RS" sz="2800" i="1">
                                <a:latin typeface="Cambria Math" panose="02040503050406030204" pitchFamily="18" charset="0"/>
                                <a:ea typeface="Cambria Math" panose="02040503050406030204" pitchFamily="18" charset="0"/>
                              </a:rPr>
                              <m:t>𝐻</m:t>
                            </m:r>
                          </m:e>
                        </m:groupChr>
                        <m:sSub>
                          <m:sSubPr>
                            <m:ctrlPr>
                              <a:rPr lang="en-US" sz="2800" i="1">
                                <a:latin typeface="Cambria Math" panose="02040503050406030204" pitchFamily="18" charset="0"/>
                                <a:ea typeface="Cambria Math" panose="02040503050406030204" pitchFamily="18" charset="0"/>
                              </a:rPr>
                            </m:ctrlPr>
                          </m:sSubPr>
                          <m:e>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a:rPr lang="sr-Latn-RS" sz="2800" b="0" i="1" smtClean="0">
                                    <a:latin typeface="Cambria Math" panose="02040503050406030204" pitchFamily="18" charset="0"/>
                                    <a:ea typeface="Cambria Math" panose="02040503050406030204" pitchFamily="18" charset="0"/>
                                  </a:rPr>
                                  <m:t>1</m:t>
                                </m:r>
                              </m:e>
                            </m:d>
                          </m:e>
                          <m:sub>
                            <m:r>
                              <a:rPr lang="sr-Latn-RS" sz="2800" i="1">
                                <a:latin typeface="Cambria Math" panose="02040503050406030204" pitchFamily="18" charset="0"/>
                                <a:ea typeface="Cambria Math" panose="02040503050406030204" pitchFamily="18" charset="0"/>
                              </a:rPr>
                              <m:t>𝑡</m:t>
                            </m:r>
                          </m:sub>
                        </m:sSub>
                      </m:oMath>
                    </m:oMathPara>
                  </a14:m>
                  <a:endParaRPr lang="en-US" sz="2800" dirty="0"/>
                </a:p>
              </p:txBody>
            </p:sp>
          </mc:Choice>
          <mc:Fallback xmlns="">
            <p:sp>
              <p:nvSpPr>
                <p:cNvPr id="29" name="Rectangle 28">
                  <a:extLst>
                    <a:ext uri="{FF2B5EF4-FFF2-40B4-BE49-F238E27FC236}">
                      <a16:creationId xmlns:a16="http://schemas.microsoft.com/office/drawing/2014/main" id="{E0F126D1-BE81-5F4F-A347-D3CD15B9637E}"/>
                    </a:ext>
                  </a:extLst>
                </p:cNvPr>
                <p:cNvSpPr>
                  <a:spLocks noRot="1" noChangeAspect="1" noMove="1" noResize="1" noEditPoints="1" noAdjustHandles="1" noChangeArrowheads="1" noChangeShapeType="1" noTextEdit="1"/>
                </p:cNvSpPr>
                <p:nvPr/>
              </p:nvSpPr>
              <p:spPr>
                <a:xfrm>
                  <a:off x="610524" y="3346719"/>
                  <a:ext cx="5286896" cy="1006814"/>
                </a:xfrm>
                <a:prstGeom prst="rect">
                  <a:avLst/>
                </a:prstGeom>
                <a:blipFill>
                  <a:blip r:embed="rId6"/>
                  <a:stretch>
                    <a:fillRect l="-4087" t="-48101" r="-4808" b="-835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532FB409-0B4D-D240-982E-6D88637E83C9}"/>
                    </a:ext>
                  </a:extLst>
                </p:cNvPr>
                <p:cNvSpPr/>
                <p:nvPr/>
              </p:nvSpPr>
              <p:spPr>
                <a:xfrm>
                  <a:off x="6473096" y="3244218"/>
                  <a:ext cx="5306261" cy="10068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ea typeface="Cambria Math" panose="02040503050406030204" pitchFamily="18" charset="0"/>
                              </a:rPr>
                            </m:ctrlPr>
                          </m:sSubPr>
                          <m:e>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a:rPr lang="sr-Latn-RS" sz="2800" b="0" i="1" smtClean="0">
                                    <a:latin typeface="Cambria Math" panose="02040503050406030204" pitchFamily="18" charset="0"/>
                                    <a:ea typeface="Cambria Math" panose="02040503050406030204" pitchFamily="18" charset="0"/>
                                  </a:rPr>
                                  <m:t>1</m:t>
                                </m:r>
                              </m:e>
                            </m:d>
                          </m:e>
                          <m:sub>
                            <m:r>
                              <a:rPr lang="sr-Latn-RS" sz="2800" i="1">
                                <a:latin typeface="Cambria Math" panose="02040503050406030204" pitchFamily="18" charset="0"/>
                                <a:ea typeface="Cambria Math" panose="02040503050406030204" pitchFamily="18" charset="0"/>
                              </a:rPr>
                              <m:t>𝑡</m:t>
                            </m:r>
                          </m:sub>
                        </m:sSub>
                        <m:groupChr>
                          <m:groupChrPr>
                            <m:chr m:val="→"/>
                            <m:vertJc m:val="bot"/>
                            <m:ctrlPr>
                              <a:rPr lang="en-US" sz="2800" i="1" smtClean="0">
                                <a:latin typeface="Cambria Math" panose="02040503050406030204" pitchFamily="18" charset="0"/>
                                <a:ea typeface="Cambria Math" panose="02040503050406030204" pitchFamily="18" charset="0"/>
                              </a:rPr>
                            </m:ctrlPr>
                          </m:groupChrPr>
                          <m:e>
                            <m:r>
                              <m:rPr>
                                <m:brk m:alnAt="2"/>
                              </m:rPr>
                              <a:rPr lang="sr-Latn-RS" sz="2800" b="0" i="1" smtClean="0">
                                <a:latin typeface="Cambria Math" panose="02040503050406030204" pitchFamily="18" charset="0"/>
                                <a:ea typeface="Cambria Math" panose="02040503050406030204" pitchFamily="18" charset="0"/>
                              </a:rPr>
                              <m:t>𝐻</m:t>
                            </m:r>
                          </m:e>
                        </m:groupCh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a:latin typeface="Cambria Math" panose="02040503050406030204" pitchFamily="18" charset="0"/>
                                  </a:rPr>
                                  <m:t>0</m:t>
                                </m:r>
                              </m:e>
                            </m:d>
                            <m:r>
                              <a:rPr lang="sr-Latn-RS" sz="2800" b="0" i="0"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a:latin typeface="Cambria Math" panose="02040503050406030204" pitchFamily="18" charset="0"/>
                                  </a:rPr>
                                  <m:t>1</m:t>
                                </m:r>
                              </m:e>
                            </m:d>
                          </m:num>
                          <m:den>
                            <m:rad>
                              <m:radPr>
                                <m:degHide m:val="on"/>
                                <m:ctrlPr>
                                  <a:rPr lang="en-US" sz="2800" i="1">
                                    <a:latin typeface="Cambria Math" panose="02040503050406030204" pitchFamily="18" charset="0"/>
                                  </a:rPr>
                                </m:ctrlPr>
                              </m:radPr>
                              <m:deg/>
                              <m:e>
                                <m:r>
                                  <a:rPr lang="en-US" sz="2800">
                                    <a:latin typeface="Cambria Math" panose="02040503050406030204" pitchFamily="18" charset="0"/>
                                  </a:rPr>
                                  <m:t>2</m:t>
                                </m:r>
                              </m:e>
                            </m:rad>
                          </m:den>
                        </m:f>
                        <m:groupChr>
                          <m:groupChrPr>
                            <m:chr m:val="→"/>
                            <m:vertJc m:val="bot"/>
                            <m:ctrlPr>
                              <a:rPr lang="en-US" sz="2800" i="1">
                                <a:latin typeface="Cambria Math" panose="02040503050406030204" pitchFamily="18" charset="0"/>
                                <a:ea typeface="Cambria Math" panose="02040503050406030204" pitchFamily="18" charset="0"/>
                              </a:rPr>
                            </m:ctrlPr>
                          </m:groupChrPr>
                          <m:e>
                            <m:r>
                              <m:rPr>
                                <m:brk m:alnAt="2"/>
                              </m:rPr>
                              <a:rPr lang="sr-Latn-RS" sz="2800" b="0" i="1" smtClean="0">
                                <a:latin typeface="Cambria Math" panose="02040503050406030204" pitchFamily="18" charset="0"/>
                                <a:ea typeface="Cambria Math" panose="02040503050406030204" pitchFamily="18" charset="0"/>
                              </a:rPr>
                              <m:t>𝑐</m:t>
                            </m:r>
                            <m:r>
                              <a:rPr lang="sr-Latn-RS" sz="2800" b="0" i="1" smtClean="0">
                                <a:latin typeface="Cambria Math" panose="02040503050406030204" pitchFamily="18" charset="0"/>
                                <a:ea typeface="Cambria Math" panose="02040503050406030204" pitchFamily="18" charset="0"/>
                              </a:rPr>
                              <m:t>𝑍</m:t>
                            </m:r>
                          </m:e>
                        </m:groupCh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a:latin typeface="Cambria Math" panose="02040503050406030204" pitchFamily="18" charset="0"/>
                                  </a:rPr>
                                  <m:t>0</m:t>
                                </m:r>
                              </m:e>
                            </m:d>
                            <m:r>
                              <a:rPr lang="sr-Latn-RS" sz="2800" b="0" i="0"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a:latin typeface="Cambria Math" panose="02040503050406030204" pitchFamily="18" charset="0"/>
                                  </a:rPr>
                                  <m:t>1</m:t>
                                </m:r>
                              </m:e>
                            </m:d>
                          </m:num>
                          <m:den>
                            <m:rad>
                              <m:radPr>
                                <m:degHide m:val="on"/>
                                <m:ctrlPr>
                                  <a:rPr lang="en-US" sz="2800" i="1">
                                    <a:latin typeface="Cambria Math" panose="02040503050406030204" pitchFamily="18" charset="0"/>
                                  </a:rPr>
                                </m:ctrlPr>
                              </m:radPr>
                              <m:deg/>
                              <m:e>
                                <m:r>
                                  <a:rPr lang="en-US" sz="2800">
                                    <a:latin typeface="Cambria Math" panose="02040503050406030204" pitchFamily="18" charset="0"/>
                                  </a:rPr>
                                  <m:t>2</m:t>
                                </m:r>
                              </m:e>
                            </m:rad>
                          </m:den>
                        </m:f>
                        <m:groupChr>
                          <m:groupChrPr>
                            <m:chr m:val="→"/>
                            <m:vertJc m:val="bot"/>
                            <m:ctrlPr>
                              <a:rPr lang="en-US" sz="2800" i="1">
                                <a:latin typeface="Cambria Math" panose="02040503050406030204" pitchFamily="18" charset="0"/>
                                <a:ea typeface="Cambria Math" panose="02040503050406030204" pitchFamily="18" charset="0"/>
                              </a:rPr>
                            </m:ctrlPr>
                          </m:groupChrPr>
                          <m:e>
                            <m:r>
                              <m:rPr>
                                <m:brk m:alnAt="2"/>
                              </m:rPr>
                              <a:rPr lang="sr-Latn-RS" sz="2800" i="1">
                                <a:latin typeface="Cambria Math" panose="02040503050406030204" pitchFamily="18" charset="0"/>
                                <a:ea typeface="Cambria Math" panose="02040503050406030204" pitchFamily="18" charset="0"/>
                              </a:rPr>
                              <m:t>𝐻</m:t>
                            </m:r>
                          </m:e>
                        </m:groupChr>
                        <m:sSub>
                          <m:sSubPr>
                            <m:ctrlPr>
                              <a:rPr lang="en-US" sz="2800" i="1">
                                <a:latin typeface="Cambria Math" panose="02040503050406030204" pitchFamily="18" charset="0"/>
                                <a:ea typeface="Cambria Math" panose="02040503050406030204" pitchFamily="18" charset="0"/>
                              </a:rPr>
                            </m:ctrlPr>
                          </m:sSubPr>
                          <m:e>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a:rPr lang="sr-Latn-RS" sz="2800" i="1">
                                    <a:latin typeface="Cambria Math" panose="02040503050406030204" pitchFamily="18" charset="0"/>
                                    <a:ea typeface="Cambria Math" panose="02040503050406030204" pitchFamily="18" charset="0"/>
                                  </a:rPr>
                                  <m:t>0</m:t>
                                </m:r>
                              </m:e>
                            </m:d>
                          </m:e>
                          <m:sub>
                            <m:r>
                              <a:rPr lang="sr-Latn-RS" sz="2800" i="1">
                                <a:latin typeface="Cambria Math" panose="02040503050406030204" pitchFamily="18" charset="0"/>
                                <a:ea typeface="Cambria Math" panose="02040503050406030204" pitchFamily="18" charset="0"/>
                              </a:rPr>
                              <m:t>𝑡</m:t>
                            </m:r>
                          </m:sub>
                        </m:sSub>
                      </m:oMath>
                    </m:oMathPara>
                  </a14:m>
                  <a:endParaRPr lang="en-US" sz="2800" dirty="0"/>
                </a:p>
              </p:txBody>
            </p:sp>
          </mc:Choice>
          <mc:Fallback xmlns="">
            <p:sp>
              <p:nvSpPr>
                <p:cNvPr id="30" name="Rectangle 29">
                  <a:extLst>
                    <a:ext uri="{FF2B5EF4-FFF2-40B4-BE49-F238E27FC236}">
                      <a16:creationId xmlns:a16="http://schemas.microsoft.com/office/drawing/2014/main" id="{532FB409-0B4D-D240-982E-6D88637E83C9}"/>
                    </a:ext>
                  </a:extLst>
                </p:cNvPr>
                <p:cNvSpPr>
                  <a:spLocks noRot="1" noChangeAspect="1" noMove="1" noResize="1" noEditPoints="1" noAdjustHandles="1" noChangeArrowheads="1" noChangeShapeType="1" noTextEdit="1"/>
                </p:cNvSpPr>
                <p:nvPr/>
              </p:nvSpPr>
              <p:spPr>
                <a:xfrm>
                  <a:off x="6473096" y="3244218"/>
                  <a:ext cx="5306261" cy="1006814"/>
                </a:xfrm>
                <a:prstGeom prst="rect">
                  <a:avLst/>
                </a:prstGeom>
                <a:blipFill>
                  <a:blip r:embed="rId7"/>
                  <a:stretch>
                    <a:fillRect l="-3580" t="-44444" r="-4296" b="-81481"/>
                  </a:stretch>
                </a:blipFill>
              </p:spPr>
              <p:txBody>
                <a:bodyPr/>
                <a:lstStyle/>
                <a:p>
                  <a:r>
                    <a:rPr lang="en-US">
                      <a:noFill/>
                    </a:rPr>
                    <a:t> </a:t>
                  </a:r>
                </a:p>
              </p:txBody>
            </p:sp>
          </mc:Fallback>
        </mc:AlternateContent>
      </p:grpSp>
    </p:spTree>
    <p:extLst>
      <p:ext uri="{BB962C8B-B14F-4D97-AF65-F5344CB8AC3E}">
        <p14:creationId xmlns:p14="http://schemas.microsoft.com/office/powerpoint/2010/main" val="3757463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B63796A-7AB3-B144-ADB2-179F0CD39FD3}"/>
              </a:ext>
            </a:extLst>
          </p:cNvPr>
          <p:cNvCxnSpPr>
            <a:cxnSpLocks/>
          </p:cNvCxnSpPr>
          <p:nvPr/>
        </p:nvCxnSpPr>
        <p:spPr>
          <a:xfrm>
            <a:off x="2400300" y="1578551"/>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AAD9580-3F88-4F44-9347-C8537AF4F99C}"/>
              </a:ext>
            </a:extLst>
          </p:cNvPr>
          <p:cNvSpPr>
            <a:spLocks noGrp="1"/>
          </p:cNvSpPr>
          <p:nvPr>
            <p:ph type="title"/>
          </p:nvPr>
        </p:nvSpPr>
        <p:spPr>
          <a:xfrm>
            <a:off x="0" y="0"/>
            <a:ext cx="12192000" cy="928688"/>
          </a:xfrm>
        </p:spPr>
        <p:txBody>
          <a:bodyPr/>
          <a:lstStyle/>
          <a:p>
            <a:r>
              <a:rPr lang="en-ZA" dirty="0"/>
              <a:t>Mirrored-control: Swapping Control and Target</a:t>
            </a:r>
            <a:endParaRPr lang="en-US" dirty="0"/>
          </a:p>
        </p:txBody>
      </p:sp>
      <p:sp>
        <p:nvSpPr>
          <p:cNvPr id="3" name="Slide Number Placeholder 2">
            <a:extLst>
              <a:ext uri="{FF2B5EF4-FFF2-40B4-BE49-F238E27FC236}">
                <a16:creationId xmlns:a16="http://schemas.microsoft.com/office/drawing/2014/main" id="{9DAB86D1-A064-3546-A2B6-7D8F35E29F08}"/>
              </a:ext>
            </a:extLst>
          </p:cNvPr>
          <p:cNvSpPr>
            <a:spLocks noGrp="1"/>
          </p:cNvSpPr>
          <p:nvPr>
            <p:ph type="sldNum" sz="quarter" idx="12"/>
          </p:nvPr>
        </p:nvSpPr>
        <p:spPr/>
        <p:txBody>
          <a:bodyPr/>
          <a:lstStyle/>
          <a:p>
            <a:fld id="{591A223C-FA10-BC46-A853-03BA373D023C}" type="slidenum">
              <a:rPr lang="en-US" smtClean="0"/>
              <a:t>14</a:t>
            </a:fld>
            <a:endParaRPr lang="en-US"/>
          </a:p>
        </p:txBody>
      </p:sp>
      <p:cxnSp>
        <p:nvCxnSpPr>
          <p:cNvPr id="4" name="Straight Connector 3">
            <a:extLst>
              <a:ext uri="{FF2B5EF4-FFF2-40B4-BE49-F238E27FC236}">
                <a16:creationId xmlns:a16="http://schemas.microsoft.com/office/drawing/2014/main" id="{8419B223-82EB-3845-9645-A1517D6F8765}"/>
              </a:ext>
            </a:extLst>
          </p:cNvPr>
          <p:cNvCxnSpPr>
            <a:cxnSpLocks/>
          </p:cNvCxnSpPr>
          <p:nvPr/>
        </p:nvCxnSpPr>
        <p:spPr>
          <a:xfrm>
            <a:off x="2373155" y="2518412"/>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BCDC8BEB-F31C-7C49-B534-C7E0FE9A2757}"/>
              </a:ext>
            </a:extLst>
          </p:cNvPr>
          <p:cNvGrpSpPr/>
          <p:nvPr/>
        </p:nvGrpSpPr>
        <p:grpSpPr>
          <a:xfrm>
            <a:off x="2596286" y="1207649"/>
            <a:ext cx="720000" cy="1385722"/>
            <a:chOff x="2596286" y="1207649"/>
            <a:chExt cx="720000" cy="1385722"/>
          </a:xfrm>
        </p:grpSpPr>
        <p:sp>
          <p:nvSpPr>
            <p:cNvPr id="5" name="Oval 4">
              <a:extLst>
                <a:ext uri="{FF2B5EF4-FFF2-40B4-BE49-F238E27FC236}">
                  <a16:creationId xmlns:a16="http://schemas.microsoft.com/office/drawing/2014/main" id="{7063B773-106D-3C4C-8982-13ABE495549A}"/>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6" name="Oval 5">
              <a:extLst>
                <a:ext uri="{FF2B5EF4-FFF2-40B4-BE49-F238E27FC236}">
                  <a16:creationId xmlns:a16="http://schemas.microsoft.com/office/drawing/2014/main" id="{DA0C6938-7B50-8144-8745-5410BD101BBD}"/>
                </a:ext>
              </a:extLst>
            </p:cNvPr>
            <p:cNvSpPr/>
            <p:nvPr/>
          </p:nvSpPr>
          <p:spPr>
            <a:xfrm flipV="1">
              <a:off x="2860956" y="2413371"/>
              <a:ext cx="180000" cy="18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7" name="Straight Connector 6">
              <a:extLst>
                <a:ext uri="{FF2B5EF4-FFF2-40B4-BE49-F238E27FC236}">
                  <a16:creationId xmlns:a16="http://schemas.microsoft.com/office/drawing/2014/main" id="{BAF133DE-0031-D346-A9FE-2538D8EB23AD}"/>
                </a:ext>
              </a:extLst>
            </p:cNvPr>
            <p:cNvCxnSpPr>
              <a:cxnSpLocks/>
              <a:stCxn id="6" idx="4"/>
              <a:endCxn id="5" idx="0"/>
            </p:cNvCxnSpPr>
            <p:nvPr/>
          </p:nvCxnSpPr>
          <p:spPr>
            <a:xfrm flipV="1">
              <a:off x="2950956" y="1927649"/>
              <a:ext cx="0" cy="4857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A347528D-DA3D-8648-B991-A1370B56554C}"/>
              </a:ext>
            </a:extLst>
          </p:cNvPr>
          <p:cNvCxnSpPr>
            <a:cxnSpLocks/>
          </p:cNvCxnSpPr>
          <p:nvPr/>
        </p:nvCxnSpPr>
        <p:spPr>
          <a:xfrm>
            <a:off x="4897798" y="2507109"/>
            <a:ext cx="33834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70B68F02-96D5-3747-9F5A-D9463CE696D5}"/>
                  </a:ext>
                </a:extLst>
              </p:cNvPr>
              <p:cNvSpPr/>
              <p:nvPr/>
            </p:nvSpPr>
            <p:spPr>
              <a:xfrm>
                <a:off x="3667254" y="1744726"/>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16" name="Rectangle 15">
                <a:extLst>
                  <a:ext uri="{FF2B5EF4-FFF2-40B4-BE49-F238E27FC236}">
                    <a16:creationId xmlns:a16="http://schemas.microsoft.com/office/drawing/2014/main" id="{70B68F02-96D5-3747-9F5A-D9463CE696D5}"/>
                  </a:ext>
                </a:extLst>
              </p:cNvPr>
              <p:cNvSpPr>
                <a:spLocks noRot="1" noChangeAspect="1" noMove="1" noResize="1" noEditPoints="1" noAdjustHandles="1" noChangeArrowheads="1" noChangeShapeType="1" noTextEdit="1"/>
              </p:cNvSpPr>
              <p:nvPr/>
            </p:nvSpPr>
            <p:spPr>
              <a:xfrm>
                <a:off x="3667254" y="1744726"/>
                <a:ext cx="633507" cy="646331"/>
              </a:xfrm>
              <a:prstGeom prst="rect">
                <a:avLst/>
              </a:prstGeom>
              <a:blipFill>
                <a:blip r:embed="rId3"/>
                <a:stretch>
                  <a:fillRect/>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4AC4C88A-9A85-5D4F-8BE0-14BF46196724}"/>
              </a:ext>
            </a:extLst>
          </p:cNvPr>
          <p:cNvCxnSpPr>
            <a:cxnSpLocks/>
          </p:cNvCxnSpPr>
          <p:nvPr/>
        </p:nvCxnSpPr>
        <p:spPr>
          <a:xfrm>
            <a:off x="4781393" y="1578551"/>
            <a:ext cx="33834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1AB170C-4108-4044-BF24-D90605235CCB}"/>
                  </a:ext>
                </a:extLst>
              </p:cNvPr>
              <p:cNvSpPr txBox="1"/>
              <p:nvPr/>
            </p:nvSpPr>
            <p:spPr>
              <a:xfrm>
                <a:off x="4657337" y="3272347"/>
                <a:ext cx="4025141"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sr-Latn-RS" sz="3200" b="0" i="1" dirty="0" smtClean="0">
                              <a:latin typeface="Cambria Math" panose="02040503050406030204" pitchFamily="18" charset="0"/>
                              <a:ea typeface="Cambria Math" panose="02040503050406030204" pitchFamily="18" charset="0"/>
                            </a:rPr>
                          </m:ctrlPr>
                        </m:dPr>
                        <m:e>
                          <m:r>
                            <a:rPr lang="en-US" sz="3200" b="0" i="1" dirty="0" smtClean="0">
                              <a:latin typeface="Cambria Math" panose="02040503050406030204" pitchFamily="18" charset="0"/>
                              <a:ea typeface="Cambria Math" panose="02040503050406030204" pitchFamily="18" charset="0"/>
                            </a:rPr>
                            <m:t>𝐻</m:t>
                          </m:r>
                          <m:r>
                            <a:rPr lang="en-US" sz="3200" i="1" dirty="0">
                              <a:latin typeface="Cambria Math" panose="02040503050406030204" pitchFamily="18" charset="0"/>
                              <a:ea typeface="Cambria Math" panose="02040503050406030204" pitchFamily="18" charset="0"/>
                            </a:rPr>
                            <m:t>⊗</m:t>
                          </m:r>
                          <m:r>
                            <a:rPr lang="sr-Latn-RS" sz="3200" b="0" i="1" dirty="0" smtClean="0">
                              <a:latin typeface="Cambria Math" panose="02040503050406030204" pitchFamily="18" charset="0"/>
                              <a:ea typeface="Cambria Math" panose="02040503050406030204" pitchFamily="18" charset="0"/>
                            </a:rPr>
                            <m:t>𝐻</m:t>
                          </m:r>
                        </m:e>
                      </m:d>
                      <m:r>
                        <a:rPr lang="sr-Latn-RS" sz="3200" b="0" i="1" dirty="0" smtClean="0">
                          <a:latin typeface="Cambria Math" panose="02040503050406030204" pitchFamily="18" charset="0"/>
                          <a:ea typeface="Cambria Math" panose="02040503050406030204" pitchFamily="18" charset="0"/>
                        </a:rPr>
                        <m:t> </m:t>
                      </m:r>
                      <m:r>
                        <a:rPr lang="sr-Latn-RS" sz="3200" b="0" i="1" dirty="0" smtClean="0">
                          <a:latin typeface="Cambria Math" panose="02040503050406030204" pitchFamily="18" charset="0"/>
                          <a:ea typeface="Cambria Math" panose="02040503050406030204" pitchFamily="18" charset="0"/>
                        </a:rPr>
                        <m:t>𝑐𝑋</m:t>
                      </m:r>
                      <m:r>
                        <a:rPr lang="sr-Latn-RS" sz="3200" b="0" i="1" dirty="0" smtClean="0">
                          <a:latin typeface="Cambria Math" panose="02040503050406030204" pitchFamily="18" charset="0"/>
                          <a:ea typeface="Cambria Math" panose="02040503050406030204" pitchFamily="18" charset="0"/>
                        </a:rPr>
                        <m:t> </m:t>
                      </m:r>
                      <m:d>
                        <m:dPr>
                          <m:ctrlPr>
                            <a:rPr lang="sr-Latn-RS" sz="3200" i="1" dirty="0">
                              <a:latin typeface="Cambria Math" panose="02040503050406030204" pitchFamily="18" charset="0"/>
                              <a:ea typeface="Cambria Math" panose="02040503050406030204" pitchFamily="18" charset="0"/>
                            </a:rPr>
                          </m:ctrlPr>
                        </m:dPr>
                        <m:e>
                          <m:r>
                            <a:rPr lang="en-US" sz="3200" b="0" i="1" dirty="0" smtClean="0">
                              <a:latin typeface="Cambria Math" panose="02040503050406030204" pitchFamily="18" charset="0"/>
                              <a:ea typeface="Cambria Math" panose="02040503050406030204" pitchFamily="18" charset="0"/>
                            </a:rPr>
                            <m:t>𝐻</m:t>
                          </m:r>
                          <m:r>
                            <a:rPr lang="en-US" sz="3200" i="1" dirty="0">
                              <a:latin typeface="Cambria Math" panose="02040503050406030204" pitchFamily="18" charset="0"/>
                              <a:ea typeface="Cambria Math" panose="02040503050406030204" pitchFamily="18" charset="0"/>
                            </a:rPr>
                            <m:t>⊗</m:t>
                          </m:r>
                          <m:r>
                            <a:rPr lang="sr-Latn-RS" sz="3200" i="1" dirty="0">
                              <a:latin typeface="Cambria Math" panose="02040503050406030204" pitchFamily="18" charset="0"/>
                              <a:ea typeface="Cambria Math" panose="02040503050406030204" pitchFamily="18" charset="0"/>
                            </a:rPr>
                            <m:t>𝐻</m:t>
                          </m:r>
                        </m:e>
                      </m:d>
                    </m:oMath>
                  </m:oMathPara>
                </a14:m>
                <a:endParaRPr lang="en-US" sz="3200" i="1" dirty="0"/>
              </a:p>
            </p:txBody>
          </p:sp>
        </mc:Choice>
        <mc:Fallback xmlns="">
          <p:sp>
            <p:nvSpPr>
              <p:cNvPr id="22" name="TextBox 21">
                <a:extLst>
                  <a:ext uri="{FF2B5EF4-FFF2-40B4-BE49-F238E27FC236}">
                    <a16:creationId xmlns:a16="http://schemas.microsoft.com/office/drawing/2014/main" id="{21AB170C-4108-4044-BF24-D90605235CCB}"/>
                  </a:ext>
                </a:extLst>
              </p:cNvPr>
              <p:cNvSpPr txBox="1">
                <a:spLocks noRot="1" noChangeAspect="1" noMove="1" noResize="1" noEditPoints="1" noAdjustHandles="1" noChangeArrowheads="1" noChangeShapeType="1" noTextEdit="1"/>
              </p:cNvSpPr>
              <p:nvPr/>
            </p:nvSpPr>
            <p:spPr>
              <a:xfrm>
                <a:off x="4657337" y="3272347"/>
                <a:ext cx="4025141" cy="584775"/>
              </a:xfrm>
              <a:prstGeom prst="rect">
                <a:avLst/>
              </a:prstGeom>
              <a:blipFill>
                <a:blip r:embed="rId4"/>
                <a:stretch>
                  <a:fillRect b="-212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80CDC3F7-5A5D-6343-A38E-7355C3F93C9F}"/>
                  </a:ext>
                </a:extLst>
              </p:cNvPr>
              <p:cNvSpPr/>
              <p:nvPr/>
            </p:nvSpPr>
            <p:spPr>
              <a:xfrm>
                <a:off x="174282" y="4327159"/>
                <a:ext cx="11998926" cy="1356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200" i="1" smtClean="0">
                              <a:latin typeface="Cambria Math" panose="02040503050406030204" pitchFamily="18" charset="0"/>
                            </a:rPr>
                          </m:ctrlPr>
                        </m:dPr>
                        <m:e>
                          <m:f>
                            <m:fPr>
                              <m:ctrlPr>
                                <a:rPr lang="en-US" sz="2200" i="1">
                                  <a:latin typeface="Cambria Math" panose="02040503050406030204" pitchFamily="18" charset="0"/>
                                </a:rPr>
                              </m:ctrlPr>
                            </m:fPr>
                            <m:num>
                              <m:r>
                                <m:rPr>
                                  <m:nor/>
                                </m:rPr>
                                <a:rPr lang="en-US" sz="2200">
                                  <a:latin typeface="Cambria Math" panose="02040503050406030204" pitchFamily="18" charset="0"/>
                                </a:rPr>
                                <m:t>1</m:t>
                              </m:r>
                            </m:num>
                            <m:den>
                              <m:rad>
                                <m:radPr>
                                  <m:degHide m:val="on"/>
                                  <m:ctrlPr>
                                    <a:rPr lang="en-US" sz="2200" i="1">
                                      <a:latin typeface="Cambria Math" panose="02040503050406030204" pitchFamily="18" charset="0"/>
                                    </a:rPr>
                                  </m:ctrlPr>
                                </m:radPr>
                                <m:deg/>
                                <m:e>
                                  <m:r>
                                    <m:rPr>
                                      <m:nor/>
                                    </m:rPr>
                                    <a:rPr lang="en-US" sz="2200">
                                      <a:latin typeface="Cambria Math" panose="02040503050406030204" pitchFamily="18" charset="0"/>
                                    </a:rPr>
                                    <m:t>2</m:t>
                                  </m:r>
                                </m:e>
                              </m:rad>
                            </m:den>
                          </m:f>
                          <m:d>
                            <m:dPr>
                              <m:ctrlPr>
                                <a:rPr lang="en-US" sz="2200" i="1">
                                  <a:latin typeface="Cambria Math" panose="02040503050406030204" pitchFamily="18" charset="0"/>
                                </a:rPr>
                              </m:ctrlPr>
                            </m:dPr>
                            <m:e>
                              <m:m>
                                <m:mPr>
                                  <m:plcHide m:val="on"/>
                                  <m:mcs>
                                    <m:mc>
                                      <m:mcPr>
                                        <m:count m:val="2"/>
                                        <m:mcJc m:val="center"/>
                                      </m:mcPr>
                                    </m:mc>
                                  </m:mcs>
                                  <m:ctrlPr>
                                    <a:rPr lang="en-US" sz="2200" i="1">
                                      <a:latin typeface="Cambria Math" panose="02040503050406030204" pitchFamily="18" charset="0"/>
                                    </a:rPr>
                                  </m:ctrlPr>
                                </m:mPr>
                                <m:mr>
                                  <m:e>
                                    <m:r>
                                      <m:rPr>
                                        <m:nor/>
                                      </m:rPr>
                                      <a:rPr lang="en-US" sz="2200">
                                        <a:latin typeface="Cambria Math" panose="02040503050406030204" pitchFamily="18" charset="0"/>
                                      </a:rPr>
                                      <m:t>1</m:t>
                                    </m:r>
                                  </m:e>
                                  <m:e>
                                    <m:r>
                                      <m:rPr>
                                        <m:nor/>
                                      </m:rPr>
                                      <a:rPr lang="en-US" sz="2200">
                                        <a:latin typeface="Cambria Math" panose="02040503050406030204" pitchFamily="18" charset="0"/>
                                      </a:rPr>
                                      <m:t>1</m:t>
                                    </m:r>
                                  </m:e>
                                </m:mr>
                                <m:mr>
                                  <m:e>
                                    <m:r>
                                      <m:rPr>
                                        <m:nor/>
                                      </m:rPr>
                                      <a:rPr lang="en-US" sz="2200">
                                        <a:latin typeface="Cambria Math" panose="02040503050406030204" pitchFamily="18" charset="0"/>
                                      </a:rPr>
                                      <m:t>1</m:t>
                                    </m:r>
                                  </m:e>
                                  <m:e>
                                    <m:r>
                                      <m:rPr>
                                        <m:nor/>
                                      </m:rPr>
                                      <a:rPr lang="en-US" sz="2200">
                                        <a:latin typeface="Cambria Math" panose="02040503050406030204" pitchFamily="18" charset="0"/>
                                      </a:rPr>
                                      <m:t>−1</m:t>
                                    </m:r>
                                  </m:e>
                                </m:mr>
                              </m:m>
                            </m:e>
                          </m:d>
                          <m:r>
                            <a:rPr lang="en-US" sz="2200" dirty="0">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rPr>
                              </m:ctrlPr>
                            </m:fPr>
                            <m:num>
                              <m:r>
                                <m:rPr>
                                  <m:nor/>
                                </m:rPr>
                                <a:rPr lang="en-US" sz="2200">
                                  <a:latin typeface="Cambria Math" panose="02040503050406030204" pitchFamily="18" charset="0"/>
                                </a:rPr>
                                <m:t>1</m:t>
                              </m:r>
                            </m:num>
                            <m:den>
                              <m:rad>
                                <m:radPr>
                                  <m:degHide m:val="on"/>
                                  <m:ctrlPr>
                                    <a:rPr lang="en-US" sz="2200" i="1">
                                      <a:latin typeface="Cambria Math" panose="02040503050406030204" pitchFamily="18" charset="0"/>
                                    </a:rPr>
                                  </m:ctrlPr>
                                </m:radPr>
                                <m:deg/>
                                <m:e>
                                  <m:r>
                                    <m:rPr>
                                      <m:nor/>
                                    </m:rPr>
                                    <a:rPr lang="en-US" sz="2200">
                                      <a:latin typeface="Cambria Math" panose="02040503050406030204" pitchFamily="18" charset="0"/>
                                    </a:rPr>
                                    <m:t>2</m:t>
                                  </m:r>
                                </m:e>
                              </m:rad>
                            </m:den>
                          </m:f>
                          <m:d>
                            <m:dPr>
                              <m:ctrlPr>
                                <a:rPr lang="en-US" sz="2200" i="1">
                                  <a:latin typeface="Cambria Math" panose="02040503050406030204" pitchFamily="18" charset="0"/>
                                </a:rPr>
                              </m:ctrlPr>
                            </m:dPr>
                            <m:e>
                              <m:m>
                                <m:mPr>
                                  <m:plcHide m:val="on"/>
                                  <m:mcs>
                                    <m:mc>
                                      <m:mcPr>
                                        <m:count m:val="2"/>
                                        <m:mcJc m:val="center"/>
                                      </m:mcPr>
                                    </m:mc>
                                  </m:mcs>
                                  <m:ctrlPr>
                                    <a:rPr lang="en-US" sz="2200" i="1">
                                      <a:latin typeface="Cambria Math" panose="02040503050406030204" pitchFamily="18" charset="0"/>
                                    </a:rPr>
                                  </m:ctrlPr>
                                </m:mPr>
                                <m:mr>
                                  <m:e>
                                    <m:r>
                                      <m:rPr>
                                        <m:nor/>
                                      </m:rPr>
                                      <a:rPr lang="en-US" sz="2200">
                                        <a:latin typeface="Cambria Math" panose="02040503050406030204" pitchFamily="18" charset="0"/>
                                      </a:rPr>
                                      <m:t>1</m:t>
                                    </m:r>
                                  </m:e>
                                  <m:e>
                                    <m:r>
                                      <m:rPr>
                                        <m:nor/>
                                      </m:rPr>
                                      <a:rPr lang="en-US" sz="2200">
                                        <a:latin typeface="Cambria Math" panose="02040503050406030204" pitchFamily="18" charset="0"/>
                                      </a:rPr>
                                      <m:t>1</m:t>
                                    </m:r>
                                  </m:e>
                                </m:mr>
                                <m:mr>
                                  <m:e>
                                    <m:r>
                                      <m:rPr>
                                        <m:nor/>
                                      </m:rPr>
                                      <a:rPr lang="en-US" sz="2200">
                                        <a:latin typeface="Cambria Math" panose="02040503050406030204" pitchFamily="18" charset="0"/>
                                      </a:rPr>
                                      <m:t>1</m:t>
                                    </m:r>
                                  </m:e>
                                  <m:e>
                                    <m:r>
                                      <m:rPr>
                                        <m:nor/>
                                      </m:rPr>
                                      <a:rPr lang="en-US" sz="2200">
                                        <a:latin typeface="Cambria Math" panose="02040503050406030204" pitchFamily="18" charset="0"/>
                                      </a:rPr>
                                      <m:t>−1</m:t>
                                    </m:r>
                                  </m:e>
                                </m:mr>
                              </m:m>
                            </m:e>
                          </m:d>
                        </m:e>
                      </m:d>
                      <m:d>
                        <m:dPr>
                          <m:ctrlPr>
                            <a:rPr lang="en-ZA" sz="2200" i="1">
                              <a:latin typeface="Cambria Math" panose="02040503050406030204" pitchFamily="18" charset="0"/>
                              <a:ea typeface="Cambria Math" panose="02040503050406030204" pitchFamily="18" charset="0"/>
                            </a:rPr>
                          </m:ctrlPr>
                        </m:dPr>
                        <m:e>
                          <m:m>
                            <m:mPr>
                              <m:mcs>
                                <m:mc>
                                  <m:mcPr>
                                    <m:count m:val="4"/>
                                    <m:mcJc m:val="center"/>
                                  </m:mcPr>
                                </m:mc>
                              </m:mcs>
                              <m:ctrlPr>
                                <a:rPr lang="en-ZA" sz="2200" i="1">
                                  <a:latin typeface="Cambria Math" panose="02040503050406030204" pitchFamily="18" charset="0"/>
                                  <a:ea typeface="Cambria Math" panose="02040503050406030204" pitchFamily="18" charset="0"/>
                                </a:rPr>
                              </m:ctrlPr>
                            </m:mPr>
                            <m:mr>
                              <m:e>
                                <m:r>
                                  <a:rPr lang="sr-Latn-RS" sz="2200" i="1">
                                    <a:latin typeface="Cambria Math" panose="02040503050406030204" pitchFamily="18" charset="0"/>
                                    <a:ea typeface="Cambria Math" panose="02040503050406030204" pitchFamily="18" charset="0"/>
                                  </a:rPr>
                                  <m:t>1</m:t>
                                </m:r>
                              </m:e>
                              <m:e>
                                <m:r>
                                  <a:rPr lang="sr-Latn-RS" sz="2200" i="1">
                                    <a:latin typeface="Cambria Math" panose="02040503050406030204" pitchFamily="18" charset="0"/>
                                    <a:ea typeface="Cambria Math" panose="02040503050406030204" pitchFamily="18" charset="0"/>
                                  </a:rPr>
                                  <m:t>0</m:t>
                                </m:r>
                              </m:e>
                              <m:e>
                                <m:r>
                                  <a:rPr lang="sr-Latn-RS" sz="2200" i="1">
                                    <a:latin typeface="Cambria Math" panose="02040503050406030204" pitchFamily="18" charset="0"/>
                                    <a:ea typeface="Cambria Math" panose="02040503050406030204" pitchFamily="18" charset="0"/>
                                  </a:rPr>
                                  <m:t>0</m:t>
                                </m:r>
                              </m:e>
                              <m:e>
                                <m:r>
                                  <a:rPr lang="sr-Latn-RS" sz="2200" i="1">
                                    <a:latin typeface="Cambria Math" panose="02040503050406030204" pitchFamily="18" charset="0"/>
                                    <a:ea typeface="Cambria Math" panose="02040503050406030204" pitchFamily="18" charset="0"/>
                                  </a:rPr>
                                  <m:t>0</m:t>
                                </m:r>
                              </m:e>
                            </m:mr>
                            <m:mr>
                              <m:e>
                                <m:r>
                                  <a:rPr lang="sr-Latn-RS" sz="2200" i="1">
                                    <a:latin typeface="Cambria Math" panose="02040503050406030204" pitchFamily="18" charset="0"/>
                                    <a:ea typeface="Cambria Math" panose="02040503050406030204" pitchFamily="18" charset="0"/>
                                  </a:rPr>
                                  <m:t>0</m:t>
                                </m:r>
                              </m:e>
                              <m:e>
                                <m:r>
                                  <a:rPr lang="sr-Latn-RS" sz="2200" i="1">
                                    <a:latin typeface="Cambria Math" panose="02040503050406030204" pitchFamily="18" charset="0"/>
                                    <a:ea typeface="Cambria Math" panose="02040503050406030204" pitchFamily="18" charset="0"/>
                                  </a:rPr>
                                  <m:t>1</m:t>
                                </m:r>
                              </m:e>
                              <m:e>
                                <m:r>
                                  <a:rPr lang="sr-Latn-RS" sz="2200" i="1">
                                    <a:latin typeface="Cambria Math" panose="02040503050406030204" pitchFamily="18" charset="0"/>
                                    <a:ea typeface="Cambria Math" panose="02040503050406030204" pitchFamily="18" charset="0"/>
                                  </a:rPr>
                                  <m:t>0</m:t>
                                </m:r>
                              </m:e>
                              <m:e>
                                <m:r>
                                  <a:rPr lang="sr-Latn-RS" sz="2200" i="1">
                                    <a:latin typeface="Cambria Math" panose="02040503050406030204" pitchFamily="18" charset="0"/>
                                    <a:ea typeface="Cambria Math" panose="02040503050406030204" pitchFamily="18" charset="0"/>
                                  </a:rPr>
                                  <m:t>0</m:t>
                                </m:r>
                              </m:e>
                            </m:mr>
                            <m:mr>
                              <m:e>
                                <m:r>
                                  <a:rPr lang="sr-Latn-RS" sz="2200" i="1">
                                    <a:latin typeface="Cambria Math" panose="02040503050406030204" pitchFamily="18" charset="0"/>
                                    <a:ea typeface="Cambria Math" panose="02040503050406030204" pitchFamily="18" charset="0"/>
                                  </a:rPr>
                                  <m:t>0</m:t>
                                </m:r>
                              </m:e>
                              <m:e>
                                <m:r>
                                  <a:rPr lang="sr-Latn-RS" sz="2200" i="1">
                                    <a:latin typeface="Cambria Math" panose="02040503050406030204" pitchFamily="18" charset="0"/>
                                    <a:ea typeface="Cambria Math" panose="02040503050406030204" pitchFamily="18" charset="0"/>
                                  </a:rPr>
                                  <m:t>0</m:t>
                                </m:r>
                              </m:e>
                              <m:e>
                                <m:r>
                                  <a:rPr lang="en-US" sz="2200" b="0" i="1" smtClean="0">
                                    <a:latin typeface="Cambria Math" panose="02040503050406030204" pitchFamily="18" charset="0"/>
                                    <a:ea typeface="Cambria Math" panose="02040503050406030204" pitchFamily="18" charset="0"/>
                                  </a:rPr>
                                  <m:t>0</m:t>
                                </m:r>
                              </m:e>
                              <m:e>
                                <m:r>
                                  <a:rPr lang="en-US" sz="2200" b="0" i="1" smtClean="0">
                                    <a:latin typeface="Cambria Math" panose="02040503050406030204" pitchFamily="18" charset="0"/>
                                    <a:ea typeface="Cambria Math" panose="02040503050406030204" pitchFamily="18" charset="0"/>
                                  </a:rPr>
                                  <m:t>1</m:t>
                                </m:r>
                              </m:e>
                            </m:mr>
                            <m:mr>
                              <m:e>
                                <m:r>
                                  <a:rPr lang="sr-Latn-RS" sz="2200" i="1">
                                    <a:latin typeface="Cambria Math" panose="02040503050406030204" pitchFamily="18" charset="0"/>
                                    <a:ea typeface="Cambria Math" panose="02040503050406030204" pitchFamily="18" charset="0"/>
                                  </a:rPr>
                                  <m:t>0</m:t>
                                </m:r>
                              </m:e>
                              <m:e>
                                <m:r>
                                  <a:rPr lang="sr-Latn-RS" sz="2200" i="1">
                                    <a:latin typeface="Cambria Math" panose="02040503050406030204" pitchFamily="18" charset="0"/>
                                    <a:ea typeface="Cambria Math" panose="02040503050406030204" pitchFamily="18" charset="0"/>
                                  </a:rPr>
                                  <m:t>0</m:t>
                                </m:r>
                              </m:e>
                              <m:e>
                                <m:r>
                                  <a:rPr lang="en-US" sz="2200" b="0" i="1" smtClean="0">
                                    <a:latin typeface="Cambria Math" panose="02040503050406030204" pitchFamily="18" charset="0"/>
                                    <a:ea typeface="Cambria Math" panose="02040503050406030204" pitchFamily="18" charset="0"/>
                                  </a:rPr>
                                  <m:t>1</m:t>
                                </m:r>
                              </m:e>
                              <m:e>
                                <m:r>
                                  <a:rPr lang="en-US" sz="2200" b="0" i="1" smtClean="0">
                                    <a:latin typeface="Cambria Math" panose="02040503050406030204" pitchFamily="18" charset="0"/>
                                    <a:ea typeface="Cambria Math" panose="02040503050406030204" pitchFamily="18" charset="0"/>
                                  </a:rPr>
                                  <m:t>0</m:t>
                                </m:r>
                              </m:e>
                            </m:mr>
                          </m:m>
                        </m:e>
                      </m:d>
                      <m:d>
                        <m:dPr>
                          <m:ctrlPr>
                            <a:rPr lang="en-US" sz="2200" i="1">
                              <a:latin typeface="Cambria Math" panose="02040503050406030204" pitchFamily="18" charset="0"/>
                            </a:rPr>
                          </m:ctrlPr>
                        </m:dPr>
                        <m:e>
                          <m:f>
                            <m:fPr>
                              <m:ctrlPr>
                                <a:rPr lang="en-US" sz="2200" i="1">
                                  <a:latin typeface="Cambria Math" panose="02040503050406030204" pitchFamily="18" charset="0"/>
                                </a:rPr>
                              </m:ctrlPr>
                            </m:fPr>
                            <m:num>
                              <m:r>
                                <m:rPr>
                                  <m:nor/>
                                </m:rPr>
                                <a:rPr lang="en-US" sz="2200">
                                  <a:latin typeface="Cambria Math" panose="02040503050406030204" pitchFamily="18" charset="0"/>
                                </a:rPr>
                                <m:t>1</m:t>
                              </m:r>
                            </m:num>
                            <m:den>
                              <m:rad>
                                <m:radPr>
                                  <m:degHide m:val="on"/>
                                  <m:ctrlPr>
                                    <a:rPr lang="en-US" sz="2200" i="1">
                                      <a:latin typeface="Cambria Math" panose="02040503050406030204" pitchFamily="18" charset="0"/>
                                    </a:rPr>
                                  </m:ctrlPr>
                                </m:radPr>
                                <m:deg/>
                                <m:e>
                                  <m:r>
                                    <m:rPr>
                                      <m:nor/>
                                    </m:rPr>
                                    <a:rPr lang="en-US" sz="2200">
                                      <a:latin typeface="Cambria Math" panose="02040503050406030204" pitchFamily="18" charset="0"/>
                                    </a:rPr>
                                    <m:t>2</m:t>
                                  </m:r>
                                </m:e>
                              </m:rad>
                            </m:den>
                          </m:f>
                          <m:d>
                            <m:dPr>
                              <m:ctrlPr>
                                <a:rPr lang="en-US" sz="2200" i="1">
                                  <a:latin typeface="Cambria Math" panose="02040503050406030204" pitchFamily="18" charset="0"/>
                                </a:rPr>
                              </m:ctrlPr>
                            </m:dPr>
                            <m:e>
                              <m:m>
                                <m:mPr>
                                  <m:plcHide m:val="on"/>
                                  <m:mcs>
                                    <m:mc>
                                      <m:mcPr>
                                        <m:count m:val="2"/>
                                        <m:mcJc m:val="center"/>
                                      </m:mcPr>
                                    </m:mc>
                                  </m:mcs>
                                  <m:ctrlPr>
                                    <a:rPr lang="en-US" sz="2200" i="1">
                                      <a:latin typeface="Cambria Math" panose="02040503050406030204" pitchFamily="18" charset="0"/>
                                    </a:rPr>
                                  </m:ctrlPr>
                                </m:mPr>
                                <m:mr>
                                  <m:e>
                                    <m:r>
                                      <m:rPr>
                                        <m:nor/>
                                      </m:rPr>
                                      <a:rPr lang="en-US" sz="2200">
                                        <a:latin typeface="Cambria Math" panose="02040503050406030204" pitchFamily="18" charset="0"/>
                                      </a:rPr>
                                      <m:t>1</m:t>
                                    </m:r>
                                  </m:e>
                                  <m:e>
                                    <m:r>
                                      <m:rPr>
                                        <m:nor/>
                                      </m:rPr>
                                      <a:rPr lang="en-US" sz="2200">
                                        <a:latin typeface="Cambria Math" panose="02040503050406030204" pitchFamily="18" charset="0"/>
                                      </a:rPr>
                                      <m:t>1</m:t>
                                    </m:r>
                                  </m:e>
                                </m:mr>
                                <m:mr>
                                  <m:e>
                                    <m:r>
                                      <m:rPr>
                                        <m:nor/>
                                      </m:rPr>
                                      <a:rPr lang="en-US" sz="2200">
                                        <a:latin typeface="Cambria Math" panose="02040503050406030204" pitchFamily="18" charset="0"/>
                                      </a:rPr>
                                      <m:t>1</m:t>
                                    </m:r>
                                  </m:e>
                                  <m:e>
                                    <m:r>
                                      <m:rPr>
                                        <m:nor/>
                                      </m:rPr>
                                      <a:rPr lang="en-US" sz="2200">
                                        <a:latin typeface="Cambria Math" panose="02040503050406030204" pitchFamily="18" charset="0"/>
                                      </a:rPr>
                                      <m:t>−1</m:t>
                                    </m:r>
                                  </m:e>
                                </m:mr>
                              </m:m>
                            </m:e>
                          </m:d>
                          <m:r>
                            <a:rPr lang="en-US" sz="2200" dirty="0">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rPr>
                              </m:ctrlPr>
                            </m:fPr>
                            <m:num>
                              <m:r>
                                <m:rPr>
                                  <m:nor/>
                                </m:rPr>
                                <a:rPr lang="en-US" sz="2200">
                                  <a:latin typeface="Cambria Math" panose="02040503050406030204" pitchFamily="18" charset="0"/>
                                </a:rPr>
                                <m:t>1</m:t>
                              </m:r>
                            </m:num>
                            <m:den>
                              <m:rad>
                                <m:radPr>
                                  <m:degHide m:val="on"/>
                                  <m:ctrlPr>
                                    <a:rPr lang="en-US" sz="2200" i="1">
                                      <a:latin typeface="Cambria Math" panose="02040503050406030204" pitchFamily="18" charset="0"/>
                                    </a:rPr>
                                  </m:ctrlPr>
                                </m:radPr>
                                <m:deg/>
                                <m:e>
                                  <m:r>
                                    <m:rPr>
                                      <m:nor/>
                                    </m:rPr>
                                    <a:rPr lang="en-US" sz="2200">
                                      <a:latin typeface="Cambria Math" panose="02040503050406030204" pitchFamily="18" charset="0"/>
                                    </a:rPr>
                                    <m:t>2</m:t>
                                  </m:r>
                                </m:e>
                              </m:rad>
                            </m:den>
                          </m:f>
                          <m:d>
                            <m:dPr>
                              <m:ctrlPr>
                                <a:rPr lang="en-US" sz="2200" i="1">
                                  <a:latin typeface="Cambria Math" panose="02040503050406030204" pitchFamily="18" charset="0"/>
                                </a:rPr>
                              </m:ctrlPr>
                            </m:dPr>
                            <m:e>
                              <m:m>
                                <m:mPr>
                                  <m:plcHide m:val="on"/>
                                  <m:mcs>
                                    <m:mc>
                                      <m:mcPr>
                                        <m:count m:val="2"/>
                                        <m:mcJc m:val="center"/>
                                      </m:mcPr>
                                    </m:mc>
                                  </m:mcs>
                                  <m:ctrlPr>
                                    <a:rPr lang="en-US" sz="2200" i="1">
                                      <a:latin typeface="Cambria Math" panose="02040503050406030204" pitchFamily="18" charset="0"/>
                                    </a:rPr>
                                  </m:ctrlPr>
                                </m:mPr>
                                <m:mr>
                                  <m:e>
                                    <m:r>
                                      <m:rPr>
                                        <m:nor/>
                                      </m:rPr>
                                      <a:rPr lang="en-US" sz="2200">
                                        <a:latin typeface="Cambria Math" panose="02040503050406030204" pitchFamily="18" charset="0"/>
                                      </a:rPr>
                                      <m:t>1</m:t>
                                    </m:r>
                                  </m:e>
                                  <m:e>
                                    <m:r>
                                      <m:rPr>
                                        <m:nor/>
                                      </m:rPr>
                                      <a:rPr lang="en-US" sz="2200">
                                        <a:latin typeface="Cambria Math" panose="02040503050406030204" pitchFamily="18" charset="0"/>
                                      </a:rPr>
                                      <m:t>1</m:t>
                                    </m:r>
                                  </m:e>
                                </m:mr>
                                <m:mr>
                                  <m:e>
                                    <m:r>
                                      <m:rPr>
                                        <m:nor/>
                                      </m:rPr>
                                      <a:rPr lang="en-US" sz="2200">
                                        <a:latin typeface="Cambria Math" panose="02040503050406030204" pitchFamily="18" charset="0"/>
                                      </a:rPr>
                                      <m:t>1</m:t>
                                    </m:r>
                                  </m:e>
                                  <m:e>
                                    <m:r>
                                      <m:rPr>
                                        <m:nor/>
                                      </m:rPr>
                                      <a:rPr lang="en-US" sz="2200">
                                        <a:latin typeface="Cambria Math" panose="02040503050406030204" pitchFamily="18" charset="0"/>
                                      </a:rPr>
                                      <m:t>−1</m:t>
                                    </m:r>
                                  </m:e>
                                </m:mr>
                              </m:m>
                            </m:e>
                          </m:d>
                        </m:e>
                      </m:d>
                      <m:r>
                        <a:rPr lang="sr-Latn-RS" sz="2200" b="0" i="1" smtClean="0">
                          <a:latin typeface="Cambria Math" panose="02040503050406030204" pitchFamily="18" charset="0"/>
                        </a:rPr>
                        <m:t>=</m:t>
                      </m:r>
                      <m:d>
                        <m:dPr>
                          <m:ctrlPr>
                            <a:rPr lang="en-US" sz="2200" i="1">
                              <a:latin typeface="Cambria Math" panose="02040503050406030204" pitchFamily="18" charset="0"/>
                            </a:rPr>
                          </m:ctrlPr>
                        </m:dPr>
                        <m:e>
                          <m:m>
                            <m:mPr>
                              <m:plcHide m:val="on"/>
                              <m:mcs>
                                <m:mc>
                                  <m:mcPr>
                                    <m:count m:val="4"/>
                                    <m:mcJc m:val="center"/>
                                  </m:mcPr>
                                </m:mc>
                              </m:mcs>
                              <m:ctrlPr>
                                <a:rPr lang="en-US" sz="2200" i="1">
                                  <a:latin typeface="Cambria Math" panose="02040503050406030204" pitchFamily="18" charset="0"/>
                                </a:rPr>
                              </m:ctrlPr>
                            </m:mPr>
                            <m:mr>
                              <m:e>
                                <m:r>
                                  <a:rPr lang="en-US" sz="2200">
                                    <a:latin typeface="Cambria Math" panose="02040503050406030204" pitchFamily="18" charset="0"/>
                                  </a:rPr>
                                  <m:t>1</m:t>
                                </m:r>
                              </m:e>
                              <m:e>
                                <m:r>
                                  <a:rPr lang="en-US" sz="2200">
                                    <a:latin typeface="Cambria Math" panose="02040503050406030204" pitchFamily="18" charset="0"/>
                                  </a:rPr>
                                  <m:t>0</m:t>
                                </m:r>
                              </m:e>
                              <m:e>
                                <m:r>
                                  <a:rPr lang="en-US" sz="2200">
                                    <a:latin typeface="Cambria Math" panose="02040503050406030204" pitchFamily="18" charset="0"/>
                                  </a:rPr>
                                  <m:t>0</m:t>
                                </m:r>
                              </m:e>
                              <m:e>
                                <m:r>
                                  <a:rPr lang="en-US" sz="2200">
                                    <a:latin typeface="Cambria Math" panose="02040503050406030204" pitchFamily="18" charset="0"/>
                                  </a:rPr>
                                  <m:t>0</m:t>
                                </m:r>
                              </m:e>
                            </m:mr>
                            <m:mr>
                              <m:e>
                                <m:r>
                                  <a:rPr lang="en-US" sz="2200">
                                    <a:latin typeface="Cambria Math" panose="02040503050406030204" pitchFamily="18" charset="0"/>
                                  </a:rPr>
                                  <m:t>0</m:t>
                                </m:r>
                              </m:e>
                              <m:e>
                                <m:r>
                                  <a:rPr lang="sr-Latn-RS" sz="2200">
                                    <a:latin typeface="Cambria Math" panose="02040503050406030204" pitchFamily="18" charset="0"/>
                                  </a:rPr>
                                  <m:t>0</m:t>
                                </m:r>
                              </m:e>
                              <m:e>
                                <m:r>
                                  <a:rPr lang="en-US" sz="2200">
                                    <a:latin typeface="Cambria Math" panose="02040503050406030204" pitchFamily="18" charset="0"/>
                                  </a:rPr>
                                  <m:t>0</m:t>
                                </m:r>
                              </m:e>
                              <m:e>
                                <m:r>
                                  <a:rPr lang="en-US" sz="2200">
                                    <a:latin typeface="Cambria Math" panose="02040503050406030204" pitchFamily="18" charset="0"/>
                                  </a:rPr>
                                  <m:t>1</m:t>
                                </m:r>
                              </m:e>
                            </m:mr>
                            <m:mr>
                              <m:e>
                                <m:r>
                                  <a:rPr lang="en-US" sz="2200">
                                    <a:latin typeface="Cambria Math" panose="02040503050406030204" pitchFamily="18" charset="0"/>
                                  </a:rPr>
                                  <m:t>0</m:t>
                                </m:r>
                              </m:e>
                              <m:e>
                                <m:r>
                                  <a:rPr lang="en-US" sz="2200">
                                    <a:latin typeface="Cambria Math" panose="02040503050406030204" pitchFamily="18" charset="0"/>
                                  </a:rPr>
                                  <m:t>0</m:t>
                                </m:r>
                              </m:e>
                              <m:e>
                                <m:r>
                                  <a:rPr lang="en-US" sz="2200">
                                    <a:latin typeface="Cambria Math" panose="02040503050406030204" pitchFamily="18" charset="0"/>
                                  </a:rPr>
                                  <m:t>1</m:t>
                                </m:r>
                              </m:e>
                              <m:e>
                                <m:r>
                                  <a:rPr lang="en-US" sz="2200">
                                    <a:latin typeface="Cambria Math" panose="02040503050406030204" pitchFamily="18" charset="0"/>
                                  </a:rPr>
                                  <m:t>0</m:t>
                                </m:r>
                              </m:e>
                            </m:mr>
                            <m:mr>
                              <m:e>
                                <m:r>
                                  <a:rPr lang="en-US" sz="2200">
                                    <a:latin typeface="Cambria Math" panose="02040503050406030204" pitchFamily="18" charset="0"/>
                                  </a:rPr>
                                  <m:t>0</m:t>
                                </m:r>
                              </m:e>
                              <m:e>
                                <m:r>
                                  <a:rPr lang="en-US" sz="2200">
                                    <a:latin typeface="Cambria Math" panose="02040503050406030204" pitchFamily="18" charset="0"/>
                                  </a:rPr>
                                  <m:t>1</m:t>
                                </m:r>
                              </m:e>
                              <m:e>
                                <m:r>
                                  <a:rPr lang="en-US" sz="2200">
                                    <a:latin typeface="Cambria Math" panose="02040503050406030204" pitchFamily="18" charset="0"/>
                                  </a:rPr>
                                  <m:t>0</m:t>
                                </m:r>
                              </m:e>
                              <m:e>
                                <m:r>
                                  <a:rPr lang="sr-Latn-RS" sz="2200">
                                    <a:latin typeface="Cambria Math" panose="02040503050406030204" pitchFamily="18" charset="0"/>
                                  </a:rPr>
                                  <m:t>0</m:t>
                                </m:r>
                              </m:e>
                            </m:mr>
                          </m:m>
                        </m:e>
                      </m:d>
                    </m:oMath>
                  </m:oMathPara>
                </a14:m>
                <a:endParaRPr lang="en-US" sz="2200" dirty="0"/>
              </a:p>
            </p:txBody>
          </p:sp>
        </mc:Choice>
        <mc:Fallback xmlns="">
          <p:sp>
            <p:nvSpPr>
              <p:cNvPr id="26" name="Rectangle 25">
                <a:extLst>
                  <a:ext uri="{FF2B5EF4-FFF2-40B4-BE49-F238E27FC236}">
                    <a16:creationId xmlns:a16="http://schemas.microsoft.com/office/drawing/2014/main" id="{80CDC3F7-5A5D-6343-A38E-7355C3F93C9F}"/>
                  </a:ext>
                </a:extLst>
              </p:cNvPr>
              <p:cNvSpPr>
                <a:spLocks noRot="1" noChangeAspect="1" noMove="1" noResize="1" noEditPoints="1" noAdjustHandles="1" noChangeArrowheads="1" noChangeShapeType="1" noTextEdit="1"/>
              </p:cNvSpPr>
              <p:nvPr/>
            </p:nvSpPr>
            <p:spPr>
              <a:xfrm>
                <a:off x="174282" y="4327159"/>
                <a:ext cx="11998926" cy="1356975"/>
              </a:xfrm>
              <a:prstGeom prst="rect">
                <a:avLst/>
              </a:prstGeom>
              <a:blipFill>
                <a:blip r:embed="rId5"/>
                <a:stretch>
                  <a:fillRect/>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7A173CAF-8EB1-EE40-B516-B69E6152B428}"/>
              </a:ext>
            </a:extLst>
          </p:cNvPr>
          <p:cNvSpPr txBox="1"/>
          <p:nvPr/>
        </p:nvSpPr>
        <p:spPr>
          <a:xfrm>
            <a:off x="1908366" y="1305816"/>
            <a:ext cx="304892" cy="523220"/>
          </a:xfrm>
          <a:prstGeom prst="rect">
            <a:avLst/>
          </a:prstGeom>
          <a:noFill/>
        </p:spPr>
        <p:txBody>
          <a:bodyPr wrap="none" rtlCol="0">
            <a:spAutoFit/>
          </a:bodyPr>
          <a:lstStyle/>
          <a:p>
            <a:r>
              <a:rPr lang="en-US" sz="2800" dirty="0"/>
              <a:t>t</a:t>
            </a:r>
          </a:p>
        </p:txBody>
      </p:sp>
      <p:sp>
        <p:nvSpPr>
          <p:cNvPr id="28" name="TextBox 27">
            <a:extLst>
              <a:ext uri="{FF2B5EF4-FFF2-40B4-BE49-F238E27FC236}">
                <a16:creationId xmlns:a16="http://schemas.microsoft.com/office/drawing/2014/main" id="{1200DF25-4B13-9043-A981-02AB27391321}"/>
              </a:ext>
            </a:extLst>
          </p:cNvPr>
          <p:cNvSpPr txBox="1"/>
          <p:nvPr/>
        </p:nvSpPr>
        <p:spPr>
          <a:xfrm>
            <a:off x="1890364" y="2240589"/>
            <a:ext cx="336952" cy="523220"/>
          </a:xfrm>
          <a:prstGeom prst="rect">
            <a:avLst/>
          </a:prstGeom>
          <a:noFill/>
        </p:spPr>
        <p:txBody>
          <a:bodyPr wrap="none" rtlCol="0">
            <a:spAutoFit/>
          </a:bodyPr>
          <a:lstStyle/>
          <a:p>
            <a:r>
              <a:rPr lang="en-US" sz="2800" dirty="0"/>
              <a:t>c</a:t>
            </a:r>
          </a:p>
        </p:txBody>
      </p:sp>
      <p:sp>
        <p:nvSpPr>
          <p:cNvPr id="32" name="Rectangle 31">
            <a:extLst>
              <a:ext uri="{FF2B5EF4-FFF2-40B4-BE49-F238E27FC236}">
                <a16:creationId xmlns:a16="http://schemas.microsoft.com/office/drawing/2014/main" id="{227B5858-750C-C645-8123-9B1EA5DC63BB}"/>
              </a:ext>
            </a:extLst>
          </p:cNvPr>
          <p:cNvSpPr>
            <a:spLocks noChangeAspect="1"/>
          </p:cNvSpPr>
          <p:nvPr/>
        </p:nvSpPr>
        <p:spPr>
          <a:xfrm>
            <a:off x="5287689" y="1198983"/>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33" name="Rectangle 32">
            <a:extLst>
              <a:ext uri="{FF2B5EF4-FFF2-40B4-BE49-F238E27FC236}">
                <a16:creationId xmlns:a16="http://schemas.microsoft.com/office/drawing/2014/main" id="{69A59B40-BD3A-FC49-8739-D04507E2DD4F}"/>
              </a:ext>
            </a:extLst>
          </p:cNvPr>
          <p:cNvSpPr>
            <a:spLocks noChangeAspect="1"/>
          </p:cNvSpPr>
          <p:nvPr/>
        </p:nvSpPr>
        <p:spPr>
          <a:xfrm>
            <a:off x="7180381" y="1198983"/>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nvGrpSpPr>
          <p:cNvPr id="34" name="Group 33">
            <a:extLst>
              <a:ext uri="{FF2B5EF4-FFF2-40B4-BE49-F238E27FC236}">
                <a16:creationId xmlns:a16="http://schemas.microsoft.com/office/drawing/2014/main" id="{A746F00D-9EAA-8848-8C85-CD3275696720}"/>
              </a:ext>
            </a:extLst>
          </p:cNvPr>
          <p:cNvGrpSpPr/>
          <p:nvPr/>
        </p:nvGrpSpPr>
        <p:grpSpPr>
          <a:xfrm rot="10800000">
            <a:off x="6195963" y="1452791"/>
            <a:ext cx="720000" cy="1385722"/>
            <a:chOff x="2596286" y="1207649"/>
            <a:chExt cx="720000" cy="1385722"/>
          </a:xfrm>
        </p:grpSpPr>
        <p:sp>
          <p:nvSpPr>
            <p:cNvPr id="35" name="Oval 34">
              <a:extLst>
                <a:ext uri="{FF2B5EF4-FFF2-40B4-BE49-F238E27FC236}">
                  <a16:creationId xmlns:a16="http://schemas.microsoft.com/office/drawing/2014/main" id="{C6685EDD-3F43-8E40-8BB2-3286DBD1A9A4}"/>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6" name="Oval 35">
              <a:extLst>
                <a:ext uri="{FF2B5EF4-FFF2-40B4-BE49-F238E27FC236}">
                  <a16:creationId xmlns:a16="http://schemas.microsoft.com/office/drawing/2014/main" id="{7EB68AB9-C239-774B-87FA-9532EA32CBBC}"/>
                </a:ext>
              </a:extLst>
            </p:cNvPr>
            <p:cNvSpPr/>
            <p:nvPr/>
          </p:nvSpPr>
          <p:spPr>
            <a:xfrm flipV="1">
              <a:off x="2860956" y="2413371"/>
              <a:ext cx="180000" cy="18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7" name="Straight Connector 36">
              <a:extLst>
                <a:ext uri="{FF2B5EF4-FFF2-40B4-BE49-F238E27FC236}">
                  <a16:creationId xmlns:a16="http://schemas.microsoft.com/office/drawing/2014/main" id="{27D78CE4-4FBF-B747-85EC-16FC5690046D}"/>
                </a:ext>
              </a:extLst>
            </p:cNvPr>
            <p:cNvCxnSpPr>
              <a:cxnSpLocks/>
              <a:stCxn id="36" idx="4"/>
              <a:endCxn id="35" idx="0"/>
            </p:cNvCxnSpPr>
            <p:nvPr/>
          </p:nvCxnSpPr>
          <p:spPr>
            <a:xfrm flipV="1">
              <a:off x="2950956" y="1927649"/>
              <a:ext cx="0" cy="4857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Rectangle 37">
            <a:extLst>
              <a:ext uri="{FF2B5EF4-FFF2-40B4-BE49-F238E27FC236}">
                <a16:creationId xmlns:a16="http://schemas.microsoft.com/office/drawing/2014/main" id="{9A3D89B2-E837-EC42-8D0B-320FD83E1C4E}"/>
              </a:ext>
            </a:extLst>
          </p:cNvPr>
          <p:cNvSpPr>
            <a:spLocks noChangeAspect="1"/>
          </p:cNvSpPr>
          <p:nvPr/>
        </p:nvSpPr>
        <p:spPr>
          <a:xfrm>
            <a:off x="5287689" y="2135186"/>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39" name="Rectangle 38">
            <a:extLst>
              <a:ext uri="{FF2B5EF4-FFF2-40B4-BE49-F238E27FC236}">
                <a16:creationId xmlns:a16="http://schemas.microsoft.com/office/drawing/2014/main" id="{1C27CF66-A03F-CD4B-88D9-B9056A9A1732}"/>
              </a:ext>
            </a:extLst>
          </p:cNvPr>
          <p:cNvSpPr>
            <a:spLocks noChangeAspect="1"/>
          </p:cNvSpPr>
          <p:nvPr/>
        </p:nvSpPr>
        <p:spPr>
          <a:xfrm>
            <a:off x="7180381" y="2118513"/>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Tree>
    <p:extLst>
      <p:ext uri="{BB962C8B-B14F-4D97-AF65-F5344CB8AC3E}">
        <p14:creationId xmlns:p14="http://schemas.microsoft.com/office/powerpoint/2010/main" val="3545600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1A05F-EFAA-B04D-8E9E-E6CE34D68A1A}"/>
              </a:ext>
            </a:extLst>
          </p:cNvPr>
          <p:cNvSpPr>
            <a:spLocks noGrp="1"/>
          </p:cNvSpPr>
          <p:nvPr>
            <p:ph type="title"/>
          </p:nvPr>
        </p:nvSpPr>
        <p:spPr/>
        <p:txBody>
          <a:bodyPr/>
          <a:lstStyle/>
          <a:p>
            <a:r>
              <a:rPr lang="en-ZA" dirty="0"/>
              <a:t>CZ and CP Symmetry Property</a:t>
            </a:r>
            <a:endParaRPr lang="en-US" dirty="0"/>
          </a:p>
        </p:txBody>
      </p:sp>
      <p:sp>
        <p:nvSpPr>
          <p:cNvPr id="3" name="Slide Number Placeholder 2">
            <a:extLst>
              <a:ext uri="{FF2B5EF4-FFF2-40B4-BE49-F238E27FC236}">
                <a16:creationId xmlns:a16="http://schemas.microsoft.com/office/drawing/2014/main" id="{1D88A70F-7B05-5C49-BE7A-C077D8534BB8}"/>
              </a:ext>
            </a:extLst>
          </p:cNvPr>
          <p:cNvSpPr>
            <a:spLocks noGrp="1"/>
          </p:cNvSpPr>
          <p:nvPr>
            <p:ph type="sldNum" sz="quarter" idx="12"/>
          </p:nvPr>
        </p:nvSpPr>
        <p:spPr/>
        <p:txBody>
          <a:bodyPr/>
          <a:lstStyle/>
          <a:p>
            <a:fld id="{591A223C-FA10-BC46-A853-03BA373D023C}" type="slidenum">
              <a:rPr lang="en-US" smtClean="0"/>
              <a:t>15</a:t>
            </a:fld>
            <a:endParaRPr lang="en-US"/>
          </a:p>
        </p:txBody>
      </p:sp>
      <p:cxnSp>
        <p:nvCxnSpPr>
          <p:cNvPr id="4" name="Straight Connector 3">
            <a:extLst>
              <a:ext uri="{FF2B5EF4-FFF2-40B4-BE49-F238E27FC236}">
                <a16:creationId xmlns:a16="http://schemas.microsoft.com/office/drawing/2014/main" id="{B4DBBE21-8105-9C46-9B7E-04F71C445443}"/>
              </a:ext>
            </a:extLst>
          </p:cNvPr>
          <p:cNvCxnSpPr>
            <a:cxnSpLocks/>
          </p:cNvCxnSpPr>
          <p:nvPr/>
        </p:nvCxnSpPr>
        <p:spPr>
          <a:xfrm>
            <a:off x="1341532" y="2663428"/>
            <a:ext cx="14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4D8A628-9B1B-9E43-B4EE-632846868201}"/>
              </a:ext>
            </a:extLst>
          </p:cNvPr>
          <p:cNvCxnSpPr>
            <a:cxnSpLocks/>
          </p:cNvCxnSpPr>
          <p:nvPr/>
        </p:nvCxnSpPr>
        <p:spPr>
          <a:xfrm>
            <a:off x="1225127" y="1703340"/>
            <a:ext cx="14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75D7E771-CEFB-8B4C-BD43-6A644B0755A0}"/>
              </a:ext>
            </a:extLst>
          </p:cNvPr>
          <p:cNvSpPr/>
          <p:nvPr/>
        </p:nvSpPr>
        <p:spPr>
          <a:xfrm rot="10800000" flipV="1">
            <a:off x="1842495" y="1557102"/>
            <a:ext cx="270000" cy="27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8" name="Straight Connector 7">
            <a:extLst>
              <a:ext uri="{FF2B5EF4-FFF2-40B4-BE49-F238E27FC236}">
                <a16:creationId xmlns:a16="http://schemas.microsoft.com/office/drawing/2014/main" id="{814FEB7F-2DFF-BA4E-A33F-7BA5EB592DD0}"/>
              </a:ext>
            </a:extLst>
          </p:cNvPr>
          <p:cNvCxnSpPr>
            <a:cxnSpLocks/>
            <a:stCxn id="7" idx="4"/>
            <a:endCxn id="9" idx="0"/>
          </p:cNvCxnSpPr>
          <p:nvPr/>
        </p:nvCxnSpPr>
        <p:spPr>
          <a:xfrm>
            <a:off x="1977495" y="1827102"/>
            <a:ext cx="0" cy="44578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B9A541F-2AF3-F640-AC39-900D984CF22B}"/>
              </a:ext>
            </a:extLst>
          </p:cNvPr>
          <p:cNvSpPr/>
          <p:nvPr/>
        </p:nvSpPr>
        <p:spPr>
          <a:xfrm>
            <a:off x="1617495" y="2272888"/>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Z</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1C3BF17E-00B0-BA4D-9220-F3F5A6082F3F}"/>
                  </a:ext>
                </a:extLst>
              </p:cNvPr>
              <p:cNvSpPr/>
              <p:nvPr/>
            </p:nvSpPr>
            <p:spPr>
              <a:xfrm>
                <a:off x="5687922" y="1827102"/>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10" name="Rectangle 9">
                <a:extLst>
                  <a:ext uri="{FF2B5EF4-FFF2-40B4-BE49-F238E27FC236}">
                    <a16:creationId xmlns:a16="http://schemas.microsoft.com/office/drawing/2014/main" id="{1C3BF17E-00B0-BA4D-9220-F3F5A6082F3F}"/>
                  </a:ext>
                </a:extLst>
              </p:cNvPr>
              <p:cNvSpPr>
                <a:spLocks noRot="1" noChangeAspect="1" noMove="1" noResize="1" noEditPoints="1" noAdjustHandles="1" noChangeArrowheads="1" noChangeShapeType="1" noTextEdit="1"/>
              </p:cNvSpPr>
              <p:nvPr/>
            </p:nvSpPr>
            <p:spPr>
              <a:xfrm>
                <a:off x="5687922" y="1827102"/>
                <a:ext cx="633507" cy="646331"/>
              </a:xfrm>
              <a:prstGeom prst="rect">
                <a:avLst/>
              </a:prstGeom>
              <a:blipFill>
                <a:blip r:embed="rId3"/>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C3AB45CE-5ECF-9546-9B43-606883940EFA}"/>
              </a:ext>
            </a:extLst>
          </p:cNvPr>
          <p:cNvCxnSpPr>
            <a:cxnSpLocks/>
          </p:cNvCxnSpPr>
          <p:nvPr/>
        </p:nvCxnSpPr>
        <p:spPr>
          <a:xfrm>
            <a:off x="4160356" y="2649878"/>
            <a:ext cx="14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582034B-395C-5C42-9E54-88F41B9B2CD2}"/>
              </a:ext>
            </a:extLst>
          </p:cNvPr>
          <p:cNvCxnSpPr>
            <a:cxnSpLocks/>
          </p:cNvCxnSpPr>
          <p:nvPr/>
        </p:nvCxnSpPr>
        <p:spPr>
          <a:xfrm>
            <a:off x="4043951" y="1689790"/>
            <a:ext cx="14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EBC6C894-0327-0042-874C-2B0BDFD6AA63}"/>
              </a:ext>
            </a:extLst>
          </p:cNvPr>
          <p:cNvSpPr/>
          <p:nvPr/>
        </p:nvSpPr>
        <p:spPr>
          <a:xfrm rot="10800000" flipV="1">
            <a:off x="4691099" y="2543364"/>
            <a:ext cx="270000" cy="27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4" name="Straight Connector 13">
            <a:extLst>
              <a:ext uri="{FF2B5EF4-FFF2-40B4-BE49-F238E27FC236}">
                <a16:creationId xmlns:a16="http://schemas.microsoft.com/office/drawing/2014/main" id="{B9F2A672-8230-8244-8627-E3C3D7FAEB9D}"/>
              </a:ext>
            </a:extLst>
          </p:cNvPr>
          <p:cNvCxnSpPr>
            <a:cxnSpLocks/>
            <a:stCxn id="15" idx="2"/>
          </p:cNvCxnSpPr>
          <p:nvPr/>
        </p:nvCxnSpPr>
        <p:spPr>
          <a:xfrm>
            <a:off x="4822495" y="2072813"/>
            <a:ext cx="0" cy="4855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DCB706CA-FAAB-0A4D-A203-A0F8F5A435FC}"/>
              </a:ext>
            </a:extLst>
          </p:cNvPr>
          <p:cNvSpPr/>
          <p:nvPr/>
        </p:nvSpPr>
        <p:spPr>
          <a:xfrm>
            <a:off x="4462495" y="1352813"/>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Z</a:t>
            </a:r>
          </a:p>
        </p:txBody>
      </p:sp>
      <p:cxnSp>
        <p:nvCxnSpPr>
          <p:cNvPr id="19" name="Straight Connector 18">
            <a:extLst>
              <a:ext uri="{FF2B5EF4-FFF2-40B4-BE49-F238E27FC236}">
                <a16:creationId xmlns:a16="http://schemas.microsoft.com/office/drawing/2014/main" id="{EB1B7111-8E35-9C44-8DA6-159BCE6481F3}"/>
              </a:ext>
            </a:extLst>
          </p:cNvPr>
          <p:cNvCxnSpPr>
            <a:cxnSpLocks/>
          </p:cNvCxnSpPr>
          <p:nvPr/>
        </p:nvCxnSpPr>
        <p:spPr>
          <a:xfrm>
            <a:off x="1314785" y="5034798"/>
            <a:ext cx="14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B6D470D-2903-F04D-B7C9-430929D675EC}"/>
              </a:ext>
            </a:extLst>
          </p:cNvPr>
          <p:cNvCxnSpPr>
            <a:cxnSpLocks/>
          </p:cNvCxnSpPr>
          <p:nvPr/>
        </p:nvCxnSpPr>
        <p:spPr>
          <a:xfrm>
            <a:off x="1258354" y="4099213"/>
            <a:ext cx="14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B89ECB9E-F352-544E-B301-A21AACA18847}"/>
              </a:ext>
            </a:extLst>
          </p:cNvPr>
          <p:cNvSpPr/>
          <p:nvPr/>
        </p:nvSpPr>
        <p:spPr>
          <a:xfrm rot="10800000" flipV="1">
            <a:off x="1899785" y="3952975"/>
            <a:ext cx="270000" cy="27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2" name="Straight Connector 21">
            <a:extLst>
              <a:ext uri="{FF2B5EF4-FFF2-40B4-BE49-F238E27FC236}">
                <a16:creationId xmlns:a16="http://schemas.microsoft.com/office/drawing/2014/main" id="{C81A44D4-816B-0843-A956-1CE5BBF0CD18}"/>
              </a:ext>
            </a:extLst>
          </p:cNvPr>
          <p:cNvCxnSpPr>
            <a:cxnSpLocks/>
            <a:stCxn id="21" idx="4"/>
          </p:cNvCxnSpPr>
          <p:nvPr/>
        </p:nvCxnSpPr>
        <p:spPr>
          <a:xfrm>
            <a:off x="2034785" y="4222975"/>
            <a:ext cx="0" cy="44578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FD84CCAD-10B9-574C-A77D-D1D6300631B1}"/>
                  </a:ext>
                </a:extLst>
              </p:cNvPr>
              <p:cNvSpPr/>
              <p:nvPr/>
            </p:nvSpPr>
            <p:spPr>
              <a:xfrm>
                <a:off x="3258521" y="4228140"/>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24" name="Rectangle 23">
                <a:extLst>
                  <a:ext uri="{FF2B5EF4-FFF2-40B4-BE49-F238E27FC236}">
                    <a16:creationId xmlns:a16="http://schemas.microsoft.com/office/drawing/2014/main" id="{FD84CCAD-10B9-574C-A77D-D1D6300631B1}"/>
                  </a:ext>
                </a:extLst>
              </p:cNvPr>
              <p:cNvSpPr>
                <a:spLocks noRot="1" noChangeAspect="1" noMove="1" noResize="1" noEditPoints="1" noAdjustHandles="1" noChangeArrowheads="1" noChangeShapeType="1" noTextEdit="1"/>
              </p:cNvSpPr>
              <p:nvPr/>
            </p:nvSpPr>
            <p:spPr>
              <a:xfrm>
                <a:off x="3258521" y="4228140"/>
                <a:ext cx="633507" cy="646331"/>
              </a:xfrm>
              <a:prstGeom prst="rect">
                <a:avLst/>
              </a:prstGeom>
              <a:blipFill>
                <a:blip r:embed="rId4"/>
                <a:stretch>
                  <a:fillRect/>
                </a:stretch>
              </a:blipFill>
            </p:spPr>
            <p:txBody>
              <a:bodyPr/>
              <a:lstStyle/>
              <a:p>
                <a:r>
                  <a:rPr lang="en-US">
                    <a:noFill/>
                  </a:rPr>
                  <a:t> </a:t>
                </a:r>
              </a:p>
            </p:txBody>
          </p:sp>
        </mc:Fallback>
      </mc:AlternateContent>
      <p:sp>
        <p:nvSpPr>
          <p:cNvPr id="25" name="Rectangle 24">
            <a:extLst>
              <a:ext uri="{FF2B5EF4-FFF2-40B4-BE49-F238E27FC236}">
                <a16:creationId xmlns:a16="http://schemas.microsoft.com/office/drawing/2014/main" id="{475F7185-F88E-8F49-868D-C23DCA55D19A}"/>
              </a:ext>
            </a:extLst>
          </p:cNvPr>
          <p:cNvSpPr/>
          <p:nvPr/>
        </p:nvSpPr>
        <p:spPr>
          <a:xfrm>
            <a:off x="1701532" y="4668760"/>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P</a:t>
            </a:r>
          </a:p>
        </p:txBody>
      </p:sp>
      <p:cxnSp>
        <p:nvCxnSpPr>
          <p:cNvPr id="26" name="Straight Connector 25">
            <a:extLst>
              <a:ext uri="{FF2B5EF4-FFF2-40B4-BE49-F238E27FC236}">
                <a16:creationId xmlns:a16="http://schemas.microsoft.com/office/drawing/2014/main" id="{7C412EFC-ADAE-CF44-9C85-8AE7695305C7}"/>
              </a:ext>
            </a:extLst>
          </p:cNvPr>
          <p:cNvCxnSpPr>
            <a:cxnSpLocks/>
          </p:cNvCxnSpPr>
          <p:nvPr/>
        </p:nvCxnSpPr>
        <p:spPr>
          <a:xfrm>
            <a:off x="4214352" y="5011207"/>
            <a:ext cx="14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1D9BF31-00A2-484A-BF65-FA834D3586F2}"/>
              </a:ext>
            </a:extLst>
          </p:cNvPr>
          <p:cNvCxnSpPr>
            <a:cxnSpLocks/>
          </p:cNvCxnSpPr>
          <p:nvPr/>
        </p:nvCxnSpPr>
        <p:spPr>
          <a:xfrm>
            <a:off x="4157921" y="4075622"/>
            <a:ext cx="14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691F822D-662E-1F41-A702-89DDA2BD2468}"/>
              </a:ext>
            </a:extLst>
          </p:cNvPr>
          <p:cNvSpPr/>
          <p:nvPr/>
        </p:nvSpPr>
        <p:spPr>
          <a:xfrm>
            <a:off x="4517921" y="3709301"/>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P</a:t>
            </a:r>
          </a:p>
        </p:txBody>
      </p: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06314316-EADA-C446-A44C-534E92B86758}"/>
                  </a:ext>
                </a:extLst>
              </p:cNvPr>
              <p:cNvSpPr/>
              <p:nvPr/>
            </p:nvSpPr>
            <p:spPr>
              <a:xfrm>
                <a:off x="8423046" y="1485661"/>
                <a:ext cx="3161828" cy="1126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𝑐</m:t>
                      </m:r>
                      <m:r>
                        <a:rPr lang="sr-Latn-RS" i="1">
                          <a:latin typeface="Cambria Math" panose="02040503050406030204" pitchFamily="18" charset="0"/>
                          <a:ea typeface="Cambria Math" panose="02040503050406030204" pitchFamily="18" charset="0"/>
                        </a:rPr>
                        <m:t>𝑍</m:t>
                      </m:r>
                      <m:r>
                        <a:rPr lang="sr-Latn-RS" b="0" i="1" smtClean="0">
                          <a:latin typeface="Cambria Math" panose="02040503050406030204" pitchFamily="18" charset="0"/>
                          <a:ea typeface="Cambria Math" panose="02040503050406030204" pitchFamily="18" charset="0"/>
                        </a:rPr>
                        <m:t>=</m:t>
                      </m:r>
                      <m:r>
                        <a:rPr lang="sr-Latn-RS" b="0" i="1" smtClean="0">
                          <a:latin typeface="Cambria Math" panose="02040503050406030204" pitchFamily="18" charset="0"/>
                          <a:ea typeface="Cambria Math" panose="02040503050406030204" pitchFamily="18" charset="0"/>
                        </a:rPr>
                        <m:t>𝑟𝑐𝑍</m:t>
                      </m:r>
                      <m:r>
                        <a:rPr lang="en-US" i="1">
                          <a:latin typeface="Cambria Math" panose="02040503050406030204" pitchFamily="18" charset="0"/>
                          <a:ea typeface="Cambria Math" panose="02040503050406030204" pitchFamily="18" charset="0"/>
                        </a:rPr>
                        <m:t>=</m:t>
                      </m:r>
                      <m:d>
                        <m:dPr>
                          <m:ctrlPr>
                            <a:rPr lang="en-ZA" i="1">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mr>
                          </m:m>
                        </m:e>
                      </m:d>
                    </m:oMath>
                  </m:oMathPara>
                </a14:m>
                <a:endParaRPr lang="en-US" dirty="0"/>
              </a:p>
            </p:txBody>
          </p:sp>
        </mc:Choice>
        <mc:Fallback xmlns="">
          <p:sp>
            <p:nvSpPr>
              <p:cNvPr id="31" name="Rectangle 30">
                <a:extLst>
                  <a:ext uri="{FF2B5EF4-FFF2-40B4-BE49-F238E27FC236}">
                    <a16:creationId xmlns:a16="http://schemas.microsoft.com/office/drawing/2014/main" id="{06314316-EADA-C446-A44C-534E92B86758}"/>
                  </a:ext>
                </a:extLst>
              </p:cNvPr>
              <p:cNvSpPr>
                <a:spLocks noRot="1" noChangeAspect="1" noMove="1" noResize="1" noEditPoints="1" noAdjustHandles="1" noChangeArrowheads="1" noChangeShapeType="1" noTextEdit="1"/>
              </p:cNvSpPr>
              <p:nvPr/>
            </p:nvSpPr>
            <p:spPr>
              <a:xfrm>
                <a:off x="8423046" y="1485661"/>
                <a:ext cx="3161828" cy="1126975"/>
              </a:xfrm>
              <a:prstGeom prst="rect">
                <a:avLst/>
              </a:prstGeom>
              <a:blipFill>
                <a:blip r:embed="rId5"/>
                <a:stretch>
                  <a:fillRect b="-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83E692A3-4F2C-DD4E-9BE1-5AC5BB1F57E7}"/>
                  </a:ext>
                </a:extLst>
              </p:cNvPr>
              <p:cNvSpPr/>
              <p:nvPr/>
            </p:nvSpPr>
            <p:spPr>
              <a:xfrm>
                <a:off x="6416014" y="4068136"/>
                <a:ext cx="3167406" cy="1126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𝑐</m:t>
                      </m:r>
                      <m:r>
                        <a:rPr lang="sr-Latn-RS" i="1">
                          <a:latin typeface="Cambria Math" panose="02040503050406030204" pitchFamily="18" charset="0"/>
                          <a:ea typeface="Cambria Math" panose="02040503050406030204" pitchFamily="18" charset="0"/>
                        </a:rPr>
                        <m:t>𝑃</m:t>
                      </m:r>
                      <m:r>
                        <a:rPr lang="sr-Latn-RS" b="0" i="1" smtClean="0">
                          <a:latin typeface="Cambria Math" panose="02040503050406030204" pitchFamily="18" charset="0"/>
                          <a:ea typeface="Cambria Math" panose="02040503050406030204" pitchFamily="18" charset="0"/>
                        </a:rPr>
                        <m:t>=</m:t>
                      </m:r>
                      <m:r>
                        <a:rPr lang="sr-Latn-RS" b="0" i="1" smtClean="0">
                          <a:latin typeface="Cambria Math" panose="02040503050406030204" pitchFamily="18" charset="0"/>
                          <a:ea typeface="Cambria Math" panose="02040503050406030204" pitchFamily="18" charset="0"/>
                        </a:rPr>
                        <m:t>𝑟𝑐𝑃</m:t>
                      </m:r>
                      <m:r>
                        <a:rPr lang="en-US" i="1">
                          <a:latin typeface="Cambria Math" panose="02040503050406030204" pitchFamily="18" charset="0"/>
                          <a:ea typeface="Cambria Math" panose="02040503050406030204" pitchFamily="18" charset="0"/>
                        </a:rPr>
                        <m:t>=</m:t>
                      </m:r>
                      <m:d>
                        <m:dPr>
                          <m:ctrlPr>
                            <a:rPr lang="en-ZA" i="1">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sSup>
                                  <m:sSupPr>
                                    <m:ctrlPr>
                                      <a:rPr lang="en-ZA" i="1">
                                        <a:latin typeface="Cambria Math" panose="02040503050406030204" pitchFamily="18" charset="0"/>
                                      </a:rPr>
                                    </m:ctrlPr>
                                  </m:sSupPr>
                                  <m:e>
                                    <m:r>
                                      <a:rPr lang="sr-Latn-RS" i="1">
                                        <a:latin typeface="Cambria Math" panose="02040503050406030204" pitchFamily="18" charset="0"/>
                                      </a:rPr>
                                      <m:t>𝑒</m:t>
                                    </m:r>
                                  </m:e>
                                  <m:sup>
                                    <m:r>
                                      <a:rPr lang="sr-Latn-RS" i="1">
                                        <a:latin typeface="Cambria Math" panose="02040503050406030204" pitchFamily="18" charset="0"/>
                                      </a:rPr>
                                      <m:t>𝑖</m:t>
                                    </m:r>
                                    <m:r>
                                      <a:rPr lang="sr-Latn-RS" i="1">
                                        <a:latin typeface="Cambria Math" panose="02040503050406030204" pitchFamily="18" charset="0"/>
                                      </a:rPr>
                                      <m:t>𝜆</m:t>
                                    </m:r>
                                  </m:sup>
                                </m:sSup>
                              </m:e>
                            </m:mr>
                          </m:m>
                        </m:e>
                      </m:d>
                    </m:oMath>
                  </m:oMathPara>
                </a14:m>
                <a:endParaRPr lang="en-US" dirty="0">
                  <a:latin typeface="Cambria Math" panose="02040503050406030204" pitchFamily="18" charset="0"/>
                  <a:ea typeface="Cambria Math" panose="02040503050406030204" pitchFamily="18" charset="0"/>
                </a:endParaRPr>
              </a:p>
            </p:txBody>
          </p:sp>
        </mc:Choice>
        <mc:Fallback xmlns="">
          <p:sp>
            <p:nvSpPr>
              <p:cNvPr id="34" name="Rectangle 33">
                <a:extLst>
                  <a:ext uri="{FF2B5EF4-FFF2-40B4-BE49-F238E27FC236}">
                    <a16:creationId xmlns:a16="http://schemas.microsoft.com/office/drawing/2014/main" id="{83E692A3-4F2C-DD4E-9BE1-5AC5BB1F57E7}"/>
                  </a:ext>
                </a:extLst>
              </p:cNvPr>
              <p:cNvSpPr>
                <a:spLocks noRot="1" noChangeAspect="1" noMove="1" noResize="1" noEditPoints="1" noAdjustHandles="1" noChangeArrowheads="1" noChangeShapeType="1" noTextEdit="1"/>
              </p:cNvSpPr>
              <p:nvPr/>
            </p:nvSpPr>
            <p:spPr>
              <a:xfrm>
                <a:off x="6416014" y="4068136"/>
                <a:ext cx="3167406" cy="1126975"/>
              </a:xfrm>
              <a:prstGeom prst="rect">
                <a:avLst/>
              </a:prstGeom>
              <a:blipFill>
                <a:blip r:embed="rId6"/>
                <a:stretch>
                  <a:fillRect/>
                </a:stretch>
              </a:blipFill>
            </p:spPr>
            <p:txBody>
              <a:bodyPr/>
              <a:lstStyle/>
              <a:p>
                <a:r>
                  <a:rPr lang="en-US">
                    <a:noFill/>
                  </a:rPr>
                  <a:t> </a:t>
                </a:r>
              </a:p>
            </p:txBody>
          </p:sp>
        </mc:Fallback>
      </mc:AlternateContent>
      <p:sp>
        <p:nvSpPr>
          <p:cNvPr id="37" name="Oval 36">
            <a:extLst>
              <a:ext uri="{FF2B5EF4-FFF2-40B4-BE49-F238E27FC236}">
                <a16:creationId xmlns:a16="http://schemas.microsoft.com/office/drawing/2014/main" id="{92EB6CAC-316D-DE4D-BDC5-0886F73E9964}"/>
              </a:ext>
            </a:extLst>
          </p:cNvPr>
          <p:cNvSpPr/>
          <p:nvPr/>
        </p:nvSpPr>
        <p:spPr>
          <a:xfrm rot="10800000" flipV="1">
            <a:off x="4728595" y="4859420"/>
            <a:ext cx="270000" cy="27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8" name="Straight Connector 37">
            <a:extLst>
              <a:ext uri="{FF2B5EF4-FFF2-40B4-BE49-F238E27FC236}">
                <a16:creationId xmlns:a16="http://schemas.microsoft.com/office/drawing/2014/main" id="{D8E528F3-6B33-E948-871A-46534B7D221B}"/>
              </a:ext>
            </a:extLst>
          </p:cNvPr>
          <p:cNvCxnSpPr>
            <a:cxnSpLocks/>
          </p:cNvCxnSpPr>
          <p:nvPr/>
        </p:nvCxnSpPr>
        <p:spPr>
          <a:xfrm>
            <a:off x="4859991" y="4388869"/>
            <a:ext cx="0" cy="4855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665E65D-E3F9-6244-8D70-3D8F38A63E0D}"/>
              </a:ext>
            </a:extLst>
          </p:cNvPr>
          <p:cNvCxnSpPr>
            <a:cxnSpLocks/>
          </p:cNvCxnSpPr>
          <p:nvPr/>
        </p:nvCxnSpPr>
        <p:spPr>
          <a:xfrm>
            <a:off x="6569623" y="2649878"/>
            <a:ext cx="14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7CF83EC-3DAC-5D47-B3E6-EC9BB14FD566}"/>
              </a:ext>
            </a:extLst>
          </p:cNvPr>
          <p:cNvCxnSpPr>
            <a:cxnSpLocks/>
          </p:cNvCxnSpPr>
          <p:nvPr/>
        </p:nvCxnSpPr>
        <p:spPr>
          <a:xfrm>
            <a:off x="6453218" y="1689790"/>
            <a:ext cx="14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06473A18-2A38-6846-B278-47D976E3D39F}"/>
              </a:ext>
            </a:extLst>
          </p:cNvPr>
          <p:cNvSpPr/>
          <p:nvPr/>
        </p:nvSpPr>
        <p:spPr>
          <a:xfrm rot="10800000" flipV="1">
            <a:off x="7079332" y="2514878"/>
            <a:ext cx="270000" cy="27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3" name="Straight Connector 32">
            <a:extLst>
              <a:ext uri="{FF2B5EF4-FFF2-40B4-BE49-F238E27FC236}">
                <a16:creationId xmlns:a16="http://schemas.microsoft.com/office/drawing/2014/main" id="{ED7E511D-756D-534B-9D83-A9650CC96D1C}"/>
              </a:ext>
            </a:extLst>
          </p:cNvPr>
          <p:cNvCxnSpPr>
            <a:cxnSpLocks/>
            <a:stCxn id="36" idx="4"/>
          </p:cNvCxnSpPr>
          <p:nvPr/>
        </p:nvCxnSpPr>
        <p:spPr>
          <a:xfrm>
            <a:off x="7214332" y="1816799"/>
            <a:ext cx="0" cy="76226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91ECA90C-6D76-A945-8F15-47864282F518}"/>
              </a:ext>
            </a:extLst>
          </p:cNvPr>
          <p:cNvSpPr/>
          <p:nvPr/>
        </p:nvSpPr>
        <p:spPr>
          <a:xfrm rot="10800000" flipV="1">
            <a:off x="7079332" y="1546799"/>
            <a:ext cx="270000" cy="27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Tree>
    <p:extLst>
      <p:ext uri="{BB962C8B-B14F-4D97-AF65-F5344CB8AC3E}">
        <p14:creationId xmlns:p14="http://schemas.microsoft.com/office/powerpoint/2010/main" val="1751846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2BC60-0E7E-B94B-94E7-0F423213FB4A}"/>
              </a:ext>
            </a:extLst>
          </p:cNvPr>
          <p:cNvSpPr>
            <a:spLocks noGrp="1"/>
          </p:cNvSpPr>
          <p:nvPr>
            <p:ph type="title"/>
          </p:nvPr>
        </p:nvSpPr>
        <p:spPr>
          <a:xfrm>
            <a:off x="0" y="0"/>
            <a:ext cx="12192000" cy="928688"/>
          </a:xfrm>
        </p:spPr>
        <p:txBody>
          <a:bodyPr/>
          <a:lstStyle/>
          <a:p>
            <a:r>
              <a:rPr lang="en-ZA" dirty="0"/>
              <a:t>Commutation of Z and CNOT</a:t>
            </a:r>
            <a:endParaRPr lang="en-US" dirty="0"/>
          </a:p>
        </p:txBody>
      </p:sp>
      <p:sp>
        <p:nvSpPr>
          <p:cNvPr id="3" name="Slide Number Placeholder 2">
            <a:extLst>
              <a:ext uri="{FF2B5EF4-FFF2-40B4-BE49-F238E27FC236}">
                <a16:creationId xmlns:a16="http://schemas.microsoft.com/office/drawing/2014/main" id="{AD247319-591A-2240-88B3-54D7E3854941}"/>
              </a:ext>
            </a:extLst>
          </p:cNvPr>
          <p:cNvSpPr>
            <a:spLocks noGrp="1"/>
          </p:cNvSpPr>
          <p:nvPr>
            <p:ph type="sldNum" sz="quarter" idx="12"/>
          </p:nvPr>
        </p:nvSpPr>
        <p:spPr/>
        <p:txBody>
          <a:bodyPr/>
          <a:lstStyle/>
          <a:p>
            <a:fld id="{591A223C-FA10-BC46-A853-03BA373D023C}" type="slidenum">
              <a:rPr lang="en-US" smtClean="0"/>
              <a:t>16</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DEC24AF4-86F6-524C-8BE2-38329BEE4536}"/>
                  </a:ext>
                </a:extLst>
              </p:cNvPr>
              <p:cNvSpPr/>
              <p:nvPr/>
            </p:nvSpPr>
            <p:spPr>
              <a:xfrm>
                <a:off x="5374768" y="1519055"/>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4" name="Rectangle 3">
                <a:extLst>
                  <a:ext uri="{FF2B5EF4-FFF2-40B4-BE49-F238E27FC236}">
                    <a16:creationId xmlns:a16="http://schemas.microsoft.com/office/drawing/2014/main" id="{DEC24AF4-86F6-524C-8BE2-38329BEE4536}"/>
                  </a:ext>
                </a:extLst>
              </p:cNvPr>
              <p:cNvSpPr>
                <a:spLocks noRot="1" noChangeAspect="1" noMove="1" noResize="1" noEditPoints="1" noAdjustHandles="1" noChangeArrowheads="1" noChangeShapeType="1" noTextEdit="1"/>
              </p:cNvSpPr>
              <p:nvPr/>
            </p:nvSpPr>
            <p:spPr>
              <a:xfrm>
                <a:off x="5374768" y="1519055"/>
                <a:ext cx="633507" cy="646331"/>
              </a:xfrm>
              <a:prstGeom prst="rect">
                <a:avLst/>
              </a:prstGeom>
              <a:blipFill>
                <a:blip r:embed="rId3"/>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A0E94CFA-9C64-4747-A0BB-BCA8DDD09D21}"/>
              </a:ext>
            </a:extLst>
          </p:cNvPr>
          <p:cNvCxnSpPr>
            <a:cxnSpLocks/>
          </p:cNvCxnSpPr>
          <p:nvPr/>
        </p:nvCxnSpPr>
        <p:spPr>
          <a:xfrm>
            <a:off x="2363509" y="2339887"/>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B0CA22B-11FA-4A42-86DF-2484AA73931C}"/>
              </a:ext>
            </a:extLst>
          </p:cNvPr>
          <p:cNvCxnSpPr>
            <a:cxnSpLocks/>
          </p:cNvCxnSpPr>
          <p:nvPr/>
        </p:nvCxnSpPr>
        <p:spPr>
          <a:xfrm>
            <a:off x="2247104" y="1379799"/>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9D07F7B1-EE6E-7547-A2A8-B09A0FC6C1CB}"/>
              </a:ext>
            </a:extLst>
          </p:cNvPr>
          <p:cNvSpPr/>
          <p:nvPr/>
        </p:nvSpPr>
        <p:spPr>
          <a:xfrm rot="10800000" flipV="1">
            <a:off x="3661674" y="1951291"/>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8" name="Oval 7">
            <a:extLst>
              <a:ext uri="{FF2B5EF4-FFF2-40B4-BE49-F238E27FC236}">
                <a16:creationId xmlns:a16="http://schemas.microsoft.com/office/drawing/2014/main" id="{6EAD4E8B-CDF8-DC4C-BBCF-CEDAACE1652C}"/>
              </a:ext>
            </a:extLst>
          </p:cNvPr>
          <p:cNvSpPr/>
          <p:nvPr/>
        </p:nvSpPr>
        <p:spPr>
          <a:xfrm rot="10800000" flipV="1">
            <a:off x="3889634" y="1249055"/>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9" name="Straight Connector 8">
            <a:extLst>
              <a:ext uri="{FF2B5EF4-FFF2-40B4-BE49-F238E27FC236}">
                <a16:creationId xmlns:a16="http://schemas.microsoft.com/office/drawing/2014/main" id="{E6FBFD33-0CC2-6E48-9D2B-94AD8CD69610}"/>
              </a:ext>
            </a:extLst>
          </p:cNvPr>
          <p:cNvCxnSpPr>
            <a:cxnSpLocks/>
            <a:stCxn id="8" idx="4"/>
            <a:endCxn id="7" idx="0"/>
          </p:cNvCxnSpPr>
          <p:nvPr/>
        </p:nvCxnSpPr>
        <p:spPr>
          <a:xfrm flipH="1">
            <a:off x="4021674" y="1519055"/>
            <a:ext cx="2960" cy="4322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707577D-43D5-7F4B-9568-6867A792FEDB}"/>
              </a:ext>
            </a:extLst>
          </p:cNvPr>
          <p:cNvCxnSpPr>
            <a:cxnSpLocks/>
          </p:cNvCxnSpPr>
          <p:nvPr/>
        </p:nvCxnSpPr>
        <p:spPr>
          <a:xfrm>
            <a:off x="6660567" y="2339887"/>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2BB1BB7-48CD-474B-AC9C-FD23D1664DA2}"/>
              </a:ext>
            </a:extLst>
          </p:cNvPr>
          <p:cNvCxnSpPr>
            <a:cxnSpLocks/>
          </p:cNvCxnSpPr>
          <p:nvPr/>
        </p:nvCxnSpPr>
        <p:spPr>
          <a:xfrm>
            <a:off x="6544162" y="1379799"/>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DF73A074-1ADA-7441-9E34-27BE0B062542}"/>
              </a:ext>
            </a:extLst>
          </p:cNvPr>
          <p:cNvSpPr/>
          <p:nvPr/>
        </p:nvSpPr>
        <p:spPr>
          <a:xfrm rot="10800000" flipV="1">
            <a:off x="7001370" y="1951291"/>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4" name="Oval 13">
            <a:extLst>
              <a:ext uri="{FF2B5EF4-FFF2-40B4-BE49-F238E27FC236}">
                <a16:creationId xmlns:a16="http://schemas.microsoft.com/office/drawing/2014/main" id="{9496225D-00CE-B048-9B00-71D733F561B1}"/>
              </a:ext>
            </a:extLst>
          </p:cNvPr>
          <p:cNvSpPr/>
          <p:nvPr/>
        </p:nvSpPr>
        <p:spPr>
          <a:xfrm rot="10800000" flipV="1">
            <a:off x="7229330" y="1249055"/>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5" name="Straight Connector 14">
            <a:extLst>
              <a:ext uri="{FF2B5EF4-FFF2-40B4-BE49-F238E27FC236}">
                <a16:creationId xmlns:a16="http://schemas.microsoft.com/office/drawing/2014/main" id="{A8D80527-24D6-A345-B438-8C84EB2D4677}"/>
              </a:ext>
            </a:extLst>
          </p:cNvPr>
          <p:cNvCxnSpPr>
            <a:cxnSpLocks/>
            <a:stCxn id="14" idx="4"/>
            <a:endCxn id="13" idx="0"/>
          </p:cNvCxnSpPr>
          <p:nvPr/>
        </p:nvCxnSpPr>
        <p:spPr>
          <a:xfrm flipH="1">
            <a:off x="7361370" y="1519055"/>
            <a:ext cx="2960" cy="4322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B8B6494-EB8C-9446-92BD-83ACAABA9406}"/>
                  </a:ext>
                </a:extLst>
              </p:cNvPr>
              <p:cNvSpPr txBox="1"/>
              <p:nvPr/>
            </p:nvSpPr>
            <p:spPr>
              <a:xfrm>
                <a:off x="3623509" y="2975182"/>
                <a:ext cx="4621843"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3200" i="1" dirty="0" smtClean="0">
                          <a:latin typeface="Cambria Math" panose="02040503050406030204" pitchFamily="18" charset="0"/>
                          <a:ea typeface="Cambria Math" panose="02040503050406030204" pitchFamily="18" charset="0"/>
                        </a:rPr>
                        <m:t>𝑐𝑋</m:t>
                      </m:r>
                      <m:d>
                        <m:dPr>
                          <m:ctrlPr>
                            <a:rPr lang="sr-Latn-RS" sz="3200" b="0" i="1" dirty="0" smtClean="0">
                              <a:latin typeface="Cambria Math" panose="02040503050406030204" pitchFamily="18" charset="0"/>
                              <a:ea typeface="Cambria Math" panose="02040503050406030204" pitchFamily="18" charset="0"/>
                            </a:rPr>
                          </m:ctrlPr>
                        </m:dPr>
                        <m:e>
                          <m:r>
                            <a:rPr lang="sr-Latn-RS" sz="3200" b="0" i="1" dirty="0" smtClean="0">
                              <a:latin typeface="Cambria Math" panose="02040503050406030204" pitchFamily="18" charset="0"/>
                              <a:ea typeface="Cambria Math" panose="02040503050406030204" pitchFamily="18" charset="0"/>
                            </a:rPr>
                            <m:t>𝐼</m:t>
                          </m:r>
                          <m:r>
                            <a:rPr lang="en-US" sz="3200" i="1" dirty="0">
                              <a:latin typeface="Cambria Math" panose="02040503050406030204" pitchFamily="18" charset="0"/>
                              <a:ea typeface="Cambria Math" panose="02040503050406030204" pitchFamily="18" charset="0"/>
                            </a:rPr>
                            <m:t>⊗</m:t>
                          </m:r>
                          <m:r>
                            <a:rPr lang="sr-Latn-RS" sz="3200" b="0" i="1" dirty="0" smtClean="0">
                              <a:latin typeface="Cambria Math" panose="02040503050406030204" pitchFamily="18" charset="0"/>
                              <a:ea typeface="Cambria Math" panose="02040503050406030204" pitchFamily="18" charset="0"/>
                            </a:rPr>
                            <m:t>𝑍</m:t>
                          </m:r>
                        </m:e>
                      </m:d>
                      <m:r>
                        <a:rPr lang="sr-Latn-RS" sz="3200" b="0" i="1" dirty="0" smtClean="0">
                          <a:latin typeface="Cambria Math" panose="02040503050406030204" pitchFamily="18" charset="0"/>
                          <a:ea typeface="Cambria Math" panose="02040503050406030204" pitchFamily="18" charset="0"/>
                        </a:rPr>
                        <m:t> =</m:t>
                      </m:r>
                      <m:d>
                        <m:dPr>
                          <m:ctrlPr>
                            <a:rPr lang="sr-Latn-RS" sz="3200" i="1" dirty="0">
                              <a:latin typeface="Cambria Math" panose="02040503050406030204" pitchFamily="18" charset="0"/>
                              <a:ea typeface="Cambria Math" panose="02040503050406030204" pitchFamily="18" charset="0"/>
                            </a:rPr>
                          </m:ctrlPr>
                        </m:dPr>
                        <m:e>
                          <m:r>
                            <a:rPr lang="sr-Latn-RS" sz="3200" b="0" i="1" dirty="0" smtClean="0">
                              <a:latin typeface="Cambria Math" panose="02040503050406030204" pitchFamily="18" charset="0"/>
                              <a:ea typeface="Cambria Math" panose="02040503050406030204" pitchFamily="18" charset="0"/>
                            </a:rPr>
                            <m:t>𝑍</m:t>
                          </m:r>
                          <m:r>
                            <a:rPr lang="en-US" sz="3200" i="1" dirty="0">
                              <a:latin typeface="Cambria Math" panose="02040503050406030204" pitchFamily="18" charset="0"/>
                              <a:ea typeface="Cambria Math" panose="02040503050406030204" pitchFamily="18" charset="0"/>
                            </a:rPr>
                            <m:t>⊗</m:t>
                          </m:r>
                          <m:r>
                            <a:rPr lang="sr-Latn-RS" sz="3200" b="0" i="1" dirty="0" smtClean="0">
                              <a:latin typeface="Cambria Math" panose="02040503050406030204" pitchFamily="18" charset="0"/>
                              <a:ea typeface="Cambria Math" panose="02040503050406030204" pitchFamily="18" charset="0"/>
                            </a:rPr>
                            <m:t>𝑍</m:t>
                          </m:r>
                        </m:e>
                      </m:d>
                      <m:r>
                        <a:rPr lang="sr-Latn-RS" sz="3200" i="1" dirty="0">
                          <a:latin typeface="Cambria Math" panose="02040503050406030204" pitchFamily="18" charset="0"/>
                          <a:ea typeface="Cambria Math" panose="02040503050406030204" pitchFamily="18" charset="0"/>
                        </a:rPr>
                        <m:t>𝑐𝑋</m:t>
                      </m:r>
                    </m:oMath>
                  </m:oMathPara>
                </a14:m>
                <a:endParaRPr lang="en-US" sz="3200" i="1" dirty="0"/>
              </a:p>
            </p:txBody>
          </p:sp>
        </mc:Choice>
        <mc:Fallback xmlns="">
          <p:sp>
            <p:nvSpPr>
              <p:cNvPr id="19" name="TextBox 18">
                <a:extLst>
                  <a:ext uri="{FF2B5EF4-FFF2-40B4-BE49-F238E27FC236}">
                    <a16:creationId xmlns:a16="http://schemas.microsoft.com/office/drawing/2014/main" id="{AB8B6494-EB8C-9446-92BD-83ACAABA9406}"/>
                  </a:ext>
                </a:extLst>
              </p:cNvPr>
              <p:cNvSpPr txBox="1">
                <a:spLocks noRot="1" noChangeAspect="1" noMove="1" noResize="1" noEditPoints="1" noAdjustHandles="1" noChangeArrowheads="1" noChangeShapeType="1" noTextEdit="1"/>
              </p:cNvSpPr>
              <p:nvPr/>
            </p:nvSpPr>
            <p:spPr>
              <a:xfrm>
                <a:off x="3623509" y="2975182"/>
                <a:ext cx="4621843" cy="584775"/>
              </a:xfrm>
              <a:prstGeom prst="rect">
                <a:avLst/>
              </a:prstGeom>
              <a:blipFill>
                <a:blip r:embed="rId4"/>
                <a:stretch>
                  <a:fillRect b="-234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5EF24164-0EF5-9B49-B481-0663BCE8CD70}"/>
                  </a:ext>
                </a:extLst>
              </p:cNvPr>
              <p:cNvSpPr/>
              <p:nvPr/>
            </p:nvSpPr>
            <p:spPr>
              <a:xfrm>
                <a:off x="462470" y="3947123"/>
                <a:ext cx="11267059" cy="1126975"/>
              </a:xfrm>
              <a:prstGeom prst="rect">
                <a:avLst/>
              </a:prstGeom>
            </p:spPr>
            <p:txBody>
              <a:bodyPr wrap="none">
                <a:spAutoFit/>
              </a:bodyPr>
              <a:lstStyle/>
              <a:p>
                <a14:m>
                  <m:oMath xmlns:m="http://schemas.openxmlformats.org/officeDocument/2006/math">
                    <m:r>
                      <a:rPr lang="sr-Latn-RS" i="1" dirty="0" smtClean="0">
                        <a:latin typeface="Cambria Math" panose="02040503050406030204" pitchFamily="18" charset="0"/>
                        <a:ea typeface="Cambria Math" panose="02040503050406030204" pitchFamily="18" charset="0"/>
                      </a:rPr>
                      <m:t>𝑐𝑋</m:t>
                    </m:r>
                    <m:d>
                      <m:dPr>
                        <m:ctrlPr>
                          <a:rPr lang="sr-Latn-RS" i="1" dirty="0">
                            <a:latin typeface="Cambria Math" panose="02040503050406030204" pitchFamily="18" charset="0"/>
                            <a:ea typeface="Cambria Math" panose="02040503050406030204" pitchFamily="18" charset="0"/>
                          </a:rPr>
                        </m:ctrlPr>
                      </m:dPr>
                      <m:e>
                        <m:r>
                          <a:rPr lang="sr-Latn-RS" i="1" dirty="0">
                            <a:latin typeface="Cambria Math" panose="02040503050406030204" pitchFamily="18" charset="0"/>
                            <a:ea typeface="Cambria Math" panose="02040503050406030204" pitchFamily="18" charset="0"/>
                          </a:rPr>
                          <m:t>𝐼</m:t>
                        </m:r>
                        <m:r>
                          <a:rPr lang="en-US" i="1" dirty="0">
                            <a:latin typeface="Cambria Math" panose="02040503050406030204" pitchFamily="18" charset="0"/>
                            <a:ea typeface="Cambria Math" panose="02040503050406030204" pitchFamily="18" charset="0"/>
                          </a:rPr>
                          <m:t>⊗</m:t>
                        </m:r>
                        <m:r>
                          <a:rPr lang="sr-Latn-RS" i="1" dirty="0">
                            <a:latin typeface="Cambria Math" panose="02040503050406030204" pitchFamily="18" charset="0"/>
                            <a:ea typeface="Cambria Math" panose="02040503050406030204" pitchFamily="18" charset="0"/>
                          </a:rPr>
                          <m:t>𝑍</m:t>
                        </m:r>
                      </m:e>
                    </m:d>
                    <m:r>
                      <a:rPr lang="sr-Latn-RS" b="0" i="1" dirty="0" smtClean="0">
                        <a:latin typeface="Cambria Math" panose="02040503050406030204" pitchFamily="18" charset="0"/>
                        <a:ea typeface="Cambria Math" panose="02040503050406030204" pitchFamily="18" charset="0"/>
                      </a:rPr>
                      <m:t>=</m:t>
                    </m:r>
                    <m:d>
                      <m:dPr>
                        <m:ctrlPr>
                          <a:rPr lang="en-ZA" i="1" smtClean="0">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1</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1</m:t>
                              </m:r>
                            </m:e>
                            <m:e>
                              <m:r>
                                <a:rPr lang="en-US" i="1">
                                  <a:latin typeface="Cambria Math" panose="02040503050406030204" pitchFamily="18" charset="0"/>
                                  <a:ea typeface="Cambria Math" panose="02040503050406030204" pitchFamily="18" charset="0"/>
                                </a:rPr>
                                <m:t>0</m:t>
                              </m:r>
                            </m:e>
                          </m:mr>
                        </m:m>
                      </m:e>
                    </m:d>
                    <m:d>
                      <m:dPr>
                        <m:ctrlPr>
                          <a:rPr lang="en-US" i="1">
                            <a:latin typeface="Cambria Math" panose="02040503050406030204" pitchFamily="18" charset="0"/>
                          </a:rPr>
                        </m:ctrlPr>
                      </m:dPr>
                      <m:e>
                        <m:d>
                          <m:dPr>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m:rPr>
                                      <m:nor/>
                                    </m:rPr>
                                    <a:rPr lang="en-US">
                                      <a:latin typeface="Cambria Math" panose="02040503050406030204" pitchFamily="18" charset="0"/>
                                    </a:rPr>
                                    <m:t>1</m:t>
                                  </m:r>
                                </m:e>
                                <m:e>
                                  <m:r>
                                    <m:rPr>
                                      <m:nor/>
                                    </m:rPr>
                                    <a:rPr lang="sr-Latn-RS" b="0" i="0" smtClean="0">
                                      <a:latin typeface="Cambria Math" panose="02040503050406030204" pitchFamily="18" charset="0"/>
                                    </a:rPr>
                                    <m:t>0</m:t>
                                  </m:r>
                                </m:e>
                              </m:mr>
                              <m:mr>
                                <m:e>
                                  <m:r>
                                    <m:rPr>
                                      <m:nor/>
                                    </m:rPr>
                                    <a:rPr lang="sr-Latn-RS" b="0" i="0" smtClean="0">
                                      <a:latin typeface="Cambria Math" panose="02040503050406030204" pitchFamily="18" charset="0"/>
                                    </a:rPr>
                                    <m:t>0</m:t>
                                  </m:r>
                                </m:e>
                                <m:e>
                                  <m:r>
                                    <m:rPr>
                                      <m:nor/>
                                    </m:rPr>
                                    <a:rPr lang="en-US">
                                      <a:latin typeface="Cambria Math" panose="02040503050406030204" pitchFamily="18" charset="0"/>
                                    </a:rPr>
                                    <m:t>1</m:t>
                                  </m:r>
                                </m:e>
                              </m:mr>
                            </m:m>
                          </m:e>
                        </m:d>
                        <m:r>
                          <a:rPr lang="en-US" dirty="0">
                            <a:latin typeface="Cambria Math" panose="02040503050406030204" pitchFamily="18" charset="0"/>
                            <a:ea typeface="Cambria Math" panose="02040503050406030204" pitchFamily="18" charset="0"/>
                          </a:rPr>
                          <m:t>⊗</m:t>
                        </m:r>
                        <m:d>
                          <m:dPr>
                            <m:ctrlPr>
                              <a:rPr lang="en-US" i="1" smtClean="0">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a:rPr lang="sr-Latn-RS" b="0" i="1" smtClean="0">
                                      <a:latin typeface="Cambria Math" panose="02040503050406030204" pitchFamily="18" charset="0"/>
                                    </a:rPr>
                                    <m:t>1</m:t>
                                  </m:r>
                                </m:e>
                                <m:e>
                                  <m:r>
                                    <m:rPr>
                                      <m:nor/>
                                    </m:rPr>
                                    <a:rPr lang="sr-Latn-RS" b="0" i="0" smtClean="0">
                                      <a:latin typeface="Cambria Math" panose="02040503050406030204" pitchFamily="18" charset="0"/>
                                    </a:rPr>
                                    <m:t>0</m:t>
                                  </m:r>
                                </m:e>
                              </m:mr>
                              <m:mr>
                                <m:e>
                                  <m:r>
                                    <a:rPr lang="sr-Latn-RS" b="0" i="1" smtClean="0">
                                      <a:latin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mr>
                            </m:m>
                          </m:e>
                        </m:d>
                      </m:e>
                    </m:d>
                    <m:r>
                      <a:rPr lang="sr-Latn-RS" b="0" i="1" smtClean="0">
                        <a:latin typeface="Cambria Math" panose="02040503050406030204" pitchFamily="18" charset="0"/>
                      </a:rPr>
                      <m:t>=</m:t>
                    </m:r>
                    <m:d>
                      <m:dPr>
                        <m:ctrlPr>
                          <a:rPr lang="en-ZA" i="1">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1</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1</m:t>
                              </m:r>
                            </m:e>
                            <m:e>
                              <m:r>
                                <a:rPr lang="en-US" i="1">
                                  <a:latin typeface="Cambria Math" panose="02040503050406030204" pitchFamily="18" charset="0"/>
                                  <a:ea typeface="Cambria Math" panose="02040503050406030204" pitchFamily="18" charset="0"/>
                                </a:rPr>
                                <m:t>0</m:t>
                              </m:r>
                            </m:e>
                          </m:mr>
                        </m:m>
                      </m:e>
                    </m:d>
                  </m:oMath>
                </a14:m>
                <a:r>
                  <a:rPr lang="en-ZA" dirty="0">
                    <a:ea typeface="Cambria Math" panose="02040503050406030204" pitchFamily="18" charset="0"/>
                  </a:rPr>
                  <a:t> </a:t>
                </a:r>
                <a14:m>
                  <m:oMath xmlns:m="http://schemas.openxmlformats.org/officeDocument/2006/math">
                    <m:d>
                      <m:dPr>
                        <m:ctrlPr>
                          <a:rPr lang="en-ZA" i="1">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m:rPr>
                                  <m:brk m:alnAt="7"/>
                                </m:rPr>
                                <a:rPr lang="sr-Latn-RS" b="0" i="1" smtClean="0">
                                  <a:latin typeface="Cambria Math" panose="02040503050406030204" pitchFamily="18" charset="0"/>
                                  <a:ea typeface="Cambria Math" panose="02040503050406030204" pitchFamily="18" charset="0"/>
                                </a:rPr>
                                <m:t>1</m:t>
                              </m:r>
                            </m:e>
                            <m:e>
                              <m:r>
                                <a:rPr lang="sr-Latn-RS" b="0" i="1" smtClean="0">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b="0" i="1" smtClean="0">
                                  <a:latin typeface="Cambria Math" panose="02040503050406030204" pitchFamily="18" charset="0"/>
                                  <a:ea typeface="Cambria Math" panose="02040503050406030204" pitchFamily="18" charset="0"/>
                                </a:rPr>
                                <m:t>0</m:t>
                              </m:r>
                            </m:e>
                            <m:e>
                              <m:r>
                                <a:rPr lang="sr-Latn-RS" b="0" i="1" smtClean="0">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b="0" i="1" smtClean="0">
                                  <a:latin typeface="Cambria Math" panose="02040503050406030204" pitchFamily="18" charset="0"/>
                                  <a:ea typeface="Cambria Math" panose="02040503050406030204" pitchFamily="18" charset="0"/>
                                </a:rPr>
                                <m:t>1</m:t>
                              </m:r>
                            </m:e>
                            <m:e>
                              <m:r>
                                <a:rPr lang="sr-Latn-RS" b="0" i="1" smtClean="0">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b="0" i="1" smtClean="0">
                                  <a:latin typeface="Cambria Math" panose="02040503050406030204" pitchFamily="18" charset="0"/>
                                  <a:ea typeface="Cambria Math" panose="02040503050406030204" pitchFamily="18" charset="0"/>
                                </a:rPr>
                                <m:t>0</m:t>
                              </m:r>
                            </m:e>
                            <m:e>
                              <m:r>
                                <a:rPr lang="sr-Latn-RS" b="0" i="1" smtClean="0">
                                  <a:latin typeface="Cambria Math" panose="02040503050406030204" pitchFamily="18" charset="0"/>
                                  <a:ea typeface="Cambria Math" panose="02040503050406030204" pitchFamily="18" charset="0"/>
                                </a:rPr>
                                <m:t>−1</m:t>
                              </m:r>
                            </m:e>
                          </m:mr>
                        </m:m>
                      </m:e>
                    </m:d>
                    <m:r>
                      <a:rPr lang="sr-Latn-RS" b="0" i="1" smtClean="0">
                        <a:latin typeface="Cambria Math" panose="02040503050406030204" pitchFamily="18" charset="0"/>
                        <a:ea typeface="Cambria Math" panose="02040503050406030204" pitchFamily="18" charset="0"/>
                      </a:rPr>
                      <m:t>=</m:t>
                    </m:r>
                    <m:d>
                      <m:dPr>
                        <m:ctrlPr>
                          <a:rPr lang="en-ZA" i="1">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m:rPr>
                                  <m:brk m:alnAt="7"/>
                                </m:rPr>
                                <a:rPr lang="sr-Latn-RS" b="0" i="1" smtClean="0">
                                  <a:latin typeface="Cambria Math" panose="02040503050406030204" pitchFamily="18" charset="0"/>
                                  <a:ea typeface="Cambria Math" panose="02040503050406030204" pitchFamily="18" charset="0"/>
                                </a:rPr>
                                <m:t>1</m:t>
                              </m:r>
                            </m:e>
                            <m:e>
                              <m:r>
                                <a:rPr lang="sr-Latn-RS" b="0" i="1" smtClean="0">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b="0" i="1" smtClean="0">
                                  <a:latin typeface="Cambria Math" panose="02040503050406030204" pitchFamily="18" charset="0"/>
                                  <a:ea typeface="Cambria Math" panose="02040503050406030204" pitchFamily="18" charset="0"/>
                                </a:rPr>
                                <m:t>0</m:t>
                              </m:r>
                            </m:e>
                            <m:e>
                              <m:r>
                                <a:rPr lang="sr-Latn-RS" b="0" i="1" smtClean="0">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b="0" i="1" smtClean="0">
                                  <a:latin typeface="Cambria Math" panose="02040503050406030204" pitchFamily="18" charset="0"/>
                                  <a:ea typeface="Cambria Math" panose="02040503050406030204" pitchFamily="18" charset="0"/>
                                </a:rPr>
                                <m:t>0</m:t>
                              </m:r>
                            </m:e>
                            <m:e>
                              <m:r>
                                <a:rPr lang="sr-Latn-RS" b="0" i="1" smtClean="0">
                                  <a:latin typeface="Cambria Math" panose="02040503050406030204" pitchFamily="18" charset="0"/>
                                  <a:ea typeface="Cambria Math" panose="02040503050406030204" pitchFamily="18" charset="0"/>
                                </a:rPr>
                                <m:t>−1</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b="0" i="1" smtClean="0">
                                  <a:latin typeface="Cambria Math" panose="02040503050406030204" pitchFamily="18" charset="0"/>
                                  <a:ea typeface="Cambria Math" panose="02040503050406030204" pitchFamily="18" charset="0"/>
                                </a:rPr>
                                <m:t>1</m:t>
                              </m:r>
                            </m:e>
                            <m:e>
                              <m:r>
                                <a:rPr lang="sr-Latn-RS" b="0" i="1" smtClean="0">
                                  <a:latin typeface="Cambria Math" panose="02040503050406030204" pitchFamily="18" charset="0"/>
                                  <a:ea typeface="Cambria Math" panose="02040503050406030204" pitchFamily="18" charset="0"/>
                                </a:rPr>
                                <m:t>0</m:t>
                              </m:r>
                            </m:e>
                          </m:mr>
                        </m:m>
                      </m:e>
                    </m:d>
                  </m:oMath>
                </a14:m>
                <a:endParaRPr lang="en-US" dirty="0"/>
              </a:p>
            </p:txBody>
          </p:sp>
        </mc:Choice>
        <mc:Fallback xmlns="">
          <p:sp>
            <p:nvSpPr>
              <p:cNvPr id="20" name="Rectangle 19">
                <a:extLst>
                  <a:ext uri="{FF2B5EF4-FFF2-40B4-BE49-F238E27FC236}">
                    <a16:creationId xmlns:a16="http://schemas.microsoft.com/office/drawing/2014/main" id="{5EF24164-0EF5-9B49-B481-0663BCE8CD70}"/>
                  </a:ext>
                </a:extLst>
              </p:cNvPr>
              <p:cNvSpPr>
                <a:spLocks noRot="1" noChangeAspect="1" noMove="1" noResize="1" noEditPoints="1" noAdjustHandles="1" noChangeArrowheads="1" noChangeShapeType="1" noTextEdit="1"/>
              </p:cNvSpPr>
              <p:nvPr/>
            </p:nvSpPr>
            <p:spPr>
              <a:xfrm>
                <a:off x="462470" y="3947123"/>
                <a:ext cx="11267059" cy="1126975"/>
              </a:xfrm>
              <a:prstGeom prst="rect">
                <a:avLst/>
              </a:prstGeom>
              <a:blipFill>
                <a:blip r:embed="rId5"/>
                <a:stretch>
                  <a:fillRect b="-1111"/>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71291357-9910-9347-AB74-41DB49C8A5D9}"/>
              </a:ext>
            </a:extLst>
          </p:cNvPr>
          <p:cNvSpPr/>
          <p:nvPr/>
        </p:nvSpPr>
        <p:spPr>
          <a:xfrm>
            <a:off x="2600911" y="1954512"/>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Z</a:t>
            </a:r>
          </a:p>
        </p:txBody>
      </p:sp>
      <p:sp>
        <p:nvSpPr>
          <p:cNvPr id="29" name="Rectangle 28">
            <a:extLst>
              <a:ext uri="{FF2B5EF4-FFF2-40B4-BE49-F238E27FC236}">
                <a16:creationId xmlns:a16="http://schemas.microsoft.com/office/drawing/2014/main" id="{4260E55F-F486-6648-BB8F-45C6F4CB4F5A}"/>
              </a:ext>
            </a:extLst>
          </p:cNvPr>
          <p:cNvSpPr/>
          <p:nvPr/>
        </p:nvSpPr>
        <p:spPr>
          <a:xfrm>
            <a:off x="8197660" y="979214"/>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Z</a:t>
            </a:r>
          </a:p>
        </p:txBody>
      </p:sp>
      <p:sp>
        <p:nvSpPr>
          <p:cNvPr id="30" name="Rectangle 29">
            <a:extLst>
              <a:ext uri="{FF2B5EF4-FFF2-40B4-BE49-F238E27FC236}">
                <a16:creationId xmlns:a16="http://schemas.microsoft.com/office/drawing/2014/main" id="{AE45D2AD-C3D7-724A-B7BB-3B0D980383E5}"/>
              </a:ext>
            </a:extLst>
          </p:cNvPr>
          <p:cNvSpPr/>
          <p:nvPr/>
        </p:nvSpPr>
        <p:spPr>
          <a:xfrm>
            <a:off x="8253192" y="2014773"/>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Z</a:t>
            </a:r>
          </a:p>
        </p:txBody>
      </p: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133A1E04-0D95-4E40-AF52-F2AF0C52E5D8}"/>
                  </a:ext>
                </a:extLst>
              </p:cNvPr>
              <p:cNvSpPr/>
              <p:nvPr/>
            </p:nvSpPr>
            <p:spPr>
              <a:xfrm>
                <a:off x="332298" y="5155339"/>
                <a:ext cx="11351954" cy="1126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sr-Latn-RS" i="1" dirty="0" smtClean="0">
                              <a:latin typeface="Cambria Math" panose="02040503050406030204" pitchFamily="18" charset="0"/>
                              <a:ea typeface="Cambria Math" panose="02040503050406030204" pitchFamily="18" charset="0"/>
                            </a:rPr>
                          </m:ctrlPr>
                        </m:dPr>
                        <m:e>
                          <m:r>
                            <a:rPr lang="sr-Latn-RS" b="0" i="1" dirty="0" smtClean="0">
                              <a:latin typeface="Cambria Math" panose="02040503050406030204" pitchFamily="18" charset="0"/>
                              <a:ea typeface="Cambria Math" panose="02040503050406030204" pitchFamily="18" charset="0"/>
                            </a:rPr>
                            <m:t>𝑍</m:t>
                          </m:r>
                          <m:r>
                            <a:rPr lang="en-US" i="1" dirty="0">
                              <a:latin typeface="Cambria Math" panose="02040503050406030204" pitchFamily="18" charset="0"/>
                              <a:ea typeface="Cambria Math" panose="02040503050406030204" pitchFamily="18" charset="0"/>
                            </a:rPr>
                            <m:t>⊗</m:t>
                          </m:r>
                          <m:r>
                            <a:rPr lang="sr-Latn-RS" i="1" dirty="0">
                              <a:latin typeface="Cambria Math" panose="02040503050406030204" pitchFamily="18" charset="0"/>
                              <a:ea typeface="Cambria Math" panose="02040503050406030204" pitchFamily="18" charset="0"/>
                            </a:rPr>
                            <m:t>𝑍</m:t>
                          </m:r>
                        </m:e>
                      </m:d>
                      <m:r>
                        <a:rPr lang="sr-Latn-RS" b="0" i="1" dirty="0" smtClean="0">
                          <a:latin typeface="Cambria Math" panose="02040503050406030204" pitchFamily="18" charset="0"/>
                          <a:ea typeface="Cambria Math" panose="02040503050406030204" pitchFamily="18" charset="0"/>
                        </a:rPr>
                        <m:t>𝑐𝑋</m:t>
                      </m:r>
                      <m:r>
                        <a:rPr lang="sr-Latn-RS" b="0" i="1" dirty="0"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d>
                            <m:dPr>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m:rPr>
                                        <m:nor/>
                                      </m:rPr>
                                      <a:rPr lang="en-US">
                                        <a:latin typeface="Cambria Math" panose="02040503050406030204" pitchFamily="18" charset="0"/>
                                      </a:rPr>
                                      <m:t>1</m:t>
                                    </m:r>
                                  </m:e>
                                  <m:e>
                                    <m:r>
                                      <m:rPr>
                                        <m:nor/>
                                      </m:rPr>
                                      <a:rPr lang="sr-Latn-RS" b="0" i="0" smtClean="0">
                                        <a:latin typeface="Cambria Math" panose="02040503050406030204" pitchFamily="18" charset="0"/>
                                      </a:rPr>
                                      <m:t>0</m:t>
                                    </m:r>
                                  </m:e>
                                </m:mr>
                                <m:mr>
                                  <m:e>
                                    <m:r>
                                      <m:rPr>
                                        <m:nor/>
                                      </m:rPr>
                                      <a:rPr lang="sr-Latn-RS" b="0" i="0" smtClean="0">
                                        <a:latin typeface="Cambria Math" panose="02040503050406030204" pitchFamily="18" charset="0"/>
                                      </a:rPr>
                                      <m:t>0</m:t>
                                    </m:r>
                                  </m:e>
                                  <m:e>
                                    <m:r>
                                      <m:rPr>
                                        <m:nor/>
                                      </m:rPr>
                                      <a:rPr lang="en-US">
                                        <a:latin typeface="Cambria Math" panose="02040503050406030204" pitchFamily="18" charset="0"/>
                                      </a:rPr>
                                      <m:t>1</m:t>
                                    </m:r>
                                  </m:e>
                                </m:mr>
                              </m:m>
                            </m:e>
                          </m:d>
                          <m:r>
                            <a:rPr lang="en-US" dirty="0">
                              <a:latin typeface="Cambria Math" panose="02040503050406030204" pitchFamily="18" charset="0"/>
                              <a:ea typeface="Cambria Math" panose="02040503050406030204" pitchFamily="18" charset="0"/>
                            </a:rPr>
                            <m:t>⊗</m:t>
                          </m:r>
                          <m:d>
                            <m:dPr>
                              <m:ctrlPr>
                                <a:rPr lang="en-US" i="1" smtClean="0">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a:rPr lang="sr-Latn-RS" b="0" i="1" smtClean="0">
                                        <a:latin typeface="Cambria Math" panose="02040503050406030204" pitchFamily="18" charset="0"/>
                                      </a:rPr>
                                      <m:t>1</m:t>
                                    </m:r>
                                  </m:e>
                                  <m:e>
                                    <m:r>
                                      <m:rPr>
                                        <m:nor/>
                                      </m:rPr>
                                      <a:rPr lang="sr-Latn-RS" b="0" i="0" smtClean="0">
                                        <a:latin typeface="Cambria Math" panose="02040503050406030204" pitchFamily="18" charset="0"/>
                                      </a:rPr>
                                      <m:t>0</m:t>
                                    </m:r>
                                  </m:e>
                                </m:mr>
                                <m:mr>
                                  <m:e>
                                    <m:r>
                                      <a:rPr lang="sr-Latn-RS" b="0" i="1" smtClean="0">
                                        <a:latin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mr>
                              </m:m>
                            </m:e>
                          </m:d>
                        </m:e>
                      </m:d>
                      <m:d>
                        <m:dPr>
                          <m:ctrlPr>
                            <a:rPr lang="en-ZA" i="1">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1</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1</m:t>
                                </m:r>
                              </m:e>
                              <m:e>
                                <m:r>
                                  <a:rPr lang="en-US" i="1">
                                    <a:latin typeface="Cambria Math" panose="02040503050406030204" pitchFamily="18" charset="0"/>
                                    <a:ea typeface="Cambria Math" panose="02040503050406030204" pitchFamily="18" charset="0"/>
                                  </a:rPr>
                                  <m:t>0</m:t>
                                </m:r>
                              </m:e>
                            </m:mr>
                          </m:m>
                        </m:e>
                      </m:d>
                      <m:r>
                        <a:rPr lang="sr-Latn-RS" b="0" i="1" smtClean="0">
                          <a:latin typeface="Cambria Math" panose="02040503050406030204" pitchFamily="18" charset="0"/>
                        </a:rPr>
                        <m:t>=</m:t>
                      </m:r>
                      <m:d>
                        <m:dPr>
                          <m:ctrlPr>
                            <a:rPr lang="en-ZA" i="1">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m:rPr>
                                    <m:brk m:alnAt="7"/>
                                  </m:rP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b="0" i="1" smtClean="0">
                                    <a:latin typeface="Cambria Math" panose="02040503050406030204" pitchFamily="18" charset="0"/>
                                    <a:ea typeface="Cambria Math" panose="02040503050406030204" pitchFamily="18" charset="0"/>
                                  </a:rPr>
                                  <m:t>−</m:t>
                                </m:r>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mr>
                          </m:m>
                        </m:e>
                      </m:d>
                      <m:d>
                        <m:dPr>
                          <m:ctrlPr>
                            <a:rPr lang="en-ZA" i="1">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1</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1</m:t>
                                </m:r>
                              </m:e>
                              <m:e>
                                <m:r>
                                  <a:rPr lang="en-US" i="1">
                                    <a:latin typeface="Cambria Math" panose="02040503050406030204" pitchFamily="18" charset="0"/>
                                    <a:ea typeface="Cambria Math" panose="02040503050406030204" pitchFamily="18" charset="0"/>
                                  </a:rPr>
                                  <m:t>0</m:t>
                                </m:r>
                              </m:e>
                            </m:mr>
                          </m:m>
                        </m:e>
                      </m:d>
                      <m:r>
                        <a:rPr lang="sr-Latn-RS" i="1">
                          <a:latin typeface="Cambria Math" panose="02040503050406030204" pitchFamily="18" charset="0"/>
                          <a:ea typeface="Cambria Math" panose="02040503050406030204" pitchFamily="18" charset="0"/>
                        </a:rPr>
                        <m:t>=</m:t>
                      </m:r>
                      <m:d>
                        <m:dPr>
                          <m:ctrlPr>
                            <a:rPr lang="en-ZA" i="1">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m:rPr>
                                    <m:brk m:alnAt="7"/>
                                  </m:rP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mr>
                          </m:m>
                        </m:e>
                      </m:d>
                    </m:oMath>
                  </m:oMathPara>
                </a14:m>
                <a:endParaRPr lang="en-US" dirty="0"/>
              </a:p>
            </p:txBody>
          </p:sp>
        </mc:Choice>
        <mc:Fallback xmlns="">
          <p:sp>
            <p:nvSpPr>
              <p:cNvPr id="31" name="Rectangle 30">
                <a:extLst>
                  <a:ext uri="{FF2B5EF4-FFF2-40B4-BE49-F238E27FC236}">
                    <a16:creationId xmlns:a16="http://schemas.microsoft.com/office/drawing/2014/main" id="{133A1E04-0D95-4E40-AF52-F2AF0C52E5D8}"/>
                  </a:ext>
                </a:extLst>
              </p:cNvPr>
              <p:cNvSpPr>
                <a:spLocks noRot="1" noChangeAspect="1" noMove="1" noResize="1" noEditPoints="1" noAdjustHandles="1" noChangeArrowheads="1" noChangeShapeType="1" noTextEdit="1"/>
              </p:cNvSpPr>
              <p:nvPr/>
            </p:nvSpPr>
            <p:spPr>
              <a:xfrm>
                <a:off x="332298" y="5155339"/>
                <a:ext cx="11351954" cy="1126975"/>
              </a:xfrm>
              <a:prstGeom prst="rect">
                <a:avLst/>
              </a:prstGeom>
              <a:blipFill>
                <a:blip r:embed="rId6"/>
                <a:stretch>
                  <a:fillRect b="-1111"/>
                </a:stretch>
              </a:blipFill>
            </p:spPr>
            <p:txBody>
              <a:bodyPr/>
              <a:lstStyle/>
              <a:p>
                <a:r>
                  <a:rPr lang="en-US">
                    <a:noFill/>
                  </a:rPr>
                  <a:t> </a:t>
                </a:r>
              </a:p>
            </p:txBody>
          </p:sp>
        </mc:Fallback>
      </mc:AlternateContent>
    </p:spTree>
    <p:extLst>
      <p:ext uri="{BB962C8B-B14F-4D97-AF65-F5344CB8AC3E}">
        <p14:creationId xmlns:p14="http://schemas.microsoft.com/office/powerpoint/2010/main" val="4161874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2BC60-0E7E-B94B-94E7-0F423213FB4A}"/>
              </a:ext>
            </a:extLst>
          </p:cNvPr>
          <p:cNvSpPr>
            <a:spLocks noGrp="1"/>
          </p:cNvSpPr>
          <p:nvPr>
            <p:ph type="title"/>
          </p:nvPr>
        </p:nvSpPr>
        <p:spPr/>
        <p:txBody>
          <a:bodyPr/>
          <a:lstStyle/>
          <a:p>
            <a:r>
              <a:rPr lang="en-ZA" dirty="0"/>
              <a:t>Commutation of P and CNOT</a:t>
            </a:r>
            <a:endParaRPr lang="en-US" dirty="0"/>
          </a:p>
        </p:txBody>
      </p:sp>
      <p:sp>
        <p:nvSpPr>
          <p:cNvPr id="3" name="Slide Number Placeholder 2">
            <a:extLst>
              <a:ext uri="{FF2B5EF4-FFF2-40B4-BE49-F238E27FC236}">
                <a16:creationId xmlns:a16="http://schemas.microsoft.com/office/drawing/2014/main" id="{AD247319-591A-2240-88B3-54D7E3854941}"/>
              </a:ext>
            </a:extLst>
          </p:cNvPr>
          <p:cNvSpPr>
            <a:spLocks noGrp="1"/>
          </p:cNvSpPr>
          <p:nvPr>
            <p:ph type="sldNum" sz="quarter" idx="12"/>
          </p:nvPr>
        </p:nvSpPr>
        <p:spPr/>
        <p:txBody>
          <a:bodyPr/>
          <a:lstStyle/>
          <a:p>
            <a:fld id="{591A223C-FA10-BC46-A853-03BA373D023C}" type="slidenum">
              <a:rPr lang="en-US" smtClean="0"/>
              <a:t>17</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DEC24AF4-86F6-524C-8BE2-38329BEE4536}"/>
                  </a:ext>
                </a:extLst>
              </p:cNvPr>
              <p:cNvSpPr/>
              <p:nvPr/>
            </p:nvSpPr>
            <p:spPr>
              <a:xfrm>
                <a:off x="5531573" y="1752262"/>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4" name="Rectangle 3">
                <a:extLst>
                  <a:ext uri="{FF2B5EF4-FFF2-40B4-BE49-F238E27FC236}">
                    <a16:creationId xmlns:a16="http://schemas.microsoft.com/office/drawing/2014/main" id="{DEC24AF4-86F6-524C-8BE2-38329BEE4536}"/>
                  </a:ext>
                </a:extLst>
              </p:cNvPr>
              <p:cNvSpPr>
                <a:spLocks noRot="1" noChangeAspect="1" noMove="1" noResize="1" noEditPoints="1" noAdjustHandles="1" noChangeArrowheads="1" noChangeShapeType="1" noTextEdit="1"/>
              </p:cNvSpPr>
              <p:nvPr/>
            </p:nvSpPr>
            <p:spPr>
              <a:xfrm>
                <a:off x="5531573" y="1752262"/>
                <a:ext cx="633507" cy="646331"/>
              </a:xfrm>
              <a:prstGeom prst="rect">
                <a:avLst/>
              </a:prstGeom>
              <a:blipFill>
                <a:blip r:embed="rId3"/>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A0E94CFA-9C64-4747-A0BB-BCA8DDD09D21}"/>
              </a:ext>
            </a:extLst>
          </p:cNvPr>
          <p:cNvCxnSpPr>
            <a:cxnSpLocks/>
          </p:cNvCxnSpPr>
          <p:nvPr/>
        </p:nvCxnSpPr>
        <p:spPr>
          <a:xfrm>
            <a:off x="2363509" y="2564032"/>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B0CA22B-11FA-4A42-86DF-2484AA73931C}"/>
              </a:ext>
            </a:extLst>
          </p:cNvPr>
          <p:cNvCxnSpPr>
            <a:cxnSpLocks/>
          </p:cNvCxnSpPr>
          <p:nvPr/>
        </p:nvCxnSpPr>
        <p:spPr>
          <a:xfrm>
            <a:off x="2247104" y="1603944"/>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9D07F7B1-EE6E-7547-A2A8-B09A0FC6C1CB}"/>
              </a:ext>
            </a:extLst>
          </p:cNvPr>
          <p:cNvSpPr/>
          <p:nvPr/>
        </p:nvSpPr>
        <p:spPr>
          <a:xfrm rot="10800000" flipV="1">
            <a:off x="3661674" y="2175436"/>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8" name="Oval 7">
            <a:extLst>
              <a:ext uri="{FF2B5EF4-FFF2-40B4-BE49-F238E27FC236}">
                <a16:creationId xmlns:a16="http://schemas.microsoft.com/office/drawing/2014/main" id="{6EAD4E8B-CDF8-DC4C-BBCF-CEDAACE1652C}"/>
              </a:ext>
            </a:extLst>
          </p:cNvPr>
          <p:cNvSpPr/>
          <p:nvPr/>
        </p:nvSpPr>
        <p:spPr>
          <a:xfrm rot="10800000" flipV="1">
            <a:off x="3889634" y="1473200"/>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9" name="Straight Connector 8">
            <a:extLst>
              <a:ext uri="{FF2B5EF4-FFF2-40B4-BE49-F238E27FC236}">
                <a16:creationId xmlns:a16="http://schemas.microsoft.com/office/drawing/2014/main" id="{E6FBFD33-0CC2-6E48-9D2B-94AD8CD69610}"/>
              </a:ext>
            </a:extLst>
          </p:cNvPr>
          <p:cNvCxnSpPr>
            <a:cxnSpLocks/>
            <a:stCxn id="8" idx="4"/>
            <a:endCxn id="7" idx="0"/>
          </p:cNvCxnSpPr>
          <p:nvPr/>
        </p:nvCxnSpPr>
        <p:spPr>
          <a:xfrm flipH="1">
            <a:off x="4021674" y="1743200"/>
            <a:ext cx="2960" cy="4322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707577D-43D5-7F4B-9568-6867A792FEDB}"/>
              </a:ext>
            </a:extLst>
          </p:cNvPr>
          <p:cNvCxnSpPr>
            <a:cxnSpLocks/>
          </p:cNvCxnSpPr>
          <p:nvPr/>
        </p:nvCxnSpPr>
        <p:spPr>
          <a:xfrm>
            <a:off x="6660567" y="2564032"/>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2BB1BB7-48CD-474B-AC9C-FD23D1664DA2}"/>
              </a:ext>
            </a:extLst>
          </p:cNvPr>
          <p:cNvCxnSpPr>
            <a:cxnSpLocks/>
          </p:cNvCxnSpPr>
          <p:nvPr/>
        </p:nvCxnSpPr>
        <p:spPr>
          <a:xfrm>
            <a:off x="6544162" y="1603944"/>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DF73A074-1ADA-7441-9E34-27BE0B062542}"/>
              </a:ext>
            </a:extLst>
          </p:cNvPr>
          <p:cNvSpPr/>
          <p:nvPr/>
        </p:nvSpPr>
        <p:spPr>
          <a:xfrm rot="10800000" flipV="1">
            <a:off x="7001370" y="2175436"/>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4" name="Oval 13">
            <a:extLst>
              <a:ext uri="{FF2B5EF4-FFF2-40B4-BE49-F238E27FC236}">
                <a16:creationId xmlns:a16="http://schemas.microsoft.com/office/drawing/2014/main" id="{9496225D-00CE-B048-9B00-71D733F561B1}"/>
              </a:ext>
            </a:extLst>
          </p:cNvPr>
          <p:cNvSpPr/>
          <p:nvPr/>
        </p:nvSpPr>
        <p:spPr>
          <a:xfrm rot="10800000" flipV="1">
            <a:off x="7229330" y="1473200"/>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5" name="Straight Connector 14">
            <a:extLst>
              <a:ext uri="{FF2B5EF4-FFF2-40B4-BE49-F238E27FC236}">
                <a16:creationId xmlns:a16="http://schemas.microsoft.com/office/drawing/2014/main" id="{A8D80527-24D6-A345-B438-8C84EB2D4677}"/>
              </a:ext>
            </a:extLst>
          </p:cNvPr>
          <p:cNvCxnSpPr>
            <a:cxnSpLocks/>
            <a:stCxn id="14" idx="4"/>
            <a:endCxn id="13" idx="0"/>
          </p:cNvCxnSpPr>
          <p:nvPr/>
        </p:nvCxnSpPr>
        <p:spPr>
          <a:xfrm flipH="1">
            <a:off x="7361370" y="1743200"/>
            <a:ext cx="2960" cy="4322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B8B6494-EB8C-9446-92BD-83ACAABA9406}"/>
                  </a:ext>
                </a:extLst>
              </p:cNvPr>
              <p:cNvSpPr txBox="1"/>
              <p:nvPr/>
            </p:nvSpPr>
            <p:spPr>
              <a:xfrm>
                <a:off x="3623509" y="3115741"/>
                <a:ext cx="4559132"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3200" i="1" dirty="0" smtClean="0">
                          <a:latin typeface="Cambria Math" panose="02040503050406030204" pitchFamily="18" charset="0"/>
                          <a:ea typeface="Cambria Math" panose="02040503050406030204" pitchFamily="18" charset="0"/>
                        </a:rPr>
                        <m:t>𝑐𝑋</m:t>
                      </m:r>
                      <m:d>
                        <m:dPr>
                          <m:ctrlPr>
                            <a:rPr lang="sr-Latn-RS" sz="3200" b="0" i="1" dirty="0" smtClean="0">
                              <a:latin typeface="Cambria Math" panose="02040503050406030204" pitchFamily="18" charset="0"/>
                              <a:ea typeface="Cambria Math" panose="02040503050406030204" pitchFamily="18" charset="0"/>
                            </a:rPr>
                          </m:ctrlPr>
                        </m:dPr>
                        <m:e>
                          <m:r>
                            <a:rPr lang="sr-Latn-RS" sz="3200" b="0" i="1" dirty="0" smtClean="0">
                              <a:latin typeface="Cambria Math" panose="02040503050406030204" pitchFamily="18" charset="0"/>
                              <a:ea typeface="Cambria Math" panose="02040503050406030204" pitchFamily="18" charset="0"/>
                            </a:rPr>
                            <m:t>𝑃</m:t>
                          </m:r>
                          <m:r>
                            <a:rPr lang="en-US" sz="3200" i="1" dirty="0">
                              <a:latin typeface="Cambria Math" panose="02040503050406030204" pitchFamily="18" charset="0"/>
                              <a:ea typeface="Cambria Math" panose="02040503050406030204" pitchFamily="18" charset="0"/>
                            </a:rPr>
                            <m:t>⊗</m:t>
                          </m:r>
                          <m:r>
                            <a:rPr lang="sr-Latn-RS" sz="3200" b="0" i="1" dirty="0" smtClean="0">
                              <a:latin typeface="Cambria Math" panose="02040503050406030204" pitchFamily="18" charset="0"/>
                              <a:ea typeface="Cambria Math" panose="02040503050406030204" pitchFamily="18" charset="0"/>
                            </a:rPr>
                            <m:t>𝐼</m:t>
                          </m:r>
                        </m:e>
                      </m:d>
                      <m:r>
                        <a:rPr lang="sr-Latn-RS" sz="3200" b="0" i="1" dirty="0" smtClean="0">
                          <a:latin typeface="Cambria Math" panose="02040503050406030204" pitchFamily="18" charset="0"/>
                          <a:ea typeface="Cambria Math" panose="02040503050406030204" pitchFamily="18" charset="0"/>
                        </a:rPr>
                        <m:t> =</m:t>
                      </m:r>
                      <m:d>
                        <m:dPr>
                          <m:ctrlPr>
                            <a:rPr lang="sr-Latn-RS" sz="3200" i="1" dirty="0">
                              <a:latin typeface="Cambria Math" panose="02040503050406030204" pitchFamily="18" charset="0"/>
                              <a:ea typeface="Cambria Math" panose="02040503050406030204" pitchFamily="18" charset="0"/>
                            </a:rPr>
                          </m:ctrlPr>
                        </m:dPr>
                        <m:e>
                          <m:r>
                            <a:rPr lang="sr-Latn-RS" sz="3200" b="0" i="1" dirty="0" smtClean="0">
                              <a:latin typeface="Cambria Math" panose="02040503050406030204" pitchFamily="18" charset="0"/>
                              <a:ea typeface="Cambria Math" panose="02040503050406030204" pitchFamily="18" charset="0"/>
                            </a:rPr>
                            <m:t>𝑃</m:t>
                          </m:r>
                          <m:r>
                            <a:rPr lang="en-US" sz="3200" i="1" dirty="0">
                              <a:latin typeface="Cambria Math" panose="02040503050406030204" pitchFamily="18" charset="0"/>
                              <a:ea typeface="Cambria Math" panose="02040503050406030204" pitchFamily="18" charset="0"/>
                            </a:rPr>
                            <m:t>⊗</m:t>
                          </m:r>
                          <m:r>
                            <a:rPr lang="sr-Latn-RS" sz="3200" b="0" i="1" dirty="0" smtClean="0">
                              <a:latin typeface="Cambria Math" panose="02040503050406030204" pitchFamily="18" charset="0"/>
                              <a:ea typeface="Cambria Math" panose="02040503050406030204" pitchFamily="18" charset="0"/>
                            </a:rPr>
                            <m:t>𝐼</m:t>
                          </m:r>
                        </m:e>
                      </m:d>
                      <m:r>
                        <a:rPr lang="sr-Latn-RS" sz="3200" i="1" dirty="0">
                          <a:latin typeface="Cambria Math" panose="02040503050406030204" pitchFamily="18" charset="0"/>
                          <a:ea typeface="Cambria Math" panose="02040503050406030204" pitchFamily="18" charset="0"/>
                        </a:rPr>
                        <m:t>𝑐𝑋</m:t>
                      </m:r>
                    </m:oMath>
                  </m:oMathPara>
                </a14:m>
                <a:endParaRPr lang="en-US" sz="3200" i="1" dirty="0"/>
              </a:p>
            </p:txBody>
          </p:sp>
        </mc:Choice>
        <mc:Fallback xmlns="">
          <p:sp>
            <p:nvSpPr>
              <p:cNvPr id="19" name="TextBox 18">
                <a:extLst>
                  <a:ext uri="{FF2B5EF4-FFF2-40B4-BE49-F238E27FC236}">
                    <a16:creationId xmlns:a16="http://schemas.microsoft.com/office/drawing/2014/main" id="{AB8B6494-EB8C-9446-92BD-83ACAABA9406}"/>
                  </a:ext>
                </a:extLst>
              </p:cNvPr>
              <p:cNvSpPr txBox="1">
                <a:spLocks noRot="1" noChangeAspect="1" noMove="1" noResize="1" noEditPoints="1" noAdjustHandles="1" noChangeArrowheads="1" noChangeShapeType="1" noTextEdit="1"/>
              </p:cNvSpPr>
              <p:nvPr/>
            </p:nvSpPr>
            <p:spPr>
              <a:xfrm>
                <a:off x="3623509" y="3115741"/>
                <a:ext cx="4559132" cy="584775"/>
              </a:xfrm>
              <a:prstGeom prst="rect">
                <a:avLst/>
              </a:prstGeom>
              <a:blipFill>
                <a:blip r:embed="rId4"/>
                <a:stretch>
                  <a:fillRect b="-234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5EF24164-0EF5-9B49-B481-0663BCE8CD70}"/>
                  </a:ext>
                </a:extLst>
              </p:cNvPr>
              <p:cNvSpPr/>
              <p:nvPr/>
            </p:nvSpPr>
            <p:spPr>
              <a:xfrm>
                <a:off x="181940" y="3911077"/>
                <a:ext cx="11510074" cy="1126975"/>
              </a:xfrm>
              <a:prstGeom prst="rect">
                <a:avLst/>
              </a:prstGeom>
            </p:spPr>
            <p:txBody>
              <a:bodyPr wrap="none">
                <a:spAutoFit/>
              </a:bodyPr>
              <a:lstStyle/>
              <a:p>
                <a14:m>
                  <m:oMath xmlns:m="http://schemas.openxmlformats.org/officeDocument/2006/math">
                    <m:r>
                      <a:rPr lang="sr-Latn-RS" i="1" dirty="0" smtClean="0">
                        <a:latin typeface="Cambria Math" panose="02040503050406030204" pitchFamily="18" charset="0"/>
                        <a:ea typeface="Cambria Math" panose="02040503050406030204" pitchFamily="18" charset="0"/>
                      </a:rPr>
                      <m:t>𝑐𝑋</m:t>
                    </m:r>
                    <m:d>
                      <m:dPr>
                        <m:ctrlPr>
                          <a:rPr lang="sr-Latn-RS" i="1" dirty="0">
                            <a:latin typeface="Cambria Math" panose="02040503050406030204" pitchFamily="18" charset="0"/>
                            <a:ea typeface="Cambria Math" panose="02040503050406030204" pitchFamily="18" charset="0"/>
                          </a:rPr>
                        </m:ctrlPr>
                      </m:dPr>
                      <m:e>
                        <m:r>
                          <a:rPr lang="sr-Latn-RS" b="0" i="1" dirty="0" smtClean="0">
                            <a:latin typeface="Cambria Math" panose="02040503050406030204" pitchFamily="18" charset="0"/>
                            <a:ea typeface="Cambria Math" panose="02040503050406030204" pitchFamily="18" charset="0"/>
                          </a:rPr>
                          <m:t>𝑃</m:t>
                        </m:r>
                        <m:r>
                          <a:rPr lang="en-US" i="1" dirty="0">
                            <a:latin typeface="Cambria Math" panose="02040503050406030204" pitchFamily="18" charset="0"/>
                            <a:ea typeface="Cambria Math" panose="02040503050406030204" pitchFamily="18" charset="0"/>
                          </a:rPr>
                          <m:t>⊗</m:t>
                        </m:r>
                        <m:r>
                          <a:rPr lang="sr-Latn-RS" b="0" i="1" dirty="0" smtClean="0">
                            <a:latin typeface="Cambria Math" panose="02040503050406030204" pitchFamily="18" charset="0"/>
                            <a:ea typeface="Cambria Math" panose="02040503050406030204" pitchFamily="18" charset="0"/>
                          </a:rPr>
                          <m:t>𝐼</m:t>
                        </m:r>
                      </m:e>
                    </m:d>
                    <m:r>
                      <a:rPr lang="sr-Latn-RS" b="0" i="1" dirty="0" smtClean="0">
                        <a:latin typeface="Cambria Math" panose="02040503050406030204" pitchFamily="18" charset="0"/>
                        <a:ea typeface="Cambria Math" panose="02040503050406030204" pitchFamily="18" charset="0"/>
                      </a:rPr>
                      <m:t>=</m:t>
                    </m:r>
                    <m:d>
                      <m:dPr>
                        <m:ctrlPr>
                          <a:rPr lang="en-ZA" i="1" smtClean="0">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1</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1</m:t>
                              </m:r>
                            </m:e>
                            <m:e>
                              <m:r>
                                <a:rPr lang="en-US" i="1">
                                  <a:latin typeface="Cambria Math" panose="02040503050406030204" pitchFamily="18" charset="0"/>
                                  <a:ea typeface="Cambria Math" panose="02040503050406030204" pitchFamily="18" charset="0"/>
                                </a:rPr>
                                <m:t>0</m:t>
                              </m:r>
                            </m:e>
                          </m:mr>
                        </m:m>
                      </m:e>
                    </m:d>
                    <m:d>
                      <m:dPr>
                        <m:ctrlPr>
                          <a:rPr lang="en-US" i="1">
                            <a:latin typeface="Cambria Math" panose="02040503050406030204" pitchFamily="18" charset="0"/>
                          </a:rPr>
                        </m:ctrlPr>
                      </m:dPr>
                      <m:e>
                        <m:d>
                          <m:dPr>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a:rPr lang="sr-Latn-RS" b="0" i="1" smtClean="0">
                                      <a:latin typeface="Cambria Math" panose="02040503050406030204" pitchFamily="18" charset="0"/>
                                    </a:rPr>
                                    <m:t>1</m:t>
                                  </m:r>
                                </m:e>
                                <m:e>
                                  <m:r>
                                    <m:rPr>
                                      <m:nor/>
                                    </m:rPr>
                                    <a:rPr lang="sr-Latn-RS" b="0" i="0" smtClean="0">
                                      <a:latin typeface="Cambria Math" panose="02040503050406030204" pitchFamily="18" charset="0"/>
                                    </a:rPr>
                                    <m:t>0</m:t>
                                  </m:r>
                                </m:e>
                              </m:mr>
                              <m:mr>
                                <m:e>
                                  <m:r>
                                    <m:rPr>
                                      <m:nor/>
                                    </m:rPr>
                                    <a:rPr lang="sr-Latn-RS" b="0" i="0" smtClean="0">
                                      <a:latin typeface="Cambria Math" panose="02040503050406030204" pitchFamily="18" charset="0"/>
                                    </a:rPr>
                                    <m:t>0</m:t>
                                  </m:r>
                                </m:e>
                                <m:e>
                                  <m:sSup>
                                    <m:sSupPr>
                                      <m:ctrlPr>
                                        <a:rPr lang="en-US" i="1">
                                          <a:latin typeface="Cambria Math" panose="02040503050406030204" pitchFamily="18" charset="0"/>
                                        </a:rPr>
                                      </m:ctrlPr>
                                    </m:sSupPr>
                                    <m:e>
                                      <m:r>
                                        <a:rPr lang="sr-Latn-RS" b="0" i="1" smtClean="0">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e>
                              </m:mr>
                            </m:m>
                          </m:e>
                        </m:d>
                        <m:r>
                          <a:rPr lang="en-US" dirty="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m:rPr>
                                      <m:nor/>
                                    </m:rPr>
                                    <a:rPr lang="en-US">
                                      <a:latin typeface="Cambria Math" panose="02040503050406030204" pitchFamily="18" charset="0"/>
                                    </a:rPr>
                                    <m:t>1</m:t>
                                  </m:r>
                                </m:e>
                                <m:e>
                                  <m:r>
                                    <m:rPr>
                                      <m:nor/>
                                    </m:rPr>
                                    <a:rPr lang="sr-Latn-RS" b="0" i="0" smtClean="0">
                                      <a:latin typeface="Cambria Math" panose="02040503050406030204" pitchFamily="18" charset="0"/>
                                    </a:rPr>
                                    <m:t>0</m:t>
                                  </m:r>
                                </m:e>
                              </m:mr>
                              <m:mr>
                                <m:e>
                                  <m:r>
                                    <m:rPr>
                                      <m:nor/>
                                    </m:rPr>
                                    <a:rPr lang="sr-Latn-RS" b="0" i="0" smtClean="0">
                                      <a:latin typeface="Cambria Math" panose="02040503050406030204" pitchFamily="18" charset="0"/>
                                    </a:rPr>
                                    <m:t>0</m:t>
                                  </m:r>
                                </m:e>
                                <m:e>
                                  <m:r>
                                    <m:rPr>
                                      <m:nor/>
                                    </m:rPr>
                                    <a:rPr lang="en-US">
                                      <a:latin typeface="Cambria Math" panose="02040503050406030204" pitchFamily="18" charset="0"/>
                                    </a:rPr>
                                    <m:t>1</m:t>
                                  </m:r>
                                </m:e>
                              </m:mr>
                            </m:m>
                          </m:e>
                        </m:d>
                      </m:e>
                    </m:d>
                    <m:r>
                      <a:rPr lang="sr-Latn-RS" b="0" i="1" smtClean="0">
                        <a:latin typeface="Cambria Math" panose="02040503050406030204" pitchFamily="18" charset="0"/>
                      </a:rPr>
                      <m:t>=</m:t>
                    </m:r>
                    <m:d>
                      <m:dPr>
                        <m:ctrlPr>
                          <a:rPr lang="en-ZA" i="1">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1</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1</m:t>
                              </m:r>
                            </m:e>
                            <m:e>
                              <m:r>
                                <a:rPr lang="en-US" i="1">
                                  <a:latin typeface="Cambria Math" panose="02040503050406030204" pitchFamily="18" charset="0"/>
                                  <a:ea typeface="Cambria Math" panose="02040503050406030204" pitchFamily="18" charset="0"/>
                                </a:rPr>
                                <m:t>0</m:t>
                              </m:r>
                            </m:e>
                          </m:mr>
                        </m:m>
                      </m:e>
                    </m:d>
                  </m:oMath>
                </a14:m>
                <a:r>
                  <a:rPr lang="en-ZA" dirty="0">
                    <a:ea typeface="Cambria Math" panose="02040503050406030204" pitchFamily="18" charset="0"/>
                  </a:rPr>
                  <a:t> </a:t>
                </a:r>
                <a14:m>
                  <m:oMath xmlns:m="http://schemas.openxmlformats.org/officeDocument/2006/math">
                    <m:d>
                      <m:dPr>
                        <m:ctrlPr>
                          <a:rPr lang="en-ZA" i="1">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sSup>
                                <m:sSupPr>
                                  <m:ctrlPr>
                                    <a:rPr lang="en-US" i="1">
                                      <a:latin typeface="Cambria Math" panose="02040503050406030204" pitchFamily="18" charset="0"/>
                                    </a:rPr>
                                  </m:ctrlPr>
                                </m:sSupPr>
                                <m:e>
                                  <m:r>
                                    <a:rPr lang="sr-Latn-R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e>
                            <m:e>
                              <m:r>
                                <a:rPr lang="sr-Latn-RS" b="0" i="1" smtClean="0">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b="0" i="1" smtClean="0">
                                  <a:latin typeface="Cambria Math" panose="02040503050406030204" pitchFamily="18" charset="0"/>
                                  <a:ea typeface="Cambria Math" panose="02040503050406030204" pitchFamily="18" charset="0"/>
                                </a:rPr>
                                <m:t>0</m:t>
                              </m:r>
                            </m:e>
                            <m:e>
                              <m:sSup>
                                <m:sSupPr>
                                  <m:ctrlPr>
                                    <a:rPr lang="en-US" i="1">
                                      <a:latin typeface="Cambria Math" panose="02040503050406030204" pitchFamily="18" charset="0"/>
                                    </a:rPr>
                                  </m:ctrlPr>
                                </m:sSupPr>
                                <m:e>
                                  <m:r>
                                    <a:rPr lang="sr-Latn-R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e>
                          </m:mr>
                        </m:m>
                      </m:e>
                    </m:d>
                  </m:oMath>
                </a14:m>
                <a:r>
                  <a:rPr lang="en-ZA" dirty="0">
                    <a:ea typeface="Cambria Math" panose="02040503050406030204" pitchFamily="18" charset="0"/>
                  </a:rPr>
                  <a:t> </a:t>
                </a:r>
                <a14:m>
                  <m:oMath xmlns:m="http://schemas.openxmlformats.org/officeDocument/2006/math">
                    <m:r>
                      <a:rPr lang="sr-Latn-RS" b="0" i="1" smtClean="0">
                        <a:latin typeface="Cambria Math" panose="02040503050406030204" pitchFamily="18" charset="0"/>
                        <a:ea typeface="Cambria Math" panose="02040503050406030204" pitchFamily="18" charset="0"/>
                      </a:rPr>
                      <m:t>=</m:t>
                    </m:r>
                    <m:d>
                      <m:dPr>
                        <m:ctrlPr>
                          <a:rPr lang="en-ZA" i="1">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m:rPr>
                                  <m:brk m:alnAt="7"/>
                                </m:rPr>
                                <a:rPr lang="sr-Latn-RS" b="0" i="1" smtClean="0">
                                  <a:latin typeface="Cambria Math" panose="02040503050406030204" pitchFamily="18" charset="0"/>
                                  <a:ea typeface="Cambria Math" panose="02040503050406030204" pitchFamily="18" charset="0"/>
                                </a:rPr>
                                <m:t>1</m:t>
                              </m:r>
                            </m:e>
                            <m:e>
                              <m:r>
                                <a:rPr lang="sr-Latn-RS" b="0" i="1" smtClean="0">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b="0" i="1" smtClean="0">
                                  <a:latin typeface="Cambria Math" panose="02040503050406030204" pitchFamily="18" charset="0"/>
                                  <a:ea typeface="Cambria Math" panose="02040503050406030204" pitchFamily="18" charset="0"/>
                                </a:rPr>
                                <m:t>0</m:t>
                              </m:r>
                            </m:e>
                            <m:e>
                              <m:r>
                                <a:rPr lang="sr-Latn-RS" b="0" i="1" smtClean="0">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b="0" i="1" smtClean="0">
                                  <a:latin typeface="Cambria Math" panose="02040503050406030204" pitchFamily="18" charset="0"/>
                                  <a:ea typeface="Cambria Math" panose="02040503050406030204" pitchFamily="18" charset="0"/>
                                </a:rPr>
                                <m:t>0</m:t>
                              </m:r>
                            </m:e>
                            <m:e>
                              <m:sSup>
                                <m:sSupPr>
                                  <m:ctrlPr>
                                    <a:rPr lang="en-US" i="1">
                                      <a:latin typeface="Cambria Math" panose="02040503050406030204" pitchFamily="18" charset="0"/>
                                    </a:rPr>
                                  </m:ctrlPr>
                                </m:sSupPr>
                                <m:e>
                                  <m:r>
                                    <a:rPr lang="sr-Latn-R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sSup>
                                <m:sSupPr>
                                  <m:ctrlPr>
                                    <a:rPr lang="en-US" i="1">
                                      <a:latin typeface="Cambria Math" panose="02040503050406030204" pitchFamily="18" charset="0"/>
                                    </a:rPr>
                                  </m:ctrlPr>
                                </m:sSupPr>
                                <m:e>
                                  <m:r>
                                    <a:rPr lang="sr-Latn-R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e>
                            <m:e>
                              <m:r>
                                <a:rPr lang="sr-Latn-RS" b="0" i="1" smtClean="0">
                                  <a:latin typeface="Cambria Math" panose="02040503050406030204" pitchFamily="18" charset="0"/>
                                  <a:ea typeface="Cambria Math" panose="02040503050406030204" pitchFamily="18" charset="0"/>
                                </a:rPr>
                                <m:t>0</m:t>
                              </m:r>
                            </m:e>
                          </m:mr>
                        </m:m>
                      </m:e>
                    </m:d>
                  </m:oMath>
                </a14:m>
                <a:endParaRPr lang="en-US" dirty="0"/>
              </a:p>
            </p:txBody>
          </p:sp>
        </mc:Choice>
        <mc:Fallback xmlns="">
          <p:sp>
            <p:nvSpPr>
              <p:cNvPr id="20" name="Rectangle 19">
                <a:extLst>
                  <a:ext uri="{FF2B5EF4-FFF2-40B4-BE49-F238E27FC236}">
                    <a16:creationId xmlns:a16="http://schemas.microsoft.com/office/drawing/2014/main" id="{5EF24164-0EF5-9B49-B481-0663BCE8CD70}"/>
                  </a:ext>
                </a:extLst>
              </p:cNvPr>
              <p:cNvSpPr>
                <a:spLocks noRot="1" noChangeAspect="1" noMove="1" noResize="1" noEditPoints="1" noAdjustHandles="1" noChangeArrowheads="1" noChangeShapeType="1" noTextEdit="1"/>
              </p:cNvSpPr>
              <p:nvPr/>
            </p:nvSpPr>
            <p:spPr>
              <a:xfrm>
                <a:off x="181940" y="3911077"/>
                <a:ext cx="11510074" cy="1126975"/>
              </a:xfrm>
              <a:prstGeom prst="rect">
                <a:avLst/>
              </a:prstGeom>
              <a:blipFill>
                <a:blip r:embed="rId5"/>
                <a:stretch>
                  <a:fillRect b="-1111"/>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EDE6EE04-0B4A-AA44-A3B2-A22B22F84FA0}"/>
              </a:ext>
            </a:extLst>
          </p:cNvPr>
          <p:cNvSpPr/>
          <p:nvPr/>
        </p:nvSpPr>
        <p:spPr>
          <a:xfrm>
            <a:off x="2557436" y="1263118"/>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P</a:t>
            </a:r>
          </a:p>
        </p:txBody>
      </p:sp>
      <p:sp>
        <p:nvSpPr>
          <p:cNvPr id="29" name="Rectangle 28">
            <a:extLst>
              <a:ext uri="{FF2B5EF4-FFF2-40B4-BE49-F238E27FC236}">
                <a16:creationId xmlns:a16="http://schemas.microsoft.com/office/drawing/2014/main" id="{B5D36746-B092-9543-B7DF-CB4D68195AA0}"/>
              </a:ext>
            </a:extLst>
          </p:cNvPr>
          <p:cNvSpPr/>
          <p:nvPr/>
        </p:nvSpPr>
        <p:spPr>
          <a:xfrm>
            <a:off x="8208599" y="1226341"/>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P</a:t>
            </a:r>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09DBD4D6-0A90-4F4E-9AAA-5325FF89848C}"/>
                  </a:ext>
                </a:extLst>
              </p:cNvPr>
              <p:cNvSpPr/>
              <p:nvPr/>
            </p:nvSpPr>
            <p:spPr>
              <a:xfrm>
                <a:off x="217768" y="5155339"/>
                <a:ext cx="11370613" cy="1126975"/>
              </a:xfrm>
              <a:prstGeom prst="rect">
                <a:avLst/>
              </a:prstGeom>
            </p:spPr>
            <p:txBody>
              <a:bodyPr wrap="none">
                <a:spAutoFit/>
              </a:bodyPr>
              <a:lstStyle/>
              <a:p>
                <a14:m>
                  <m:oMath xmlns:m="http://schemas.openxmlformats.org/officeDocument/2006/math">
                    <m:d>
                      <m:dPr>
                        <m:ctrlPr>
                          <a:rPr lang="sr-Latn-RS" i="1" dirty="0" smtClean="0">
                            <a:latin typeface="Cambria Math" panose="02040503050406030204" pitchFamily="18" charset="0"/>
                            <a:ea typeface="Cambria Math" panose="02040503050406030204" pitchFamily="18" charset="0"/>
                          </a:rPr>
                        </m:ctrlPr>
                      </m:dPr>
                      <m:e>
                        <m:r>
                          <a:rPr lang="sr-Latn-RS" b="0" i="1" dirty="0" smtClean="0">
                            <a:latin typeface="Cambria Math" panose="02040503050406030204" pitchFamily="18" charset="0"/>
                            <a:ea typeface="Cambria Math" panose="02040503050406030204" pitchFamily="18" charset="0"/>
                          </a:rPr>
                          <m:t>𝑃</m:t>
                        </m:r>
                        <m:r>
                          <a:rPr lang="en-US" i="1" dirty="0">
                            <a:latin typeface="Cambria Math" panose="02040503050406030204" pitchFamily="18" charset="0"/>
                            <a:ea typeface="Cambria Math" panose="02040503050406030204" pitchFamily="18" charset="0"/>
                          </a:rPr>
                          <m:t>⊗</m:t>
                        </m:r>
                        <m:r>
                          <a:rPr lang="sr-Latn-RS" b="0" i="1" dirty="0" smtClean="0">
                            <a:latin typeface="Cambria Math" panose="02040503050406030204" pitchFamily="18" charset="0"/>
                            <a:ea typeface="Cambria Math" panose="02040503050406030204" pitchFamily="18" charset="0"/>
                          </a:rPr>
                          <m:t>𝐼</m:t>
                        </m:r>
                      </m:e>
                    </m:d>
                    <m:r>
                      <a:rPr lang="sr-Latn-RS" b="0" i="1" dirty="0" smtClean="0">
                        <a:latin typeface="Cambria Math" panose="02040503050406030204" pitchFamily="18" charset="0"/>
                        <a:ea typeface="Cambria Math" panose="02040503050406030204" pitchFamily="18" charset="0"/>
                      </a:rPr>
                      <m:t>𝑐𝑋</m:t>
                    </m:r>
                    <m:r>
                      <a:rPr lang="sr-Latn-RS" b="0" i="1" dirty="0"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d>
                          <m:dPr>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a:rPr lang="sr-Latn-RS" b="0" i="1" smtClean="0">
                                      <a:latin typeface="Cambria Math" panose="02040503050406030204" pitchFamily="18" charset="0"/>
                                    </a:rPr>
                                    <m:t>1</m:t>
                                  </m:r>
                                </m:e>
                                <m:e>
                                  <m:r>
                                    <m:rPr>
                                      <m:nor/>
                                    </m:rPr>
                                    <a:rPr lang="sr-Latn-RS" b="0" i="0" smtClean="0">
                                      <a:latin typeface="Cambria Math" panose="02040503050406030204" pitchFamily="18" charset="0"/>
                                    </a:rPr>
                                    <m:t>0</m:t>
                                  </m:r>
                                </m:e>
                              </m:mr>
                              <m:mr>
                                <m:e>
                                  <m:r>
                                    <m:rPr>
                                      <m:nor/>
                                    </m:rPr>
                                    <a:rPr lang="sr-Latn-RS" b="0" i="0" smtClean="0">
                                      <a:latin typeface="Cambria Math" panose="02040503050406030204" pitchFamily="18" charset="0"/>
                                    </a:rPr>
                                    <m:t>0</m:t>
                                  </m:r>
                                </m:e>
                                <m:e>
                                  <m:sSup>
                                    <m:sSupPr>
                                      <m:ctrlPr>
                                        <a:rPr lang="en-US" i="1">
                                          <a:latin typeface="Cambria Math" panose="02040503050406030204" pitchFamily="18" charset="0"/>
                                        </a:rPr>
                                      </m:ctrlPr>
                                    </m:sSupPr>
                                    <m:e>
                                      <m:r>
                                        <a:rPr lang="sr-Latn-RS" b="0" i="1" smtClean="0">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e>
                              </m:mr>
                            </m:m>
                          </m:e>
                        </m:d>
                        <m:r>
                          <a:rPr lang="en-US" dirty="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m:rPr>
                                      <m:nor/>
                                    </m:rPr>
                                    <a:rPr lang="en-US">
                                      <a:latin typeface="Cambria Math" panose="02040503050406030204" pitchFamily="18" charset="0"/>
                                    </a:rPr>
                                    <m:t>1</m:t>
                                  </m:r>
                                </m:e>
                                <m:e>
                                  <m:r>
                                    <m:rPr>
                                      <m:nor/>
                                    </m:rPr>
                                    <a:rPr lang="sr-Latn-RS" b="0" i="0" smtClean="0">
                                      <a:latin typeface="Cambria Math" panose="02040503050406030204" pitchFamily="18" charset="0"/>
                                    </a:rPr>
                                    <m:t>0</m:t>
                                  </m:r>
                                </m:e>
                              </m:mr>
                              <m:mr>
                                <m:e>
                                  <m:r>
                                    <m:rPr>
                                      <m:nor/>
                                    </m:rPr>
                                    <a:rPr lang="sr-Latn-RS" b="0" i="0" smtClean="0">
                                      <a:latin typeface="Cambria Math" panose="02040503050406030204" pitchFamily="18" charset="0"/>
                                    </a:rPr>
                                    <m:t>0</m:t>
                                  </m:r>
                                </m:e>
                                <m:e>
                                  <m:r>
                                    <m:rPr>
                                      <m:nor/>
                                    </m:rPr>
                                    <a:rPr lang="en-US">
                                      <a:latin typeface="Cambria Math" panose="02040503050406030204" pitchFamily="18" charset="0"/>
                                    </a:rPr>
                                    <m:t>1</m:t>
                                  </m:r>
                                </m:e>
                              </m:mr>
                            </m:m>
                          </m:e>
                        </m:d>
                      </m:e>
                    </m:d>
                    <m:d>
                      <m:dPr>
                        <m:ctrlPr>
                          <a:rPr lang="en-ZA" i="1">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1</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1</m:t>
                              </m:r>
                            </m:e>
                            <m:e>
                              <m:r>
                                <a:rPr lang="en-US" i="1">
                                  <a:latin typeface="Cambria Math" panose="02040503050406030204" pitchFamily="18" charset="0"/>
                                  <a:ea typeface="Cambria Math" panose="02040503050406030204" pitchFamily="18" charset="0"/>
                                </a:rPr>
                                <m:t>0</m:t>
                              </m:r>
                            </m:e>
                          </m:mr>
                        </m:m>
                      </m:e>
                    </m:d>
                    <m:r>
                      <a:rPr lang="sr-Latn-RS" b="0" i="1" smtClean="0">
                        <a:latin typeface="Cambria Math" panose="02040503050406030204" pitchFamily="18" charset="0"/>
                      </a:rPr>
                      <m:t>=</m:t>
                    </m:r>
                  </m:oMath>
                </a14:m>
                <a:r>
                  <a:rPr lang="en-ZA" dirty="0">
                    <a:ea typeface="Cambria Math" panose="02040503050406030204" pitchFamily="18" charset="0"/>
                  </a:rPr>
                  <a:t> </a:t>
                </a:r>
                <a14:m>
                  <m:oMath xmlns:m="http://schemas.openxmlformats.org/officeDocument/2006/math">
                    <m:d>
                      <m:dPr>
                        <m:ctrlPr>
                          <a:rPr lang="en-ZA" i="1">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sSup>
                                <m:sSupPr>
                                  <m:ctrlPr>
                                    <a:rPr lang="en-US" i="1">
                                      <a:latin typeface="Cambria Math" panose="02040503050406030204" pitchFamily="18" charset="0"/>
                                    </a:rPr>
                                  </m:ctrlPr>
                                </m:sSupPr>
                                <m:e>
                                  <m:r>
                                    <a:rPr lang="sr-Latn-R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e>
                            <m:e>
                              <m:r>
                                <a:rPr lang="sr-Latn-RS" b="0" i="1" smtClean="0">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b="0" i="1" smtClean="0">
                                  <a:latin typeface="Cambria Math" panose="02040503050406030204" pitchFamily="18" charset="0"/>
                                  <a:ea typeface="Cambria Math" panose="02040503050406030204" pitchFamily="18" charset="0"/>
                                </a:rPr>
                                <m:t>0</m:t>
                              </m:r>
                            </m:e>
                            <m:e>
                              <m:sSup>
                                <m:sSupPr>
                                  <m:ctrlPr>
                                    <a:rPr lang="en-US" i="1">
                                      <a:latin typeface="Cambria Math" panose="02040503050406030204" pitchFamily="18" charset="0"/>
                                    </a:rPr>
                                  </m:ctrlPr>
                                </m:sSupPr>
                                <m:e>
                                  <m:r>
                                    <a:rPr lang="sr-Latn-R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e>
                          </m:mr>
                        </m:m>
                      </m:e>
                    </m:d>
                  </m:oMath>
                </a14:m>
                <a:r>
                  <a:rPr lang="en-ZA" dirty="0">
                    <a:ea typeface="Cambria Math" panose="02040503050406030204" pitchFamily="18" charset="0"/>
                  </a:rPr>
                  <a:t> </a:t>
                </a:r>
                <a14:m>
                  <m:oMath xmlns:m="http://schemas.openxmlformats.org/officeDocument/2006/math">
                    <m:d>
                      <m:dPr>
                        <m:ctrlPr>
                          <a:rPr lang="en-ZA" i="1">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1</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en-US" i="1">
                                  <a:latin typeface="Cambria Math" panose="02040503050406030204" pitchFamily="18" charset="0"/>
                                  <a:ea typeface="Cambria Math" panose="02040503050406030204" pitchFamily="18" charset="0"/>
                                </a:rPr>
                                <m:t>1</m:t>
                              </m:r>
                            </m:e>
                            <m:e>
                              <m:r>
                                <a:rPr lang="en-US" i="1">
                                  <a:latin typeface="Cambria Math" panose="02040503050406030204" pitchFamily="18" charset="0"/>
                                  <a:ea typeface="Cambria Math" panose="02040503050406030204" pitchFamily="18" charset="0"/>
                                </a:rPr>
                                <m:t>0</m:t>
                              </m:r>
                            </m:e>
                          </m:mr>
                        </m:m>
                      </m:e>
                    </m:d>
                  </m:oMath>
                </a14:m>
                <a:r>
                  <a:rPr lang="en-ZA" dirty="0">
                    <a:ea typeface="Cambria Math" panose="02040503050406030204" pitchFamily="18" charset="0"/>
                  </a:rPr>
                  <a:t> </a:t>
                </a:r>
                <a14:m>
                  <m:oMath xmlns:m="http://schemas.openxmlformats.org/officeDocument/2006/math">
                    <m:r>
                      <a:rPr lang="sr-Latn-RS" b="0" i="1" smtClean="0">
                        <a:latin typeface="Cambria Math" panose="02040503050406030204" pitchFamily="18" charset="0"/>
                        <a:ea typeface="Cambria Math" panose="02040503050406030204" pitchFamily="18" charset="0"/>
                      </a:rPr>
                      <m:t>=</m:t>
                    </m:r>
                    <m:d>
                      <m:dPr>
                        <m:ctrlPr>
                          <a:rPr lang="en-ZA" i="1">
                            <a:latin typeface="Cambria Math" panose="02040503050406030204" pitchFamily="18" charset="0"/>
                            <a:ea typeface="Cambria Math" panose="02040503050406030204" pitchFamily="18" charset="0"/>
                          </a:rPr>
                        </m:ctrlPr>
                      </m:dPr>
                      <m:e>
                        <m:m>
                          <m:mPr>
                            <m:mcs>
                              <m:mc>
                                <m:mcPr>
                                  <m:count m:val="4"/>
                                  <m:mcJc m:val="center"/>
                                </m:mcPr>
                              </m:mc>
                            </m:mcs>
                            <m:ctrlPr>
                              <a:rPr lang="en-ZA" i="1">
                                <a:latin typeface="Cambria Math" panose="02040503050406030204" pitchFamily="18" charset="0"/>
                                <a:ea typeface="Cambria Math" panose="02040503050406030204" pitchFamily="18" charset="0"/>
                              </a:rPr>
                            </m:ctrlPr>
                          </m:mPr>
                          <m:mr>
                            <m:e>
                              <m:r>
                                <m:rPr>
                                  <m:brk m:alnAt="7"/>
                                </m:rPr>
                                <a:rPr lang="sr-Latn-RS" b="0" i="1" smtClean="0">
                                  <a:latin typeface="Cambria Math" panose="02040503050406030204" pitchFamily="18" charset="0"/>
                                  <a:ea typeface="Cambria Math" panose="02040503050406030204" pitchFamily="18" charset="0"/>
                                </a:rPr>
                                <m:t>1</m:t>
                              </m:r>
                            </m:e>
                            <m:e>
                              <m:r>
                                <a:rPr lang="sr-Latn-RS" b="0" i="1" smtClean="0">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b="0" i="1" smtClean="0">
                                  <a:latin typeface="Cambria Math" panose="02040503050406030204" pitchFamily="18" charset="0"/>
                                  <a:ea typeface="Cambria Math" panose="02040503050406030204" pitchFamily="18" charset="0"/>
                                </a:rPr>
                                <m:t>0</m:t>
                              </m:r>
                            </m:e>
                            <m:e>
                              <m:r>
                                <a:rPr lang="sr-Latn-RS" b="0" i="1" smtClean="0">
                                  <a:latin typeface="Cambria Math" panose="02040503050406030204" pitchFamily="18" charset="0"/>
                                  <a:ea typeface="Cambria Math" panose="02040503050406030204" pitchFamily="18" charset="0"/>
                                </a:rPr>
                                <m:t>1</m:t>
                              </m:r>
                            </m:e>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r>
                                <a:rPr lang="sr-Latn-RS" b="0" i="1" smtClean="0">
                                  <a:latin typeface="Cambria Math" panose="02040503050406030204" pitchFamily="18" charset="0"/>
                                  <a:ea typeface="Cambria Math" panose="02040503050406030204" pitchFamily="18" charset="0"/>
                                </a:rPr>
                                <m:t>0</m:t>
                              </m:r>
                            </m:e>
                            <m:e>
                              <m:sSup>
                                <m:sSupPr>
                                  <m:ctrlPr>
                                    <a:rPr lang="en-US" i="1">
                                      <a:latin typeface="Cambria Math" panose="02040503050406030204" pitchFamily="18" charset="0"/>
                                    </a:rPr>
                                  </m:ctrlPr>
                                </m:sSupPr>
                                <m:e>
                                  <m:r>
                                    <a:rPr lang="sr-Latn-R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e>
                          </m:mr>
                          <m:mr>
                            <m:e>
                              <m:r>
                                <a:rPr lang="sr-Latn-RS" i="1">
                                  <a:latin typeface="Cambria Math" panose="02040503050406030204" pitchFamily="18" charset="0"/>
                                  <a:ea typeface="Cambria Math" panose="02040503050406030204" pitchFamily="18" charset="0"/>
                                </a:rPr>
                                <m:t>0</m:t>
                              </m:r>
                            </m:e>
                            <m:e>
                              <m:r>
                                <a:rPr lang="sr-Latn-RS" i="1">
                                  <a:latin typeface="Cambria Math" panose="02040503050406030204" pitchFamily="18" charset="0"/>
                                  <a:ea typeface="Cambria Math" panose="02040503050406030204" pitchFamily="18" charset="0"/>
                                </a:rPr>
                                <m:t>0</m:t>
                              </m:r>
                            </m:e>
                            <m:e>
                              <m:sSup>
                                <m:sSupPr>
                                  <m:ctrlPr>
                                    <a:rPr lang="en-US" i="1">
                                      <a:latin typeface="Cambria Math" panose="02040503050406030204" pitchFamily="18" charset="0"/>
                                    </a:rPr>
                                  </m:ctrlPr>
                                </m:sSupPr>
                                <m:e>
                                  <m:r>
                                    <a:rPr lang="sr-Latn-R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e>
                            <m:e>
                              <m:r>
                                <a:rPr lang="sr-Latn-RS" b="0" i="1" smtClean="0">
                                  <a:latin typeface="Cambria Math" panose="02040503050406030204" pitchFamily="18" charset="0"/>
                                  <a:ea typeface="Cambria Math" panose="02040503050406030204" pitchFamily="18" charset="0"/>
                                </a:rPr>
                                <m:t>0</m:t>
                              </m:r>
                            </m:e>
                          </m:mr>
                        </m:m>
                      </m:e>
                    </m:d>
                  </m:oMath>
                </a14:m>
                <a:endParaRPr lang="en-US" dirty="0"/>
              </a:p>
            </p:txBody>
          </p:sp>
        </mc:Choice>
        <mc:Fallback xmlns="">
          <p:sp>
            <p:nvSpPr>
              <p:cNvPr id="30" name="Rectangle 29">
                <a:extLst>
                  <a:ext uri="{FF2B5EF4-FFF2-40B4-BE49-F238E27FC236}">
                    <a16:creationId xmlns:a16="http://schemas.microsoft.com/office/drawing/2014/main" id="{09DBD4D6-0A90-4F4E-9AAA-5325FF89848C}"/>
                  </a:ext>
                </a:extLst>
              </p:cNvPr>
              <p:cNvSpPr>
                <a:spLocks noRot="1" noChangeAspect="1" noMove="1" noResize="1" noEditPoints="1" noAdjustHandles="1" noChangeArrowheads="1" noChangeShapeType="1" noTextEdit="1"/>
              </p:cNvSpPr>
              <p:nvPr/>
            </p:nvSpPr>
            <p:spPr>
              <a:xfrm>
                <a:off x="217768" y="5155339"/>
                <a:ext cx="11370613" cy="1126975"/>
              </a:xfrm>
              <a:prstGeom prst="rect">
                <a:avLst/>
              </a:prstGeom>
              <a:blipFill>
                <a:blip r:embed="rId6"/>
                <a:stretch>
                  <a:fillRect b="-1111"/>
                </a:stretch>
              </a:blipFill>
            </p:spPr>
            <p:txBody>
              <a:bodyPr/>
              <a:lstStyle/>
              <a:p>
                <a:r>
                  <a:rPr lang="en-US">
                    <a:noFill/>
                  </a:rPr>
                  <a:t> </a:t>
                </a:r>
              </a:p>
            </p:txBody>
          </p:sp>
        </mc:Fallback>
      </mc:AlternateContent>
    </p:spTree>
    <p:extLst>
      <p:ext uri="{BB962C8B-B14F-4D97-AF65-F5344CB8AC3E}">
        <p14:creationId xmlns:p14="http://schemas.microsoft.com/office/powerpoint/2010/main" val="287337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50089-70EF-294C-8E70-9EFC4FA3EB15}"/>
              </a:ext>
            </a:extLst>
          </p:cNvPr>
          <p:cNvSpPr>
            <a:spLocks noGrp="1"/>
          </p:cNvSpPr>
          <p:nvPr>
            <p:ph type="title"/>
          </p:nvPr>
        </p:nvSpPr>
        <p:spPr/>
        <p:txBody>
          <a:bodyPr/>
          <a:lstStyle/>
          <a:p>
            <a:r>
              <a:rPr lang="en-ZA" dirty="0"/>
              <a:t>X–CNOT Commutation Rule</a:t>
            </a:r>
            <a:endParaRPr lang="en-US" dirty="0"/>
          </a:p>
        </p:txBody>
      </p:sp>
      <p:sp>
        <p:nvSpPr>
          <p:cNvPr id="3" name="Slide Number Placeholder 2">
            <a:extLst>
              <a:ext uri="{FF2B5EF4-FFF2-40B4-BE49-F238E27FC236}">
                <a16:creationId xmlns:a16="http://schemas.microsoft.com/office/drawing/2014/main" id="{974A7EC8-201B-4B4D-94E9-F8C18FBFC947}"/>
              </a:ext>
            </a:extLst>
          </p:cNvPr>
          <p:cNvSpPr>
            <a:spLocks noGrp="1"/>
          </p:cNvSpPr>
          <p:nvPr>
            <p:ph type="sldNum" sz="quarter" idx="12"/>
          </p:nvPr>
        </p:nvSpPr>
        <p:spPr/>
        <p:txBody>
          <a:bodyPr/>
          <a:lstStyle/>
          <a:p>
            <a:fld id="{591A223C-FA10-BC46-A853-03BA373D023C}" type="slidenum">
              <a:rPr lang="en-US" smtClean="0"/>
              <a:t>18</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EA1B1F4A-F4BE-6B4F-91DF-2C6545FFD291}"/>
                  </a:ext>
                </a:extLst>
              </p:cNvPr>
              <p:cNvSpPr/>
              <p:nvPr/>
            </p:nvSpPr>
            <p:spPr>
              <a:xfrm>
                <a:off x="5493528" y="1611329"/>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4" name="Rectangle 3">
                <a:extLst>
                  <a:ext uri="{FF2B5EF4-FFF2-40B4-BE49-F238E27FC236}">
                    <a16:creationId xmlns:a16="http://schemas.microsoft.com/office/drawing/2014/main" id="{EA1B1F4A-F4BE-6B4F-91DF-2C6545FFD291}"/>
                  </a:ext>
                </a:extLst>
              </p:cNvPr>
              <p:cNvSpPr>
                <a:spLocks noRot="1" noChangeAspect="1" noMove="1" noResize="1" noEditPoints="1" noAdjustHandles="1" noChangeArrowheads="1" noChangeShapeType="1" noTextEdit="1"/>
              </p:cNvSpPr>
              <p:nvPr/>
            </p:nvSpPr>
            <p:spPr>
              <a:xfrm>
                <a:off x="5493528" y="1611329"/>
                <a:ext cx="633507" cy="646331"/>
              </a:xfrm>
              <a:prstGeom prst="rect">
                <a:avLst/>
              </a:prstGeom>
              <a:blipFill>
                <a:blip r:embed="rId3"/>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E42CCDF3-EEAB-5A43-ACC8-1F1C98DFC1CC}"/>
              </a:ext>
            </a:extLst>
          </p:cNvPr>
          <p:cNvCxnSpPr>
            <a:cxnSpLocks/>
          </p:cNvCxnSpPr>
          <p:nvPr/>
        </p:nvCxnSpPr>
        <p:spPr>
          <a:xfrm>
            <a:off x="2325464" y="2423099"/>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452EE0E-D808-B449-93B9-B60D0FA080B1}"/>
              </a:ext>
            </a:extLst>
          </p:cNvPr>
          <p:cNvCxnSpPr>
            <a:cxnSpLocks/>
          </p:cNvCxnSpPr>
          <p:nvPr/>
        </p:nvCxnSpPr>
        <p:spPr>
          <a:xfrm>
            <a:off x="2209059" y="1463011"/>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C6EE515-BCA6-BD4A-B763-32ED9CFBAC27}"/>
              </a:ext>
            </a:extLst>
          </p:cNvPr>
          <p:cNvSpPr/>
          <p:nvPr/>
        </p:nvSpPr>
        <p:spPr>
          <a:xfrm rot="10800000" flipV="1">
            <a:off x="2865464" y="2034503"/>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8" name="Oval 7">
            <a:extLst>
              <a:ext uri="{FF2B5EF4-FFF2-40B4-BE49-F238E27FC236}">
                <a16:creationId xmlns:a16="http://schemas.microsoft.com/office/drawing/2014/main" id="{68487C39-F782-8D4E-8BB4-E604B721529A}"/>
              </a:ext>
            </a:extLst>
          </p:cNvPr>
          <p:cNvSpPr/>
          <p:nvPr/>
        </p:nvSpPr>
        <p:spPr>
          <a:xfrm rot="10800000" flipV="1">
            <a:off x="3093424" y="1332267"/>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9" name="Straight Connector 8">
            <a:extLst>
              <a:ext uri="{FF2B5EF4-FFF2-40B4-BE49-F238E27FC236}">
                <a16:creationId xmlns:a16="http://schemas.microsoft.com/office/drawing/2014/main" id="{98323A8D-6687-E046-A1AE-208E719A477B}"/>
              </a:ext>
            </a:extLst>
          </p:cNvPr>
          <p:cNvCxnSpPr>
            <a:cxnSpLocks/>
            <a:stCxn id="8" idx="4"/>
            <a:endCxn id="7" idx="0"/>
          </p:cNvCxnSpPr>
          <p:nvPr/>
        </p:nvCxnSpPr>
        <p:spPr>
          <a:xfrm flipH="1">
            <a:off x="3225464" y="1602267"/>
            <a:ext cx="2960" cy="4322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8217A2-A5EA-9848-AC01-2B88FCE55CFD}"/>
              </a:ext>
            </a:extLst>
          </p:cNvPr>
          <p:cNvCxnSpPr>
            <a:cxnSpLocks/>
          </p:cNvCxnSpPr>
          <p:nvPr/>
        </p:nvCxnSpPr>
        <p:spPr>
          <a:xfrm>
            <a:off x="6622522" y="2423099"/>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2EF233C-8A8E-144B-8E13-EB4D4CA213CB}"/>
              </a:ext>
            </a:extLst>
          </p:cNvPr>
          <p:cNvCxnSpPr>
            <a:cxnSpLocks/>
          </p:cNvCxnSpPr>
          <p:nvPr/>
        </p:nvCxnSpPr>
        <p:spPr>
          <a:xfrm>
            <a:off x="6506117" y="1463011"/>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20BD2FAF-8363-0845-9D39-68A25DA8D218}"/>
              </a:ext>
            </a:extLst>
          </p:cNvPr>
          <p:cNvSpPr/>
          <p:nvPr/>
        </p:nvSpPr>
        <p:spPr>
          <a:xfrm rot="10800000" flipV="1">
            <a:off x="7429646" y="202962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4" name="Oval 13">
            <a:extLst>
              <a:ext uri="{FF2B5EF4-FFF2-40B4-BE49-F238E27FC236}">
                <a16:creationId xmlns:a16="http://schemas.microsoft.com/office/drawing/2014/main" id="{8F512B4A-36F8-4140-B1CC-E99B6C21712D}"/>
              </a:ext>
            </a:extLst>
          </p:cNvPr>
          <p:cNvSpPr/>
          <p:nvPr/>
        </p:nvSpPr>
        <p:spPr>
          <a:xfrm rot="10800000" flipV="1">
            <a:off x="7657606" y="1327393"/>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5" name="Straight Connector 14">
            <a:extLst>
              <a:ext uri="{FF2B5EF4-FFF2-40B4-BE49-F238E27FC236}">
                <a16:creationId xmlns:a16="http://schemas.microsoft.com/office/drawing/2014/main" id="{51D54375-501B-014C-8602-35B92D58C470}"/>
              </a:ext>
            </a:extLst>
          </p:cNvPr>
          <p:cNvCxnSpPr>
            <a:cxnSpLocks/>
            <a:stCxn id="14" idx="4"/>
            <a:endCxn id="13" idx="0"/>
          </p:cNvCxnSpPr>
          <p:nvPr/>
        </p:nvCxnSpPr>
        <p:spPr>
          <a:xfrm flipH="1">
            <a:off x="7789646" y="1597393"/>
            <a:ext cx="2960" cy="4322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5D788198-6D6D-BE46-9603-B7FACE706417}"/>
              </a:ext>
            </a:extLst>
          </p:cNvPr>
          <p:cNvSpPr/>
          <p:nvPr/>
        </p:nvSpPr>
        <p:spPr>
          <a:xfrm rot="10800000" flipV="1">
            <a:off x="6721862" y="1093511"/>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FB93830-AFDE-F34C-92FD-BCEBC04A308B}"/>
                  </a:ext>
                </a:extLst>
              </p:cNvPr>
              <p:cNvSpPr txBox="1"/>
              <p:nvPr/>
            </p:nvSpPr>
            <p:spPr>
              <a:xfrm>
                <a:off x="3279186" y="3242645"/>
                <a:ext cx="5863336"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sr-Latn-RS" sz="3200" b="0" i="1" dirty="0" smtClean="0">
                              <a:latin typeface="Cambria Math" panose="02040503050406030204" pitchFamily="18" charset="0"/>
                              <a:ea typeface="Cambria Math" panose="02040503050406030204" pitchFamily="18" charset="0"/>
                            </a:rPr>
                          </m:ctrlPr>
                        </m:dPr>
                        <m:e>
                          <m:r>
                            <a:rPr lang="sr-Latn-RS" sz="3200" b="0" i="1" dirty="0" smtClean="0">
                              <a:latin typeface="Cambria Math" panose="02040503050406030204" pitchFamily="18" charset="0"/>
                              <a:ea typeface="Cambria Math" panose="02040503050406030204" pitchFamily="18" charset="0"/>
                            </a:rPr>
                            <m:t>𝐼</m:t>
                          </m:r>
                          <m:r>
                            <a:rPr lang="en-US" sz="3200" i="1" dirty="0">
                              <a:latin typeface="Cambria Math" panose="02040503050406030204" pitchFamily="18" charset="0"/>
                              <a:ea typeface="Cambria Math" panose="02040503050406030204" pitchFamily="18" charset="0"/>
                            </a:rPr>
                            <m:t>⊗</m:t>
                          </m:r>
                          <m:r>
                            <a:rPr lang="sr-Latn-RS" sz="3200" b="0" i="1" dirty="0" smtClean="0">
                              <a:latin typeface="Cambria Math" panose="02040503050406030204" pitchFamily="18" charset="0"/>
                              <a:ea typeface="Cambria Math" panose="02040503050406030204" pitchFamily="18" charset="0"/>
                            </a:rPr>
                            <m:t>𝑋</m:t>
                          </m:r>
                        </m:e>
                      </m:d>
                      <m:r>
                        <a:rPr lang="sr-Latn-RS" sz="3200" i="1" dirty="0">
                          <a:latin typeface="Cambria Math" panose="02040503050406030204" pitchFamily="18" charset="0"/>
                          <a:ea typeface="Cambria Math" panose="02040503050406030204" pitchFamily="18" charset="0"/>
                        </a:rPr>
                        <m:t>𝑐𝑋</m:t>
                      </m:r>
                      <m:r>
                        <a:rPr lang="sr-Latn-RS" sz="3200" b="0" i="1" dirty="0" smtClean="0">
                          <a:latin typeface="Cambria Math" panose="02040503050406030204" pitchFamily="18" charset="0"/>
                          <a:ea typeface="Cambria Math" panose="02040503050406030204" pitchFamily="18" charset="0"/>
                        </a:rPr>
                        <m:t>=</m:t>
                      </m:r>
                      <m:d>
                        <m:dPr>
                          <m:ctrlPr>
                            <a:rPr lang="sr-Latn-RS" sz="3200" i="1" dirty="0">
                              <a:latin typeface="Cambria Math" panose="02040503050406030204" pitchFamily="18" charset="0"/>
                              <a:ea typeface="Cambria Math" panose="02040503050406030204" pitchFamily="18" charset="0"/>
                            </a:rPr>
                          </m:ctrlPr>
                        </m:dPr>
                        <m:e>
                          <m:r>
                            <a:rPr lang="sr-Latn-RS" sz="3200" b="0" i="1" dirty="0" smtClean="0">
                              <a:latin typeface="Cambria Math" panose="02040503050406030204" pitchFamily="18" charset="0"/>
                              <a:ea typeface="Cambria Math" panose="02040503050406030204" pitchFamily="18" charset="0"/>
                            </a:rPr>
                            <m:t>𝑋</m:t>
                          </m:r>
                          <m:r>
                            <a:rPr lang="en-US" sz="3200" i="1" dirty="0">
                              <a:latin typeface="Cambria Math" panose="02040503050406030204" pitchFamily="18" charset="0"/>
                              <a:ea typeface="Cambria Math" panose="02040503050406030204" pitchFamily="18" charset="0"/>
                            </a:rPr>
                            <m:t>⊗</m:t>
                          </m:r>
                          <m:r>
                            <a:rPr lang="sr-Latn-RS" sz="3200" b="0" i="1" dirty="0" smtClean="0">
                              <a:latin typeface="Cambria Math" panose="02040503050406030204" pitchFamily="18" charset="0"/>
                              <a:ea typeface="Cambria Math" panose="02040503050406030204" pitchFamily="18" charset="0"/>
                            </a:rPr>
                            <m:t>𝐼</m:t>
                          </m:r>
                        </m:e>
                      </m:d>
                      <m:r>
                        <a:rPr lang="sr-Latn-RS" sz="3200" i="1" dirty="0">
                          <a:latin typeface="Cambria Math" panose="02040503050406030204" pitchFamily="18" charset="0"/>
                          <a:ea typeface="Cambria Math" panose="02040503050406030204" pitchFamily="18" charset="0"/>
                        </a:rPr>
                        <m:t>𝑐𝑋</m:t>
                      </m:r>
                      <m:d>
                        <m:dPr>
                          <m:ctrlPr>
                            <a:rPr lang="sr-Latn-RS" sz="3200" i="1" dirty="0">
                              <a:latin typeface="Cambria Math" panose="02040503050406030204" pitchFamily="18" charset="0"/>
                              <a:ea typeface="Cambria Math" panose="02040503050406030204" pitchFamily="18" charset="0"/>
                            </a:rPr>
                          </m:ctrlPr>
                        </m:dPr>
                        <m:e>
                          <m:r>
                            <a:rPr lang="sr-Latn-RS" sz="3200" b="0" i="1" dirty="0" smtClean="0">
                              <a:latin typeface="Cambria Math" panose="02040503050406030204" pitchFamily="18" charset="0"/>
                              <a:ea typeface="Cambria Math" panose="02040503050406030204" pitchFamily="18" charset="0"/>
                            </a:rPr>
                            <m:t>𝑋</m:t>
                          </m:r>
                          <m:r>
                            <a:rPr lang="en-US" sz="3200" i="1" dirty="0">
                              <a:latin typeface="Cambria Math" panose="02040503050406030204" pitchFamily="18" charset="0"/>
                              <a:ea typeface="Cambria Math" panose="02040503050406030204" pitchFamily="18" charset="0"/>
                            </a:rPr>
                            <m:t>⊗</m:t>
                          </m:r>
                          <m:r>
                            <a:rPr lang="sr-Latn-RS" sz="3200" b="0" i="1" dirty="0" smtClean="0">
                              <a:latin typeface="Cambria Math" panose="02040503050406030204" pitchFamily="18" charset="0"/>
                              <a:ea typeface="Cambria Math" panose="02040503050406030204" pitchFamily="18" charset="0"/>
                            </a:rPr>
                            <m:t>𝐼</m:t>
                          </m:r>
                        </m:e>
                      </m:d>
                    </m:oMath>
                  </m:oMathPara>
                </a14:m>
                <a:endParaRPr lang="en-US" sz="3200" i="1" dirty="0"/>
              </a:p>
            </p:txBody>
          </p:sp>
        </mc:Choice>
        <mc:Fallback xmlns="">
          <p:sp>
            <p:nvSpPr>
              <p:cNvPr id="17" name="TextBox 16">
                <a:extLst>
                  <a:ext uri="{FF2B5EF4-FFF2-40B4-BE49-F238E27FC236}">
                    <a16:creationId xmlns:a16="http://schemas.microsoft.com/office/drawing/2014/main" id="{CFB93830-AFDE-F34C-92FD-BCEBC04A308B}"/>
                  </a:ext>
                </a:extLst>
              </p:cNvPr>
              <p:cNvSpPr txBox="1">
                <a:spLocks noRot="1" noChangeAspect="1" noMove="1" noResize="1" noEditPoints="1" noAdjustHandles="1" noChangeArrowheads="1" noChangeShapeType="1" noTextEdit="1"/>
              </p:cNvSpPr>
              <p:nvPr/>
            </p:nvSpPr>
            <p:spPr>
              <a:xfrm>
                <a:off x="3279186" y="3242645"/>
                <a:ext cx="5863336" cy="584775"/>
              </a:xfrm>
              <a:prstGeom prst="rect">
                <a:avLst/>
              </a:prstGeom>
              <a:blipFill>
                <a:blip r:embed="rId4"/>
                <a:stretch>
                  <a:fillRect b="-10638"/>
                </a:stretch>
              </a:blipFill>
            </p:spPr>
            <p:txBody>
              <a:bodyPr/>
              <a:lstStyle/>
              <a:p>
                <a:r>
                  <a:rPr lang="en-US">
                    <a:noFill/>
                  </a:rPr>
                  <a:t> </a:t>
                </a:r>
              </a:p>
            </p:txBody>
          </p:sp>
        </mc:Fallback>
      </mc:AlternateContent>
      <p:sp>
        <p:nvSpPr>
          <p:cNvPr id="18" name="Oval 17">
            <a:extLst>
              <a:ext uri="{FF2B5EF4-FFF2-40B4-BE49-F238E27FC236}">
                <a16:creationId xmlns:a16="http://schemas.microsoft.com/office/drawing/2014/main" id="{6B82DC82-7033-5F4E-9982-0E41B6E5E2C7}"/>
              </a:ext>
            </a:extLst>
          </p:cNvPr>
          <p:cNvSpPr/>
          <p:nvPr/>
        </p:nvSpPr>
        <p:spPr>
          <a:xfrm rot="10800000" flipV="1">
            <a:off x="3841430" y="202962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9" name="Oval 18">
            <a:extLst>
              <a:ext uri="{FF2B5EF4-FFF2-40B4-BE49-F238E27FC236}">
                <a16:creationId xmlns:a16="http://schemas.microsoft.com/office/drawing/2014/main" id="{E39595EE-55D8-A746-BE37-AD86B529EF37}"/>
              </a:ext>
            </a:extLst>
          </p:cNvPr>
          <p:cNvSpPr/>
          <p:nvPr/>
        </p:nvSpPr>
        <p:spPr>
          <a:xfrm rot="10800000" flipV="1">
            <a:off x="8222497" y="1067805"/>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40B05EC4-758F-2D4F-8428-7148CB7819B1}"/>
                  </a:ext>
                </a:extLst>
              </p:cNvPr>
              <p:cNvSpPr/>
              <p:nvPr/>
            </p:nvSpPr>
            <p:spPr>
              <a:xfrm>
                <a:off x="268667" y="3950613"/>
                <a:ext cx="11654665" cy="1242007"/>
              </a:xfrm>
              <a:prstGeom prst="rect">
                <a:avLst/>
              </a:prstGeom>
            </p:spPr>
            <p:txBody>
              <a:bodyPr wrap="none">
                <a:spAutoFit/>
              </a:bodyPr>
              <a:lstStyle/>
              <a:p>
                <a14:m>
                  <m:oMath xmlns:m="http://schemas.openxmlformats.org/officeDocument/2006/math">
                    <m:d>
                      <m:dPr>
                        <m:ctrlPr>
                          <a:rPr lang="sr-Latn-RS" sz="2000" i="1" dirty="0" smtClean="0">
                            <a:latin typeface="Cambria Math" panose="02040503050406030204" pitchFamily="18" charset="0"/>
                            <a:ea typeface="Cambria Math" panose="02040503050406030204" pitchFamily="18" charset="0"/>
                          </a:rPr>
                        </m:ctrlPr>
                      </m:dPr>
                      <m:e>
                        <m:r>
                          <a:rPr lang="sr-Latn-RS" sz="2000" b="0" i="1" dirty="0" smtClean="0">
                            <a:latin typeface="Cambria Math" panose="02040503050406030204" pitchFamily="18" charset="0"/>
                            <a:ea typeface="Cambria Math" panose="02040503050406030204" pitchFamily="18" charset="0"/>
                          </a:rPr>
                          <m:t>𝐼</m:t>
                        </m:r>
                        <m:r>
                          <a:rPr lang="en-US" sz="2000" i="1" dirty="0">
                            <a:latin typeface="Cambria Math" panose="02040503050406030204" pitchFamily="18" charset="0"/>
                            <a:ea typeface="Cambria Math" panose="02040503050406030204" pitchFamily="18" charset="0"/>
                          </a:rPr>
                          <m:t>⊗</m:t>
                        </m:r>
                        <m:r>
                          <a:rPr lang="sr-Latn-RS" sz="2000" b="0" i="1" dirty="0" smtClean="0">
                            <a:latin typeface="Cambria Math" panose="02040503050406030204" pitchFamily="18" charset="0"/>
                            <a:ea typeface="Cambria Math" panose="02040503050406030204" pitchFamily="18" charset="0"/>
                          </a:rPr>
                          <m:t>𝑋</m:t>
                        </m:r>
                      </m:e>
                    </m:d>
                    <m:r>
                      <a:rPr lang="sr-Latn-RS" sz="2000" i="1" dirty="0">
                        <a:latin typeface="Cambria Math" panose="02040503050406030204" pitchFamily="18" charset="0"/>
                        <a:ea typeface="Cambria Math" panose="02040503050406030204" pitchFamily="18" charset="0"/>
                      </a:rPr>
                      <m:t>𝑐𝑋</m:t>
                    </m:r>
                    <m:r>
                      <a:rPr lang="sr-Latn-RS" sz="2000" b="0" i="1" dirty="0" smtClean="0">
                        <a:latin typeface="Cambria Math" panose="02040503050406030204" pitchFamily="18" charset="0"/>
                        <a:ea typeface="Cambria Math" panose="02040503050406030204" pitchFamily="18" charset="0"/>
                      </a:rPr>
                      <m:t>=</m:t>
                    </m:r>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e>
                              <m:r>
                                <a:rPr lang="en-US" sz="2000" i="1">
                                  <a:latin typeface="Cambria Math" panose="02040503050406030204" pitchFamily="18" charset="0"/>
                                  <a:ea typeface="Cambria Math" panose="02040503050406030204" pitchFamily="18" charset="0"/>
                                </a:rPr>
                                <m:t>0</m:t>
                              </m:r>
                            </m:e>
                          </m:mr>
                        </m:m>
                      </m:e>
                    </m:d>
                    <m:d>
                      <m:dPr>
                        <m:ctrlPr>
                          <a:rPr lang="en-US" sz="2000" i="1">
                            <a:latin typeface="Cambria Math" panose="02040503050406030204" pitchFamily="18" charset="0"/>
                          </a:rPr>
                        </m:ctrlPr>
                      </m:dPr>
                      <m:e>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m:rPr>
                                      <m:nor/>
                                    </m:rPr>
                                    <a:rPr lang="en-US" sz="2000">
                                      <a:latin typeface="Cambria Math" panose="02040503050406030204" pitchFamily="18" charset="0"/>
                                    </a:rPr>
                                    <m:t>1</m:t>
                                  </m:r>
                                </m:e>
                                <m:e>
                                  <m:r>
                                    <m:rPr>
                                      <m:nor/>
                                    </m:rPr>
                                    <a:rPr lang="sr-Latn-RS" sz="2000">
                                      <a:latin typeface="Cambria Math" panose="02040503050406030204" pitchFamily="18" charset="0"/>
                                    </a:rPr>
                                    <m:t>0</m:t>
                                  </m:r>
                                </m:e>
                              </m:mr>
                              <m:mr>
                                <m:e>
                                  <m:r>
                                    <m:rPr>
                                      <m:nor/>
                                    </m:rPr>
                                    <a:rPr lang="sr-Latn-RS" sz="2000">
                                      <a:latin typeface="Cambria Math" panose="02040503050406030204" pitchFamily="18" charset="0"/>
                                    </a:rPr>
                                    <m:t>0</m:t>
                                  </m:r>
                                </m:e>
                                <m:e>
                                  <m:r>
                                    <m:rPr>
                                      <m:nor/>
                                    </m:rPr>
                                    <a:rPr lang="en-US" sz="2000">
                                      <a:latin typeface="Cambria Math" panose="02040503050406030204" pitchFamily="18" charset="0"/>
                                    </a:rPr>
                                    <m:t>1</m:t>
                                  </m:r>
                                </m:e>
                              </m:mr>
                            </m:m>
                          </m:e>
                        </m:d>
                        <m:r>
                          <a:rPr lang="en-US" sz="2000" dirty="0">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m:rPr>
                                      <m:nor/>
                                    </m:rPr>
                                    <a:rPr lang="sr-Latn-RS" sz="2000">
                                      <a:latin typeface="Cambria Math" panose="02040503050406030204" pitchFamily="18" charset="0"/>
                                    </a:rPr>
                                    <m:t>0</m:t>
                                  </m:r>
                                </m:e>
                                <m:e>
                                  <m:r>
                                    <m:rPr>
                                      <m:nor/>
                                    </m:rPr>
                                    <a:rPr lang="sr-Latn-RS" sz="2000">
                                      <a:latin typeface="Cambria Math" panose="02040503050406030204" pitchFamily="18" charset="0"/>
                                    </a:rPr>
                                    <m:t>1</m:t>
                                  </m:r>
                                </m:e>
                              </m:mr>
                              <m:mr>
                                <m:e>
                                  <m:r>
                                    <m:rPr>
                                      <m:nor/>
                                    </m:rPr>
                                    <a:rPr lang="sr-Latn-RS" sz="2000">
                                      <a:latin typeface="Cambria Math" panose="02040503050406030204" pitchFamily="18" charset="0"/>
                                    </a:rPr>
                                    <m:t>1</m:t>
                                  </m:r>
                                </m:e>
                                <m:e>
                                  <m:r>
                                    <m:rPr>
                                      <m:nor/>
                                    </m:rPr>
                                    <a:rPr lang="sr-Latn-RS" sz="2000">
                                      <a:latin typeface="Cambria Math" panose="02040503050406030204" pitchFamily="18" charset="0"/>
                                    </a:rPr>
                                    <m:t>0</m:t>
                                  </m:r>
                                </m:e>
                              </m:mr>
                            </m:m>
                          </m:e>
                        </m:d>
                      </m:e>
                    </m:d>
                    <m:r>
                      <a:rPr lang="sr-Latn-RS" sz="2000" b="0" i="1" smtClean="0">
                        <a:latin typeface="Cambria Math" panose="02040503050406030204" pitchFamily="18" charset="0"/>
                      </a:rPr>
                      <m:t>=</m:t>
                    </m:r>
                  </m:oMath>
                </a14:m>
                <a:r>
                  <a:rPr lang="en-ZA" sz="2000" dirty="0">
                    <a:ea typeface="Cambria Math" panose="02040503050406030204" pitchFamily="18" charset="0"/>
                  </a:rPr>
                  <a:t> </a:t>
                </a:r>
                <a14:m>
                  <m:oMath xmlns:m="http://schemas.openxmlformats.org/officeDocument/2006/math">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m:rPr>
                                  <m:brk m:alnAt="7"/>
                                </m:rP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1</m:t>
                              </m:r>
                            </m:e>
                            <m:e>
                              <m:r>
                                <a:rPr lang="sr-Latn-RS" sz="2000" b="0" i="1" smtClean="0">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e>
                              <m:r>
                                <a:rPr lang="en-US" sz="2000" i="1">
                                  <a:latin typeface="Cambria Math" panose="02040503050406030204" pitchFamily="18" charset="0"/>
                                  <a:ea typeface="Cambria Math" panose="02040503050406030204" pitchFamily="18" charset="0"/>
                                </a:rPr>
                                <m:t>0</m:t>
                              </m:r>
                            </m:e>
                          </m:mr>
                        </m:m>
                      </m:e>
                    </m:d>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m:rPr>
                                  <m:brk m:alnAt="7"/>
                                </m:rPr>
                                <a:rPr lang="sr-Latn-RS" sz="2000" b="0" i="1" smtClean="0">
                                  <a:latin typeface="Cambria Math" panose="02040503050406030204" pitchFamily="18" charset="0"/>
                                  <a:ea typeface="Cambria Math" panose="02040503050406030204" pitchFamily="18" charset="0"/>
                                </a:rPr>
                                <m:t>1</m:t>
                              </m:r>
                            </m:e>
                            <m:e>
                              <m: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mr>
                          <m:mr>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e>
                              <m:r>
                                <a:rPr lang="en-US" sz="2000" i="1">
                                  <a:latin typeface="Cambria Math" panose="02040503050406030204" pitchFamily="18" charset="0"/>
                                  <a:ea typeface="Cambria Math" panose="02040503050406030204" pitchFamily="18" charset="0"/>
                                </a:rPr>
                                <m:t>0</m:t>
                              </m:r>
                            </m:e>
                          </m:mr>
                        </m:m>
                      </m:e>
                    </m:d>
                    <m:r>
                      <a:rPr lang="sr-Latn-RS" sz="2000" b="0" i="1" smtClean="0">
                        <a:latin typeface="Cambria Math" panose="02040503050406030204" pitchFamily="18" charset="0"/>
                        <a:ea typeface="Cambria Math" panose="02040503050406030204" pitchFamily="18" charset="0"/>
                      </a:rPr>
                      <m:t>=</m:t>
                    </m:r>
                  </m:oMath>
                </a14:m>
                <a:r>
                  <a:rPr lang="en-ZA" sz="2000" dirty="0">
                    <a:ea typeface="Cambria Math" panose="02040503050406030204" pitchFamily="18" charset="0"/>
                  </a:rPr>
                  <a:t> </a:t>
                </a:r>
                <a14:m>
                  <m:oMath xmlns:m="http://schemas.openxmlformats.org/officeDocument/2006/math">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m:rPr>
                                  <m:brk m:alnAt="7"/>
                                </m:rP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e>
                              <m: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mr>
                        </m:m>
                      </m:e>
                    </m:d>
                  </m:oMath>
                </a14:m>
                <a:endParaRPr lang="en-US" sz="2000" dirty="0"/>
              </a:p>
            </p:txBody>
          </p:sp>
        </mc:Choice>
        <mc:Fallback xmlns="">
          <p:sp>
            <p:nvSpPr>
              <p:cNvPr id="22" name="Rectangle 21">
                <a:extLst>
                  <a:ext uri="{FF2B5EF4-FFF2-40B4-BE49-F238E27FC236}">
                    <a16:creationId xmlns:a16="http://schemas.microsoft.com/office/drawing/2014/main" id="{40B05EC4-758F-2D4F-8428-7148CB7819B1}"/>
                  </a:ext>
                </a:extLst>
              </p:cNvPr>
              <p:cNvSpPr>
                <a:spLocks noRot="1" noChangeAspect="1" noMove="1" noResize="1" noEditPoints="1" noAdjustHandles="1" noChangeArrowheads="1" noChangeShapeType="1" noTextEdit="1"/>
              </p:cNvSpPr>
              <p:nvPr/>
            </p:nvSpPr>
            <p:spPr>
              <a:xfrm>
                <a:off x="268667" y="3950613"/>
                <a:ext cx="11654665" cy="124200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64D415B0-7E18-F941-9E1C-782D24E7D1DA}"/>
                  </a:ext>
                </a:extLst>
              </p:cNvPr>
              <p:cNvSpPr/>
              <p:nvPr/>
            </p:nvSpPr>
            <p:spPr>
              <a:xfrm>
                <a:off x="326825" y="5354933"/>
                <a:ext cx="10333406" cy="1242007"/>
              </a:xfrm>
              <a:prstGeom prst="rect">
                <a:avLst/>
              </a:prstGeom>
            </p:spPr>
            <p:txBody>
              <a:bodyPr wrap="none">
                <a:spAutoFit/>
              </a:bodyPr>
              <a:lstStyle/>
              <a:p>
                <a14:m>
                  <m:oMath xmlns:m="http://schemas.openxmlformats.org/officeDocument/2006/math">
                    <m:d>
                      <m:dPr>
                        <m:ctrlPr>
                          <a:rPr lang="sr-Latn-RS" sz="2000" i="1" dirty="0" smtClean="0">
                            <a:latin typeface="Cambria Math" panose="02040503050406030204" pitchFamily="18" charset="0"/>
                            <a:ea typeface="Cambria Math" panose="02040503050406030204" pitchFamily="18" charset="0"/>
                          </a:rPr>
                        </m:ctrlPr>
                      </m:dPr>
                      <m:e>
                        <m:r>
                          <a:rPr lang="sr-Latn-RS" sz="2000" b="0" i="1" dirty="0" smtClean="0">
                            <a:latin typeface="Cambria Math" panose="02040503050406030204" pitchFamily="18" charset="0"/>
                            <a:ea typeface="Cambria Math" panose="02040503050406030204" pitchFamily="18" charset="0"/>
                          </a:rPr>
                          <m:t>𝑋</m:t>
                        </m:r>
                        <m:r>
                          <a:rPr lang="en-US" sz="2000" i="1" dirty="0">
                            <a:latin typeface="Cambria Math" panose="02040503050406030204" pitchFamily="18" charset="0"/>
                            <a:ea typeface="Cambria Math" panose="02040503050406030204" pitchFamily="18" charset="0"/>
                          </a:rPr>
                          <m:t>⊗</m:t>
                        </m:r>
                        <m:r>
                          <a:rPr lang="sr-Latn-RS" sz="2000" b="0" i="1" dirty="0" smtClean="0">
                            <a:latin typeface="Cambria Math" panose="02040503050406030204" pitchFamily="18" charset="0"/>
                            <a:ea typeface="Cambria Math" panose="02040503050406030204" pitchFamily="18" charset="0"/>
                          </a:rPr>
                          <m:t>𝐼</m:t>
                        </m:r>
                      </m:e>
                    </m:d>
                    <m:r>
                      <a:rPr lang="sr-Latn-RS" sz="2000" i="1" dirty="0">
                        <a:latin typeface="Cambria Math" panose="02040503050406030204" pitchFamily="18" charset="0"/>
                        <a:ea typeface="Cambria Math" panose="02040503050406030204" pitchFamily="18" charset="0"/>
                      </a:rPr>
                      <m:t>𝑐𝑋</m:t>
                    </m:r>
                    <m:d>
                      <m:dPr>
                        <m:ctrlPr>
                          <a:rPr lang="sr-Latn-RS" sz="2000" i="1" dirty="0">
                            <a:latin typeface="Cambria Math" panose="02040503050406030204" pitchFamily="18" charset="0"/>
                            <a:ea typeface="Cambria Math" panose="02040503050406030204" pitchFamily="18" charset="0"/>
                          </a:rPr>
                        </m:ctrlPr>
                      </m:dPr>
                      <m:e>
                        <m:r>
                          <a:rPr lang="sr-Latn-RS" sz="2000" i="1" dirty="0">
                            <a:latin typeface="Cambria Math" panose="02040503050406030204" pitchFamily="18" charset="0"/>
                            <a:ea typeface="Cambria Math" panose="02040503050406030204" pitchFamily="18" charset="0"/>
                          </a:rPr>
                          <m:t>𝑋</m:t>
                        </m:r>
                        <m:r>
                          <a:rPr lang="en-US" sz="2000" i="1" dirty="0">
                            <a:latin typeface="Cambria Math" panose="02040503050406030204" pitchFamily="18" charset="0"/>
                            <a:ea typeface="Cambria Math" panose="02040503050406030204" pitchFamily="18" charset="0"/>
                          </a:rPr>
                          <m:t>⊗</m:t>
                        </m:r>
                        <m:r>
                          <a:rPr lang="sr-Latn-RS" sz="2000" i="1" dirty="0">
                            <a:latin typeface="Cambria Math" panose="02040503050406030204" pitchFamily="18" charset="0"/>
                            <a:ea typeface="Cambria Math" panose="02040503050406030204" pitchFamily="18" charset="0"/>
                          </a:rPr>
                          <m:t>𝐼</m:t>
                        </m:r>
                      </m:e>
                    </m:d>
                    <m:r>
                      <a:rPr lang="sr-Latn-RS" sz="2000" b="0" i="1" dirty="0" smtClean="0">
                        <a:latin typeface="Cambria Math" panose="02040503050406030204" pitchFamily="18" charset="0"/>
                        <a:ea typeface="Cambria Math" panose="02040503050406030204" pitchFamily="18" charset="0"/>
                      </a:rPr>
                      <m:t>=</m:t>
                    </m:r>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e>
                              <m:r>
                                <a:rPr lang="en-US" sz="2000" i="1">
                                  <a:latin typeface="Cambria Math" panose="02040503050406030204" pitchFamily="18" charset="0"/>
                                  <a:ea typeface="Cambria Math" panose="02040503050406030204" pitchFamily="18" charset="0"/>
                                </a:rPr>
                                <m:t>0</m:t>
                              </m:r>
                            </m:e>
                          </m:mr>
                        </m:m>
                      </m:e>
                    </m:d>
                    <m:d>
                      <m:dPr>
                        <m:ctrlPr>
                          <a:rPr lang="en-US" sz="2000" i="1">
                            <a:latin typeface="Cambria Math" panose="02040503050406030204" pitchFamily="18" charset="0"/>
                          </a:rPr>
                        </m:ctrlPr>
                      </m:dPr>
                      <m:e>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m:rPr>
                                      <m:nor/>
                                    </m:rPr>
                                    <a:rPr lang="sr-Latn-RS" sz="2000">
                                      <a:latin typeface="Cambria Math" panose="02040503050406030204" pitchFamily="18" charset="0"/>
                                    </a:rPr>
                                    <m:t>0</m:t>
                                  </m:r>
                                </m:e>
                                <m:e>
                                  <m:r>
                                    <m:rPr>
                                      <m:nor/>
                                    </m:rPr>
                                    <a:rPr lang="sr-Latn-RS" sz="2000">
                                      <a:latin typeface="Cambria Math" panose="02040503050406030204" pitchFamily="18" charset="0"/>
                                    </a:rPr>
                                    <m:t>1</m:t>
                                  </m:r>
                                </m:e>
                              </m:mr>
                              <m:mr>
                                <m:e>
                                  <m:r>
                                    <m:rPr>
                                      <m:nor/>
                                    </m:rPr>
                                    <a:rPr lang="sr-Latn-RS" sz="2000">
                                      <a:latin typeface="Cambria Math" panose="02040503050406030204" pitchFamily="18" charset="0"/>
                                    </a:rPr>
                                    <m:t>1</m:t>
                                  </m:r>
                                </m:e>
                                <m:e>
                                  <m:r>
                                    <m:rPr>
                                      <m:nor/>
                                    </m:rPr>
                                    <a:rPr lang="sr-Latn-RS" sz="2000">
                                      <a:latin typeface="Cambria Math" panose="02040503050406030204" pitchFamily="18" charset="0"/>
                                    </a:rPr>
                                    <m:t>0</m:t>
                                  </m:r>
                                </m:e>
                              </m:mr>
                            </m:m>
                          </m:e>
                        </m:d>
                        <m:r>
                          <a:rPr lang="en-US" sz="2000" dirty="0">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m:rPr>
                                      <m:nor/>
                                    </m:rPr>
                                    <a:rPr lang="en-US" sz="2000">
                                      <a:latin typeface="Cambria Math" panose="02040503050406030204" pitchFamily="18" charset="0"/>
                                    </a:rPr>
                                    <m:t>1</m:t>
                                  </m:r>
                                </m:e>
                                <m:e>
                                  <m:r>
                                    <m:rPr>
                                      <m:nor/>
                                    </m:rPr>
                                    <a:rPr lang="sr-Latn-RS" sz="2000">
                                      <a:latin typeface="Cambria Math" panose="02040503050406030204" pitchFamily="18" charset="0"/>
                                    </a:rPr>
                                    <m:t>0</m:t>
                                  </m:r>
                                </m:e>
                              </m:mr>
                              <m:mr>
                                <m:e>
                                  <m:r>
                                    <m:rPr>
                                      <m:nor/>
                                    </m:rPr>
                                    <a:rPr lang="sr-Latn-RS" sz="2000">
                                      <a:latin typeface="Cambria Math" panose="02040503050406030204" pitchFamily="18" charset="0"/>
                                    </a:rPr>
                                    <m:t>0</m:t>
                                  </m:r>
                                </m:e>
                                <m:e>
                                  <m:r>
                                    <m:rPr>
                                      <m:nor/>
                                    </m:rPr>
                                    <a:rPr lang="en-US" sz="2000">
                                      <a:latin typeface="Cambria Math" panose="02040503050406030204" pitchFamily="18" charset="0"/>
                                    </a:rPr>
                                    <m:t>1</m:t>
                                  </m:r>
                                </m:e>
                              </m:mr>
                            </m:m>
                          </m:e>
                        </m:d>
                      </m:e>
                    </m:d>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en-US" sz="2000" i="1">
                                  <a:latin typeface="Cambria Math" panose="02040503050406030204" pitchFamily="18" charset="0"/>
                                  <a:ea typeface="Cambria Math" panose="02040503050406030204" pitchFamily="18" charset="0"/>
                                </a:rPr>
                                <m:t>1</m:t>
                              </m:r>
                            </m:e>
                            <m:e>
                              <m:r>
                                <a:rPr lang="en-US" sz="2000" i="1">
                                  <a:latin typeface="Cambria Math" panose="02040503050406030204" pitchFamily="18" charset="0"/>
                                  <a:ea typeface="Cambria Math" panose="02040503050406030204" pitchFamily="18" charset="0"/>
                                </a:rPr>
                                <m:t>0</m:t>
                              </m:r>
                            </m:e>
                          </m:mr>
                        </m:m>
                      </m:e>
                    </m:d>
                    <m:r>
                      <a:rPr lang="sr-Latn-RS" sz="2000" b="0" i="1" smtClean="0">
                        <a:latin typeface="Cambria Math" panose="02040503050406030204" pitchFamily="18" charset="0"/>
                        <a:ea typeface="Cambria Math" panose="02040503050406030204" pitchFamily="18" charset="0"/>
                      </a:rPr>
                      <m:t>=</m:t>
                    </m:r>
                  </m:oMath>
                </a14:m>
                <a:r>
                  <a:rPr lang="en-ZA" sz="2000" dirty="0">
                    <a:ea typeface="Cambria Math" panose="02040503050406030204" pitchFamily="18" charset="0"/>
                  </a:rPr>
                  <a:t> </a:t>
                </a:r>
                <a14:m>
                  <m:oMath xmlns:m="http://schemas.openxmlformats.org/officeDocument/2006/math">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m:rPr>
                                  <m:brk m:alnAt="7"/>
                                </m:rP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e>
                              <m: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mr>
                          <m:mr>
                            <m:e>
                              <m: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mr>
                        </m:m>
                      </m:e>
                    </m:d>
                  </m:oMath>
                </a14:m>
                <a:endParaRPr lang="en-US" sz="2000" dirty="0"/>
              </a:p>
            </p:txBody>
          </p:sp>
        </mc:Choice>
        <mc:Fallback xmlns="">
          <p:sp>
            <p:nvSpPr>
              <p:cNvPr id="23" name="Rectangle 22">
                <a:extLst>
                  <a:ext uri="{FF2B5EF4-FFF2-40B4-BE49-F238E27FC236}">
                    <a16:creationId xmlns:a16="http://schemas.microsoft.com/office/drawing/2014/main" id="{64D415B0-7E18-F941-9E1C-782D24E7D1DA}"/>
                  </a:ext>
                </a:extLst>
              </p:cNvPr>
              <p:cNvSpPr>
                <a:spLocks noRot="1" noChangeAspect="1" noMove="1" noResize="1" noEditPoints="1" noAdjustHandles="1" noChangeArrowheads="1" noChangeShapeType="1" noTextEdit="1"/>
              </p:cNvSpPr>
              <p:nvPr/>
            </p:nvSpPr>
            <p:spPr>
              <a:xfrm>
                <a:off x="326825" y="5354933"/>
                <a:ext cx="10333406" cy="1242007"/>
              </a:xfrm>
              <a:prstGeom prst="rect">
                <a:avLst/>
              </a:prstGeom>
              <a:blipFill>
                <a:blip r:embed="rId6"/>
                <a:stretch>
                  <a:fillRect b="-1020"/>
                </a:stretch>
              </a:blipFill>
            </p:spPr>
            <p:txBody>
              <a:bodyPr/>
              <a:lstStyle/>
              <a:p>
                <a:r>
                  <a:rPr lang="en-US">
                    <a:noFill/>
                  </a:rPr>
                  <a:t> </a:t>
                </a:r>
              </a:p>
            </p:txBody>
          </p:sp>
        </mc:Fallback>
      </mc:AlternateContent>
    </p:spTree>
    <p:extLst>
      <p:ext uri="{BB962C8B-B14F-4D97-AF65-F5344CB8AC3E}">
        <p14:creationId xmlns:p14="http://schemas.microsoft.com/office/powerpoint/2010/main" val="767254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50089-70EF-294C-8E70-9EFC4FA3EB15}"/>
              </a:ext>
            </a:extLst>
          </p:cNvPr>
          <p:cNvSpPr>
            <a:spLocks noGrp="1"/>
          </p:cNvSpPr>
          <p:nvPr>
            <p:ph type="title"/>
          </p:nvPr>
        </p:nvSpPr>
        <p:spPr>
          <a:xfrm>
            <a:off x="0" y="0"/>
            <a:ext cx="12192000" cy="928688"/>
          </a:xfrm>
        </p:spPr>
        <p:txBody>
          <a:bodyPr/>
          <a:lstStyle/>
          <a:p>
            <a:r>
              <a:rPr lang="en-ZA" dirty="0"/>
              <a:t>CNOT as a Copier</a:t>
            </a:r>
            <a:endParaRPr lang="en-US" dirty="0"/>
          </a:p>
        </p:txBody>
      </p:sp>
      <p:sp>
        <p:nvSpPr>
          <p:cNvPr id="3" name="Slide Number Placeholder 2">
            <a:extLst>
              <a:ext uri="{FF2B5EF4-FFF2-40B4-BE49-F238E27FC236}">
                <a16:creationId xmlns:a16="http://schemas.microsoft.com/office/drawing/2014/main" id="{974A7EC8-201B-4B4D-94E9-F8C18FBFC947}"/>
              </a:ext>
            </a:extLst>
          </p:cNvPr>
          <p:cNvSpPr>
            <a:spLocks noGrp="1"/>
          </p:cNvSpPr>
          <p:nvPr>
            <p:ph type="sldNum" sz="quarter" idx="12"/>
          </p:nvPr>
        </p:nvSpPr>
        <p:spPr/>
        <p:txBody>
          <a:bodyPr/>
          <a:lstStyle/>
          <a:p>
            <a:fld id="{591A223C-FA10-BC46-A853-03BA373D023C}" type="slidenum">
              <a:rPr lang="en-US" smtClean="0"/>
              <a:t>19</a:t>
            </a:fld>
            <a:endParaRPr lang="en-US"/>
          </a:p>
        </p:txBody>
      </p:sp>
      <p:cxnSp>
        <p:nvCxnSpPr>
          <p:cNvPr id="5" name="Straight Connector 4">
            <a:extLst>
              <a:ext uri="{FF2B5EF4-FFF2-40B4-BE49-F238E27FC236}">
                <a16:creationId xmlns:a16="http://schemas.microsoft.com/office/drawing/2014/main" id="{E42CCDF3-EEAB-5A43-ACC8-1F1C98DFC1CC}"/>
              </a:ext>
            </a:extLst>
          </p:cNvPr>
          <p:cNvCxnSpPr>
            <a:cxnSpLocks/>
          </p:cNvCxnSpPr>
          <p:nvPr/>
        </p:nvCxnSpPr>
        <p:spPr>
          <a:xfrm>
            <a:off x="4905377" y="2959039"/>
            <a:ext cx="18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452EE0E-D808-B449-93B9-B60D0FA080B1}"/>
              </a:ext>
            </a:extLst>
          </p:cNvPr>
          <p:cNvCxnSpPr>
            <a:cxnSpLocks/>
          </p:cNvCxnSpPr>
          <p:nvPr/>
        </p:nvCxnSpPr>
        <p:spPr>
          <a:xfrm>
            <a:off x="4788972" y="1982622"/>
            <a:ext cx="18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C6EE515-BCA6-BD4A-B763-32ED9CFBAC27}"/>
              </a:ext>
            </a:extLst>
          </p:cNvPr>
          <p:cNvSpPr/>
          <p:nvPr/>
        </p:nvSpPr>
        <p:spPr>
          <a:xfrm rot="10800000" flipV="1">
            <a:off x="5380063" y="2549563"/>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8" name="Oval 7">
            <a:extLst>
              <a:ext uri="{FF2B5EF4-FFF2-40B4-BE49-F238E27FC236}">
                <a16:creationId xmlns:a16="http://schemas.microsoft.com/office/drawing/2014/main" id="{68487C39-F782-8D4E-8BB4-E604B721529A}"/>
              </a:ext>
            </a:extLst>
          </p:cNvPr>
          <p:cNvSpPr/>
          <p:nvPr/>
        </p:nvSpPr>
        <p:spPr>
          <a:xfrm rot="10800000" flipV="1">
            <a:off x="5608023" y="1847327"/>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9" name="Straight Connector 8">
            <a:extLst>
              <a:ext uri="{FF2B5EF4-FFF2-40B4-BE49-F238E27FC236}">
                <a16:creationId xmlns:a16="http://schemas.microsoft.com/office/drawing/2014/main" id="{98323A8D-6687-E046-A1AE-208E719A477B}"/>
              </a:ext>
            </a:extLst>
          </p:cNvPr>
          <p:cNvCxnSpPr>
            <a:cxnSpLocks/>
            <a:stCxn id="8" idx="4"/>
            <a:endCxn id="7" idx="0"/>
          </p:cNvCxnSpPr>
          <p:nvPr/>
        </p:nvCxnSpPr>
        <p:spPr>
          <a:xfrm flipH="1">
            <a:off x="5740063" y="2117327"/>
            <a:ext cx="2960" cy="4322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8FAFD7DA-A59A-DC4A-BC7E-C81FF7F5F906}"/>
                  </a:ext>
                </a:extLst>
              </p:cNvPr>
              <p:cNvSpPr/>
              <p:nvPr/>
            </p:nvSpPr>
            <p:spPr>
              <a:xfrm>
                <a:off x="2687177" y="1455580"/>
                <a:ext cx="1773178" cy="10534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sr-Latn-RS" sz="2800" b="0" i="1" smtClean="0">
                              <a:latin typeface="Cambria Math" panose="02040503050406030204" pitchFamily="18" charset="0"/>
                            </a:rPr>
                            <m:t>𝑐</m:t>
                          </m:r>
                        </m:e>
                      </m:d>
                      <m:r>
                        <a:rPr lang="en-US" sz="2800" b="0" i="1" smtClean="0">
                          <a:latin typeface="Cambria Math" panose="02040503050406030204" pitchFamily="18" charset="0"/>
                        </a:rPr>
                        <m:t>=</m:t>
                      </m:r>
                      <m:d>
                        <m:dPr>
                          <m:begChr m:val="{"/>
                          <m:endChr m:val=""/>
                          <m:ctrlPr>
                            <a:rPr lang="en-US" sz="2800" b="0" i="1" smtClean="0">
                              <a:latin typeface="Cambria Math" panose="02040503050406030204" pitchFamily="18" charset="0"/>
                            </a:rPr>
                          </m:ctrlPr>
                        </m:dPr>
                        <m:e>
                          <m:m>
                            <m:mPr>
                              <m:mcs>
                                <m:mc>
                                  <m:mcPr>
                                    <m:count m:val="1"/>
                                    <m:mcJc m:val="center"/>
                                  </m:mcPr>
                                </m:mc>
                              </m:mcs>
                              <m:ctrlPr>
                                <a:rPr lang="en-US" sz="2800" b="0" i="1" smtClean="0">
                                  <a:latin typeface="Cambria Math" panose="02040503050406030204" pitchFamily="18" charset="0"/>
                                </a:rPr>
                              </m:ctrlPr>
                            </m:mPr>
                            <m:mr>
                              <m:e>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0</m:t>
                                    </m:r>
                                  </m:e>
                                </m:d>
                              </m:e>
                            </m:mr>
                            <m:mr>
                              <m:e>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1</m:t>
                                    </m:r>
                                  </m:e>
                                </m:d>
                              </m:e>
                            </m:mr>
                          </m:m>
                        </m:e>
                      </m:d>
                    </m:oMath>
                  </m:oMathPara>
                </a14:m>
                <a:endParaRPr lang="en-US" sz="2800" dirty="0"/>
              </a:p>
            </p:txBody>
          </p:sp>
        </mc:Choice>
        <mc:Fallback xmlns="">
          <p:sp>
            <p:nvSpPr>
              <p:cNvPr id="10" name="Rectangle 9">
                <a:extLst>
                  <a:ext uri="{FF2B5EF4-FFF2-40B4-BE49-F238E27FC236}">
                    <a16:creationId xmlns:a16="http://schemas.microsoft.com/office/drawing/2014/main" id="{8FAFD7DA-A59A-DC4A-BC7E-C81FF7F5F906}"/>
                  </a:ext>
                </a:extLst>
              </p:cNvPr>
              <p:cNvSpPr>
                <a:spLocks noRot="1" noChangeAspect="1" noMove="1" noResize="1" noEditPoints="1" noAdjustHandles="1" noChangeArrowheads="1" noChangeShapeType="1" noTextEdit="1"/>
              </p:cNvSpPr>
              <p:nvPr/>
            </p:nvSpPr>
            <p:spPr>
              <a:xfrm>
                <a:off x="2687177" y="1455580"/>
                <a:ext cx="1773178" cy="1053494"/>
              </a:xfrm>
              <a:prstGeom prst="rect">
                <a:avLst/>
              </a:prstGeom>
              <a:blipFill>
                <a:blip r:embed="rId3"/>
                <a:stretch>
                  <a:fillRect l="-44286" t="-200000" r="-59286" b="-291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EA897D4F-2DF9-2545-AA02-3FCB601FFF23}"/>
                  </a:ext>
                </a:extLst>
              </p:cNvPr>
              <p:cNvSpPr/>
              <p:nvPr/>
            </p:nvSpPr>
            <p:spPr>
              <a:xfrm>
                <a:off x="2742063" y="2697429"/>
                <a:ext cx="164622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sr-Latn-R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i="1">
                          <a:latin typeface="Cambria Math" panose="02040503050406030204" pitchFamily="18" charset="0"/>
                        </a:rPr>
                        <m:t> </m:t>
                      </m:r>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0</m:t>
                          </m:r>
                        </m:e>
                      </m:d>
                    </m:oMath>
                  </m:oMathPara>
                </a14:m>
                <a:endParaRPr lang="en-US" sz="2800" dirty="0"/>
              </a:p>
            </p:txBody>
          </p:sp>
        </mc:Choice>
        <mc:Fallback xmlns="">
          <p:sp>
            <p:nvSpPr>
              <p:cNvPr id="20" name="Rectangle 19">
                <a:extLst>
                  <a:ext uri="{FF2B5EF4-FFF2-40B4-BE49-F238E27FC236}">
                    <a16:creationId xmlns:a16="http://schemas.microsoft.com/office/drawing/2014/main" id="{EA897D4F-2DF9-2545-AA02-3FCB601FFF23}"/>
                  </a:ext>
                </a:extLst>
              </p:cNvPr>
              <p:cNvSpPr>
                <a:spLocks noRot="1" noChangeAspect="1" noMove="1" noResize="1" noEditPoints="1" noAdjustHandles="1" noChangeArrowheads="1" noChangeShapeType="1" noTextEdit="1"/>
              </p:cNvSpPr>
              <p:nvPr/>
            </p:nvSpPr>
            <p:spPr>
              <a:xfrm>
                <a:off x="2742063" y="2697429"/>
                <a:ext cx="1646220" cy="523220"/>
              </a:xfrm>
              <a:prstGeom prst="rect">
                <a:avLst/>
              </a:prstGeom>
              <a:blipFill>
                <a:blip r:embed="rId4"/>
                <a:stretch>
                  <a:fillRect b="-186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C39694AC-0387-574C-AFBE-0F23AE7C9154}"/>
                  </a:ext>
                </a:extLst>
              </p:cNvPr>
              <p:cNvSpPr/>
              <p:nvPr/>
            </p:nvSpPr>
            <p:spPr>
              <a:xfrm>
                <a:off x="6714400" y="1683142"/>
                <a:ext cx="1840760" cy="9541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sr-Latn-RS" sz="2800" b="0" i="1" smtClean="0">
                              <a:latin typeface="Cambria Math" panose="02040503050406030204" pitchFamily="18" charset="0"/>
                            </a:rPr>
                            <m:t>𝑐</m:t>
                          </m:r>
                          <m:r>
                            <a:rPr lang="en-US" sz="2800" b="0" i="1" smtClean="0">
                              <a:latin typeface="Cambria Math" panose="02040503050406030204" pitchFamily="18" charset="0"/>
                            </a:rPr>
                            <m:t>′</m:t>
                          </m:r>
                        </m:e>
                      </m:d>
                      <m:r>
                        <a:rPr lang="en-US" sz="2800" b="0" i="1" smtClean="0">
                          <a:latin typeface="Cambria Math" panose="02040503050406030204" pitchFamily="18" charset="0"/>
                        </a:rPr>
                        <m:t>=</m:t>
                      </m:r>
                      <m:d>
                        <m:dPr>
                          <m:begChr m:val="|"/>
                          <m:endChr m:val="⟩"/>
                          <m:ctrlPr>
                            <a:rPr lang="en-US" sz="2800" i="1">
                              <a:latin typeface="Cambria Math" panose="02040503050406030204" pitchFamily="18" charset="0"/>
                            </a:rPr>
                          </m:ctrlPr>
                        </m:dPr>
                        <m:e>
                          <m:r>
                            <a:rPr lang="sr-Latn-RS" sz="2800" b="0" i="1" smtClean="0">
                              <a:latin typeface="Cambria Math" panose="02040503050406030204" pitchFamily="18" charset="0"/>
                            </a:rPr>
                            <m:t>𝑐</m:t>
                          </m:r>
                        </m:e>
                      </m:d>
                    </m:oMath>
                  </m:oMathPara>
                </a14:m>
                <a:endParaRPr lang="en-US" sz="2800" dirty="0"/>
              </a:p>
              <a:p>
                <a:endParaRPr lang="en-US" sz="2800" dirty="0"/>
              </a:p>
            </p:txBody>
          </p:sp>
        </mc:Choice>
        <mc:Fallback xmlns="">
          <p:sp>
            <p:nvSpPr>
              <p:cNvPr id="24" name="Rectangle 23">
                <a:extLst>
                  <a:ext uri="{FF2B5EF4-FFF2-40B4-BE49-F238E27FC236}">
                    <a16:creationId xmlns:a16="http://schemas.microsoft.com/office/drawing/2014/main" id="{C39694AC-0387-574C-AFBE-0F23AE7C9154}"/>
                  </a:ext>
                </a:extLst>
              </p:cNvPr>
              <p:cNvSpPr>
                <a:spLocks noRot="1" noChangeAspect="1" noMove="1" noResize="1" noEditPoints="1" noAdjustHandles="1" noChangeArrowheads="1" noChangeShapeType="1" noTextEdit="1"/>
              </p:cNvSpPr>
              <p:nvPr/>
            </p:nvSpPr>
            <p:spPr>
              <a:xfrm>
                <a:off x="6714400" y="1683142"/>
                <a:ext cx="1840760" cy="95410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4417F2E6-142E-7249-BA4D-2B9DA7AFFE7A}"/>
                  </a:ext>
                </a:extLst>
              </p:cNvPr>
              <p:cNvSpPr/>
              <p:nvPr/>
            </p:nvSpPr>
            <p:spPr>
              <a:xfrm>
                <a:off x="6820510" y="2697429"/>
                <a:ext cx="162961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sr-Latn-RS" sz="2800" b="0" i="1" smtClean="0">
                              <a:latin typeface="Cambria Math" panose="02040503050406030204" pitchFamily="18" charset="0"/>
                            </a:rPr>
                            <m:t>𝑡</m:t>
                          </m:r>
                          <m:r>
                            <a:rPr lang="en-US" sz="2800" b="0" i="1" smtClean="0">
                              <a:latin typeface="Cambria Math" panose="02040503050406030204" pitchFamily="18" charset="0"/>
                            </a:rPr>
                            <m:t>′</m:t>
                          </m:r>
                        </m:e>
                      </m:d>
                      <m:r>
                        <a:rPr lang="en-US" sz="2800" b="0" i="1" smtClean="0">
                          <a:latin typeface="Cambria Math" panose="02040503050406030204" pitchFamily="18" charset="0"/>
                        </a:rPr>
                        <m:t>=</m:t>
                      </m:r>
                      <m:d>
                        <m:dPr>
                          <m:begChr m:val="|"/>
                          <m:endChr m:val="⟩"/>
                          <m:ctrlPr>
                            <a:rPr lang="en-US" sz="2800" i="1">
                              <a:latin typeface="Cambria Math" panose="02040503050406030204" pitchFamily="18" charset="0"/>
                            </a:rPr>
                          </m:ctrlPr>
                        </m:dPr>
                        <m:e>
                          <m:r>
                            <a:rPr lang="sr-Latn-RS" sz="2800" b="0" i="1" smtClean="0">
                              <a:latin typeface="Cambria Math" panose="02040503050406030204" pitchFamily="18" charset="0"/>
                            </a:rPr>
                            <m:t>𝑐</m:t>
                          </m:r>
                        </m:e>
                      </m:d>
                    </m:oMath>
                  </m:oMathPara>
                </a14:m>
                <a:endParaRPr lang="en-US" sz="2800" dirty="0"/>
              </a:p>
            </p:txBody>
          </p:sp>
        </mc:Choice>
        <mc:Fallback xmlns="">
          <p:sp>
            <p:nvSpPr>
              <p:cNvPr id="25" name="Rectangle 24">
                <a:extLst>
                  <a:ext uri="{FF2B5EF4-FFF2-40B4-BE49-F238E27FC236}">
                    <a16:creationId xmlns:a16="http://schemas.microsoft.com/office/drawing/2014/main" id="{4417F2E6-142E-7249-BA4D-2B9DA7AFFE7A}"/>
                  </a:ext>
                </a:extLst>
              </p:cNvPr>
              <p:cNvSpPr>
                <a:spLocks noRot="1" noChangeAspect="1" noMove="1" noResize="1" noEditPoints="1" noAdjustHandles="1" noChangeArrowheads="1" noChangeShapeType="1" noTextEdit="1"/>
              </p:cNvSpPr>
              <p:nvPr/>
            </p:nvSpPr>
            <p:spPr>
              <a:xfrm>
                <a:off x="6820510" y="2697429"/>
                <a:ext cx="162961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581E225-C528-4041-A70C-D0FA835F6A8A}"/>
                  </a:ext>
                </a:extLst>
              </p:cNvPr>
              <p:cNvSpPr txBox="1"/>
              <p:nvPr/>
            </p:nvSpPr>
            <p:spPr>
              <a:xfrm>
                <a:off x="655212" y="5184304"/>
                <a:ext cx="351032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  </m:t>
                      </m:r>
                      <m:d>
                        <m:dPr>
                          <m:begChr m:val="|"/>
                          <m:endChr m:val="⟩"/>
                          <m:ctrlPr>
                            <a:rPr lang="en-US" sz="2800" i="1">
                              <a:latin typeface="Cambria Math" panose="02040503050406030204" pitchFamily="18" charset="0"/>
                            </a:rPr>
                          </m:ctrlPr>
                        </m:dPr>
                        <m:e>
                          <m:r>
                            <a:rPr lang="sr-Latn-RS" sz="2800" b="0" i="1" smtClean="0">
                              <a:latin typeface="Cambria Math" panose="02040503050406030204" pitchFamily="18" charset="0"/>
                            </a:rPr>
                            <m:t>𝑐𝑡</m:t>
                          </m:r>
                        </m:e>
                      </m:d>
                      <m:r>
                        <a:rPr lang="en-US" sz="2800" b="0" i="0"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0</m:t>
                          </m:r>
                          <m:r>
                            <a:rPr lang="sr-Latn-RS" sz="2800" b="0" i="1" smtClean="0">
                              <a:latin typeface="Cambria Math" panose="02040503050406030204" pitchFamily="18" charset="0"/>
                            </a:rPr>
                            <m:t>0</m:t>
                          </m:r>
                        </m:e>
                      </m:d>
                      <m:r>
                        <a:rPr lang="en-US" sz="2800" i="1" smtClean="0">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0</m:t>
                          </m:r>
                          <m:r>
                            <a:rPr lang="sr-Latn-RS" sz="2800" b="0" i="1" smtClean="0">
                              <a:latin typeface="Cambria Math" panose="02040503050406030204" pitchFamily="18" charset="0"/>
                            </a:rPr>
                            <m:t>0</m:t>
                          </m:r>
                        </m:e>
                      </m:d>
                    </m:oMath>
                  </m:oMathPara>
                </a14:m>
                <a:endParaRPr lang="en-US" sz="2800" dirty="0"/>
              </a:p>
            </p:txBody>
          </p:sp>
        </mc:Choice>
        <mc:Fallback xmlns="">
          <p:sp>
            <p:nvSpPr>
              <p:cNvPr id="21" name="TextBox 20">
                <a:extLst>
                  <a:ext uri="{FF2B5EF4-FFF2-40B4-BE49-F238E27FC236}">
                    <a16:creationId xmlns:a16="http://schemas.microsoft.com/office/drawing/2014/main" id="{B581E225-C528-4041-A70C-D0FA835F6A8A}"/>
                  </a:ext>
                </a:extLst>
              </p:cNvPr>
              <p:cNvSpPr txBox="1">
                <a:spLocks noRot="1" noChangeAspect="1" noMove="1" noResize="1" noEditPoints="1" noAdjustHandles="1" noChangeArrowheads="1" noChangeShapeType="1" noTextEdit="1"/>
              </p:cNvSpPr>
              <p:nvPr/>
            </p:nvSpPr>
            <p:spPr>
              <a:xfrm>
                <a:off x="655212" y="5184304"/>
                <a:ext cx="3510320" cy="523220"/>
              </a:xfrm>
              <a:prstGeom prst="rect">
                <a:avLst/>
              </a:prstGeom>
              <a:blipFill>
                <a:blip r:embed="rId7"/>
                <a:stretch>
                  <a:fillRect b="-219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0E09B13-800B-5B4E-AD3E-E53FDCC8E6C6}"/>
                  </a:ext>
                </a:extLst>
              </p:cNvPr>
              <p:cNvSpPr txBox="1"/>
              <p:nvPr/>
            </p:nvSpPr>
            <p:spPr>
              <a:xfrm>
                <a:off x="704199" y="5707524"/>
                <a:ext cx="343177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 </m:t>
                      </m:r>
                      <m:d>
                        <m:dPr>
                          <m:begChr m:val="|"/>
                          <m:endChr m:val="⟩"/>
                          <m:ctrlPr>
                            <a:rPr lang="en-US" sz="2800" i="1">
                              <a:latin typeface="Cambria Math" panose="02040503050406030204" pitchFamily="18" charset="0"/>
                            </a:rPr>
                          </m:ctrlPr>
                        </m:dPr>
                        <m:e>
                          <m:r>
                            <a:rPr lang="sr-Latn-RS" sz="2800" b="0" i="1" smtClean="0">
                              <a:latin typeface="Cambria Math" panose="02040503050406030204" pitchFamily="18" charset="0"/>
                            </a:rPr>
                            <m:t>𝑐𝑡</m:t>
                          </m:r>
                        </m:e>
                      </m:d>
                      <m:r>
                        <a:rPr lang="en-US" sz="2800" b="0" i="0"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1</m:t>
                          </m:r>
                          <m:r>
                            <a:rPr lang="sr-Latn-RS" sz="2800" b="0" i="1" smtClean="0">
                              <a:latin typeface="Cambria Math" panose="02040503050406030204" pitchFamily="18" charset="0"/>
                            </a:rPr>
                            <m:t>0</m:t>
                          </m:r>
                        </m:e>
                      </m:d>
                      <m:r>
                        <a:rPr lang="en-US" sz="2800" i="1" smtClean="0">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rPr>
                          </m:ctrlPr>
                        </m:dPr>
                        <m:e>
                          <m:r>
                            <a:rPr lang="sr-Latn-RS" sz="2800" b="0" i="1" smtClean="0">
                              <a:latin typeface="Cambria Math" panose="02040503050406030204" pitchFamily="18" charset="0"/>
                            </a:rPr>
                            <m:t>1</m:t>
                          </m:r>
                          <m:r>
                            <a:rPr lang="en-US" sz="2800" b="0" i="1" smtClean="0">
                              <a:latin typeface="Cambria Math" panose="02040503050406030204" pitchFamily="18" charset="0"/>
                            </a:rPr>
                            <m:t>1</m:t>
                          </m:r>
                        </m:e>
                      </m:d>
                    </m:oMath>
                  </m:oMathPara>
                </a14:m>
                <a:endParaRPr lang="en-US" sz="2800" dirty="0"/>
              </a:p>
            </p:txBody>
          </p:sp>
        </mc:Choice>
        <mc:Fallback xmlns="">
          <p:sp>
            <p:nvSpPr>
              <p:cNvPr id="26" name="TextBox 25">
                <a:extLst>
                  <a:ext uri="{FF2B5EF4-FFF2-40B4-BE49-F238E27FC236}">
                    <a16:creationId xmlns:a16="http://schemas.microsoft.com/office/drawing/2014/main" id="{C0E09B13-800B-5B4E-AD3E-E53FDCC8E6C6}"/>
                  </a:ext>
                </a:extLst>
              </p:cNvPr>
              <p:cNvSpPr txBox="1">
                <a:spLocks noRot="1" noChangeAspect="1" noMove="1" noResize="1" noEditPoints="1" noAdjustHandles="1" noChangeArrowheads="1" noChangeShapeType="1" noTextEdit="1"/>
              </p:cNvSpPr>
              <p:nvPr/>
            </p:nvSpPr>
            <p:spPr>
              <a:xfrm>
                <a:off x="704199" y="5707524"/>
                <a:ext cx="3431773" cy="523220"/>
              </a:xfrm>
              <a:prstGeom prst="rect">
                <a:avLst/>
              </a:prstGeom>
              <a:blipFill>
                <a:blip r:embed="rId8"/>
                <a:stretch>
                  <a:fillRect b="-186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EBAB0A5-8585-2B44-A861-47A4C044430F}"/>
                  </a:ext>
                </a:extLst>
              </p:cNvPr>
              <p:cNvSpPr txBox="1"/>
              <p:nvPr/>
            </p:nvSpPr>
            <p:spPr>
              <a:xfrm>
                <a:off x="391644" y="4396243"/>
                <a:ext cx="10584372" cy="523220"/>
              </a:xfrm>
              <a:prstGeom prst="rect">
                <a:avLst/>
              </a:prstGeom>
              <a:noFill/>
            </p:spPr>
            <p:txBody>
              <a:bodyPr wrap="none" rtlCol="0">
                <a:spAutoFit/>
              </a:bodyPr>
              <a:lstStyle/>
              <a:p>
                <a:r>
                  <a:rPr lang="en-US" sz="2800" dirty="0">
                    <a:latin typeface="+mj-lt"/>
                  </a:rPr>
                  <a:t>When </a:t>
                </a:r>
                <a14:m>
                  <m:oMath xmlns:m="http://schemas.openxmlformats.org/officeDocument/2006/math">
                    <m:d>
                      <m:dPr>
                        <m:begChr m:val="|"/>
                        <m:endChr m:val="⟩"/>
                        <m:ctrlPr>
                          <a:rPr lang="en-US" sz="2800" i="1">
                            <a:latin typeface="Cambria Math" panose="02040503050406030204" pitchFamily="18" charset="0"/>
                          </a:rPr>
                        </m:ctrlPr>
                      </m:dPr>
                      <m:e>
                        <m:r>
                          <a:rPr lang="sr-Latn-RS" sz="2800" b="0" i="1" smtClean="0">
                            <a:latin typeface="Cambria Math" panose="02040503050406030204" pitchFamily="18" charset="0"/>
                          </a:rPr>
                          <m:t>𝑡</m:t>
                        </m:r>
                      </m:e>
                    </m:d>
                    <m:r>
                      <a:rPr lang="en-US" sz="2800" i="1">
                        <a:latin typeface="Cambria Math" panose="02040503050406030204" pitchFamily="18" charset="0"/>
                      </a:rPr>
                      <m:t>= </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0</m:t>
                        </m:r>
                      </m:e>
                    </m:d>
                  </m:oMath>
                </a14:m>
                <a:r>
                  <a:rPr lang="en-ZA" sz="2800" dirty="0">
                    <a:latin typeface="+mj-lt"/>
                  </a:rPr>
                  <a:t>, the target qubit becomes a copy of the control qubit</a:t>
                </a:r>
                <a:r>
                  <a:rPr lang="en-US" sz="2800" dirty="0">
                    <a:latin typeface="+mj-lt"/>
                  </a:rPr>
                  <a:t>: </a:t>
                </a:r>
              </a:p>
            </p:txBody>
          </p:sp>
        </mc:Choice>
        <mc:Fallback xmlns="">
          <p:sp>
            <p:nvSpPr>
              <p:cNvPr id="27" name="TextBox 26">
                <a:extLst>
                  <a:ext uri="{FF2B5EF4-FFF2-40B4-BE49-F238E27FC236}">
                    <a16:creationId xmlns:a16="http://schemas.microsoft.com/office/drawing/2014/main" id="{3EBAB0A5-8585-2B44-A861-47A4C044430F}"/>
                  </a:ext>
                </a:extLst>
              </p:cNvPr>
              <p:cNvSpPr txBox="1">
                <a:spLocks noRot="1" noChangeAspect="1" noMove="1" noResize="1" noEditPoints="1" noAdjustHandles="1" noChangeArrowheads="1" noChangeShapeType="1" noTextEdit="1"/>
              </p:cNvSpPr>
              <p:nvPr/>
            </p:nvSpPr>
            <p:spPr>
              <a:xfrm>
                <a:off x="391644" y="4396243"/>
                <a:ext cx="10584372" cy="523220"/>
              </a:xfrm>
              <a:prstGeom prst="rect">
                <a:avLst/>
              </a:prstGeom>
              <a:blipFill>
                <a:blip r:embed="rId9"/>
                <a:stretch>
                  <a:fillRect l="-1199" t="-11905" b="-28571"/>
                </a:stretch>
              </a:blipFill>
            </p:spPr>
            <p:txBody>
              <a:bodyPr/>
              <a:lstStyle/>
              <a:p>
                <a:r>
                  <a:rPr lang="en-US">
                    <a:noFill/>
                  </a:rPr>
                  <a:t> </a:t>
                </a:r>
              </a:p>
            </p:txBody>
          </p:sp>
        </mc:Fallback>
      </mc:AlternateContent>
      <p:sp>
        <p:nvSpPr>
          <p:cNvPr id="28" name="Right Brace 27">
            <a:extLst>
              <a:ext uri="{FF2B5EF4-FFF2-40B4-BE49-F238E27FC236}">
                <a16:creationId xmlns:a16="http://schemas.microsoft.com/office/drawing/2014/main" id="{0DF14B2A-ABA7-0245-B0E9-899867BA626F}"/>
              </a:ext>
            </a:extLst>
          </p:cNvPr>
          <p:cNvSpPr/>
          <p:nvPr/>
        </p:nvSpPr>
        <p:spPr>
          <a:xfrm>
            <a:off x="8801099" y="1847326"/>
            <a:ext cx="261257" cy="1111713"/>
          </a:xfrm>
          <a:prstGeom prst="rightBrace">
            <a:avLst>
              <a:gd name="adj1" fmla="val 433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BA6295CA-420E-3B4D-8CC4-BFCCB62B4030}"/>
                  </a:ext>
                </a:extLst>
              </p:cNvPr>
              <p:cNvSpPr/>
              <p:nvPr/>
            </p:nvSpPr>
            <p:spPr>
              <a:xfrm>
                <a:off x="9197772" y="2073156"/>
                <a:ext cx="85074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sr-Latn-RS" sz="2800" b="0" i="1" smtClean="0">
                              <a:latin typeface="Cambria Math" panose="02040503050406030204" pitchFamily="18" charset="0"/>
                            </a:rPr>
                            <m:t>𝑐𝑐</m:t>
                          </m:r>
                        </m:e>
                      </m:d>
                    </m:oMath>
                  </m:oMathPara>
                </a14:m>
                <a:endParaRPr lang="en-US" sz="2800" dirty="0"/>
              </a:p>
            </p:txBody>
          </p:sp>
        </mc:Choice>
        <mc:Fallback xmlns="">
          <p:sp>
            <p:nvSpPr>
              <p:cNvPr id="30" name="Rectangle 29">
                <a:extLst>
                  <a:ext uri="{FF2B5EF4-FFF2-40B4-BE49-F238E27FC236}">
                    <a16:creationId xmlns:a16="http://schemas.microsoft.com/office/drawing/2014/main" id="{BA6295CA-420E-3B4D-8CC4-BFCCB62B4030}"/>
                  </a:ext>
                </a:extLst>
              </p:cNvPr>
              <p:cNvSpPr>
                <a:spLocks noRot="1" noChangeAspect="1" noMove="1" noResize="1" noEditPoints="1" noAdjustHandles="1" noChangeArrowheads="1" noChangeShapeType="1" noTextEdit="1"/>
              </p:cNvSpPr>
              <p:nvPr/>
            </p:nvSpPr>
            <p:spPr>
              <a:xfrm>
                <a:off x="9197772" y="2073156"/>
                <a:ext cx="850746" cy="523220"/>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62393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D9580-3F88-4F44-9347-C8537AF4F99C}"/>
              </a:ext>
            </a:extLst>
          </p:cNvPr>
          <p:cNvSpPr>
            <a:spLocks noGrp="1"/>
          </p:cNvSpPr>
          <p:nvPr>
            <p:ph type="title"/>
          </p:nvPr>
        </p:nvSpPr>
        <p:spPr>
          <a:xfrm>
            <a:off x="0" y="0"/>
            <a:ext cx="12192000" cy="928688"/>
          </a:xfrm>
        </p:spPr>
        <p:txBody>
          <a:bodyPr/>
          <a:lstStyle/>
          <a:p>
            <a:r>
              <a:rPr lang="en-ZA" dirty="0"/>
              <a:t>Mirror Symmetry of CNOT with H Gates</a:t>
            </a:r>
            <a:endParaRPr lang="en-US" dirty="0"/>
          </a:p>
        </p:txBody>
      </p:sp>
      <p:sp>
        <p:nvSpPr>
          <p:cNvPr id="3" name="Slide Number Placeholder 2">
            <a:extLst>
              <a:ext uri="{FF2B5EF4-FFF2-40B4-BE49-F238E27FC236}">
                <a16:creationId xmlns:a16="http://schemas.microsoft.com/office/drawing/2014/main" id="{9DAB86D1-A064-3546-A2B6-7D8F35E29F08}"/>
              </a:ext>
            </a:extLst>
          </p:cNvPr>
          <p:cNvSpPr>
            <a:spLocks noGrp="1"/>
          </p:cNvSpPr>
          <p:nvPr>
            <p:ph type="sldNum" sz="quarter" idx="12"/>
          </p:nvPr>
        </p:nvSpPr>
        <p:spPr/>
        <p:txBody>
          <a:bodyPr/>
          <a:lstStyle/>
          <a:p>
            <a:fld id="{591A223C-FA10-BC46-A853-03BA373D023C}" type="slidenum">
              <a:rPr lang="en-US" smtClean="0"/>
              <a:t>20</a:t>
            </a:fld>
            <a:endParaRPr lang="en-US"/>
          </a:p>
        </p:txBody>
      </p:sp>
      <p:cxnSp>
        <p:nvCxnSpPr>
          <p:cNvPr id="11" name="Straight Connector 10">
            <a:extLst>
              <a:ext uri="{FF2B5EF4-FFF2-40B4-BE49-F238E27FC236}">
                <a16:creationId xmlns:a16="http://schemas.microsoft.com/office/drawing/2014/main" id="{A347528D-DA3D-8648-B991-A1370B56554C}"/>
              </a:ext>
            </a:extLst>
          </p:cNvPr>
          <p:cNvCxnSpPr>
            <a:cxnSpLocks/>
          </p:cNvCxnSpPr>
          <p:nvPr/>
        </p:nvCxnSpPr>
        <p:spPr>
          <a:xfrm>
            <a:off x="6857226" y="2686936"/>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70B68F02-96D5-3747-9F5A-D9463CE696D5}"/>
                  </a:ext>
                </a:extLst>
              </p:cNvPr>
              <p:cNvSpPr/>
              <p:nvPr/>
            </p:nvSpPr>
            <p:spPr>
              <a:xfrm>
                <a:off x="5785235" y="1876636"/>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16" name="Rectangle 15">
                <a:extLst>
                  <a:ext uri="{FF2B5EF4-FFF2-40B4-BE49-F238E27FC236}">
                    <a16:creationId xmlns:a16="http://schemas.microsoft.com/office/drawing/2014/main" id="{70B68F02-96D5-3747-9F5A-D9463CE696D5}"/>
                  </a:ext>
                </a:extLst>
              </p:cNvPr>
              <p:cNvSpPr>
                <a:spLocks noRot="1" noChangeAspect="1" noMove="1" noResize="1" noEditPoints="1" noAdjustHandles="1" noChangeArrowheads="1" noChangeShapeType="1" noTextEdit="1"/>
              </p:cNvSpPr>
              <p:nvPr/>
            </p:nvSpPr>
            <p:spPr>
              <a:xfrm>
                <a:off x="5785235" y="1876636"/>
                <a:ext cx="633507" cy="646331"/>
              </a:xfrm>
              <a:prstGeom prst="rect">
                <a:avLst/>
              </a:prstGeom>
              <a:blipFill>
                <a:blip r:embed="rId3"/>
                <a:stretch>
                  <a:fillRect/>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4AC4C88A-9A85-5D4F-8BE0-14BF46196724}"/>
              </a:ext>
            </a:extLst>
          </p:cNvPr>
          <p:cNvCxnSpPr>
            <a:cxnSpLocks/>
          </p:cNvCxnSpPr>
          <p:nvPr/>
        </p:nvCxnSpPr>
        <p:spPr>
          <a:xfrm>
            <a:off x="6740821" y="1758378"/>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1AB170C-4108-4044-BF24-D90605235CCB}"/>
                  </a:ext>
                </a:extLst>
              </p:cNvPr>
              <p:cNvSpPr txBox="1"/>
              <p:nvPr/>
            </p:nvSpPr>
            <p:spPr>
              <a:xfrm>
                <a:off x="4248695" y="3390436"/>
                <a:ext cx="2993961"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dirty="0" smtClean="0">
                          <a:latin typeface="Cambria Math" panose="02040503050406030204" pitchFamily="18" charset="0"/>
                          <a:ea typeface="Cambria Math" panose="02040503050406030204" pitchFamily="18" charset="0"/>
                        </a:rPr>
                        <m:t>𝐻</m:t>
                      </m:r>
                      <m:r>
                        <a:rPr lang="sr-Latn-RS" sz="3200" b="0" i="1" dirty="0" smtClean="0">
                          <a:latin typeface="Cambria Math" panose="02040503050406030204" pitchFamily="18" charset="0"/>
                          <a:ea typeface="Cambria Math" panose="02040503050406030204" pitchFamily="18" charset="0"/>
                        </a:rPr>
                        <m:t>     </m:t>
                      </m:r>
                      <m:r>
                        <a:rPr lang="sr-Latn-RS" sz="3200" b="0" i="1" dirty="0" smtClean="0">
                          <a:latin typeface="Cambria Math" panose="02040503050406030204" pitchFamily="18" charset="0"/>
                          <a:ea typeface="Cambria Math" panose="02040503050406030204" pitchFamily="18" charset="0"/>
                        </a:rPr>
                        <m:t>𝑐𝑋</m:t>
                      </m:r>
                      <m:r>
                        <a:rPr lang="sr-Latn-RS" sz="3200" b="0" i="1" dirty="0" smtClean="0">
                          <a:latin typeface="Cambria Math" panose="02040503050406030204" pitchFamily="18" charset="0"/>
                          <a:ea typeface="Cambria Math" panose="02040503050406030204" pitchFamily="18" charset="0"/>
                        </a:rPr>
                        <m:t>=</m:t>
                      </m:r>
                      <m:r>
                        <a:rPr lang="sr-Latn-RS" sz="3200" b="0" i="1" dirty="0" smtClean="0">
                          <a:latin typeface="Cambria Math" panose="02040503050406030204" pitchFamily="18" charset="0"/>
                          <a:ea typeface="Cambria Math" panose="02040503050406030204" pitchFamily="18" charset="0"/>
                        </a:rPr>
                        <m:t>𝑟𝑐𝑋𝐻</m:t>
                      </m:r>
                    </m:oMath>
                  </m:oMathPara>
                </a14:m>
                <a:endParaRPr lang="en-US" sz="3200" i="1" dirty="0"/>
              </a:p>
            </p:txBody>
          </p:sp>
        </mc:Choice>
        <mc:Fallback xmlns="">
          <p:sp>
            <p:nvSpPr>
              <p:cNvPr id="22" name="TextBox 21">
                <a:extLst>
                  <a:ext uri="{FF2B5EF4-FFF2-40B4-BE49-F238E27FC236}">
                    <a16:creationId xmlns:a16="http://schemas.microsoft.com/office/drawing/2014/main" id="{21AB170C-4108-4044-BF24-D90605235CCB}"/>
                  </a:ext>
                </a:extLst>
              </p:cNvPr>
              <p:cNvSpPr txBox="1">
                <a:spLocks noRot="1" noChangeAspect="1" noMove="1" noResize="1" noEditPoints="1" noAdjustHandles="1" noChangeArrowheads="1" noChangeShapeType="1" noTextEdit="1"/>
              </p:cNvSpPr>
              <p:nvPr/>
            </p:nvSpPr>
            <p:spPr>
              <a:xfrm>
                <a:off x="4248695" y="3390436"/>
                <a:ext cx="2993961" cy="584775"/>
              </a:xfrm>
              <a:prstGeom prst="rect">
                <a:avLst/>
              </a:prstGeom>
              <a:blipFill>
                <a:blip r:embed="rId4"/>
                <a:stretch>
                  <a:fillRect b="-234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80CDC3F7-5A5D-6343-A38E-7355C3F93C9F}"/>
                  </a:ext>
                </a:extLst>
              </p:cNvPr>
              <p:cNvSpPr/>
              <p:nvPr/>
            </p:nvSpPr>
            <p:spPr>
              <a:xfrm>
                <a:off x="1758153" y="3965040"/>
                <a:ext cx="9048311" cy="1356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ZA" sz="2200" i="1" smtClean="0">
                              <a:latin typeface="Cambria Math" panose="02040503050406030204" pitchFamily="18" charset="0"/>
                              <a:ea typeface="Cambria Math" panose="02040503050406030204" pitchFamily="18" charset="0"/>
                            </a:rPr>
                          </m:ctrlPr>
                        </m:dPr>
                        <m:e>
                          <m:m>
                            <m:mPr>
                              <m:mcs>
                                <m:mc>
                                  <m:mcPr>
                                    <m:count m:val="4"/>
                                    <m:mcJc m:val="center"/>
                                  </m:mcPr>
                                </m:mc>
                              </m:mcs>
                              <m:ctrlPr>
                                <a:rPr lang="en-ZA" sz="2200" i="1">
                                  <a:latin typeface="Cambria Math" panose="02040503050406030204" pitchFamily="18" charset="0"/>
                                  <a:ea typeface="Cambria Math" panose="02040503050406030204" pitchFamily="18" charset="0"/>
                                </a:rPr>
                              </m:ctrlPr>
                            </m:mPr>
                            <m:mr>
                              <m:e>
                                <m:r>
                                  <a:rPr lang="sr-Latn-RS" sz="2200" i="1">
                                    <a:latin typeface="Cambria Math" panose="02040503050406030204" pitchFamily="18" charset="0"/>
                                    <a:ea typeface="Cambria Math" panose="02040503050406030204" pitchFamily="18" charset="0"/>
                                  </a:rPr>
                                  <m:t>1</m:t>
                                </m:r>
                              </m:e>
                              <m:e>
                                <m:r>
                                  <a:rPr lang="sr-Latn-RS" sz="2200" i="1">
                                    <a:latin typeface="Cambria Math" panose="02040503050406030204" pitchFamily="18" charset="0"/>
                                    <a:ea typeface="Cambria Math" panose="02040503050406030204" pitchFamily="18" charset="0"/>
                                  </a:rPr>
                                  <m:t>0</m:t>
                                </m:r>
                              </m:e>
                              <m:e>
                                <m:r>
                                  <a:rPr lang="sr-Latn-RS" sz="2200" i="1">
                                    <a:latin typeface="Cambria Math" panose="02040503050406030204" pitchFamily="18" charset="0"/>
                                    <a:ea typeface="Cambria Math" panose="02040503050406030204" pitchFamily="18" charset="0"/>
                                  </a:rPr>
                                  <m:t>0</m:t>
                                </m:r>
                              </m:e>
                              <m:e>
                                <m:r>
                                  <a:rPr lang="sr-Latn-RS" sz="2200" i="1">
                                    <a:latin typeface="Cambria Math" panose="02040503050406030204" pitchFamily="18" charset="0"/>
                                    <a:ea typeface="Cambria Math" panose="02040503050406030204" pitchFamily="18" charset="0"/>
                                  </a:rPr>
                                  <m:t>0</m:t>
                                </m:r>
                              </m:e>
                            </m:mr>
                            <m:mr>
                              <m:e>
                                <m:r>
                                  <a:rPr lang="sr-Latn-RS" sz="2200" i="1">
                                    <a:latin typeface="Cambria Math" panose="02040503050406030204" pitchFamily="18" charset="0"/>
                                    <a:ea typeface="Cambria Math" panose="02040503050406030204" pitchFamily="18" charset="0"/>
                                  </a:rPr>
                                  <m:t>0</m:t>
                                </m:r>
                              </m:e>
                              <m:e>
                                <m:r>
                                  <a:rPr lang="sr-Latn-RS" sz="2200" i="1">
                                    <a:latin typeface="Cambria Math" panose="02040503050406030204" pitchFamily="18" charset="0"/>
                                    <a:ea typeface="Cambria Math" panose="02040503050406030204" pitchFamily="18" charset="0"/>
                                  </a:rPr>
                                  <m:t>1</m:t>
                                </m:r>
                              </m:e>
                              <m:e>
                                <m:r>
                                  <a:rPr lang="sr-Latn-RS" sz="2200" i="1">
                                    <a:latin typeface="Cambria Math" panose="02040503050406030204" pitchFamily="18" charset="0"/>
                                    <a:ea typeface="Cambria Math" panose="02040503050406030204" pitchFamily="18" charset="0"/>
                                  </a:rPr>
                                  <m:t>0</m:t>
                                </m:r>
                              </m:e>
                              <m:e>
                                <m:r>
                                  <a:rPr lang="sr-Latn-RS" sz="2200" i="1">
                                    <a:latin typeface="Cambria Math" panose="02040503050406030204" pitchFamily="18" charset="0"/>
                                    <a:ea typeface="Cambria Math" panose="02040503050406030204" pitchFamily="18" charset="0"/>
                                  </a:rPr>
                                  <m:t>0</m:t>
                                </m:r>
                              </m:e>
                            </m:mr>
                            <m:mr>
                              <m:e>
                                <m:r>
                                  <a:rPr lang="sr-Latn-RS" sz="2200" i="1">
                                    <a:latin typeface="Cambria Math" panose="02040503050406030204" pitchFamily="18" charset="0"/>
                                    <a:ea typeface="Cambria Math" panose="02040503050406030204" pitchFamily="18" charset="0"/>
                                  </a:rPr>
                                  <m:t>0</m:t>
                                </m:r>
                              </m:e>
                              <m:e>
                                <m:r>
                                  <a:rPr lang="sr-Latn-RS" sz="2200" i="1">
                                    <a:latin typeface="Cambria Math" panose="02040503050406030204" pitchFamily="18" charset="0"/>
                                    <a:ea typeface="Cambria Math" panose="02040503050406030204" pitchFamily="18" charset="0"/>
                                  </a:rPr>
                                  <m:t>0</m:t>
                                </m:r>
                              </m:e>
                              <m:e>
                                <m:r>
                                  <a:rPr lang="en-US" sz="2200" i="1">
                                    <a:latin typeface="Cambria Math" panose="02040503050406030204" pitchFamily="18" charset="0"/>
                                    <a:ea typeface="Cambria Math" panose="02040503050406030204" pitchFamily="18" charset="0"/>
                                  </a:rPr>
                                  <m:t>0</m:t>
                                </m:r>
                              </m:e>
                              <m:e>
                                <m:r>
                                  <a:rPr lang="en-US" sz="2200" i="1">
                                    <a:latin typeface="Cambria Math" panose="02040503050406030204" pitchFamily="18" charset="0"/>
                                    <a:ea typeface="Cambria Math" panose="02040503050406030204" pitchFamily="18" charset="0"/>
                                  </a:rPr>
                                  <m:t>1</m:t>
                                </m:r>
                              </m:e>
                            </m:mr>
                            <m:mr>
                              <m:e>
                                <m:r>
                                  <a:rPr lang="sr-Latn-RS" sz="2200" i="1">
                                    <a:latin typeface="Cambria Math" panose="02040503050406030204" pitchFamily="18" charset="0"/>
                                    <a:ea typeface="Cambria Math" panose="02040503050406030204" pitchFamily="18" charset="0"/>
                                  </a:rPr>
                                  <m:t>0</m:t>
                                </m:r>
                              </m:e>
                              <m:e>
                                <m:r>
                                  <a:rPr lang="sr-Latn-RS" sz="2200" i="1">
                                    <a:latin typeface="Cambria Math" panose="02040503050406030204" pitchFamily="18" charset="0"/>
                                    <a:ea typeface="Cambria Math" panose="02040503050406030204" pitchFamily="18" charset="0"/>
                                  </a:rPr>
                                  <m:t>0</m:t>
                                </m:r>
                              </m:e>
                              <m:e>
                                <m:r>
                                  <a:rPr lang="en-US" sz="2200" i="1">
                                    <a:latin typeface="Cambria Math" panose="02040503050406030204" pitchFamily="18" charset="0"/>
                                    <a:ea typeface="Cambria Math" panose="02040503050406030204" pitchFamily="18" charset="0"/>
                                  </a:rPr>
                                  <m:t>1</m:t>
                                </m:r>
                              </m:e>
                              <m:e>
                                <m:r>
                                  <a:rPr lang="en-US" sz="2200" i="1">
                                    <a:latin typeface="Cambria Math" panose="02040503050406030204" pitchFamily="18" charset="0"/>
                                    <a:ea typeface="Cambria Math" panose="02040503050406030204" pitchFamily="18" charset="0"/>
                                  </a:rPr>
                                  <m:t>0</m:t>
                                </m:r>
                              </m:e>
                            </m:mr>
                          </m:m>
                        </m:e>
                      </m:d>
                      <m:d>
                        <m:dPr>
                          <m:ctrlPr>
                            <a:rPr lang="en-US" sz="2200" i="1" smtClean="0">
                              <a:latin typeface="Cambria Math" panose="02040503050406030204" pitchFamily="18" charset="0"/>
                            </a:rPr>
                          </m:ctrlPr>
                        </m:dPr>
                        <m:e>
                          <m:f>
                            <m:fPr>
                              <m:ctrlPr>
                                <a:rPr lang="en-US" sz="2200" i="1">
                                  <a:latin typeface="Cambria Math" panose="02040503050406030204" pitchFamily="18" charset="0"/>
                                </a:rPr>
                              </m:ctrlPr>
                            </m:fPr>
                            <m:num>
                              <m:r>
                                <m:rPr>
                                  <m:nor/>
                                </m:rPr>
                                <a:rPr lang="en-US" sz="2200">
                                  <a:latin typeface="Cambria Math" panose="02040503050406030204" pitchFamily="18" charset="0"/>
                                </a:rPr>
                                <m:t>1</m:t>
                              </m:r>
                            </m:num>
                            <m:den>
                              <m:rad>
                                <m:radPr>
                                  <m:degHide m:val="on"/>
                                  <m:ctrlPr>
                                    <a:rPr lang="en-US" sz="2200" i="1">
                                      <a:latin typeface="Cambria Math" panose="02040503050406030204" pitchFamily="18" charset="0"/>
                                    </a:rPr>
                                  </m:ctrlPr>
                                </m:radPr>
                                <m:deg/>
                                <m:e>
                                  <m:r>
                                    <m:rPr>
                                      <m:nor/>
                                    </m:rPr>
                                    <a:rPr lang="en-US" sz="2200">
                                      <a:latin typeface="Cambria Math" panose="02040503050406030204" pitchFamily="18" charset="0"/>
                                    </a:rPr>
                                    <m:t>2</m:t>
                                  </m:r>
                                </m:e>
                              </m:rad>
                            </m:den>
                          </m:f>
                          <m:d>
                            <m:dPr>
                              <m:ctrlPr>
                                <a:rPr lang="en-US" sz="2200" i="1">
                                  <a:latin typeface="Cambria Math" panose="02040503050406030204" pitchFamily="18" charset="0"/>
                                </a:rPr>
                              </m:ctrlPr>
                            </m:dPr>
                            <m:e>
                              <m:m>
                                <m:mPr>
                                  <m:plcHide m:val="on"/>
                                  <m:mcs>
                                    <m:mc>
                                      <m:mcPr>
                                        <m:count m:val="2"/>
                                        <m:mcJc m:val="center"/>
                                      </m:mcPr>
                                    </m:mc>
                                  </m:mcs>
                                  <m:ctrlPr>
                                    <a:rPr lang="en-US" sz="2200" i="1">
                                      <a:latin typeface="Cambria Math" panose="02040503050406030204" pitchFamily="18" charset="0"/>
                                    </a:rPr>
                                  </m:ctrlPr>
                                </m:mPr>
                                <m:mr>
                                  <m:e>
                                    <m:r>
                                      <m:rPr>
                                        <m:nor/>
                                      </m:rPr>
                                      <a:rPr lang="en-US" sz="2200">
                                        <a:latin typeface="Cambria Math" panose="02040503050406030204" pitchFamily="18" charset="0"/>
                                      </a:rPr>
                                      <m:t>1</m:t>
                                    </m:r>
                                  </m:e>
                                  <m:e>
                                    <m:r>
                                      <m:rPr>
                                        <m:nor/>
                                      </m:rPr>
                                      <a:rPr lang="en-US" sz="2200">
                                        <a:latin typeface="Cambria Math" panose="02040503050406030204" pitchFamily="18" charset="0"/>
                                      </a:rPr>
                                      <m:t>1</m:t>
                                    </m:r>
                                  </m:e>
                                </m:mr>
                                <m:mr>
                                  <m:e>
                                    <m:r>
                                      <m:rPr>
                                        <m:nor/>
                                      </m:rPr>
                                      <a:rPr lang="en-US" sz="2200">
                                        <a:latin typeface="Cambria Math" panose="02040503050406030204" pitchFamily="18" charset="0"/>
                                      </a:rPr>
                                      <m:t>1</m:t>
                                    </m:r>
                                  </m:e>
                                  <m:e>
                                    <m:r>
                                      <m:rPr>
                                        <m:nor/>
                                      </m:rPr>
                                      <a:rPr lang="en-US" sz="2200">
                                        <a:latin typeface="Cambria Math" panose="02040503050406030204" pitchFamily="18" charset="0"/>
                                      </a:rPr>
                                      <m:t>−1</m:t>
                                    </m:r>
                                  </m:e>
                                </m:mr>
                              </m:m>
                            </m:e>
                          </m:d>
                          <m:r>
                            <a:rPr lang="en-US" sz="2200" dirty="0">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rPr>
                              </m:ctrlPr>
                            </m:fPr>
                            <m:num>
                              <m:r>
                                <m:rPr>
                                  <m:nor/>
                                </m:rPr>
                                <a:rPr lang="en-US" sz="2200">
                                  <a:latin typeface="Cambria Math" panose="02040503050406030204" pitchFamily="18" charset="0"/>
                                </a:rPr>
                                <m:t>1</m:t>
                              </m:r>
                            </m:num>
                            <m:den>
                              <m:rad>
                                <m:radPr>
                                  <m:degHide m:val="on"/>
                                  <m:ctrlPr>
                                    <a:rPr lang="en-US" sz="2200" i="1">
                                      <a:latin typeface="Cambria Math" panose="02040503050406030204" pitchFamily="18" charset="0"/>
                                    </a:rPr>
                                  </m:ctrlPr>
                                </m:radPr>
                                <m:deg/>
                                <m:e>
                                  <m:r>
                                    <m:rPr>
                                      <m:nor/>
                                    </m:rPr>
                                    <a:rPr lang="en-US" sz="2200">
                                      <a:latin typeface="Cambria Math" panose="02040503050406030204" pitchFamily="18" charset="0"/>
                                    </a:rPr>
                                    <m:t>2</m:t>
                                  </m:r>
                                </m:e>
                              </m:rad>
                            </m:den>
                          </m:f>
                          <m:d>
                            <m:dPr>
                              <m:ctrlPr>
                                <a:rPr lang="en-US" sz="2200" i="1">
                                  <a:latin typeface="Cambria Math" panose="02040503050406030204" pitchFamily="18" charset="0"/>
                                </a:rPr>
                              </m:ctrlPr>
                            </m:dPr>
                            <m:e>
                              <m:m>
                                <m:mPr>
                                  <m:plcHide m:val="on"/>
                                  <m:mcs>
                                    <m:mc>
                                      <m:mcPr>
                                        <m:count m:val="2"/>
                                        <m:mcJc m:val="center"/>
                                      </m:mcPr>
                                    </m:mc>
                                  </m:mcs>
                                  <m:ctrlPr>
                                    <a:rPr lang="en-US" sz="2200" i="1">
                                      <a:latin typeface="Cambria Math" panose="02040503050406030204" pitchFamily="18" charset="0"/>
                                    </a:rPr>
                                  </m:ctrlPr>
                                </m:mPr>
                                <m:mr>
                                  <m:e>
                                    <m:r>
                                      <m:rPr>
                                        <m:nor/>
                                      </m:rPr>
                                      <a:rPr lang="en-US" sz="2200">
                                        <a:latin typeface="Cambria Math" panose="02040503050406030204" pitchFamily="18" charset="0"/>
                                      </a:rPr>
                                      <m:t>1</m:t>
                                    </m:r>
                                  </m:e>
                                  <m:e>
                                    <m:r>
                                      <m:rPr>
                                        <m:nor/>
                                      </m:rPr>
                                      <a:rPr lang="en-US" sz="2200">
                                        <a:latin typeface="Cambria Math" panose="02040503050406030204" pitchFamily="18" charset="0"/>
                                      </a:rPr>
                                      <m:t>1</m:t>
                                    </m:r>
                                  </m:e>
                                </m:mr>
                                <m:mr>
                                  <m:e>
                                    <m:r>
                                      <m:rPr>
                                        <m:nor/>
                                      </m:rPr>
                                      <a:rPr lang="en-US" sz="2200">
                                        <a:latin typeface="Cambria Math" panose="02040503050406030204" pitchFamily="18" charset="0"/>
                                      </a:rPr>
                                      <m:t>1</m:t>
                                    </m:r>
                                  </m:e>
                                  <m:e>
                                    <m:r>
                                      <m:rPr>
                                        <m:nor/>
                                      </m:rPr>
                                      <a:rPr lang="en-US" sz="2200">
                                        <a:latin typeface="Cambria Math" panose="02040503050406030204" pitchFamily="18" charset="0"/>
                                      </a:rPr>
                                      <m:t>−1</m:t>
                                    </m:r>
                                  </m:e>
                                </m:mr>
                              </m:m>
                            </m:e>
                          </m:d>
                        </m:e>
                      </m:d>
                      <m:r>
                        <a:rPr lang="sr-Latn-RS" sz="2200" b="0" i="1" smtClean="0">
                          <a:latin typeface="Cambria Math" panose="02040503050406030204" pitchFamily="18" charset="0"/>
                        </a:rPr>
                        <m:t>=</m:t>
                      </m:r>
                      <m:f>
                        <m:fPr>
                          <m:ctrlPr>
                            <a:rPr lang="sr-Latn-RS" sz="2200" b="0" i="1" smtClean="0">
                              <a:latin typeface="Cambria Math" panose="02040503050406030204" pitchFamily="18" charset="0"/>
                            </a:rPr>
                          </m:ctrlPr>
                        </m:fPr>
                        <m:num>
                          <m:r>
                            <a:rPr lang="en-US" sz="2200" b="0" i="1" smtClean="0">
                              <a:latin typeface="Cambria Math" panose="02040503050406030204" pitchFamily="18" charset="0"/>
                            </a:rPr>
                            <m:t>1</m:t>
                          </m:r>
                        </m:num>
                        <m:den>
                          <m:r>
                            <a:rPr lang="en-US" sz="2200" b="0" i="1" smtClean="0">
                              <a:latin typeface="Cambria Math" panose="02040503050406030204" pitchFamily="18" charset="0"/>
                            </a:rPr>
                            <m:t>2</m:t>
                          </m:r>
                        </m:den>
                      </m:f>
                      <m:d>
                        <m:dPr>
                          <m:ctrlPr>
                            <a:rPr lang="en-US" sz="2200" i="1">
                              <a:latin typeface="Cambria Math" panose="02040503050406030204" pitchFamily="18" charset="0"/>
                            </a:rPr>
                          </m:ctrlPr>
                        </m:dPr>
                        <m:e>
                          <m:m>
                            <m:mPr>
                              <m:plcHide m:val="on"/>
                              <m:mcs>
                                <m:mc>
                                  <m:mcPr>
                                    <m:count m:val="4"/>
                                    <m:mcJc m:val="center"/>
                                  </m:mcPr>
                                </m:mc>
                              </m:mcs>
                              <m:ctrlPr>
                                <a:rPr lang="en-US" sz="2200" i="1">
                                  <a:latin typeface="Cambria Math" panose="02040503050406030204" pitchFamily="18" charset="0"/>
                                </a:rPr>
                              </m:ctrlPr>
                            </m:mPr>
                            <m:mr>
                              <m:e>
                                <m:r>
                                  <a:rPr lang="en-US" sz="2200">
                                    <a:latin typeface="Cambria Math" panose="02040503050406030204" pitchFamily="18" charset="0"/>
                                  </a:rPr>
                                  <m:t>1</m:t>
                                </m:r>
                              </m:e>
                              <m:e>
                                <m:r>
                                  <a:rPr lang="sr-Latn-RS" sz="2200" b="0" i="0" smtClean="0">
                                    <a:latin typeface="Cambria Math" panose="02040503050406030204" pitchFamily="18" charset="0"/>
                                  </a:rPr>
                                  <m:t>1</m:t>
                                </m:r>
                              </m:e>
                              <m:e>
                                <m:r>
                                  <a:rPr lang="sr-Latn-RS" sz="2200" b="0" i="0" smtClean="0">
                                    <a:latin typeface="Cambria Math" panose="02040503050406030204" pitchFamily="18" charset="0"/>
                                  </a:rPr>
                                  <m:t>1</m:t>
                                </m:r>
                              </m:e>
                              <m:e>
                                <m:r>
                                  <a:rPr lang="sr-Latn-RS" sz="2200" b="0" i="0" smtClean="0">
                                    <a:latin typeface="Cambria Math" panose="02040503050406030204" pitchFamily="18" charset="0"/>
                                  </a:rPr>
                                  <m:t>1</m:t>
                                </m:r>
                              </m:e>
                            </m:mr>
                            <m:mr>
                              <m:e>
                                <m:r>
                                  <a:rPr lang="sr-Latn-RS" sz="2200" b="0" i="0" smtClean="0">
                                    <a:latin typeface="Cambria Math" panose="02040503050406030204" pitchFamily="18" charset="0"/>
                                  </a:rPr>
                                  <m:t>1</m:t>
                                </m:r>
                              </m:e>
                              <m:e>
                                <m:r>
                                  <a:rPr lang="sr-Latn-RS" sz="2200" b="0" i="0" smtClean="0">
                                    <a:latin typeface="Cambria Math" panose="02040503050406030204" pitchFamily="18" charset="0"/>
                                  </a:rPr>
                                  <m:t>−1</m:t>
                                </m:r>
                              </m:e>
                              <m:e>
                                <m:r>
                                  <a:rPr lang="sr-Latn-RS" sz="2200" b="0" i="0" smtClean="0">
                                    <a:latin typeface="Cambria Math" panose="02040503050406030204" pitchFamily="18" charset="0"/>
                                  </a:rPr>
                                  <m:t>1</m:t>
                                </m:r>
                              </m:e>
                              <m:e>
                                <m:r>
                                  <a:rPr lang="sr-Latn-RS" sz="2200" b="0" i="1" smtClean="0">
                                    <a:latin typeface="Cambria Math" panose="02040503050406030204" pitchFamily="18" charset="0"/>
                                  </a:rPr>
                                  <m:t>−</m:t>
                                </m:r>
                                <m:r>
                                  <a:rPr lang="en-US" sz="2200">
                                    <a:latin typeface="Cambria Math" panose="02040503050406030204" pitchFamily="18" charset="0"/>
                                  </a:rPr>
                                  <m:t>1</m:t>
                                </m:r>
                              </m:e>
                            </m:mr>
                            <m:mr>
                              <m:e>
                                <m:r>
                                  <a:rPr lang="sr-Latn-RS" sz="2200" b="0" i="0" smtClean="0">
                                    <a:latin typeface="Cambria Math" panose="02040503050406030204" pitchFamily="18" charset="0"/>
                                  </a:rPr>
                                  <m:t>1</m:t>
                                </m:r>
                              </m:e>
                              <m:e>
                                <m:r>
                                  <a:rPr lang="sr-Latn-RS" sz="2200" b="0" i="1" smtClean="0">
                                    <a:latin typeface="Cambria Math" panose="02040503050406030204" pitchFamily="18" charset="0"/>
                                  </a:rPr>
                                  <m:t>−1</m:t>
                                </m:r>
                              </m:e>
                              <m:e>
                                <m:r>
                                  <a:rPr lang="sr-Latn-RS" sz="2200" b="0" i="0" smtClean="0">
                                    <a:latin typeface="Cambria Math" panose="02040503050406030204" pitchFamily="18" charset="0"/>
                                  </a:rPr>
                                  <m:t>−</m:t>
                                </m:r>
                                <m:r>
                                  <a:rPr lang="en-US" sz="2200">
                                    <a:latin typeface="Cambria Math" panose="02040503050406030204" pitchFamily="18" charset="0"/>
                                  </a:rPr>
                                  <m:t>1</m:t>
                                </m:r>
                              </m:e>
                              <m:e>
                                <m:r>
                                  <a:rPr lang="sr-Latn-RS" sz="2200" b="0" i="0" smtClean="0">
                                    <a:latin typeface="Cambria Math" panose="02040503050406030204" pitchFamily="18" charset="0"/>
                                  </a:rPr>
                                  <m:t>1</m:t>
                                </m:r>
                              </m:e>
                            </m:mr>
                            <m:mr>
                              <m:e>
                                <m:r>
                                  <a:rPr lang="sr-Latn-RS" sz="2200" b="0" i="0" smtClean="0">
                                    <a:latin typeface="Cambria Math" panose="02040503050406030204" pitchFamily="18" charset="0"/>
                                  </a:rPr>
                                  <m:t>1</m:t>
                                </m:r>
                              </m:e>
                              <m:e>
                                <m:r>
                                  <a:rPr lang="en-US" sz="2200">
                                    <a:latin typeface="Cambria Math" panose="02040503050406030204" pitchFamily="18" charset="0"/>
                                  </a:rPr>
                                  <m:t>1</m:t>
                                </m:r>
                              </m:e>
                              <m:e>
                                <m:r>
                                  <a:rPr lang="sr-Latn-RS" sz="2200" b="0" i="0" smtClean="0">
                                    <a:latin typeface="Cambria Math" panose="02040503050406030204" pitchFamily="18" charset="0"/>
                                  </a:rPr>
                                  <m:t>−1</m:t>
                                </m:r>
                              </m:e>
                              <m:e>
                                <m:r>
                                  <a:rPr lang="sr-Latn-RS" sz="2200" b="0" i="0" smtClean="0">
                                    <a:latin typeface="Cambria Math" panose="02040503050406030204" pitchFamily="18" charset="0"/>
                                  </a:rPr>
                                  <m:t>−1</m:t>
                                </m:r>
                              </m:e>
                            </m:mr>
                          </m:m>
                        </m:e>
                      </m:d>
                    </m:oMath>
                  </m:oMathPara>
                </a14:m>
                <a:endParaRPr lang="en-US" sz="2200" dirty="0"/>
              </a:p>
            </p:txBody>
          </p:sp>
        </mc:Choice>
        <mc:Fallback xmlns="">
          <p:sp>
            <p:nvSpPr>
              <p:cNvPr id="26" name="Rectangle 25">
                <a:extLst>
                  <a:ext uri="{FF2B5EF4-FFF2-40B4-BE49-F238E27FC236}">
                    <a16:creationId xmlns:a16="http://schemas.microsoft.com/office/drawing/2014/main" id="{80CDC3F7-5A5D-6343-A38E-7355C3F93C9F}"/>
                  </a:ext>
                </a:extLst>
              </p:cNvPr>
              <p:cNvSpPr>
                <a:spLocks noRot="1" noChangeAspect="1" noMove="1" noResize="1" noEditPoints="1" noAdjustHandles="1" noChangeArrowheads="1" noChangeShapeType="1" noTextEdit="1"/>
              </p:cNvSpPr>
              <p:nvPr/>
            </p:nvSpPr>
            <p:spPr>
              <a:xfrm>
                <a:off x="1758153" y="3965040"/>
                <a:ext cx="9048311" cy="1356975"/>
              </a:xfrm>
              <a:prstGeom prst="rect">
                <a:avLst/>
              </a:prstGeom>
              <a:blipFill>
                <a:blip r:embed="rId5"/>
                <a:stretch>
                  <a:fillRect b="-935"/>
                </a:stretch>
              </a:blipFill>
            </p:spPr>
            <p:txBody>
              <a:bodyPr/>
              <a:lstStyle/>
              <a:p>
                <a:r>
                  <a:rPr lang="en-US">
                    <a:noFill/>
                  </a:rPr>
                  <a:t> </a:t>
                </a:r>
              </a:p>
            </p:txBody>
          </p:sp>
        </mc:Fallback>
      </mc:AlternateContent>
      <p:sp>
        <p:nvSpPr>
          <p:cNvPr id="33" name="Rectangle 32">
            <a:extLst>
              <a:ext uri="{FF2B5EF4-FFF2-40B4-BE49-F238E27FC236}">
                <a16:creationId xmlns:a16="http://schemas.microsoft.com/office/drawing/2014/main" id="{69A59B40-BD3A-FC49-8739-D04507E2DD4F}"/>
              </a:ext>
            </a:extLst>
          </p:cNvPr>
          <p:cNvSpPr>
            <a:spLocks noChangeAspect="1"/>
          </p:cNvSpPr>
          <p:nvPr/>
        </p:nvSpPr>
        <p:spPr>
          <a:xfrm>
            <a:off x="8227326" y="138944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nvGrpSpPr>
          <p:cNvPr id="34" name="Group 33">
            <a:extLst>
              <a:ext uri="{FF2B5EF4-FFF2-40B4-BE49-F238E27FC236}">
                <a16:creationId xmlns:a16="http://schemas.microsoft.com/office/drawing/2014/main" id="{A746F00D-9EAA-8848-8C85-CD3275696720}"/>
              </a:ext>
            </a:extLst>
          </p:cNvPr>
          <p:cNvGrpSpPr/>
          <p:nvPr/>
        </p:nvGrpSpPr>
        <p:grpSpPr>
          <a:xfrm>
            <a:off x="7242656" y="1416588"/>
            <a:ext cx="720000" cy="1385722"/>
            <a:chOff x="2596286" y="1207649"/>
            <a:chExt cx="720000" cy="1385722"/>
          </a:xfrm>
        </p:grpSpPr>
        <p:sp>
          <p:nvSpPr>
            <p:cNvPr id="35" name="Oval 34">
              <a:extLst>
                <a:ext uri="{FF2B5EF4-FFF2-40B4-BE49-F238E27FC236}">
                  <a16:creationId xmlns:a16="http://schemas.microsoft.com/office/drawing/2014/main" id="{C6685EDD-3F43-8E40-8BB2-3286DBD1A9A4}"/>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6" name="Oval 35">
              <a:extLst>
                <a:ext uri="{FF2B5EF4-FFF2-40B4-BE49-F238E27FC236}">
                  <a16:creationId xmlns:a16="http://schemas.microsoft.com/office/drawing/2014/main" id="{7EB68AB9-C239-774B-87FA-9532EA32CBBC}"/>
                </a:ext>
              </a:extLst>
            </p:cNvPr>
            <p:cNvSpPr/>
            <p:nvPr/>
          </p:nvSpPr>
          <p:spPr>
            <a:xfrm flipV="1">
              <a:off x="2860956" y="2413371"/>
              <a:ext cx="180000" cy="18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7" name="Straight Connector 36">
              <a:extLst>
                <a:ext uri="{FF2B5EF4-FFF2-40B4-BE49-F238E27FC236}">
                  <a16:creationId xmlns:a16="http://schemas.microsoft.com/office/drawing/2014/main" id="{27D78CE4-4FBF-B747-85EC-16FC5690046D}"/>
                </a:ext>
              </a:extLst>
            </p:cNvPr>
            <p:cNvCxnSpPr>
              <a:cxnSpLocks/>
              <a:stCxn id="36" idx="4"/>
              <a:endCxn id="35" idx="0"/>
            </p:cNvCxnSpPr>
            <p:nvPr/>
          </p:nvCxnSpPr>
          <p:spPr>
            <a:xfrm flipV="1">
              <a:off x="2950956" y="1927649"/>
              <a:ext cx="0" cy="4857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9" name="Rectangle 38">
            <a:extLst>
              <a:ext uri="{FF2B5EF4-FFF2-40B4-BE49-F238E27FC236}">
                <a16:creationId xmlns:a16="http://schemas.microsoft.com/office/drawing/2014/main" id="{1C27CF66-A03F-CD4B-88D9-B9056A9A1732}"/>
              </a:ext>
            </a:extLst>
          </p:cNvPr>
          <p:cNvSpPr>
            <a:spLocks noChangeAspect="1"/>
          </p:cNvSpPr>
          <p:nvPr/>
        </p:nvSpPr>
        <p:spPr>
          <a:xfrm>
            <a:off x="8227326" y="230897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cxnSp>
        <p:nvCxnSpPr>
          <p:cNvPr id="25" name="Straight Connector 24">
            <a:extLst>
              <a:ext uri="{FF2B5EF4-FFF2-40B4-BE49-F238E27FC236}">
                <a16:creationId xmlns:a16="http://schemas.microsoft.com/office/drawing/2014/main" id="{D136022E-7810-6A45-A759-C02BFCD0485B}"/>
              </a:ext>
            </a:extLst>
          </p:cNvPr>
          <p:cNvCxnSpPr>
            <a:cxnSpLocks/>
          </p:cNvCxnSpPr>
          <p:nvPr/>
        </p:nvCxnSpPr>
        <p:spPr>
          <a:xfrm>
            <a:off x="2617171" y="2688406"/>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E44883F-3A23-004B-B9B8-9BE63DA99CC1}"/>
              </a:ext>
            </a:extLst>
          </p:cNvPr>
          <p:cNvCxnSpPr>
            <a:cxnSpLocks/>
          </p:cNvCxnSpPr>
          <p:nvPr/>
        </p:nvCxnSpPr>
        <p:spPr>
          <a:xfrm>
            <a:off x="2500766" y="1759848"/>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4E902432-CDC1-3C4A-8FC9-DE5A6EE86F7B}"/>
              </a:ext>
            </a:extLst>
          </p:cNvPr>
          <p:cNvSpPr>
            <a:spLocks noChangeAspect="1"/>
          </p:cNvSpPr>
          <p:nvPr/>
        </p:nvSpPr>
        <p:spPr>
          <a:xfrm>
            <a:off x="3007062" y="1380280"/>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nvGrpSpPr>
          <p:cNvPr id="40" name="Group 39">
            <a:extLst>
              <a:ext uri="{FF2B5EF4-FFF2-40B4-BE49-F238E27FC236}">
                <a16:creationId xmlns:a16="http://schemas.microsoft.com/office/drawing/2014/main" id="{248B729E-5E62-2046-8E34-F1E00F8C903B}"/>
              </a:ext>
            </a:extLst>
          </p:cNvPr>
          <p:cNvGrpSpPr/>
          <p:nvPr/>
        </p:nvGrpSpPr>
        <p:grpSpPr>
          <a:xfrm rot="10800000">
            <a:off x="3915336" y="1634088"/>
            <a:ext cx="720000" cy="1385722"/>
            <a:chOff x="2596286" y="1207649"/>
            <a:chExt cx="720000" cy="1385722"/>
          </a:xfrm>
        </p:grpSpPr>
        <p:sp>
          <p:nvSpPr>
            <p:cNvPr id="41" name="Oval 40">
              <a:extLst>
                <a:ext uri="{FF2B5EF4-FFF2-40B4-BE49-F238E27FC236}">
                  <a16:creationId xmlns:a16="http://schemas.microsoft.com/office/drawing/2014/main" id="{B45BF8F8-4AD0-2E4B-B2EE-5EC803AE076B}"/>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42" name="Oval 41">
              <a:extLst>
                <a:ext uri="{FF2B5EF4-FFF2-40B4-BE49-F238E27FC236}">
                  <a16:creationId xmlns:a16="http://schemas.microsoft.com/office/drawing/2014/main" id="{8373EB44-88FD-A848-8605-6E79CAFE5E64}"/>
                </a:ext>
              </a:extLst>
            </p:cNvPr>
            <p:cNvSpPr/>
            <p:nvPr/>
          </p:nvSpPr>
          <p:spPr>
            <a:xfrm flipV="1">
              <a:off x="2860956" y="2413371"/>
              <a:ext cx="180000" cy="18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43" name="Straight Connector 42">
              <a:extLst>
                <a:ext uri="{FF2B5EF4-FFF2-40B4-BE49-F238E27FC236}">
                  <a16:creationId xmlns:a16="http://schemas.microsoft.com/office/drawing/2014/main" id="{FAEC76E0-3A05-A240-A495-661911E8D95E}"/>
                </a:ext>
              </a:extLst>
            </p:cNvPr>
            <p:cNvCxnSpPr>
              <a:cxnSpLocks/>
              <a:stCxn id="42" idx="4"/>
              <a:endCxn id="41" idx="0"/>
            </p:cNvCxnSpPr>
            <p:nvPr/>
          </p:nvCxnSpPr>
          <p:spPr>
            <a:xfrm flipV="1">
              <a:off x="2950956" y="1927649"/>
              <a:ext cx="0" cy="4857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Rectangle 43">
            <a:extLst>
              <a:ext uri="{FF2B5EF4-FFF2-40B4-BE49-F238E27FC236}">
                <a16:creationId xmlns:a16="http://schemas.microsoft.com/office/drawing/2014/main" id="{CF2FCDDE-5D28-9D43-913F-08DA87043C36}"/>
              </a:ext>
            </a:extLst>
          </p:cNvPr>
          <p:cNvSpPr>
            <a:spLocks noChangeAspect="1"/>
          </p:cNvSpPr>
          <p:nvPr/>
        </p:nvSpPr>
        <p:spPr>
          <a:xfrm>
            <a:off x="3007062" y="2316483"/>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66374A05-D288-5144-BCB5-413DC7D3D56B}"/>
                  </a:ext>
                </a:extLst>
              </p:cNvPr>
              <p:cNvSpPr/>
              <p:nvPr/>
            </p:nvSpPr>
            <p:spPr>
              <a:xfrm>
                <a:off x="1789573" y="5318462"/>
                <a:ext cx="9099607" cy="1356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200" i="1" smtClean="0">
                              <a:latin typeface="Cambria Math" panose="02040503050406030204" pitchFamily="18" charset="0"/>
                            </a:rPr>
                          </m:ctrlPr>
                        </m:dPr>
                        <m:e>
                          <m:f>
                            <m:fPr>
                              <m:ctrlPr>
                                <a:rPr lang="en-US" sz="2200" i="1">
                                  <a:latin typeface="Cambria Math" panose="02040503050406030204" pitchFamily="18" charset="0"/>
                                </a:rPr>
                              </m:ctrlPr>
                            </m:fPr>
                            <m:num>
                              <m:r>
                                <m:rPr>
                                  <m:nor/>
                                </m:rPr>
                                <a:rPr lang="en-US" sz="2200">
                                  <a:latin typeface="Cambria Math" panose="02040503050406030204" pitchFamily="18" charset="0"/>
                                </a:rPr>
                                <m:t>1</m:t>
                              </m:r>
                            </m:num>
                            <m:den>
                              <m:rad>
                                <m:radPr>
                                  <m:degHide m:val="on"/>
                                  <m:ctrlPr>
                                    <a:rPr lang="en-US" sz="2200" i="1">
                                      <a:latin typeface="Cambria Math" panose="02040503050406030204" pitchFamily="18" charset="0"/>
                                    </a:rPr>
                                  </m:ctrlPr>
                                </m:radPr>
                                <m:deg/>
                                <m:e>
                                  <m:r>
                                    <m:rPr>
                                      <m:nor/>
                                    </m:rPr>
                                    <a:rPr lang="en-US" sz="2200">
                                      <a:latin typeface="Cambria Math" panose="02040503050406030204" pitchFamily="18" charset="0"/>
                                    </a:rPr>
                                    <m:t>2</m:t>
                                  </m:r>
                                </m:e>
                              </m:rad>
                            </m:den>
                          </m:f>
                          <m:d>
                            <m:dPr>
                              <m:ctrlPr>
                                <a:rPr lang="en-US" sz="2200" i="1">
                                  <a:latin typeface="Cambria Math" panose="02040503050406030204" pitchFamily="18" charset="0"/>
                                </a:rPr>
                              </m:ctrlPr>
                            </m:dPr>
                            <m:e>
                              <m:m>
                                <m:mPr>
                                  <m:plcHide m:val="on"/>
                                  <m:mcs>
                                    <m:mc>
                                      <m:mcPr>
                                        <m:count m:val="2"/>
                                        <m:mcJc m:val="center"/>
                                      </m:mcPr>
                                    </m:mc>
                                  </m:mcs>
                                  <m:ctrlPr>
                                    <a:rPr lang="en-US" sz="2200" i="1">
                                      <a:latin typeface="Cambria Math" panose="02040503050406030204" pitchFamily="18" charset="0"/>
                                    </a:rPr>
                                  </m:ctrlPr>
                                </m:mPr>
                                <m:mr>
                                  <m:e>
                                    <m:r>
                                      <m:rPr>
                                        <m:nor/>
                                      </m:rPr>
                                      <a:rPr lang="en-US" sz="2200">
                                        <a:latin typeface="Cambria Math" panose="02040503050406030204" pitchFamily="18" charset="0"/>
                                      </a:rPr>
                                      <m:t>1</m:t>
                                    </m:r>
                                  </m:e>
                                  <m:e>
                                    <m:r>
                                      <m:rPr>
                                        <m:nor/>
                                      </m:rPr>
                                      <a:rPr lang="en-US" sz="2200">
                                        <a:latin typeface="Cambria Math" panose="02040503050406030204" pitchFamily="18" charset="0"/>
                                      </a:rPr>
                                      <m:t>1</m:t>
                                    </m:r>
                                  </m:e>
                                </m:mr>
                                <m:mr>
                                  <m:e>
                                    <m:r>
                                      <m:rPr>
                                        <m:nor/>
                                      </m:rPr>
                                      <a:rPr lang="en-US" sz="2200">
                                        <a:latin typeface="Cambria Math" panose="02040503050406030204" pitchFamily="18" charset="0"/>
                                      </a:rPr>
                                      <m:t>1</m:t>
                                    </m:r>
                                  </m:e>
                                  <m:e>
                                    <m:r>
                                      <m:rPr>
                                        <m:nor/>
                                      </m:rPr>
                                      <a:rPr lang="en-US" sz="2200">
                                        <a:latin typeface="Cambria Math" panose="02040503050406030204" pitchFamily="18" charset="0"/>
                                      </a:rPr>
                                      <m:t>−1</m:t>
                                    </m:r>
                                  </m:e>
                                </m:mr>
                              </m:m>
                            </m:e>
                          </m:d>
                          <m:r>
                            <a:rPr lang="en-US" sz="2200" dirty="0">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rPr>
                              </m:ctrlPr>
                            </m:fPr>
                            <m:num>
                              <m:r>
                                <m:rPr>
                                  <m:nor/>
                                </m:rPr>
                                <a:rPr lang="en-US" sz="2200">
                                  <a:latin typeface="Cambria Math" panose="02040503050406030204" pitchFamily="18" charset="0"/>
                                </a:rPr>
                                <m:t>1</m:t>
                              </m:r>
                            </m:num>
                            <m:den>
                              <m:rad>
                                <m:radPr>
                                  <m:degHide m:val="on"/>
                                  <m:ctrlPr>
                                    <a:rPr lang="en-US" sz="2200" i="1">
                                      <a:latin typeface="Cambria Math" panose="02040503050406030204" pitchFamily="18" charset="0"/>
                                    </a:rPr>
                                  </m:ctrlPr>
                                </m:radPr>
                                <m:deg/>
                                <m:e>
                                  <m:r>
                                    <m:rPr>
                                      <m:nor/>
                                    </m:rPr>
                                    <a:rPr lang="en-US" sz="2200">
                                      <a:latin typeface="Cambria Math" panose="02040503050406030204" pitchFamily="18" charset="0"/>
                                    </a:rPr>
                                    <m:t>2</m:t>
                                  </m:r>
                                </m:e>
                              </m:rad>
                            </m:den>
                          </m:f>
                          <m:d>
                            <m:dPr>
                              <m:ctrlPr>
                                <a:rPr lang="en-US" sz="2200" i="1">
                                  <a:latin typeface="Cambria Math" panose="02040503050406030204" pitchFamily="18" charset="0"/>
                                </a:rPr>
                              </m:ctrlPr>
                            </m:dPr>
                            <m:e>
                              <m:m>
                                <m:mPr>
                                  <m:plcHide m:val="on"/>
                                  <m:mcs>
                                    <m:mc>
                                      <m:mcPr>
                                        <m:count m:val="2"/>
                                        <m:mcJc m:val="center"/>
                                      </m:mcPr>
                                    </m:mc>
                                  </m:mcs>
                                  <m:ctrlPr>
                                    <a:rPr lang="en-US" sz="2200" i="1">
                                      <a:latin typeface="Cambria Math" panose="02040503050406030204" pitchFamily="18" charset="0"/>
                                    </a:rPr>
                                  </m:ctrlPr>
                                </m:mPr>
                                <m:mr>
                                  <m:e>
                                    <m:r>
                                      <m:rPr>
                                        <m:nor/>
                                      </m:rPr>
                                      <a:rPr lang="en-US" sz="2200">
                                        <a:latin typeface="Cambria Math" panose="02040503050406030204" pitchFamily="18" charset="0"/>
                                      </a:rPr>
                                      <m:t>1</m:t>
                                    </m:r>
                                  </m:e>
                                  <m:e>
                                    <m:r>
                                      <m:rPr>
                                        <m:nor/>
                                      </m:rPr>
                                      <a:rPr lang="en-US" sz="2200">
                                        <a:latin typeface="Cambria Math" panose="02040503050406030204" pitchFamily="18" charset="0"/>
                                      </a:rPr>
                                      <m:t>1</m:t>
                                    </m:r>
                                  </m:e>
                                </m:mr>
                                <m:mr>
                                  <m:e>
                                    <m:r>
                                      <m:rPr>
                                        <m:nor/>
                                      </m:rPr>
                                      <a:rPr lang="en-US" sz="2200">
                                        <a:latin typeface="Cambria Math" panose="02040503050406030204" pitchFamily="18" charset="0"/>
                                      </a:rPr>
                                      <m:t>1</m:t>
                                    </m:r>
                                  </m:e>
                                  <m:e>
                                    <m:r>
                                      <m:rPr>
                                        <m:nor/>
                                      </m:rPr>
                                      <a:rPr lang="en-US" sz="2200">
                                        <a:latin typeface="Cambria Math" panose="02040503050406030204" pitchFamily="18" charset="0"/>
                                      </a:rPr>
                                      <m:t>−1</m:t>
                                    </m:r>
                                  </m:e>
                                </m:mr>
                              </m:m>
                            </m:e>
                          </m:d>
                        </m:e>
                      </m:d>
                      <m:d>
                        <m:dPr>
                          <m:ctrlPr>
                            <a:rPr lang="en-US" sz="2200" i="1">
                              <a:latin typeface="Cambria Math" panose="02040503050406030204" pitchFamily="18" charset="0"/>
                            </a:rPr>
                          </m:ctrlPr>
                        </m:dPr>
                        <m:e>
                          <m:m>
                            <m:mPr>
                              <m:plcHide m:val="on"/>
                              <m:mcs>
                                <m:mc>
                                  <m:mcPr>
                                    <m:count m:val="4"/>
                                    <m:mcJc m:val="center"/>
                                  </m:mcPr>
                                </m:mc>
                              </m:mcs>
                              <m:ctrlPr>
                                <a:rPr lang="en-US" sz="2200" i="1">
                                  <a:latin typeface="Cambria Math" panose="02040503050406030204" pitchFamily="18" charset="0"/>
                                </a:rPr>
                              </m:ctrlPr>
                            </m:mPr>
                            <m:mr>
                              <m:e>
                                <m:r>
                                  <a:rPr lang="en-US" sz="2200">
                                    <a:latin typeface="Cambria Math" panose="02040503050406030204" pitchFamily="18" charset="0"/>
                                  </a:rPr>
                                  <m:t>1</m:t>
                                </m:r>
                              </m:e>
                              <m:e>
                                <m:r>
                                  <a:rPr lang="en-US" sz="2200">
                                    <a:latin typeface="Cambria Math" panose="02040503050406030204" pitchFamily="18" charset="0"/>
                                  </a:rPr>
                                  <m:t>0</m:t>
                                </m:r>
                              </m:e>
                              <m:e>
                                <m:r>
                                  <a:rPr lang="en-US" sz="2200">
                                    <a:latin typeface="Cambria Math" panose="02040503050406030204" pitchFamily="18" charset="0"/>
                                  </a:rPr>
                                  <m:t>0</m:t>
                                </m:r>
                              </m:e>
                              <m:e>
                                <m:r>
                                  <a:rPr lang="en-US" sz="2200">
                                    <a:latin typeface="Cambria Math" panose="02040503050406030204" pitchFamily="18" charset="0"/>
                                  </a:rPr>
                                  <m:t>0</m:t>
                                </m:r>
                              </m:e>
                            </m:mr>
                            <m:mr>
                              <m:e>
                                <m:r>
                                  <a:rPr lang="en-US" sz="2200">
                                    <a:latin typeface="Cambria Math" panose="02040503050406030204" pitchFamily="18" charset="0"/>
                                  </a:rPr>
                                  <m:t>0</m:t>
                                </m:r>
                              </m:e>
                              <m:e>
                                <m:r>
                                  <a:rPr lang="sr-Latn-RS" sz="2200" b="0" i="0" smtClean="0">
                                    <a:latin typeface="Cambria Math" panose="02040503050406030204" pitchFamily="18" charset="0"/>
                                  </a:rPr>
                                  <m:t>0</m:t>
                                </m:r>
                              </m:e>
                              <m:e>
                                <m:r>
                                  <a:rPr lang="en-US" sz="2200">
                                    <a:latin typeface="Cambria Math" panose="02040503050406030204" pitchFamily="18" charset="0"/>
                                  </a:rPr>
                                  <m:t>0</m:t>
                                </m:r>
                              </m:e>
                              <m:e>
                                <m:r>
                                  <a:rPr lang="en-US" sz="2200">
                                    <a:latin typeface="Cambria Math" panose="02040503050406030204" pitchFamily="18" charset="0"/>
                                  </a:rPr>
                                  <m:t>1</m:t>
                                </m:r>
                              </m:e>
                            </m:mr>
                            <m:mr>
                              <m:e>
                                <m:r>
                                  <a:rPr lang="en-US" sz="2200">
                                    <a:latin typeface="Cambria Math" panose="02040503050406030204" pitchFamily="18" charset="0"/>
                                  </a:rPr>
                                  <m:t>0</m:t>
                                </m:r>
                              </m:e>
                              <m:e>
                                <m:r>
                                  <a:rPr lang="en-US" sz="2200">
                                    <a:latin typeface="Cambria Math" panose="02040503050406030204" pitchFamily="18" charset="0"/>
                                  </a:rPr>
                                  <m:t>0</m:t>
                                </m:r>
                              </m:e>
                              <m:e>
                                <m:r>
                                  <a:rPr lang="en-US" sz="2200">
                                    <a:latin typeface="Cambria Math" panose="02040503050406030204" pitchFamily="18" charset="0"/>
                                  </a:rPr>
                                  <m:t>1</m:t>
                                </m:r>
                              </m:e>
                              <m:e>
                                <m:r>
                                  <a:rPr lang="en-US" sz="2200">
                                    <a:latin typeface="Cambria Math" panose="02040503050406030204" pitchFamily="18" charset="0"/>
                                  </a:rPr>
                                  <m:t>0</m:t>
                                </m:r>
                              </m:e>
                            </m:mr>
                            <m:mr>
                              <m:e>
                                <m:r>
                                  <a:rPr lang="en-US" sz="2200">
                                    <a:latin typeface="Cambria Math" panose="02040503050406030204" pitchFamily="18" charset="0"/>
                                  </a:rPr>
                                  <m:t>0</m:t>
                                </m:r>
                              </m:e>
                              <m:e>
                                <m:r>
                                  <a:rPr lang="en-US" sz="2200">
                                    <a:latin typeface="Cambria Math" panose="02040503050406030204" pitchFamily="18" charset="0"/>
                                  </a:rPr>
                                  <m:t>1</m:t>
                                </m:r>
                              </m:e>
                              <m:e>
                                <m:r>
                                  <a:rPr lang="en-US" sz="2200">
                                    <a:latin typeface="Cambria Math" panose="02040503050406030204" pitchFamily="18" charset="0"/>
                                  </a:rPr>
                                  <m:t>0</m:t>
                                </m:r>
                              </m:e>
                              <m:e>
                                <m:r>
                                  <a:rPr lang="sr-Latn-RS" sz="2200" b="0" i="0" smtClean="0">
                                    <a:latin typeface="Cambria Math" panose="02040503050406030204" pitchFamily="18" charset="0"/>
                                  </a:rPr>
                                  <m:t>0</m:t>
                                </m:r>
                              </m:e>
                            </m:mr>
                          </m:m>
                        </m:e>
                      </m:d>
                      <m:r>
                        <a:rPr lang="sr-Latn-RS" sz="2200" b="0" i="1" smtClean="0">
                          <a:latin typeface="Cambria Math" panose="02040503050406030204" pitchFamily="18" charset="0"/>
                        </a:rPr>
                        <m:t>=</m:t>
                      </m:r>
                      <m:f>
                        <m:fPr>
                          <m:ctrlPr>
                            <a:rPr lang="sr-Latn-R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2</m:t>
                          </m:r>
                        </m:den>
                      </m:f>
                      <m:d>
                        <m:dPr>
                          <m:ctrlPr>
                            <a:rPr lang="en-US" sz="2200" i="1">
                              <a:latin typeface="Cambria Math" panose="02040503050406030204" pitchFamily="18" charset="0"/>
                            </a:rPr>
                          </m:ctrlPr>
                        </m:dPr>
                        <m:e>
                          <m:m>
                            <m:mPr>
                              <m:plcHide m:val="on"/>
                              <m:mcs>
                                <m:mc>
                                  <m:mcPr>
                                    <m:count m:val="4"/>
                                    <m:mcJc m:val="center"/>
                                  </m:mcPr>
                                </m:mc>
                              </m:mcs>
                              <m:ctrlPr>
                                <a:rPr lang="en-US" sz="2200" i="1">
                                  <a:latin typeface="Cambria Math" panose="02040503050406030204" pitchFamily="18" charset="0"/>
                                </a:rPr>
                              </m:ctrlPr>
                            </m:mPr>
                            <m:mr>
                              <m:e>
                                <m:r>
                                  <a:rPr lang="en-US" sz="2200">
                                    <a:latin typeface="Cambria Math" panose="02040503050406030204" pitchFamily="18" charset="0"/>
                                  </a:rPr>
                                  <m:t>1</m:t>
                                </m:r>
                              </m:e>
                              <m:e>
                                <m:r>
                                  <a:rPr lang="sr-Latn-RS" sz="2200" b="0" i="0" smtClean="0">
                                    <a:latin typeface="Cambria Math" panose="02040503050406030204" pitchFamily="18" charset="0"/>
                                  </a:rPr>
                                  <m:t>1</m:t>
                                </m:r>
                              </m:e>
                              <m:e>
                                <m:r>
                                  <a:rPr lang="sr-Latn-RS" sz="2200" b="0" i="0" smtClean="0">
                                    <a:latin typeface="Cambria Math" panose="02040503050406030204" pitchFamily="18" charset="0"/>
                                  </a:rPr>
                                  <m:t>1</m:t>
                                </m:r>
                              </m:e>
                              <m:e>
                                <m:r>
                                  <a:rPr lang="sr-Latn-RS" sz="2200" b="0" i="0" smtClean="0">
                                    <a:latin typeface="Cambria Math" panose="02040503050406030204" pitchFamily="18" charset="0"/>
                                  </a:rPr>
                                  <m:t>1</m:t>
                                </m:r>
                              </m:e>
                            </m:mr>
                            <m:mr>
                              <m:e>
                                <m:r>
                                  <a:rPr lang="sr-Latn-RS" sz="2200" b="0" i="0" smtClean="0">
                                    <a:latin typeface="Cambria Math" panose="02040503050406030204" pitchFamily="18" charset="0"/>
                                  </a:rPr>
                                  <m:t>1</m:t>
                                </m:r>
                              </m:e>
                              <m:e>
                                <m:r>
                                  <a:rPr lang="sr-Latn-RS" sz="2200" b="0" i="0" smtClean="0">
                                    <a:latin typeface="Cambria Math" panose="02040503050406030204" pitchFamily="18" charset="0"/>
                                  </a:rPr>
                                  <m:t>−1</m:t>
                                </m:r>
                              </m:e>
                              <m:e>
                                <m:r>
                                  <a:rPr lang="sr-Latn-RS" sz="2200" b="0" i="0" smtClean="0">
                                    <a:latin typeface="Cambria Math" panose="02040503050406030204" pitchFamily="18" charset="0"/>
                                  </a:rPr>
                                  <m:t>1</m:t>
                                </m:r>
                              </m:e>
                              <m:e>
                                <m:r>
                                  <a:rPr lang="sr-Latn-RS" sz="2200" b="0" i="1" smtClean="0">
                                    <a:latin typeface="Cambria Math" panose="02040503050406030204" pitchFamily="18" charset="0"/>
                                  </a:rPr>
                                  <m:t>−</m:t>
                                </m:r>
                                <m:r>
                                  <a:rPr lang="en-US" sz="2200">
                                    <a:latin typeface="Cambria Math" panose="02040503050406030204" pitchFamily="18" charset="0"/>
                                  </a:rPr>
                                  <m:t>1</m:t>
                                </m:r>
                              </m:e>
                            </m:mr>
                            <m:mr>
                              <m:e>
                                <m:r>
                                  <a:rPr lang="sr-Latn-RS" sz="2200" b="0" i="0" smtClean="0">
                                    <a:latin typeface="Cambria Math" panose="02040503050406030204" pitchFamily="18" charset="0"/>
                                  </a:rPr>
                                  <m:t>1</m:t>
                                </m:r>
                              </m:e>
                              <m:e>
                                <m:r>
                                  <a:rPr lang="sr-Latn-RS" sz="2200" b="0" i="1" smtClean="0">
                                    <a:latin typeface="Cambria Math" panose="02040503050406030204" pitchFamily="18" charset="0"/>
                                  </a:rPr>
                                  <m:t>−1</m:t>
                                </m:r>
                              </m:e>
                              <m:e>
                                <m:r>
                                  <a:rPr lang="sr-Latn-RS" sz="2200" b="0" i="0" smtClean="0">
                                    <a:latin typeface="Cambria Math" panose="02040503050406030204" pitchFamily="18" charset="0"/>
                                  </a:rPr>
                                  <m:t>−</m:t>
                                </m:r>
                                <m:r>
                                  <a:rPr lang="en-US" sz="2200">
                                    <a:latin typeface="Cambria Math" panose="02040503050406030204" pitchFamily="18" charset="0"/>
                                  </a:rPr>
                                  <m:t>1</m:t>
                                </m:r>
                              </m:e>
                              <m:e>
                                <m:r>
                                  <a:rPr lang="sr-Latn-RS" sz="2200" b="0" i="0" smtClean="0">
                                    <a:latin typeface="Cambria Math" panose="02040503050406030204" pitchFamily="18" charset="0"/>
                                  </a:rPr>
                                  <m:t>1</m:t>
                                </m:r>
                              </m:e>
                            </m:mr>
                            <m:mr>
                              <m:e>
                                <m:r>
                                  <a:rPr lang="sr-Latn-RS" sz="2200" b="0" i="0" smtClean="0">
                                    <a:latin typeface="Cambria Math" panose="02040503050406030204" pitchFamily="18" charset="0"/>
                                  </a:rPr>
                                  <m:t>1</m:t>
                                </m:r>
                              </m:e>
                              <m:e>
                                <m:r>
                                  <a:rPr lang="en-US" sz="2200">
                                    <a:latin typeface="Cambria Math" panose="02040503050406030204" pitchFamily="18" charset="0"/>
                                  </a:rPr>
                                  <m:t>1</m:t>
                                </m:r>
                              </m:e>
                              <m:e>
                                <m:r>
                                  <a:rPr lang="sr-Latn-RS" sz="2200" b="0" i="0" smtClean="0">
                                    <a:latin typeface="Cambria Math" panose="02040503050406030204" pitchFamily="18" charset="0"/>
                                  </a:rPr>
                                  <m:t>−1</m:t>
                                </m:r>
                              </m:e>
                              <m:e>
                                <m:r>
                                  <a:rPr lang="sr-Latn-RS" sz="2200" b="0" i="0" smtClean="0">
                                    <a:latin typeface="Cambria Math" panose="02040503050406030204" pitchFamily="18" charset="0"/>
                                  </a:rPr>
                                  <m:t>−1</m:t>
                                </m:r>
                              </m:e>
                            </m:mr>
                          </m:m>
                        </m:e>
                      </m:d>
                    </m:oMath>
                  </m:oMathPara>
                </a14:m>
                <a:endParaRPr lang="en-US" sz="2200" dirty="0"/>
              </a:p>
            </p:txBody>
          </p:sp>
        </mc:Choice>
        <mc:Fallback xmlns="">
          <p:sp>
            <p:nvSpPr>
              <p:cNvPr id="47" name="Rectangle 46">
                <a:extLst>
                  <a:ext uri="{FF2B5EF4-FFF2-40B4-BE49-F238E27FC236}">
                    <a16:creationId xmlns:a16="http://schemas.microsoft.com/office/drawing/2014/main" id="{66374A05-D288-5144-BCB5-413DC7D3D56B}"/>
                  </a:ext>
                </a:extLst>
              </p:cNvPr>
              <p:cNvSpPr>
                <a:spLocks noRot="1" noChangeAspect="1" noMove="1" noResize="1" noEditPoints="1" noAdjustHandles="1" noChangeArrowheads="1" noChangeShapeType="1" noTextEdit="1"/>
              </p:cNvSpPr>
              <p:nvPr/>
            </p:nvSpPr>
            <p:spPr>
              <a:xfrm>
                <a:off x="1789573" y="5318462"/>
                <a:ext cx="9099607" cy="1356975"/>
              </a:xfrm>
              <a:prstGeom prst="rect">
                <a:avLst/>
              </a:prstGeom>
              <a:blipFill>
                <a:blip r:embed="rId6"/>
                <a:stretch>
                  <a:fillRect b="-9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76A4AA1-629E-854C-977F-3957032F5664}"/>
                  </a:ext>
                </a:extLst>
              </p:cNvPr>
              <p:cNvSpPr/>
              <p:nvPr/>
            </p:nvSpPr>
            <p:spPr>
              <a:xfrm>
                <a:off x="4576026" y="3314311"/>
                <a:ext cx="64633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dirty="0">
                          <a:latin typeface="Cambria Math" panose="02040503050406030204" pitchFamily="18" charset="0"/>
                          <a:ea typeface="Cambria Math" panose="02040503050406030204" pitchFamily="18" charset="0"/>
                        </a:rPr>
                        <m:t>⊗</m:t>
                      </m:r>
                      <m:r>
                        <a:rPr lang="sr-Latn-RS" dirty="0">
                          <a:latin typeface="Cambria Math" panose="02040503050406030204" pitchFamily="18" charset="0"/>
                          <a:ea typeface="Cambria Math" panose="02040503050406030204" pitchFamily="18" charset="0"/>
                        </a:rPr>
                        <m:t>2</m:t>
                      </m:r>
                    </m:oMath>
                  </m:oMathPara>
                </a14:m>
                <a:endParaRPr lang="en-US" dirty="0"/>
              </a:p>
            </p:txBody>
          </p:sp>
        </mc:Choice>
        <mc:Fallback xmlns="">
          <p:sp>
            <p:nvSpPr>
              <p:cNvPr id="4" name="Rectangle 3">
                <a:extLst>
                  <a:ext uri="{FF2B5EF4-FFF2-40B4-BE49-F238E27FC236}">
                    <a16:creationId xmlns:a16="http://schemas.microsoft.com/office/drawing/2014/main" id="{B76A4AA1-629E-854C-977F-3957032F5664}"/>
                  </a:ext>
                </a:extLst>
              </p:cNvPr>
              <p:cNvSpPr>
                <a:spLocks noRot="1" noChangeAspect="1" noMove="1" noResize="1" noEditPoints="1" noAdjustHandles="1" noChangeArrowheads="1" noChangeShapeType="1" noTextEdit="1"/>
              </p:cNvSpPr>
              <p:nvPr/>
            </p:nvSpPr>
            <p:spPr>
              <a:xfrm>
                <a:off x="4576026" y="3314311"/>
                <a:ext cx="646331" cy="369332"/>
              </a:xfrm>
              <a:prstGeom prst="rect">
                <a:avLst/>
              </a:prstGeom>
              <a:blipFill>
                <a:blip r:embed="rId7"/>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E5BDB694-9316-6E40-9973-94A476948416}"/>
                  </a:ext>
                </a:extLst>
              </p:cNvPr>
              <p:cNvSpPr/>
              <p:nvPr/>
            </p:nvSpPr>
            <p:spPr>
              <a:xfrm>
                <a:off x="6926397" y="3283940"/>
                <a:ext cx="64633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dirty="0">
                          <a:latin typeface="Cambria Math" panose="02040503050406030204" pitchFamily="18" charset="0"/>
                          <a:ea typeface="Cambria Math" panose="02040503050406030204" pitchFamily="18" charset="0"/>
                        </a:rPr>
                        <m:t>⊗</m:t>
                      </m:r>
                      <m:r>
                        <a:rPr lang="sr-Latn-RS" dirty="0">
                          <a:latin typeface="Cambria Math" panose="02040503050406030204" pitchFamily="18" charset="0"/>
                          <a:ea typeface="Cambria Math" panose="02040503050406030204" pitchFamily="18" charset="0"/>
                        </a:rPr>
                        <m:t>2</m:t>
                      </m:r>
                    </m:oMath>
                  </m:oMathPara>
                </a14:m>
                <a:endParaRPr lang="en-US" dirty="0"/>
              </a:p>
            </p:txBody>
          </p:sp>
        </mc:Choice>
        <mc:Fallback xmlns="">
          <p:sp>
            <p:nvSpPr>
              <p:cNvPr id="28" name="Rectangle 27">
                <a:extLst>
                  <a:ext uri="{FF2B5EF4-FFF2-40B4-BE49-F238E27FC236}">
                    <a16:creationId xmlns:a16="http://schemas.microsoft.com/office/drawing/2014/main" id="{E5BDB694-9316-6E40-9973-94A476948416}"/>
                  </a:ext>
                </a:extLst>
              </p:cNvPr>
              <p:cNvSpPr>
                <a:spLocks noRot="1" noChangeAspect="1" noMove="1" noResize="1" noEditPoints="1" noAdjustHandles="1" noChangeArrowheads="1" noChangeShapeType="1" noTextEdit="1"/>
              </p:cNvSpPr>
              <p:nvPr/>
            </p:nvSpPr>
            <p:spPr>
              <a:xfrm>
                <a:off x="6926397" y="3283940"/>
                <a:ext cx="646331" cy="369332"/>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893075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5D42A-2532-4745-951F-1F1C5414E0E5}"/>
              </a:ext>
            </a:extLst>
          </p:cNvPr>
          <p:cNvSpPr>
            <a:spLocks noGrp="1"/>
          </p:cNvSpPr>
          <p:nvPr>
            <p:ph type="title"/>
          </p:nvPr>
        </p:nvSpPr>
        <p:spPr/>
        <p:txBody>
          <a:bodyPr/>
          <a:lstStyle/>
          <a:p>
            <a:r>
              <a:rPr lang="en-ZA" dirty="0"/>
              <a:t>How a Compiler Routes a CNOT</a:t>
            </a:r>
            <a:endParaRPr lang="en-US" dirty="0"/>
          </a:p>
        </p:txBody>
      </p:sp>
      <p:sp>
        <p:nvSpPr>
          <p:cNvPr id="3" name="Slide Number Placeholder 2">
            <a:extLst>
              <a:ext uri="{FF2B5EF4-FFF2-40B4-BE49-F238E27FC236}">
                <a16:creationId xmlns:a16="http://schemas.microsoft.com/office/drawing/2014/main" id="{CC272093-008E-674F-8898-9CBE20D17961}"/>
              </a:ext>
            </a:extLst>
          </p:cNvPr>
          <p:cNvSpPr>
            <a:spLocks noGrp="1"/>
          </p:cNvSpPr>
          <p:nvPr>
            <p:ph type="sldNum" sz="quarter" idx="12"/>
          </p:nvPr>
        </p:nvSpPr>
        <p:spPr/>
        <p:txBody>
          <a:bodyPr/>
          <a:lstStyle/>
          <a:p>
            <a:fld id="{591A223C-FA10-BC46-A853-03BA373D023C}" type="slidenum">
              <a:rPr lang="en-US" smtClean="0"/>
              <a:t>21</a:t>
            </a:fld>
            <a:endParaRPr lang="en-US"/>
          </a:p>
        </p:txBody>
      </p:sp>
      <p:cxnSp>
        <p:nvCxnSpPr>
          <p:cNvPr id="14" name="Straight Connector 13">
            <a:extLst>
              <a:ext uri="{FF2B5EF4-FFF2-40B4-BE49-F238E27FC236}">
                <a16:creationId xmlns:a16="http://schemas.microsoft.com/office/drawing/2014/main" id="{A8CB5473-F974-8642-AC1D-80DD1CE78642}"/>
              </a:ext>
            </a:extLst>
          </p:cNvPr>
          <p:cNvCxnSpPr>
            <a:cxnSpLocks/>
          </p:cNvCxnSpPr>
          <p:nvPr/>
        </p:nvCxnSpPr>
        <p:spPr>
          <a:xfrm>
            <a:off x="299277" y="1473852"/>
            <a:ext cx="15065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99425D7-D4BE-364A-A953-0C44ADB61471}"/>
              </a:ext>
            </a:extLst>
          </p:cNvPr>
          <p:cNvCxnSpPr>
            <a:cxnSpLocks/>
          </p:cNvCxnSpPr>
          <p:nvPr/>
        </p:nvCxnSpPr>
        <p:spPr>
          <a:xfrm>
            <a:off x="323834" y="3140735"/>
            <a:ext cx="15065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F91E85E-A93F-C647-B886-6C127A049882}"/>
              </a:ext>
            </a:extLst>
          </p:cNvPr>
          <p:cNvSpPr/>
          <p:nvPr/>
        </p:nvSpPr>
        <p:spPr>
          <a:xfrm rot="10800000" flipV="1">
            <a:off x="717771" y="2747218"/>
            <a:ext cx="669590" cy="6695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0" name="Oval 9">
            <a:extLst>
              <a:ext uri="{FF2B5EF4-FFF2-40B4-BE49-F238E27FC236}">
                <a16:creationId xmlns:a16="http://schemas.microsoft.com/office/drawing/2014/main" id="{56E28B34-D751-8948-A0FB-5C9C89492DC7}"/>
              </a:ext>
            </a:extLst>
          </p:cNvPr>
          <p:cNvSpPr/>
          <p:nvPr/>
        </p:nvSpPr>
        <p:spPr>
          <a:xfrm rot="10800000" flipV="1">
            <a:off x="935387" y="1358479"/>
            <a:ext cx="234355" cy="2343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1" name="Straight Connector 10">
            <a:extLst>
              <a:ext uri="{FF2B5EF4-FFF2-40B4-BE49-F238E27FC236}">
                <a16:creationId xmlns:a16="http://schemas.microsoft.com/office/drawing/2014/main" id="{A222A63C-0633-FB42-AE60-326846D26168}"/>
              </a:ext>
            </a:extLst>
          </p:cNvPr>
          <p:cNvCxnSpPr>
            <a:cxnSpLocks/>
            <a:stCxn id="10" idx="4"/>
            <a:endCxn id="9" idx="0"/>
          </p:cNvCxnSpPr>
          <p:nvPr/>
        </p:nvCxnSpPr>
        <p:spPr>
          <a:xfrm>
            <a:off x="1052564" y="1592834"/>
            <a:ext cx="2" cy="11543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8" name="Group 77">
            <a:extLst>
              <a:ext uri="{FF2B5EF4-FFF2-40B4-BE49-F238E27FC236}">
                <a16:creationId xmlns:a16="http://schemas.microsoft.com/office/drawing/2014/main" id="{6BA5C368-73BA-744E-B220-680374568697}"/>
              </a:ext>
            </a:extLst>
          </p:cNvPr>
          <p:cNvGrpSpPr/>
          <p:nvPr/>
        </p:nvGrpSpPr>
        <p:grpSpPr>
          <a:xfrm>
            <a:off x="-13832" y="1286167"/>
            <a:ext cx="11901033" cy="5125561"/>
            <a:chOff x="-13832" y="1286167"/>
            <a:chExt cx="11901033" cy="5125561"/>
          </a:xfrm>
        </p:grpSpPr>
        <p:grpSp>
          <p:nvGrpSpPr>
            <p:cNvPr id="76" name="Group 75">
              <a:extLst>
                <a:ext uri="{FF2B5EF4-FFF2-40B4-BE49-F238E27FC236}">
                  <a16:creationId xmlns:a16="http://schemas.microsoft.com/office/drawing/2014/main" id="{22461528-CD38-814A-93D9-E23878EACFC1}"/>
                </a:ext>
              </a:extLst>
            </p:cNvPr>
            <p:cNvGrpSpPr/>
            <p:nvPr/>
          </p:nvGrpSpPr>
          <p:grpSpPr>
            <a:xfrm>
              <a:off x="6973681" y="1286167"/>
              <a:ext cx="4913520" cy="2130641"/>
              <a:chOff x="6973681" y="1286167"/>
              <a:chExt cx="4913520" cy="2130641"/>
            </a:xfrm>
          </p:grpSpPr>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E4077CE9-E929-2C40-B147-20804EBD63F0}"/>
                      </a:ext>
                    </a:extLst>
                  </p:cNvPr>
                  <p:cNvSpPr/>
                  <p:nvPr/>
                </p:nvSpPr>
                <p:spPr>
                  <a:xfrm>
                    <a:off x="6973681" y="1962231"/>
                    <a:ext cx="589153" cy="6010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43" name="Rectangle 42">
                    <a:extLst>
                      <a:ext uri="{FF2B5EF4-FFF2-40B4-BE49-F238E27FC236}">
                        <a16:creationId xmlns:a16="http://schemas.microsoft.com/office/drawing/2014/main" id="{E4077CE9-E929-2C40-B147-20804EBD63F0}"/>
                      </a:ext>
                    </a:extLst>
                  </p:cNvPr>
                  <p:cNvSpPr>
                    <a:spLocks noRot="1" noChangeAspect="1" noMove="1" noResize="1" noEditPoints="1" noAdjustHandles="1" noChangeArrowheads="1" noChangeShapeType="1" noTextEdit="1"/>
                  </p:cNvSpPr>
                  <p:nvPr/>
                </p:nvSpPr>
                <p:spPr>
                  <a:xfrm>
                    <a:off x="6973681" y="1962231"/>
                    <a:ext cx="589153" cy="601079"/>
                  </a:xfrm>
                  <a:prstGeom prst="rect">
                    <a:avLst/>
                  </a:prstGeom>
                  <a:blipFill>
                    <a:blip r:embed="rId4"/>
                    <a:stretch>
                      <a:fillRect/>
                    </a:stretch>
                  </a:blipFill>
                </p:spPr>
                <p:txBody>
                  <a:bodyPr/>
                  <a:lstStyle/>
                  <a:p>
                    <a:r>
                      <a:rPr lang="en-US">
                        <a:noFill/>
                      </a:rPr>
                      <a:t> </a:t>
                    </a:r>
                  </a:p>
                </p:txBody>
              </p:sp>
            </mc:Fallback>
          </mc:AlternateContent>
          <p:grpSp>
            <p:nvGrpSpPr>
              <p:cNvPr id="66" name="Group 65">
                <a:extLst>
                  <a:ext uri="{FF2B5EF4-FFF2-40B4-BE49-F238E27FC236}">
                    <a16:creationId xmlns:a16="http://schemas.microsoft.com/office/drawing/2014/main" id="{E7B7C4D6-3843-4540-ACB9-D5BCF69E4BB4}"/>
                  </a:ext>
                </a:extLst>
              </p:cNvPr>
              <p:cNvGrpSpPr/>
              <p:nvPr/>
            </p:nvGrpSpPr>
            <p:grpSpPr>
              <a:xfrm>
                <a:off x="7677707" y="1286167"/>
                <a:ext cx="4209494" cy="2130641"/>
                <a:chOff x="8842531" y="1309556"/>
                <a:chExt cx="4526406" cy="2291047"/>
              </a:xfrm>
            </p:grpSpPr>
            <p:cxnSp>
              <p:nvCxnSpPr>
                <p:cNvPr id="44" name="Straight Connector 43">
                  <a:extLst>
                    <a:ext uri="{FF2B5EF4-FFF2-40B4-BE49-F238E27FC236}">
                      <a16:creationId xmlns:a16="http://schemas.microsoft.com/office/drawing/2014/main" id="{2FCD32FB-5F86-084F-9568-331B626AAEEB}"/>
                    </a:ext>
                  </a:extLst>
                </p:cNvPr>
                <p:cNvCxnSpPr>
                  <a:cxnSpLocks/>
                </p:cNvCxnSpPr>
                <p:nvPr/>
              </p:nvCxnSpPr>
              <p:spPr>
                <a:xfrm>
                  <a:off x="8842531" y="2379796"/>
                  <a:ext cx="45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02A7587-061B-2F44-9004-448761896160}"/>
                    </a:ext>
                  </a:extLst>
                </p:cNvPr>
                <p:cNvCxnSpPr>
                  <a:cxnSpLocks/>
                </p:cNvCxnSpPr>
                <p:nvPr/>
              </p:nvCxnSpPr>
              <p:spPr>
                <a:xfrm>
                  <a:off x="8842531" y="1485115"/>
                  <a:ext cx="45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556EB6F-A72E-154A-A277-74651E1EA42A}"/>
                    </a:ext>
                  </a:extLst>
                </p:cNvPr>
                <p:cNvCxnSpPr>
                  <a:cxnSpLocks/>
                </p:cNvCxnSpPr>
                <p:nvPr/>
              </p:nvCxnSpPr>
              <p:spPr>
                <a:xfrm>
                  <a:off x="8868937" y="3277490"/>
                  <a:ext cx="45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7" name="Group 46">
                  <a:extLst>
                    <a:ext uri="{FF2B5EF4-FFF2-40B4-BE49-F238E27FC236}">
                      <a16:creationId xmlns:a16="http://schemas.microsoft.com/office/drawing/2014/main" id="{BC43D701-EED5-F241-A0E4-D1964198F49F}"/>
                    </a:ext>
                  </a:extLst>
                </p:cNvPr>
                <p:cNvGrpSpPr/>
                <p:nvPr/>
              </p:nvGrpSpPr>
              <p:grpSpPr>
                <a:xfrm>
                  <a:off x="9331804" y="2243464"/>
                  <a:ext cx="720000" cy="1357139"/>
                  <a:chOff x="3871783" y="1363923"/>
                  <a:chExt cx="720000" cy="1357139"/>
                </a:xfrm>
              </p:grpSpPr>
              <p:sp>
                <p:nvSpPr>
                  <p:cNvPr id="48" name="Oval 47">
                    <a:extLst>
                      <a:ext uri="{FF2B5EF4-FFF2-40B4-BE49-F238E27FC236}">
                        <a16:creationId xmlns:a16="http://schemas.microsoft.com/office/drawing/2014/main" id="{E167A6A6-D286-E146-8E10-C6AC62B0B145}"/>
                      </a:ext>
                    </a:extLst>
                  </p:cNvPr>
                  <p:cNvSpPr/>
                  <p:nvPr/>
                </p:nvSpPr>
                <p:spPr>
                  <a:xfrm rot="10800000" flipV="1">
                    <a:off x="3871783" y="200106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49" name="Oval 48">
                    <a:extLst>
                      <a:ext uri="{FF2B5EF4-FFF2-40B4-BE49-F238E27FC236}">
                        <a16:creationId xmlns:a16="http://schemas.microsoft.com/office/drawing/2014/main" id="{42D19D72-4D64-1143-B1CF-04F214D77CDE}"/>
                      </a:ext>
                    </a:extLst>
                  </p:cNvPr>
                  <p:cNvSpPr/>
                  <p:nvPr/>
                </p:nvSpPr>
                <p:spPr>
                  <a:xfrm rot="10800000" flipV="1">
                    <a:off x="4097579" y="1363923"/>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50" name="Straight Connector 49">
                    <a:extLst>
                      <a:ext uri="{FF2B5EF4-FFF2-40B4-BE49-F238E27FC236}">
                        <a16:creationId xmlns:a16="http://schemas.microsoft.com/office/drawing/2014/main" id="{842E583D-5DA2-D749-A7E1-EE5FD177AA42}"/>
                      </a:ext>
                    </a:extLst>
                  </p:cNvPr>
                  <p:cNvCxnSpPr>
                    <a:cxnSpLocks/>
                    <a:stCxn id="49" idx="4"/>
                    <a:endCxn id="48" idx="0"/>
                  </p:cNvCxnSpPr>
                  <p:nvPr/>
                </p:nvCxnSpPr>
                <p:spPr>
                  <a:xfrm>
                    <a:off x="4223578" y="1615922"/>
                    <a:ext cx="8205" cy="3851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DC30B3C0-D7CD-3942-88DC-A8709D6189BE}"/>
                    </a:ext>
                  </a:extLst>
                </p:cNvPr>
                <p:cNvGrpSpPr/>
                <p:nvPr/>
              </p:nvGrpSpPr>
              <p:grpSpPr>
                <a:xfrm>
                  <a:off x="10298032" y="1380281"/>
                  <a:ext cx="720000" cy="1328015"/>
                  <a:chOff x="3863580" y="2249199"/>
                  <a:chExt cx="720000" cy="1328015"/>
                </a:xfrm>
              </p:grpSpPr>
              <p:sp>
                <p:nvSpPr>
                  <p:cNvPr id="52" name="Oval 51">
                    <a:extLst>
                      <a:ext uri="{FF2B5EF4-FFF2-40B4-BE49-F238E27FC236}">
                        <a16:creationId xmlns:a16="http://schemas.microsoft.com/office/drawing/2014/main" id="{FAE51029-D054-4B45-878E-9EB2B38EB639}"/>
                      </a:ext>
                    </a:extLst>
                  </p:cNvPr>
                  <p:cNvSpPr/>
                  <p:nvPr/>
                </p:nvSpPr>
                <p:spPr>
                  <a:xfrm rot="10800000" flipV="1">
                    <a:off x="3863580" y="285721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53" name="Oval 52">
                    <a:extLst>
                      <a:ext uri="{FF2B5EF4-FFF2-40B4-BE49-F238E27FC236}">
                        <a16:creationId xmlns:a16="http://schemas.microsoft.com/office/drawing/2014/main" id="{B67D1862-63F5-8E4E-8C93-89904DF0CE89}"/>
                      </a:ext>
                    </a:extLst>
                  </p:cNvPr>
                  <p:cNvSpPr/>
                  <p:nvPr/>
                </p:nvSpPr>
                <p:spPr>
                  <a:xfrm rot="10800000" flipV="1">
                    <a:off x="4105781" y="2249199"/>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54" name="Straight Connector 53">
                    <a:extLst>
                      <a:ext uri="{FF2B5EF4-FFF2-40B4-BE49-F238E27FC236}">
                        <a16:creationId xmlns:a16="http://schemas.microsoft.com/office/drawing/2014/main" id="{D68AE651-6B48-D645-83DB-14C5045386DA}"/>
                      </a:ext>
                    </a:extLst>
                  </p:cNvPr>
                  <p:cNvCxnSpPr>
                    <a:cxnSpLocks/>
                    <a:stCxn id="53" idx="4"/>
                    <a:endCxn id="52" idx="0"/>
                  </p:cNvCxnSpPr>
                  <p:nvPr/>
                </p:nvCxnSpPr>
                <p:spPr>
                  <a:xfrm flipH="1">
                    <a:off x="4223580" y="2501198"/>
                    <a:ext cx="8200" cy="3560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5B875F06-51C9-6049-BC3F-9961CD42D8EA}"/>
                    </a:ext>
                  </a:extLst>
                </p:cNvPr>
                <p:cNvGrpSpPr/>
                <p:nvPr/>
              </p:nvGrpSpPr>
              <p:grpSpPr>
                <a:xfrm>
                  <a:off x="11279833" y="2185069"/>
                  <a:ext cx="720000" cy="1378739"/>
                  <a:chOff x="3871780" y="1363923"/>
                  <a:chExt cx="720000" cy="1378739"/>
                </a:xfrm>
              </p:grpSpPr>
              <p:sp>
                <p:nvSpPr>
                  <p:cNvPr id="56" name="Oval 55">
                    <a:extLst>
                      <a:ext uri="{FF2B5EF4-FFF2-40B4-BE49-F238E27FC236}">
                        <a16:creationId xmlns:a16="http://schemas.microsoft.com/office/drawing/2014/main" id="{8A531502-DDEF-0341-AF7F-A4A3421FB612}"/>
                      </a:ext>
                    </a:extLst>
                  </p:cNvPr>
                  <p:cNvSpPr/>
                  <p:nvPr/>
                </p:nvSpPr>
                <p:spPr>
                  <a:xfrm rot="10800000" flipV="1">
                    <a:off x="3871780" y="202266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57" name="Oval 56">
                    <a:extLst>
                      <a:ext uri="{FF2B5EF4-FFF2-40B4-BE49-F238E27FC236}">
                        <a16:creationId xmlns:a16="http://schemas.microsoft.com/office/drawing/2014/main" id="{1E1BB8EC-9020-3C47-A8C3-772B6C875025}"/>
                      </a:ext>
                    </a:extLst>
                  </p:cNvPr>
                  <p:cNvSpPr/>
                  <p:nvPr/>
                </p:nvSpPr>
                <p:spPr>
                  <a:xfrm rot="10800000" flipV="1">
                    <a:off x="4097579" y="1363923"/>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58" name="Straight Connector 57">
                    <a:extLst>
                      <a:ext uri="{FF2B5EF4-FFF2-40B4-BE49-F238E27FC236}">
                        <a16:creationId xmlns:a16="http://schemas.microsoft.com/office/drawing/2014/main" id="{4B80A8B9-40C3-004B-A6B9-E1053A04A67E}"/>
                      </a:ext>
                    </a:extLst>
                  </p:cNvPr>
                  <p:cNvCxnSpPr>
                    <a:cxnSpLocks/>
                    <a:stCxn id="57" idx="4"/>
                    <a:endCxn id="56" idx="0"/>
                  </p:cNvCxnSpPr>
                  <p:nvPr/>
                </p:nvCxnSpPr>
                <p:spPr>
                  <a:xfrm>
                    <a:off x="4223578" y="1615922"/>
                    <a:ext cx="8202" cy="4067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D0C7BECF-17A4-ED4A-B444-5F662B4FC84F}"/>
                    </a:ext>
                  </a:extLst>
                </p:cNvPr>
                <p:cNvGrpSpPr/>
                <p:nvPr/>
              </p:nvGrpSpPr>
              <p:grpSpPr>
                <a:xfrm>
                  <a:off x="12253432" y="1309556"/>
                  <a:ext cx="720000" cy="1330882"/>
                  <a:chOff x="3863580" y="2246332"/>
                  <a:chExt cx="720000" cy="1330882"/>
                </a:xfrm>
              </p:grpSpPr>
              <p:sp>
                <p:nvSpPr>
                  <p:cNvPr id="60" name="Oval 59">
                    <a:extLst>
                      <a:ext uri="{FF2B5EF4-FFF2-40B4-BE49-F238E27FC236}">
                        <a16:creationId xmlns:a16="http://schemas.microsoft.com/office/drawing/2014/main" id="{7612DDD9-DFC6-7A4C-BFE1-A9F17D4F3F02}"/>
                      </a:ext>
                    </a:extLst>
                  </p:cNvPr>
                  <p:cNvSpPr/>
                  <p:nvPr/>
                </p:nvSpPr>
                <p:spPr>
                  <a:xfrm rot="10800000" flipV="1">
                    <a:off x="3863580" y="285721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61" name="Oval 60">
                    <a:extLst>
                      <a:ext uri="{FF2B5EF4-FFF2-40B4-BE49-F238E27FC236}">
                        <a16:creationId xmlns:a16="http://schemas.microsoft.com/office/drawing/2014/main" id="{1B6DC0A9-6E83-C944-A3D4-23EEC5BC9106}"/>
                      </a:ext>
                    </a:extLst>
                  </p:cNvPr>
                  <p:cNvSpPr/>
                  <p:nvPr/>
                </p:nvSpPr>
                <p:spPr>
                  <a:xfrm rot="10800000" flipV="1">
                    <a:off x="4097580" y="2246332"/>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62" name="Straight Connector 61">
                    <a:extLst>
                      <a:ext uri="{FF2B5EF4-FFF2-40B4-BE49-F238E27FC236}">
                        <a16:creationId xmlns:a16="http://schemas.microsoft.com/office/drawing/2014/main" id="{9207E54A-ED38-7F4C-A8C0-349B46B3CE00}"/>
                      </a:ext>
                    </a:extLst>
                  </p:cNvPr>
                  <p:cNvCxnSpPr>
                    <a:cxnSpLocks/>
                    <a:stCxn id="61" idx="4"/>
                    <a:endCxn id="60" idx="0"/>
                  </p:cNvCxnSpPr>
                  <p:nvPr/>
                </p:nvCxnSpPr>
                <p:spPr>
                  <a:xfrm>
                    <a:off x="4223579" y="2498331"/>
                    <a:ext cx="1" cy="35888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E5A7C6B6-8468-874D-9820-4909791F679A}"/>
                    </a:ext>
                  </a:extLst>
                </p:cNvPr>
                <p:cNvSpPr/>
                <p:nvPr/>
              </p:nvSpPr>
              <p:spPr>
                <a:xfrm>
                  <a:off x="-13832" y="5888508"/>
                  <a:ext cx="11644791" cy="523220"/>
                </a:xfrm>
                <a:prstGeom prst="rect">
                  <a:avLst/>
                </a:prstGeom>
              </p:spPr>
              <p:txBody>
                <a:bodyPr wrap="none">
                  <a:spAutoFit/>
                </a:bodyPr>
                <a:lstStyle/>
                <a:p>
                  <a14:m>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𝐶𝐴𝑇</m:t>
                          </m:r>
                        </m:e>
                      </m:d>
                      <m:r>
                        <a:rPr lang="sr-Latn-RS" sz="2800" i="1" smtClean="0">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𝐶</m:t>
                          </m:r>
                          <m:r>
                            <a:rPr lang="en-US" sz="2800" b="0" i="1" smtClean="0">
                              <a:latin typeface="Cambria Math" panose="02040503050406030204" pitchFamily="18" charset="0"/>
                            </a:rPr>
                            <m:t>𝐴</m:t>
                          </m:r>
                        </m:e>
                      </m:d>
                    </m:oMath>
                  </a14:m>
                  <a:r>
                    <a:rPr lang="en-US" sz="2800" dirty="0"/>
                    <a:t> </a:t>
                  </a:r>
                  <a14:m>
                    <m:oMath xmlns:m="http://schemas.openxmlformats.org/officeDocument/2006/math">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𝐴</m:t>
                          </m:r>
                          <m:r>
                            <a:rPr lang="en-US" sz="2800" i="1" smtClean="0">
                              <a:latin typeface="Cambria Math" panose="02040503050406030204" pitchFamily="18" charset="0"/>
                              <a:ea typeface="Cambria Math" panose="02040503050406030204" pitchFamily="18" charset="0"/>
                            </a:rPr>
                            <m:t>⨁</m:t>
                          </m:r>
                          <m:r>
                            <a:rPr lang="en-US" sz="2800" i="1">
                              <a:latin typeface="Cambria Math" panose="02040503050406030204" pitchFamily="18" charset="0"/>
                            </a:rPr>
                            <m:t>𝑇</m:t>
                          </m:r>
                        </m:e>
                      </m:d>
                      <m:r>
                        <a:rPr lang="sr-Latn-RS" sz="2800" i="1">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𝐶</m:t>
                          </m:r>
                        </m:e>
                      </m:d>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𝐴</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𝐶</m:t>
                          </m:r>
                        </m:e>
                      </m:d>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𝐴</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𝑇</m:t>
                          </m:r>
                        </m:e>
                      </m:d>
                      <m:r>
                        <a:rPr lang="sr-Latn-RS" sz="2800" i="1">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𝐶</m:t>
                          </m:r>
                        </m:e>
                      </m:d>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𝐴</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𝐶</m:t>
                          </m:r>
                        </m:e>
                      </m:d>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𝐶</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𝑇</m:t>
                          </m:r>
                        </m:e>
                      </m:d>
                      <m:r>
                        <a:rPr lang="sr-Latn-RS" sz="2800" i="1">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𝐶𝐴</m:t>
                          </m:r>
                        </m:e>
                      </m:d>
                      <m:r>
                        <m:rPr>
                          <m:nor/>
                        </m:rPr>
                        <a:rPr lang="en-US" sz="2800" dirty="0"/>
                        <m:t> </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𝐶</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𝑇</m:t>
                          </m:r>
                        </m:e>
                      </m:d>
                    </m:oMath>
                  </a14:m>
                  <a:endParaRPr lang="en-US" sz="2800" dirty="0"/>
                </a:p>
              </p:txBody>
            </p:sp>
          </mc:Choice>
          <mc:Fallback xmlns="">
            <p:sp>
              <p:nvSpPr>
                <p:cNvPr id="74" name="Rectangle 73">
                  <a:extLst>
                    <a:ext uri="{FF2B5EF4-FFF2-40B4-BE49-F238E27FC236}">
                      <a16:creationId xmlns:a16="http://schemas.microsoft.com/office/drawing/2014/main" id="{E5A7C6B6-8468-874D-9820-4909791F679A}"/>
                    </a:ext>
                  </a:extLst>
                </p:cNvPr>
                <p:cNvSpPr>
                  <a:spLocks noRot="1" noChangeAspect="1" noMove="1" noResize="1" noEditPoints="1" noAdjustHandles="1" noChangeArrowheads="1" noChangeShapeType="1" noTextEdit="1"/>
                </p:cNvSpPr>
                <p:nvPr/>
              </p:nvSpPr>
              <p:spPr>
                <a:xfrm>
                  <a:off x="-13832" y="5888508"/>
                  <a:ext cx="11644791" cy="523220"/>
                </a:xfrm>
                <a:prstGeom prst="rect">
                  <a:avLst/>
                </a:prstGeom>
                <a:blipFill>
                  <a:blip r:embed="rId5"/>
                  <a:stretch>
                    <a:fillRect t="-9524" b="-23810"/>
                  </a:stretch>
                </a:blipFill>
              </p:spPr>
              <p:txBody>
                <a:bodyPr/>
                <a:lstStyle/>
                <a:p>
                  <a:r>
                    <a:rPr lang="en-US">
                      <a:noFill/>
                    </a:rPr>
                    <a:t> </a:t>
                  </a:r>
                </a:p>
              </p:txBody>
            </p:sp>
          </mc:Fallback>
        </mc:AlternateContent>
      </p:grpSp>
      <p:grpSp>
        <p:nvGrpSpPr>
          <p:cNvPr id="80" name="Group 79">
            <a:extLst>
              <a:ext uri="{FF2B5EF4-FFF2-40B4-BE49-F238E27FC236}">
                <a16:creationId xmlns:a16="http://schemas.microsoft.com/office/drawing/2014/main" id="{35528908-1469-FC42-8469-194C934DC313}"/>
              </a:ext>
            </a:extLst>
          </p:cNvPr>
          <p:cNvGrpSpPr/>
          <p:nvPr/>
        </p:nvGrpSpPr>
        <p:grpSpPr>
          <a:xfrm>
            <a:off x="-88412" y="1341449"/>
            <a:ext cx="12319265" cy="4374562"/>
            <a:chOff x="-88412" y="1341449"/>
            <a:chExt cx="12319265" cy="4374562"/>
          </a:xfrm>
        </p:grpSpPr>
        <p:grpSp>
          <p:nvGrpSpPr>
            <p:cNvPr id="77" name="Group 76">
              <a:extLst>
                <a:ext uri="{FF2B5EF4-FFF2-40B4-BE49-F238E27FC236}">
                  <a16:creationId xmlns:a16="http://schemas.microsoft.com/office/drawing/2014/main" id="{3A332667-266A-9349-A931-C8434F0E6B2C}"/>
                </a:ext>
              </a:extLst>
            </p:cNvPr>
            <p:cNvGrpSpPr/>
            <p:nvPr/>
          </p:nvGrpSpPr>
          <p:grpSpPr>
            <a:xfrm>
              <a:off x="-38853" y="1341449"/>
              <a:ext cx="12269706" cy="4374562"/>
              <a:chOff x="-38853" y="1341449"/>
              <a:chExt cx="12269706" cy="4374562"/>
            </a:xfrm>
          </p:grpSpPr>
          <p:grpSp>
            <p:nvGrpSpPr>
              <p:cNvPr id="75" name="Group 74">
                <a:extLst>
                  <a:ext uri="{FF2B5EF4-FFF2-40B4-BE49-F238E27FC236}">
                    <a16:creationId xmlns:a16="http://schemas.microsoft.com/office/drawing/2014/main" id="{6A503B87-7FE1-1542-B4B1-91243BB91C6F}"/>
                  </a:ext>
                </a:extLst>
              </p:cNvPr>
              <p:cNvGrpSpPr/>
              <p:nvPr/>
            </p:nvGrpSpPr>
            <p:grpSpPr>
              <a:xfrm>
                <a:off x="1945286" y="1341449"/>
                <a:ext cx="4913521" cy="2058329"/>
                <a:chOff x="1945286" y="1341449"/>
                <a:chExt cx="4913521" cy="2058329"/>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6BD4258F-F9FD-154F-90B1-86E9C56818B7}"/>
                        </a:ext>
                      </a:extLst>
                    </p:cNvPr>
                    <p:cNvSpPr/>
                    <p:nvPr/>
                  </p:nvSpPr>
                  <p:spPr>
                    <a:xfrm>
                      <a:off x="1945286" y="1985264"/>
                      <a:ext cx="589153" cy="6010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4" name="Rectangle 3">
                      <a:extLst>
                        <a:ext uri="{FF2B5EF4-FFF2-40B4-BE49-F238E27FC236}">
                          <a16:creationId xmlns:a16="http://schemas.microsoft.com/office/drawing/2014/main" id="{6BD4258F-F9FD-154F-90B1-86E9C56818B7}"/>
                        </a:ext>
                      </a:extLst>
                    </p:cNvPr>
                    <p:cNvSpPr>
                      <a:spLocks noRot="1" noChangeAspect="1" noMove="1" noResize="1" noEditPoints="1" noAdjustHandles="1" noChangeArrowheads="1" noChangeShapeType="1" noTextEdit="1"/>
                    </p:cNvSpPr>
                    <p:nvPr/>
                  </p:nvSpPr>
                  <p:spPr>
                    <a:xfrm>
                      <a:off x="1945286" y="1985264"/>
                      <a:ext cx="589153" cy="601079"/>
                    </a:xfrm>
                    <a:prstGeom prst="rect">
                      <a:avLst/>
                    </a:prstGeom>
                    <a:blipFill>
                      <a:blip r:embed="rId6"/>
                      <a:stretch>
                        <a:fillRect/>
                      </a:stretch>
                    </a:blipFill>
                  </p:spPr>
                  <p:txBody>
                    <a:bodyPr/>
                    <a:lstStyle/>
                    <a:p>
                      <a:r>
                        <a:rPr lang="en-US">
                          <a:noFill/>
                        </a:rPr>
                        <a:t> </a:t>
                      </a:r>
                    </a:p>
                  </p:txBody>
                </p:sp>
              </mc:Fallback>
            </mc:AlternateContent>
            <p:grpSp>
              <p:nvGrpSpPr>
                <p:cNvPr id="65" name="Group 64">
                  <a:extLst>
                    <a:ext uri="{FF2B5EF4-FFF2-40B4-BE49-F238E27FC236}">
                      <a16:creationId xmlns:a16="http://schemas.microsoft.com/office/drawing/2014/main" id="{EDC2373D-7A2B-574F-B2CC-6698AFAFA89E}"/>
                    </a:ext>
                  </a:extLst>
                </p:cNvPr>
                <p:cNvGrpSpPr/>
                <p:nvPr/>
              </p:nvGrpSpPr>
              <p:grpSpPr>
                <a:xfrm>
                  <a:off x="2649313" y="1341449"/>
                  <a:ext cx="4209494" cy="2058329"/>
                  <a:chOff x="3413579" y="1363923"/>
                  <a:chExt cx="4526406" cy="2213291"/>
                </a:xfrm>
              </p:grpSpPr>
              <p:cxnSp>
                <p:nvCxnSpPr>
                  <p:cNvPr id="21" name="Straight Connector 20">
                    <a:extLst>
                      <a:ext uri="{FF2B5EF4-FFF2-40B4-BE49-F238E27FC236}">
                        <a16:creationId xmlns:a16="http://schemas.microsoft.com/office/drawing/2014/main" id="{9B6F7D5B-628C-104D-997B-24E8767B34A3}"/>
                      </a:ext>
                    </a:extLst>
                  </p:cNvPr>
                  <p:cNvCxnSpPr>
                    <a:cxnSpLocks/>
                  </p:cNvCxnSpPr>
                  <p:nvPr/>
                </p:nvCxnSpPr>
                <p:spPr>
                  <a:xfrm>
                    <a:off x="3413579" y="2382663"/>
                    <a:ext cx="45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05B5FFF-B29D-334C-B4D1-431B8EA3A2A5}"/>
                      </a:ext>
                    </a:extLst>
                  </p:cNvPr>
                  <p:cNvCxnSpPr>
                    <a:cxnSpLocks/>
                  </p:cNvCxnSpPr>
                  <p:nvPr/>
                </p:nvCxnSpPr>
                <p:spPr>
                  <a:xfrm>
                    <a:off x="3413579" y="1487982"/>
                    <a:ext cx="45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A218D78-0D53-4B42-8411-ECF207447C42}"/>
                      </a:ext>
                    </a:extLst>
                  </p:cNvPr>
                  <p:cNvCxnSpPr>
                    <a:cxnSpLocks/>
                  </p:cNvCxnSpPr>
                  <p:nvPr/>
                </p:nvCxnSpPr>
                <p:spPr>
                  <a:xfrm>
                    <a:off x="3439985" y="3280357"/>
                    <a:ext cx="45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95E9B807-F654-5044-8376-34DAC98ED218}"/>
                      </a:ext>
                    </a:extLst>
                  </p:cNvPr>
                  <p:cNvGrpSpPr/>
                  <p:nvPr/>
                </p:nvGrpSpPr>
                <p:grpSpPr>
                  <a:xfrm>
                    <a:off x="3871783" y="1363923"/>
                    <a:ext cx="720000" cy="1357139"/>
                    <a:chOff x="3871783" y="1363923"/>
                    <a:chExt cx="720000" cy="1357139"/>
                  </a:xfrm>
                </p:grpSpPr>
                <p:sp>
                  <p:nvSpPr>
                    <p:cNvPr id="22" name="Oval 21">
                      <a:extLst>
                        <a:ext uri="{FF2B5EF4-FFF2-40B4-BE49-F238E27FC236}">
                          <a16:creationId xmlns:a16="http://schemas.microsoft.com/office/drawing/2014/main" id="{F5E058E6-35A8-4F45-8600-A8E24D75DDAB}"/>
                        </a:ext>
                      </a:extLst>
                    </p:cNvPr>
                    <p:cNvSpPr/>
                    <p:nvPr/>
                  </p:nvSpPr>
                  <p:spPr>
                    <a:xfrm rot="10800000" flipV="1">
                      <a:off x="3871783" y="200106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3" name="Oval 22">
                      <a:extLst>
                        <a:ext uri="{FF2B5EF4-FFF2-40B4-BE49-F238E27FC236}">
                          <a16:creationId xmlns:a16="http://schemas.microsoft.com/office/drawing/2014/main" id="{3350E464-474C-B546-8C98-3289D5C87291}"/>
                        </a:ext>
                      </a:extLst>
                    </p:cNvPr>
                    <p:cNvSpPr/>
                    <p:nvPr/>
                  </p:nvSpPr>
                  <p:spPr>
                    <a:xfrm rot="10800000" flipV="1">
                      <a:off x="4097579" y="1363923"/>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4" name="Straight Connector 23">
                      <a:extLst>
                        <a:ext uri="{FF2B5EF4-FFF2-40B4-BE49-F238E27FC236}">
                          <a16:creationId xmlns:a16="http://schemas.microsoft.com/office/drawing/2014/main" id="{8326B480-3006-4842-8F03-76FB7F356F9D}"/>
                        </a:ext>
                      </a:extLst>
                    </p:cNvPr>
                    <p:cNvCxnSpPr>
                      <a:cxnSpLocks/>
                      <a:stCxn id="23" idx="4"/>
                      <a:endCxn id="22" idx="0"/>
                    </p:cNvCxnSpPr>
                    <p:nvPr/>
                  </p:nvCxnSpPr>
                  <p:spPr>
                    <a:xfrm>
                      <a:off x="4223578" y="1615922"/>
                      <a:ext cx="8205" cy="3851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E0F68374-24E7-4449-B04F-CA2C795C1A53}"/>
                      </a:ext>
                    </a:extLst>
                  </p:cNvPr>
                  <p:cNvGrpSpPr/>
                  <p:nvPr/>
                </p:nvGrpSpPr>
                <p:grpSpPr>
                  <a:xfrm>
                    <a:off x="4853579" y="2249199"/>
                    <a:ext cx="720000" cy="1328015"/>
                    <a:chOff x="3863580" y="2249199"/>
                    <a:chExt cx="720000" cy="1328015"/>
                  </a:xfrm>
                </p:grpSpPr>
                <p:sp>
                  <p:nvSpPr>
                    <p:cNvPr id="28" name="Oval 27">
                      <a:extLst>
                        <a:ext uri="{FF2B5EF4-FFF2-40B4-BE49-F238E27FC236}">
                          <a16:creationId xmlns:a16="http://schemas.microsoft.com/office/drawing/2014/main" id="{95DAF50C-73C6-3F40-8CCD-3D881525A4E1}"/>
                        </a:ext>
                      </a:extLst>
                    </p:cNvPr>
                    <p:cNvSpPr/>
                    <p:nvPr/>
                  </p:nvSpPr>
                  <p:spPr>
                    <a:xfrm rot="10800000" flipV="1">
                      <a:off x="3863580" y="285721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9" name="Oval 28">
                      <a:extLst>
                        <a:ext uri="{FF2B5EF4-FFF2-40B4-BE49-F238E27FC236}">
                          <a16:creationId xmlns:a16="http://schemas.microsoft.com/office/drawing/2014/main" id="{E4709FF8-3372-7647-95C2-84D2409D5FEC}"/>
                        </a:ext>
                      </a:extLst>
                    </p:cNvPr>
                    <p:cNvSpPr/>
                    <p:nvPr/>
                  </p:nvSpPr>
                  <p:spPr>
                    <a:xfrm rot="10800000" flipV="1">
                      <a:off x="4105781" y="2249199"/>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0" name="Straight Connector 29">
                      <a:extLst>
                        <a:ext uri="{FF2B5EF4-FFF2-40B4-BE49-F238E27FC236}">
                          <a16:creationId xmlns:a16="http://schemas.microsoft.com/office/drawing/2014/main" id="{1705C5B7-ACA9-EA45-B226-F6620C3EFA56}"/>
                        </a:ext>
                      </a:extLst>
                    </p:cNvPr>
                    <p:cNvCxnSpPr>
                      <a:cxnSpLocks/>
                      <a:stCxn id="29" idx="4"/>
                      <a:endCxn id="28" idx="0"/>
                    </p:cNvCxnSpPr>
                    <p:nvPr/>
                  </p:nvCxnSpPr>
                  <p:spPr>
                    <a:xfrm flipH="1">
                      <a:off x="4223580" y="2501198"/>
                      <a:ext cx="8200" cy="3560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65B3DB57-37B7-4B4E-A581-1ABCEB88C241}"/>
                      </a:ext>
                    </a:extLst>
                  </p:cNvPr>
                  <p:cNvGrpSpPr/>
                  <p:nvPr/>
                </p:nvGrpSpPr>
                <p:grpSpPr>
                  <a:xfrm>
                    <a:off x="5851778" y="1363923"/>
                    <a:ext cx="720000" cy="1378739"/>
                    <a:chOff x="3871780" y="1363923"/>
                    <a:chExt cx="720000" cy="1378739"/>
                  </a:xfrm>
                </p:grpSpPr>
                <p:sp>
                  <p:nvSpPr>
                    <p:cNvPr id="32" name="Oval 31">
                      <a:extLst>
                        <a:ext uri="{FF2B5EF4-FFF2-40B4-BE49-F238E27FC236}">
                          <a16:creationId xmlns:a16="http://schemas.microsoft.com/office/drawing/2014/main" id="{78A8393F-EA13-8446-8404-7F28E2D2A128}"/>
                        </a:ext>
                      </a:extLst>
                    </p:cNvPr>
                    <p:cNvSpPr/>
                    <p:nvPr/>
                  </p:nvSpPr>
                  <p:spPr>
                    <a:xfrm rot="10800000" flipV="1">
                      <a:off x="3871780" y="202266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3" name="Oval 32">
                      <a:extLst>
                        <a:ext uri="{FF2B5EF4-FFF2-40B4-BE49-F238E27FC236}">
                          <a16:creationId xmlns:a16="http://schemas.microsoft.com/office/drawing/2014/main" id="{387B57CF-4F88-ED4A-8CB3-CE7F8E6841FD}"/>
                        </a:ext>
                      </a:extLst>
                    </p:cNvPr>
                    <p:cNvSpPr/>
                    <p:nvPr/>
                  </p:nvSpPr>
                  <p:spPr>
                    <a:xfrm rot="10800000" flipV="1">
                      <a:off x="4097579" y="1363923"/>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4" name="Straight Connector 33">
                      <a:extLst>
                        <a:ext uri="{FF2B5EF4-FFF2-40B4-BE49-F238E27FC236}">
                          <a16:creationId xmlns:a16="http://schemas.microsoft.com/office/drawing/2014/main" id="{8457B40A-6E23-5D40-BA8C-7940419E8B07}"/>
                        </a:ext>
                      </a:extLst>
                    </p:cNvPr>
                    <p:cNvCxnSpPr>
                      <a:cxnSpLocks/>
                      <a:stCxn id="33" idx="4"/>
                      <a:endCxn id="32" idx="0"/>
                    </p:cNvCxnSpPr>
                    <p:nvPr/>
                  </p:nvCxnSpPr>
                  <p:spPr>
                    <a:xfrm>
                      <a:off x="4223578" y="1615922"/>
                      <a:ext cx="8202" cy="4067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4F9D140D-C0AD-8644-B173-E810BCD03C4F}"/>
                      </a:ext>
                    </a:extLst>
                  </p:cNvPr>
                  <p:cNvGrpSpPr/>
                  <p:nvPr/>
                </p:nvGrpSpPr>
                <p:grpSpPr>
                  <a:xfrm>
                    <a:off x="6833577" y="2246332"/>
                    <a:ext cx="720000" cy="1330882"/>
                    <a:chOff x="3863580" y="2246332"/>
                    <a:chExt cx="720000" cy="1330882"/>
                  </a:xfrm>
                </p:grpSpPr>
                <p:sp>
                  <p:nvSpPr>
                    <p:cNvPr id="36" name="Oval 35">
                      <a:extLst>
                        <a:ext uri="{FF2B5EF4-FFF2-40B4-BE49-F238E27FC236}">
                          <a16:creationId xmlns:a16="http://schemas.microsoft.com/office/drawing/2014/main" id="{D10C0156-26B8-6143-A297-08C8590CA0A6}"/>
                        </a:ext>
                      </a:extLst>
                    </p:cNvPr>
                    <p:cNvSpPr/>
                    <p:nvPr/>
                  </p:nvSpPr>
                  <p:spPr>
                    <a:xfrm rot="10800000" flipV="1">
                      <a:off x="3863580" y="285721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7" name="Oval 36">
                      <a:extLst>
                        <a:ext uri="{FF2B5EF4-FFF2-40B4-BE49-F238E27FC236}">
                          <a16:creationId xmlns:a16="http://schemas.microsoft.com/office/drawing/2014/main" id="{80E897EE-3C1F-B44A-A5E8-2F7F549D00E0}"/>
                        </a:ext>
                      </a:extLst>
                    </p:cNvPr>
                    <p:cNvSpPr/>
                    <p:nvPr/>
                  </p:nvSpPr>
                  <p:spPr>
                    <a:xfrm rot="10800000" flipV="1">
                      <a:off x="4097580" y="2246332"/>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8" name="Straight Connector 37">
                      <a:extLst>
                        <a:ext uri="{FF2B5EF4-FFF2-40B4-BE49-F238E27FC236}">
                          <a16:creationId xmlns:a16="http://schemas.microsoft.com/office/drawing/2014/main" id="{4D01656D-0807-BF4F-BAA2-2BE7A5C8AB2F}"/>
                        </a:ext>
                      </a:extLst>
                    </p:cNvPr>
                    <p:cNvCxnSpPr>
                      <a:cxnSpLocks/>
                      <a:stCxn id="37" idx="4"/>
                      <a:endCxn id="36" idx="0"/>
                    </p:cNvCxnSpPr>
                    <p:nvPr/>
                  </p:nvCxnSpPr>
                  <p:spPr>
                    <a:xfrm>
                      <a:off x="4223579" y="2498331"/>
                      <a:ext cx="1" cy="35888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A3F34869-6E4C-E648-8893-4B85B6AFD8C1}"/>
                      </a:ext>
                    </a:extLst>
                  </p:cNvPr>
                  <p:cNvSpPr/>
                  <p:nvPr/>
                </p:nvSpPr>
                <p:spPr>
                  <a:xfrm>
                    <a:off x="-38853" y="5192791"/>
                    <a:ext cx="12269706" cy="523220"/>
                  </a:xfrm>
                  <a:prstGeom prst="rect">
                    <a:avLst/>
                  </a:prstGeom>
                </p:spPr>
                <p:txBody>
                  <a:bodyPr wrap="none">
                    <a:spAutoFit/>
                  </a:bodyPr>
                  <a:lstStyle/>
                  <a:p>
                    <a14:m>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𝐶𝐴𝑇</m:t>
                            </m:r>
                          </m:e>
                        </m:d>
                        <m:r>
                          <a:rPr lang="sr-Latn-RS" sz="2800" i="1">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𝐶</m:t>
                            </m:r>
                          </m:e>
                        </m:d>
                      </m:oMath>
                    </a14:m>
                    <a:r>
                      <a:rPr lang="en-US" sz="2800" dirty="0"/>
                      <a:t> </a:t>
                    </a:r>
                    <a14:m>
                      <m:oMath xmlns:m="http://schemas.openxmlformats.org/officeDocument/2006/math">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𝐴</m:t>
                            </m:r>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𝐶</m:t>
                            </m:r>
                          </m:e>
                        </m:d>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𝑇</m:t>
                            </m:r>
                          </m:e>
                        </m:d>
                        <m:r>
                          <a:rPr lang="sr-Latn-RS" sz="2800" i="1">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𝐶</m:t>
                            </m:r>
                          </m:e>
                        </m:d>
                        <m:r>
                          <m:rPr>
                            <m:nor/>
                          </m:rPr>
                          <a:rPr lang="en-US" sz="2800" dirty="0"/>
                          <m:t> </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𝐴</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𝐶</m:t>
                            </m:r>
                          </m:e>
                        </m:d>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𝐴</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𝐶</m:t>
                            </m:r>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𝑇</m:t>
                            </m:r>
                          </m:e>
                        </m:d>
                        <m:r>
                          <a:rPr lang="sr-Latn-RS" sz="2800" i="1">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𝐶</m:t>
                            </m:r>
                            <m:r>
                              <a:rPr lang="en-US" sz="2800" b="0" i="1" smtClean="0">
                                <a:latin typeface="Cambria Math" panose="02040503050406030204" pitchFamily="18" charset="0"/>
                              </a:rPr>
                              <m:t>𝐴</m:t>
                            </m:r>
                          </m:e>
                        </m:d>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𝐴</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𝐶</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𝑇</m:t>
                            </m:r>
                          </m:e>
                        </m:d>
                        <m:r>
                          <a:rPr lang="sr-Latn-RS" sz="2800" i="1">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𝐶𝐴</m:t>
                            </m:r>
                          </m:e>
                        </m:d>
                      </m:oMath>
                    </a14:m>
                    <a:r>
                      <a:rPr lang="en-US" sz="2800" dirty="0"/>
                      <a:t> </a:t>
                    </a:r>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𝐶</m:t>
                            </m:r>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𝑇</m:t>
                            </m:r>
                          </m:e>
                        </m:d>
                      </m:oMath>
                    </a14:m>
                    <a:endParaRPr lang="en-US" sz="2800" dirty="0"/>
                  </a:p>
                </p:txBody>
              </p:sp>
            </mc:Choice>
            <mc:Fallback xmlns="">
              <p:sp>
                <p:nvSpPr>
                  <p:cNvPr id="72" name="Rectangle 71">
                    <a:extLst>
                      <a:ext uri="{FF2B5EF4-FFF2-40B4-BE49-F238E27FC236}">
                        <a16:creationId xmlns:a16="http://schemas.microsoft.com/office/drawing/2014/main" id="{A3F34869-6E4C-E648-8893-4B85B6AFD8C1}"/>
                      </a:ext>
                    </a:extLst>
                  </p:cNvPr>
                  <p:cNvSpPr>
                    <a:spLocks noRot="1" noChangeAspect="1" noMove="1" noResize="1" noEditPoints="1" noAdjustHandles="1" noChangeArrowheads="1" noChangeShapeType="1" noTextEdit="1"/>
                  </p:cNvSpPr>
                  <p:nvPr/>
                </p:nvSpPr>
                <p:spPr>
                  <a:xfrm>
                    <a:off x="-38853" y="5192791"/>
                    <a:ext cx="12269706" cy="523220"/>
                  </a:xfrm>
                  <a:prstGeom prst="rect">
                    <a:avLst/>
                  </a:prstGeom>
                  <a:blipFill>
                    <a:blip r:embed="rId7"/>
                    <a:stretch>
                      <a:fillRect t="-9524" b="-2381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9" name="Rectangle 78">
                  <a:extLst>
                    <a:ext uri="{FF2B5EF4-FFF2-40B4-BE49-F238E27FC236}">
                      <a16:creationId xmlns:a16="http://schemas.microsoft.com/office/drawing/2014/main" id="{75EC3364-11C1-DD4C-9068-A1F28315EC01}"/>
                    </a:ext>
                  </a:extLst>
                </p:cNvPr>
                <p:cNvSpPr/>
                <p:nvPr/>
              </p:nvSpPr>
              <p:spPr>
                <a:xfrm>
                  <a:off x="-88412" y="4554693"/>
                  <a:ext cx="193944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𝐿</m:t>
                        </m:r>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𝐿</m:t>
                        </m:r>
                        <m:r>
                          <a:rPr lang="en-US" sz="2800" b="0" i="1" smtClean="0">
                            <a:latin typeface="Cambria Math" panose="02040503050406030204" pitchFamily="18" charset="0"/>
                          </a:rPr>
                          <m:t>=0)</m:t>
                        </m:r>
                      </m:oMath>
                    </m:oMathPara>
                  </a14:m>
                  <a:endParaRPr lang="en-US" sz="2800" dirty="0"/>
                </a:p>
              </p:txBody>
            </p:sp>
          </mc:Choice>
          <mc:Fallback xmlns="">
            <p:sp>
              <p:nvSpPr>
                <p:cNvPr id="79" name="Rectangle 78">
                  <a:extLst>
                    <a:ext uri="{FF2B5EF4-FFF2-40B4-BE49-F238E27FC236}">
                      <a16:creationId xmlns:a16="http://schemas.microsoft.com/office/drawing/2014/main" id="{75EC3364-11C1-DD4C-9068-A1F28315EC01}"/>
                    </a:ext>
                  </a:extLst>
                </p:cNvPr>
                <p:cNvSpPr>
                  <a:spLocks noRot="1" noChangeAspect="1" noMove="1" noResize="1" noEditPoints="1" noAdjustHandles="1" noChangeArrowheads="1" noChangeShapeType="1" noTextEdit="1"/>
                </p:cNvSpPr>
                <p:nvPr/>
              </p:nvSpPr>
              <p:spPr>
                <a:xfrm>
                  <a:off x="-88412" y="4554693"/>
                  <a:ext cx="1939442" cy="523220"/>
                </a:xfrm>
                <a:prstGeom prst="rect">
                  <a:avLst/>
                </a:prstGeom>
                <a:blipFill>
                  <a:blip r:embed="rId8"/>
                  <a:stretch>
                    <a:fillRect l="-1307" r="-654" b="-1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A03C3209-EB78-7846-9287-0BA0A6FCAB7D}"/>
                  </a:ext>
                </a:extLst>
              </p:cNvPr>
              <p:cNvSpPr/>
              <p:nvPr/>
            </p:nvSpPr>
            <p:spPr>
              <a:xfrm>
                <a:off x="44055" y="895426"/>
                <a:ext cx="73969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𝐶</m:t>
                          </m:r>
                        </m:e>
                      </m:d>
                    </m:oMath>
                  </m:oMathPara>
                </a14:m>
                <a:endParaRPr lang="en-US" sz="2800" dirty="0"/>
              </a:p>
            </p:txBody>
          </p:sp>
        </mc:Choice>
        <mc:Fallback xmlns="">
          <p:sp>
            <p:nvSpPr>
              <p:cNvPr id="81" name="Rectangle 80">
                <a:extLst>
                  <a:ext uri="{FF2B5EF4-FFF2-40B4-BE49-F238E27FC236}">
                    <a16:creationId xmlns:a16="http://schemas.microsoft.com/office/drawing/2014/main" id="{A03C3209-EB78-7846-9287-0BA0A6FCAB7D}"/>
                  </a:ext>
                </a:extLst>
              </p:cNvPr>
              <p:cNvSpPr>
                <a:spLocks noRot="1" noChangeAspect="1" noMove="1" noResize="1" noEditPoints="1" noAdjustHandles="1" noChangeArrowheads="1" noChangeShapeType="1" noTextEdit="1"/>
              </p:cNvSpPr>
              <p:nvPr/>
            </p:nvSpPr>
            <p:spPr>
              <a:xfrm>
                <a:off x="44055" y="895426"/>
                <a:ext cx="739690" cy="523220"/>
              </a:xfrm>
              <a:prstGeom prst="rect">
                <a:avLst/>
              </a:prstGeom>
              <a:blipFill>
                <a:blip r:embed="rId9"/>
                <a:stretch>
                  <a:fillRect/>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250A21B0-26BB-A942-9B8D-CDA1900F5D97}"/>
              </a:ext>
            </a:extLst>
          </p:cNvPr>
          <p:cNvGrpSpPr/>
          <p:nvPr/>
        </p:nvGrpSpPr>
        <p:grpSpPr>
          <a:xfrm>
            <a:off x="-38853" y="1701526"/>
            <a:ext cx="3447675" cy="2398480"/>
            <a:chOff x="-38853" y="1701526"/>
            <a:chExt cx="3447675" cy="2398480"/>
          </a:xfrm>
        </p:grpSpPr>
        <mc:AlternateContent xmlns:mc="http://schemas.openxmlformats.org/markup-compatibility/2006" xmlns:a14="http://schemas.microsoft.com/office/drawing/2010/main">
          <mc:Choice Requires="a14">
            <p:sp>
              <p:nvSpPr>
                <p:cNvPr id="71" name="Rectangle 70">
                  <a:extLst>
                    <a:ext uri="{FF2B5EF4-FFF2-40B4-BE49-F238E27FC236}">
                      <a16:creationId xmlns:a16="http://schemas.microsoft.com/office/drawing/2014/main" id="{4A4344D8-06BB-5E4C-A133-7DBB703A61D0}"/>
                    </a:ext>
                  </a:extLst>
                </p:cNvPr>
                <p:cNvSpPr/>
                <p:nvPr/>
              </p:nvSpPr>
              <p:spPr>
                <a:xfrm>
                  <a:off x="-38853" y="3576786"/>
                  <a:ext cx="344767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𝐶𝐴𝑇</m:t>
                            </m:r>
                          </m:e>
                        </m:d>
                        <m:r>
                          <a:rPr lang="sr-Latn-RS" sz="2800" i="1" smtClean="0">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𝐶</m:t>
                            </m:r>
                            <m:r>
                              <a:rPr lang="en-US" sz="2800" b="0" i="1" smtClean="0">
                                <a:latin typeface="Cambria Math" panose="02040503050406030204" pitchFamily="18" charset="0"/>
                              </a:rPr>
                              <m:t>𝐴</m:t>
                            </m:r>
                          </m:e>
                        </m:d>
                        <m:r>
                          <a:rPr lang="sr-Latn-RS" sz="2800" b="0" i="1" smtClean="0">
                            <a:latin typeface="Cambria Math" panose="02040503050406030204" pitchFamily="18" charset="0"/>
                          </a:rPr>
                          <m:t> </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𝐶</m:t>
                            </m:r>
                            <m:r>
                              <a:rPr lang="en-US" sz="2800" i="1" smtClean="0">
                                <a:latin typeface="Cambria Math" panose="02040503050406030204" pitchFamily="18" charset="0"/>
                                <a:ea typeface="Cambria Math" panose="02040503050406030204" pitchFamily="18" charset="0"/>
                              </a:rPr>
                              <m:t>⨁</m:t>
                            </m:r>
                            <m:r>
                              <a:rPr lang="en-US" sz="2800" i="1">
                                <a:latin typeface="Cambria Math" panose="02040503050406030204" pitchFamily="18" charset="0"/>
                              </a:rPr>
                              <m:t>𝑇</m:t>
                            </m:r>
                          </m:e>
                        </m:d>
                      </m:oMath>
                    </m:oMathPara>
                  </a14:m>
                  <a:endParaRPr lang="en-US" sz="2800" dirty="0"/>
                </a:p>
              </p:txBody>
            </p:sp>
          </mc:Choice>
          <mc:Fallback xmlns="">
            <p:sp>
              <p:nvSpPr>
                <p:cNvPr id="71" name="Rectangle 70">
                  <a:extLst>
                    <a:ext uri="{FF2B5EF4-FFF2-40B4-BE49-F238E27FC236}">
                      <a16:creationId xmlns:a16="http://schemas.microsoft.com/office/drawing/2014/main" id="{4A4344D8-06BB-5E4C-A133-7DBB703A61D0}"/>
                    </a:ext>
                  </a:extLst>
                </p:cNvPr>
                <p:cNvSpPr>
                  <a:spLocks noRot="1" noChangeAspect="1" noMove="1" noResize="1" noEditPoints="1" noAdjustHandles="1" noChangeArrowheads="1" noChangeShapeType="1" noTextEdit="1"/>
                </p:cNvSpPr>
                <p:nvPr/>
              </p:nvSpPr>
              <p:spPr>
                <a:xfrm>
                  <a:off x="-38853" y="3576786"/>
                  <a:ext cx="3447675" cy="523220"/>
                </a:xfrm>
                <a:prstGeom prst="rect">
                  <a:avLst/>
                </a:prstGeom>
                <a:blipFill>
                  <a:blip r:embed="rId10"/>
                  <a:stretch>
                    <a:fillRect b="-19048"/>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F71FFDBA-2D87-3240-A5E7-5B11CA944DAF}"/>
                </a:ext>
              </a:extLst>
            </p:cNvPr>
            <p:cNvGrpSpPr/>
            <p:nvPr/>
          </p:nvGrpSpPr>
          <p:grpSpPr>
            <a:xfrm>
              <a:off x="48800" y="1701526"/>
              <a:ext cx="1757054" cy="604367"/>
              <a:chOff x="48800" y="1701526"/>
              <a:chExt cx="1757054" cy="604367"/>
            </a:xfrm>
          </p:grpSpPr>
          <p:cxnSp>
            <p:nvCxnSpPr>
              <p:cNvPr id="6" name="Straight Connector 5">
                <a:extLst>
                  <a:ext uri="{FF2B5EF4-FFF2-40B4-BE49-F238E27FC236}">
                    <a16:creationId xmlns:a16="http://schemas.microsoft.com/office/drawing/2014/main" id="{6E737C67-D7DD-0240-BFBA-09E7146B950C}"/>
                  </a:ext>
                </a:extLst>
              </p:cNvPr>
              <p:cNvCxnSpPr>
                <a:cxnSpLocks/>
              </p:cNvCxnSpPr>
              <p:nvPr/>
            </p:nvCxnSpPr>
            <p:spPr>
              <a:xfrm>
                <a:off x="299277" y="2305893"/>
                <a:ext cx="15065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2" name="Rectangle 81">
                    <a:extLst>
                      <a:ext uri="{FF2B5EF4-FFF2-40B4-BE49-F238E27FC236}">
                        <a16:creationId xmlns:a16="http://schemas.microsoft.com/office/drawing/2014/main" id="{441C7466-61CB-4F42-9F3A-E70050CA3C9B}"/>
                      </a:ext>
                    </a:extLst>
                  </p:cNvPr>
                  <p:cNvSpPr/>
                  <p:nvPr/>
                </p:nvSpPr>
                <p:spPr>
                  <a:xfrm>
                    <a:off x="48800" y="1701526"/>
                    <a:ext cx="74026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𝐴</m:t>
                              </m:r>
                            </m:e>
                          </m:d>
                        </m:oMath>
                      </m:oMathPara>
                    </a14:m>
                    <a:endParaRPr lang="en-US" sz="2800" dirty="0"/>
                  </a:p>
                </p:txBody>
              </p:sp>
            </mc:Choice>
            <mc:Fallback xmlns="">
              <p:sp>
                <p:nvSpPr>
                  <p:cNvPr id="82" name="Rectangle 81">
                    <a:extLst>
                      <a:ext uri="{FF2B5EF4-FFF2-40B4-BE49-F238E27FC236}">
                        <a16:creationId xmlns:a16="http://schemas.microsoft.com/office/drawing/2014/main" id="{441C7466-61CB-4F42-9F3A-E70050CA3C9B}"/>
                      </a:ext>
                    </a:extLst>
                  </p:cNvPr>
                  <p:cNvSpPr>
                    <a:spLocks noRot="1" noChangeAspect="1" noMove="1" noResize="1" noEditPoints="1" noAdjustHandles="1" noChangeArrowheads="1" noChangeShapeType="1" noTextEdit="1"/>
                  </p:cNvSpPr>
                  <p:nvPr/>
                </p:nvSpPr>
                <p:spPr>
                  <a:xfrm>
                    <a:off x="48800" y="1701526"/>
                    <a:ext cx="740266" cy="523220"/>
                  </a:xfrm>
                  <a:prstGeom prst="rect">
                    <a:avLst/>
                  </a:prstGeom>
                  <a:blipFill>
                    <a:blip r:embed="rId11"/>
                    <a:stretch>
                      <a:fillRect/>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83" name="Rectangle 82">
                <a:extLst>
                  <a:ext uri="{FF2B5EF4-FFF2-40B4-BE49-F238E27FC236}">
                    <a16:creationId xmlns:a16="http://schemas.microsoft.com/office/drawing/2014/main" id="{3D7D1692-05F9-C645-A4C2-CAE7BE4DE950}"/>
                  </a:ext>
                </a:extLst>
              </p:cNvPr>
              <p:cNvSpPr/>
              <p:nvPr/>
            </p:nvSpPr>
            <p:spPr>
              <a:xfrm>
                <a:off x="48800" y="2632340"/>
                <a:ext cx="73020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𝑇</m:t>
                          </m:r>
                        </m:e>
                      </m:d>
                    </m:oMath>
                  </m:oMathPara>
                </a14:m>
                <a:endParaRPr lang="en-US" sz="2800" dirty="0"/>
              </a:p>
            </p:txBody>
          </p:sp>
        </mc:Choice>
        <mc:Fallback xmlns="">
          <p:sp>
            <p:nvSpPr>
              <p:cNvPr id="83" name="Rectangle 82">
                <a:extLst>
                  <a:ext uri="{FF2B5EF4-FFF2-40B4-BE49-F238E27FC236}">
                    <a16:creationId xmlns:a16="http://schemas.microsoft.com/office/drawing/2014/main" id="{3D7D1692-05F9-C645-A4C2-CAE7BE4DE950}"/>
                  </a:ext>
                </a:extLst>
              </p:cNvPr>
              <p:cNvSpPr>
                <a:spLocks noRot="1" noChangeAspect="1" noMove="1" noResize="1" noEditPoints="1" noAdjustHandles="1" noChangeArrowheads="1" noChangeShapeType="1" noTextEdit="1"/>
              </p:cNvSpPr>
              <p:nvPr/>
            </p:nvSpPr>
            <p:spPr>
              <a:xfrm>
                <a:off x="48800" y="2632340"/>
                <a:ext cx="730200" cy="523220"/>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61187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dissolve">
                                      <p:cBhvr>
                                        <p:cTn id="13" dur="500"/>
                                        <p:tgtEl>
                                          <p:spTgt spid="80"/>
                                        </p:tgtEl>
                                      </p:cBhvr>
                                    </p:animEffect>
                                  </p:childTnLst>
                                  <p:subTnLst>
                                    <p:set>
                                      <p:cBhvr override="childStyle">
                                        <p:cTn dur="1" fill="hold" display="0" masterRel="nextClick" afterEffect="1"/>
                                        <p:tgtEl>
                                          <p:spTgt spid="80"/>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78"/>
                                        </p:tgtEl>
                                        <p:attrNameLst>
                                          <p:attrName>style.visibility</p:attrName>
                                        </p:attrNameLst>
                                      </p:cBhvr>
                                      <p:to>
                                        <p:strVal val="visible"/>
                                      </p:to>
                                    </p:set>
                                    <p:animEffect transition="in" filter="dissolve">
                                      <p:cBhvr>
                                        <p:cTn id="18"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5D42A-2532-4745-951F-1F1C5414E0E5}"/>
              </a:ext>
            </a:extLst>
          </p:cNvPr>
          <p:cNvSpPr>
            <a:spLocks noGrp="1"/>
          </p:cNvSpPr>
          <p:nvPr>
            <p:ph type="title"/>
          </p:nvPr>
        </p:nvSpPr>
        <p:spPr/>
        <p:txBody>
          <a:bodyPr/>
          <a:lstStyle/>
          <a:p>
            <a:r>
              <a:rPr lang="en-ZA" dirty="0"/>
              <a:t>Mirror symmetry of CNOT gates</a:t>
            </a:r>
            <a:endParaRPr lang="en-US" dirty="0"/>
          </a:p>
        </p:txBody>
      </p:sp>
      <p:sp>
        <p:nvSpPr>
          <p:cNvPr id="3" name="Slide Number Placeholder 2">
            <a:extLst>
              <a:ext uri="{FF2B5EF4-FFF2-40B4-BE49-F238E27FC236}">
                <a16:creationId xmlns:a16="http://schemas.microsoft.com/office/drawing/2014/main" id="{CC272093-008E-674F-8898-9CBE20D17961}"/>
              </a:ext>
            </a:extLst>
          </p:cNvPr>
          <p:cNvSpPr>
            <a:spLocks noGrp="1"/>
          </p:cNvSpPr>
          <p:nvPr>
            <p:ph type="sldNum" sz="quarter" idx="12"/>
          </p:nvPr>
        </p:nvSpPr>
        <p:spPr/>
        <p:txBody>
          <a:bodyPr/>
          <a:lstStyle/>
          <a:p>
            <a:fld id="{591A223C-FA10-BC46-A853-03BA373D023C}" type="slidenum">
              <a:rPr lang="en-US" smtClean="0"/>
              <a:t>22</a:t>
            </a:fld>
            <a:endParaRPr lang="en-US"/>
          </a:p>
        </p:txBody>
      </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E4077CE9-E929-2C40-B147-20804EBD63F0}"/>
                  </a:ext>
                </a:extLst>
              </p:cNvPr>
              <p:cNvSpPr/>
              <p:nvPr/>
            </p:nvSpPr>
            <p:spPr>
              <a:xfrm>
                <a:off x="5616164" y="1981877"/>
                <a:ext cx="589153" cy="6010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43" name="Rectangle 42">
                <a:extLst>
                  <a:ext uri="{FF2B5EF4-FFF2-40B4-BE49-F238E27FC236}">
                    <a16:creationId xmlns:a16="http://schemas.microsoft.com/office/drawing/2014/main" id="{E4077CE9-E929-2C40-B147-20804EBD63F0}"/>
                  </a:ext>
                </a:extLst>
              </p:cNvPr>
              <p:cNvSpPr>
                <a:spLocks noRot="1" noChangeAspect="1" noMove="1" noResize="1" noEditPoints="1" noAdjustHandles="1" noChangeArrowheads="1" noChangeShapeType="1" noTextEdit="1"/>
              </p:cNvSpPr>
              <p:nvPr/>
            </p:nvSpPr>
            <p:spPr>
              <a:xfrm>
                <a:off x="5616164" y="1981877"/>
                <a:ext cx="589153" cy="601079"/>
              </a:xfrm>
              <a:prstGeom prst="rect">
                <a:avLst/>
              </a:prstGeom>
              <a:blipFill>
                <a:blip r:embed="rId3"/>
                <a:stretch>
                  <a:fillRect/>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2FCD32FB-5F86-084F-9568-331B626AAEEB}"/>
              </a:ext>
            </a:extLst>
          </p:cNvPr>
          <p:cNvCxnSpPr>
            <a:cxnSpLocks/>
          </p:cNvCxnSpPr>
          <p:nvPr/>
        </p:nvCxnSpPr>
        <p:spPr>
          <a:xfrm>
            <a:off x="6320190" y="2301121"/>
            <a:ext cx="41849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02A7587-061B-2F44-9004-448761896160}"/>
              </a:ext>
            </a:extLst>
          </p:cNvPr>
          <p:cNvCxnSpPr>
            <a:cxnSpLocks/>
          </p:cNvCxnSpPr>
          <p:nvPr/>
        </p:nvCxnSpPr>
        <p:spPr>
          <a:xfrm>
            <a:off x="6320190" y="1469080"/>
            <a:ext cx="41849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556EB6F-A72E-154A-A277-74651E1EA42A}"/>
              </a:ext>
            </a:extLst>
          </p:cNvPr>
          <p:cNvCxnSpPr>
            <a:cxnSpLocks/>
          </p:cNvCxnSpPr>
          <p:nvPr/>
        </p:nvCxnSpPr>
        <p:spPr>
          <a:xfrm>
            <a:off x="6344747" y="3135964"/>
            <a:ext cx="41849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7" name="Group 46">
            <a:extLst>
              <a:ext uri="{FF2B5EF4-FFF2-40B4-BE49-F238E27FC236}">
                <a16:creationId xmlns:a16="http://schemas.microsoft.com/office/drawing/2014/main" id="{BC43D701-EED5-F241-A0E4-D1964198F49F}"/>
              </a:ext>
            </a:extLst>
          </p:cNvPr>
          <p:cNvGrpSpPr/>
          <p:nvPr/>
        </p:nvGrpSpPr>
        <p:grpSpPr>
          <a:xfrm>
            <a:off x="6775207" y="2174334"/>
            <a:ext cx="669590" cy="1262120"/>
            <a:chOff x="3871783" y="1363923"/>
            <a:chExt cx="720000" cy="1357139"/>
          </a:xfrm>
        </p:grpSpPr>
        <p:sp>
          <p:nvSpPr>
            <p:cNvPr id="48" name="Oval 47">
              <a:extLst>
                <a:ext uri="{FF2B5EF4-FFF2-40B4-BE49-F238E27FC236}">
                  <a16:creationId xmlns:a16="http://schemas.microsoft.com/office/drawing/2014/main" id="{E167A6A6-D286-E146-8E10-C6AC62B0B145}"/>
                </a:ext>
              </a:extLst>
            </p:cNvPr>
            <p:cNvSpPr/>
            <p:nvPr/>
          </p:nvSpPr>
          <p:spPr>
            <a:xfrm rot="10800000" flipV="1">
              <a:off x="3871783" y="200106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49" name="Oval 48">
              <a:extLst>
                <a:ext uri="{FF2B5EF4-FFF2-40B4-BE49-F238E27FC236}">
                  <a16:creationId xmlns:a16="http://schemas.microsoft.com/office/drawing/2014/main" id="{42D19D72-4D64-1143-B1CF-04F214D77CDE}"/>
                </a:ext>
              </a:extLst>
            </p:cNvPr>
            <p:cNvSpPr/>
            <p:nvPr/>
          </p:nvSpPr>
          <p:spPr>
            <a:xfrm rot="10800000" flipV="1">
              <a:off x="4097579" y="1363923"/>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50" name="Straight Connector 49">
              <a:extLst>
                <a:ext uri="{FF2B5EF4-FFF2-40B4-BE49-F238E27FC236}">
                  <a16:creationId xmlns:a16="http://schemas.microsoft.com/office/drawing/2014/main" id="{842E583D-5DA2-D749-A7E1-EE5FD177AA42}"/>
                </a:ext>
              </a:extLst>
            </p:cNvPr>
            <p:cNvCxnSpPr>
              <a:cxnSpLocks/>
              <a:stCxn id="49" idx="4"/>
              <a:endCxn id="48" idx="0"/>
            </p:cNvCxnSpPr>
            <p:nvPr/>
          </p:nvCxnSpPr>
          <p:spPr>
            <a:xfrm>
              <a:off x="4223578" y="1615922"/>
              <a:ext cx="8205" cy="3851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DC30B3C0-D7CD-3942-88DC-A8709D6189BE}"/>
              </a:ext>
            </a:extLst>
          </p:cNvPr>
          <p:cNvGrpSpPr/>
          <p:nvPr/>
        </p:nvGrpSpPr>
        <p:grpSpPr>
          <a:xfrm>
            <a:off x="7673785" y="1371586"/>
            <a:ext cx="669590" cy="1235035"/>
            <a:chOff x="3863580" y="2249199"/>
            <a:chExt cx="720000" cy="1328015"/>
          </a:xfrm>
        </p:grpSpPr>
        <p:sp>
          <p:nvSpPr>
            <p:cNvPr id="52" name="Oval 51">
              <a:extLst>
                <a:ext uri="{FF2B5EF4-FFF2-40B4-BE49-F238E27FC236}">
                  <a16:creationId xmlns:a16="http://schemas.microsoft.com/office/drawing/2014/main" id="{FAE51029-D054-4B45-878E-9EB2B38EB639}"/>
                </a:ext>
              </a:extLst>
            </p:cNvPr>
            <p:cNvSpPr/>
            <p:nvPr/>
          </p:nvSpPr>
          <p:spPr>
            <a:xfrm rot="10800000" flipV="1">
              <a:off x="3863580" y="285721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53" name="Oval 52">
              <a:extLst>
                <a:ext uri="{FF2B5EF4-FFF2-40B4-BE49-F238E27FC236}">
                  <a16:creationId xmlns:a16="http://schemas.microsoft.com/office/drawing/2014/main" id="{B67D1862-63F5-8E4E-8C93-89904DF0CE89}"/>
                </a:ext>
              </a:extLst>
            </p:cNvPr>
            <p:cNvSpPr/>
            <p:nvPr/>
          </p:nvSpPr>
          <p:spPr>
            <a:xfrm rot="10800000" flipV="1">
              <a:off x="4105781" y="2249199"/>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54" name="Straight Connector 53">
              <a:extLst>
                <a:ext uri="{FF2B5EF4-FFF2-40B4-BE49-F238E27FC236}">
                  <a16:creationId xmlns:a16="http://schemas.microsoft.com/office/drawing/2014/main" id="{D68AE651-6B48-D645-83DB-14C5045386DA}"/>
                </a:ext>
              </a:extLst>
            </p:cNvPr>
            <p:cNvCxnSpPr>
              <a:cxnSpLocks/>
              <a:stCxn id="53" idx="4"/>
              <a:endCxn id="52" idx="0"/>
            </p:cNvCxnSpPr>
            <p:nvPr/>
          </p:nvCxnSpPr>
          <p:spPr>
            <a:xfrm flipH="1">
              <a:off x="4223580" y="2501198"/>
              <a:ext cx="8200" cy="3560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6" name="Oval 55">
            <a:extLst>
              <a:ext uri="{FF2B5EF4-FFF2-40B4-BE49-F238E27FC236}">
                <a16:creationId xmlns:a16="http://schemas.microsoft.com/office/drawing/2014/main" id="{8A531502-DDEF-0341-AF7F-A4A3421FB612}"/>
              </a:ext>
            </a:extLst>
          </p:cNvPr>
          <p:cNvSpPr/>
          <p:nvPr/>
        </p:nvSpPr>
        <p:spPr>
          <a:xfrm rot="10800000" flipV="1">
            <a:off x="9113143" y="2724316"/>
            <a:ext cx="669590" cy="6695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57" name="Oval 56">
            <a:extLst>
              <a:ext uri="{FF2B5EF4-FFF2-40B4-BE49-F238E27FC236}">
                <a16:creationId xmlns:a16="http://schemas.microsoft.com/office/drawing/2014/main" id="{1E1BB8EC-9020-3C47-A8C3-772B6C875025}"/>
              </a:ext>
            </a:extLst>
          </p:cNvPr>
          <p:cNvSpPr/>
          <p:nvPr/>
        </p:nvSpPr>
        <p:spPr>
          <a:xfrm rot="10800000" flipV="1">
            <a:off x="9314449" y="1334545"/>
            <a:ext cx="234356" cy="2343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58" name="Straight Connector 57">
            <a:extLst>
              <a:ext uri="{FF2B5EF4-FFF2-40B4-BE49-F238E27FC236}">
                <a16:creationId xmlns:a16="http://schemas.microsoft.com/office/drawing/2014/main" id="{4B80A8B9-40C3-004B-A6B9-E1053A04A67E}"/>
              </a:ext>
            </a:extLst>
          </p:cNvPr>
          <p:cNvCxnSpPr>
            <a:cxnSpLocks/>
            <a:stCxn id="57" idx="4"/>
            <a:endCxn id="56" idx="0"/>
          </p:cNvCxnSpPr>
          <p:nvPr/>
        </p:nvCxnSpPr>
        <p:spPr>
          <a:xfrm>
            <a:off x="9431627" y="1568901"/>
            <a:ext cx="16311" cy="11554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B6F7D5B-628C-104D-997B-24E8767B34A3}"/>
              </a:ext>
            </a:extLst>
          </p:cNvPr>
          <p:cNvCxnSpPr>
            <a:cxnSpLocks/>
          </p:cNvCxnSpPr>
          <p:nvPr/>
        </p:nvCxnSpPr>
        <p:spPr>
          <a:xfrm>
            <a:off x="1291796" y="2308509"/>
            <a:ext cx="41849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05B5FFF-B29D-334C-B4D1-431B8EA3A2A5}"/>
              </a:ext>
            </a:extLst>
          </p:cNvPr>
          <p:cNvCxnSpPr>
            <a:cxnSpLocks/>
          </p:cNvCxnSpPr>
          <p:nvPr/>
        </p:nvCxnSpPr>
        <p:spPr>
          <a:xfrm>
            <a:off x="1291796" y="1476468"/>
            <a:ext cx="41849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A218D78-0D53-4B42-8411-ECF207447C42}"/>
              </a:ext>
            </a:extLst>
          </p:cNvPr>
          <p:cNvCxnSpPr>
            <a:cxnSpLocks/>
          </p:cNvCxnSpPr>
          <p:nvPr/>
        </p:nvCxnSpPr>
        <p:spPr>
          <a:xfrm>
            <a:off x="1316353" y="3143351"/>
            <a:ext cx="41849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F5E058E6-35A8-4F45-8600-A8E24D75DDAB}"/>
              </a:ext>
            </a:extLst>
          </p:cNvPr>
          <p:cNvSpPr/>
          <p:nvPr/>
        </p:nvSpPr>
        <p:spPr>
          <a:xfrm rot="10800000" flipV="1">
            <a:off x="1694776" y="2749834"/>
            <a:ext cx="669590" cy="6695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3" name="Oval 22">
            <a:extLst>
              <a:ext uri="{FF2B5EF4-FFF2-40B4-BE49-F238E27FC236}">
                <a16:creationId xmlns:a16="http://schemas.microsoft.com/office/drawing/2014/main" id="{3350E464-474C-B546-8C98-3289D5C87291}"/>
              </a:ext>
            </a:extLst>
          </p:cNvPr>
          <p:cNvSpPr/>
          <p:nvPr/>
        </p:nvSpPr>
        <p:spPr>
          <a:xfrm rot="10800000" flipV="1">
            <a:off x="1927906" y="1361095"/>
            <a:ext cx="234356" cy="2343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4" name="Straight Connector 23">
            <a:extLst>
              <a:ext uri="{FF2B5EF4-FFF2-40B4-BE49-F238E27FC236}">
                <a16:creationId xmlns:a16="http://schemas.microsoft.com/office/drawing/2014/main" id="{8326B480-3006-4842-8F03-76FB7F356F9D}"/>
              </a:ext>
            </a:extLst>
          </p:cNvPr>
          <p:cNvCxnSpPr>
            <a:cxnSpLocks/>
            <a:stCxn id="23" idx="4"/>
            <a:endCxn id="22" idx="0"/>
          </p:cNvCxnSpPr>
          <p:nvPr/>
        </p:nvCxnSpPr>
        <p:spPr>
          <a:xfrm flipH="1">
            <a:off x="2029571" y="1595450"/>
            <a:ext cx="15513" cy="11543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E0F68374-24E7-4449-B04F-CA2C795C1A53}"/>
              </a:ext>
            </a:extLst>
          </p:cNvPr>
          <p:cNvGrpSpPr/>
          <p:nvPr/>
        </p:nvGrpSpPr>
        <p:grpSpPr>
          <a:xfrm>
            <a:off x="3409613" y="2201419"/>
            <a:ext cx="669590" cy="1235035"/>
            <a:chOff x="3863580" y="2249199"/>
            <a:chExt cx="720000" cy="1328015"/>
          </a:xfrm>
        </p:grpSpPr>
        <p:sp>
          <p:nvSpPr>
            <p:cNvPr id="28" name="Oval 27">
              <a:extLst>
                <a:ext uri="{FF2B5EF4-FFF2-40B4-BE49-F238E27FC236}">
                  <a16:creationId xmlns:a16="http://schemas.microsoft.com/office/drawing/2014/main" id="{95DAF50C-73C6-3F40-8CCD-3D881525A4E1}"/>
                </a:ext>
              </a:extLst>
            </p:cNvPr>
            <p:cNvSpPr/>
            <p:nvPr/>
          </p:nvSpPr>
          <p:spPr>
            <a:xfrm rot="10800000" flipV="1">
              <a:off x="3863580" y="285721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9" name="Oval 28">
              <a:extLst>
                <a:ext uri="{FF2B5EF4-FFF2-40B4-BE49-F238E27FC236}">
                  <a16:creationId xmlns:a16="http://schemas.microsoft.com/office/drawing/2014/main" id="{E4709FF8-3372-7647-95C2-84D2409D5FEC}"/>
                </a:ext>
              </a:extLst>
            </p:cNvPr>
            <p:cNvSpPr/>
            <p:nvPr/>
          </p:nvSpPr>
          <p:spPr>
            <a:xfrm rot="10800000" flipV="1">
              <a:off x="4105781" y="2249199"/>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0" name="Straight Connector 29">
              <a:extLst>
                <a:ext uri="{FF2B5EF4-FFF2-40B4-BE49-F238E27FC236}">
                  <a16:creationId xmlns:a16="http://schemas.microsoft.com/office/drawing/2014/main" id="{1705C5B7-ACA9-EA45-B226-F6620C3EFA56}"/>
                </a:ext>
              </a:extLst>
            </p:cNvPr>
            <p:cNvCxnSpPr>
              <a:cxnSpLocks/>
              <a:stCxn id="29" idx="4"/>
              <a:endCxn id="28" idx="0"/>
            </p:cNvCxnSpPr>
            <p:nvPr/>
          </p:nvCxnSpPr>
          <p:spPr>
            <a:xfrm flipH="1">
              <a:off x="4223580" y="2501198"/>
              <a:ext cx="8200" cy="3560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65B3DB57-37B7-4B4E-A581-1ABCEB88C241}"/>
              </a:ext>
            </a:extLst>
          </p:cNvPr>
          <p:cNvGrpSpPr/>
          <p:nvPr/>
        </p:nvGrpSpPr>
        <p:grpSpPr>
          <a:xfrm>
            <a:off x="4337924" y="1378125"/>
            <a:ext cx="669590" cy="1282208"/>
            <a:chOff x="3871780" y="1363923"/>
            <a:chExt cx="720000" cy="1378739"/>
          </a:xfrm>
        </p:grpSpPr>
        <p:sp>
          <p:nvSpPr>
            <p:cNvPr id="32" name="Oval 31">
              <a:extLst>
                <a:ext uri="{FF2B5EF4-FFF2-40B4-BE49-F238E27FC236}">
                  <a16:creationId xmlns:a16="http://schemas.microsoft.com/office/drawing/2014/main" id="{78A8393F-EA13-8446-8404-7F28E2D2A128}"/>
                </a:ext>
              </a:extLst>
            </p:cNvPr>
            <p:cNvSpPr/>
            <p:nvPr/>
          </p:nvSpPr>
          <p:spPr>
            <a:xfrm rot="10800000" flipV="1">
              <a:off x="3871780" y="202266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3" name="Oval 32">
              <a:extLst>
                <a:ext uri="{FF2B5EF4-FFF2-40B4-BE49-F238E27FC236}">
                  <a16:creationId xmlns:a16="http://schemas.microsoft.com/office/drawing/2014/main" id="{387B57CF-4F88-ED4A-8CB3-CE7F8E6841FD}"/>
                </a:ext>
              </a:extLst>
            </p:cNvPr>
            <p:cNvSpPr/>
            <p:nvPr/>
          </p:nvSpPr>
          <p:spPr>
            <a:xfrm rot="10800000" flipV="1">
              <a:off x="4097579" y="1363923"/>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4" name="Straight Connector 33">
              <a:extLst>
                <a:ext uri="{FF2B5EF4-FFF2-40B4-BE49-F238E27FC236}">
                  <a16:creationId xmlns:a16="http://schemas.microsoft.com/office/drawing/2014/main" id="{8457B40A-6E23-5D40-BA8C-7940419E8B07}"/>
                </a:ext>
              </a:extLst>
            </p:cNvPr>
            <p:cNvCxnSpPr>
              <a:cxnSpLocks/>
              <a:stCxn id="33" idx="4"/>
              <a:endCxn id="32" idx="0"/>
            </p:cNvCxnSpPr>
            <p:nvPr/>
          </p:nvCxnSpPr>
          <p:spPr>
            <a:xfrm>
              <a:off x="4223578" y="1615922"/>
              <a:ext cx="8202" cy="4067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Rectangle 11">
            <a:extLst>
              <a:ext uri="{FF2B5EF4-FFF2-40B4-BE49-F238E27FC236}">
                <a16:creationId xmlns:a16="http://schemas.microsoft.com/office/drawing/2014/main" id="{DEB76157-8408-1D45-90C6-CB9FA688B608}"/>
              </a:ext>
            </a:extLst>
          </p:cNvPr>
          <p:cNvSpPr/>
          <p:nvPr/>
        </p:nvSpPr>
        <p:spPr>
          <a:xfrm>
            <a:off x="3282216" y="1259777"/>
            <a:ext cx="1998134" cy="2401724"/>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B7EBB5B8-E3B0-2D42-8EE5-FF9C1E0962F4}"/>
              </a:ext>
            </a:extLst>
          </p:cNvPr>
          <p:cNvSpPr/>
          <p:nvPr/>
        </p:nvSpPr>
        <p:spPr>
          <a:xfrm>
            <a:off x="6516573" y="1259777"/>
            <a:ext cx="1998134" cy="2401724"/>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DDB5F5A9-967E-1548-BD19-6118A61BD282}"/>
              </a:ext>
            </a:extLst>
          </p:cNvPr>
          <p:cNvGrpSpPr/>
          <p:nvPr/>
        </p:nvGrpSpPr>
        <p:grpSpPr>
          <a:xfrm>
            <a:off x="1292586" y="4119855"/>
            <a:ext cx="9237888" cy="2401724"/>
            <a:chOff x="1292586" y="4119855"/>
            <a:chExt cx="9237888" cy="2401724"/>
          </a:xfrm>
        </p:grpSpPr>
        <mc:AlternateContent xmlns:mc="http://schemas.openxmlformats.org/markup-compatibility/2006" xmlns:a14="http://schemas.microsoft.com/office/drawing/2010/main">
          <mc:Choice Requires="a14">
            <p:sp>
              <p:nvSpPr>
                <p:cNvPr id="69" name="Rectangle 68">
                  <a:extLst>
                    <a:ext uri="{FF2B5EF4-FFF2-40B4-BE49-F238E27FC236}">
                      <a16:creationId xmlns:a16="http://schemas.microsoft.com/office/drawing/2014/main" id="{498C14D2-7B71-9241-9951-9B5C2D5218EF}"/>
                    </a:ext>
                  </a:extLst>
                </p:cNvPr>
                <p:cNvSpPr/>
                <p:nvPr/>
              </p:nvSpPr>
              <p:spPr>
                <a:xfrm>
                  <a:off x="5616954" y="4909046"/>
                  <a:ext cx="589153" cy="6010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69" name="Rectangle 68">
                  <a:extLst>
                    <a:ext uri="{FF2B5EF4-FFF2-40B4-BE49-F238E27FC236}">
                      <a16:creationId xmlns:a16="http://schemas.microsoft.com/office/drawing/2014/main" id="{498C14D2-7B71-9241-9951-9B5C2D5218EF}"/>
                    </a:ext>
                  </a:extLst>
                </p:cNvPr>
                <p:cNvSpPr>
                  <a:spLocks noRot="1" noChangeAspect="1" noMove="1" noResize="1" noEditPoints="1" noAdjustHandles="1" noChangeArrowheads="1" noChangeShapeType="1" noTextEdit="1"/>
                </p:cNvSpPr>
                <p:nvPr/>
              </p:nvSpPr>
              <p:spPr>
                <a:xfrm>
                  <a:off x="5616954" y="4909046"/>
                  <a:ext cx="589153" cy="601079"/>
                </a:xfrm>
                <a:prstGeom prst="rect">
                  <a:avLst/>
                </a:prstGeom>
                <a:blipFill>
                  <a:blip r:embed="rId4"/>
                  <a:stretch>
                    <a:fillRect/>
                  </a:stretch>
                </a:blipFill>
              </p:spPr>
              <p:txBody>
                <a:bodyPr/>
                <a:lstStyle/>
                <a:p>
                  <a:r>
                    <a:rPr lang="en-US">
                      <a:noFill/>
                    </a:rPr>
                    <a:t> </a:t>
                  </a:r>
                </a:p>
              </p:txBody>
            </p:sp>
          </mc:Fallback>
        </mc:AlternateContent>
        <p:cxnSp>
          <p:nvCxnSpPr>
            <p:cNvPr id="70" name="Straight Connector 69">
              <a:extLst>
                <a:ext uri="{FF2B5EF4-FFF2-40B4-BE49-F238E27FC236}">
                  <a16:creationId xmlns:a16="http://schemas.microsoft.com/office/drawing/2014/main" id="{65E8646E-E64B-0848-B496-471CD15B00EB}"/>
                </a:ext>
              </a:extLst>
            </p:cNvPr>
            <p:cNvCxnSpPr>
              <a:cxnSpLocks/>
            </p:cNvCxnSpPr>
            <p:nvPr/>
          </p:nvCxnSpPr>
          <p:spPr>
            <a:xfrm>
              <a:off x="6320980" y="5228290"/>
              <a:ext cx="41849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B56A2D6-CFA2-914E-A488-D1F1A1AFED4C}"/>
                </a:ext>
              </a:extLst>
            </p:cNvPr>
            <p:cNvCxnSpPr>
              <a:cxnSpLocks/>
            </p:cNvCxnSpPr>
            <p:nvPr/>
          </p:nvCxnSpPr>
          <p:spPr>
            <a:xfrm>
              <a:off x="6320980" y="4396249"/>
              <a:ext cx="41849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52DC2475-A7A9-0149-9359-004C3C7D9F56}"/>
                </a:ext>
              </a:extLst>
            </p:cNvPr>
            <p:cNvCxnSpPr>
              <a:cxnSpLocks/>
            </p:cNvCxnSpPr>
            <p:nvPr/>
          </p:nvCxnSpPr>
          <p:spPr>
            <a:xfrm>
              <a:off x="6345537" y="6063133"/>
              <a:ext cx="41849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5" name="Group 84">
              <a:extLst>
                <a:ext uri="{FF2B5EF4-FFF2-40B4-BE49-F238E27FC236}">
                  <a16:creationId xmlns:a16="http://schemas.microsoft.com/office/drawing/2014/main" id="{348842F7-EC41-B94C-A766-D527C0B8B561}"/>
                </a:ext>
              </a:extLst>
            </p:cNvPr>
            <p:cNvGrpSpPr/>
            <p:nvPr/>
          </p:nvGrpSpPr>
          <p:grpSpPr>
            <a:xfrm>
              <a:off x="6793280" y="4288264"/>
              <a:ext cx="669590" cy="1262120"/>
              <a:chOff x="3871783" y="1363923"/>
              <a:chExt cx="720000" cy="1357139"/>
            </a:xfrm>
          </p:grpSpPr>
          <p:sp>
            <p:nvSpPr>
              <p:cNvPr id="86" name="Oval 85">
                <a:extLst>
                  <a:ext uri="{FF2B5EF4-FFF2-40B4-BE49-F238E27FC236}">
                    <a16:creationId xmlns:a16="http://schemas.microsoft.com/office/drawing/2014/main" id="{C827AF54-CF3A-7E4F-8EC2-C87BF2CE3E51}"/>
                  </a:ext>
                </a:extLst>
              </p:cNvPr>
              <p:cNvSpPr/>
              <p:nvPr/>
            </p:nvSpPr>
            <p:spPr>
              <a:xfrm rot="10800000" flipV="1">
                <a:off x="3871783" y="200106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87" name="Oval 86">
                <a:extLst>
                  <a:ext uri="{FF2B5EF4-FFF2-40B4-BE49-F238E27FC236}">
                    <a16:creationId xmlns:a16="http://schemas.microsoft.com/office/drawing/2014/main" id="{E8664033-5E97-7A41-ACCF-97B875790008}"/>
                  </a:ext>
                </a:extLst>
              </p:cNvPr>
              <p:cNvSpPr/>
              <p:nvPr/>
            </p:nvSpPr>
            <p:spPr>
              <a:xfrm rot="10800000" flipV="1">
                <a:off x="4097579" y="1363923"/>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88" name="Straight Connector 87">
                <a:extLst>
                  <a:ext uri="{FF2B5EF4-FFF2-40B4-BE49-F238E27FC236}">
                    <a16:creationId xmlns:a16="http://schemas.microsoft.com/office/drawing/2014/main" id="{23813B4D-1A95-CE4B-9F43-1306D907DD02}"/>
                  </a:ext>
                </a:extLst>
              </p:cNvPr>
              <p:cNvCxnSpPr>
                <a:cxnSpLocks/>
                <a:stCxn id="87" idx="4"/>
                <a:endCxn id="86" idx="0"/>
              </p:cNvCxnSpPr>
              <p:nvPr/>
            </p:nvCxnSpPr>
            <p:spPr>
              <a:xfrm>
                <a:off x="4223578" y="1615922"/>
                <a:ext cx="8205" cy="3851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9E5F5320-569E-4B4A-B6ED-E980DFA8B1BC}"/>
                </a:ext>
              </a:extLst>
            </p:cNvPr>
            <p:cNvGrpSpPr/>
            <p:nvPr/>
          </p:nvGrpSpPr>
          <p:grpSpPr>
            <a:xfrm>
              <a:off x="7674487" y="5098188"/>
              <a:ext cx="669590" cy="1235035"/>
              <a:chOff x="3863580" y="2249199"/>
              <a:chExt cx="720000" cy="1328015"/>
            </a:xfrm>
          </p:grpSpPr>
          <p:sp>
            <p:nvSpPr>
              <p:cNvPr id="90" name="Oval 89">
                <a:extLst>
                  <a:ext uri="{FF2B5EF4-FFF2-40B4-BE49-F238E27FC236}">
                    <a16:creationId xmlns:a16="http://schemas.microsoft.com/office/drawing/2014/main" id="{D5705F4A-A91F-3B4C-B3A3-7D8BEA7D07EF}"/>
                  </a:ext>
                </a:extLst>
              </p:cNvPr>
              <p:cNvSpPr/>
              <p:nvPr/>
            </p:nvSpPr>
            <p:spPr>
              <a:xfrm rot="10800000" flipV="1">
                <a:off x="3863580" y="285721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91" name="Oval 90">
                <a:extLst>
                  <a:ext uri="{FF2B5EF4-FFF2-40B4-BE49-F238E27FC236}">
                    <a16:creationId xmlns:a16="http://schemas.microsoft.com/office/drawing/2014/main" id="{C36A454E-D016-2740-87D0-DDBA73027C27}"/>
                  </a:ext>
                </a:extLst>
              </p:cNvPr>
              <p:cNvSpPr/>
              <p:nvPr/>
            </p:nvSpPr>
            <p:spPr>
              <a:xfrm rot="10800000" flipV="1">
                <a:off x="4105781" y="2249199"/>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92" name="Straight Connector 91">
                <a:extLst>
                  <a:ext uri="{FF2B5EF4-FFF2-40B4-BE49-F238E27FC236}">
                    <a16:creationId xmlns:a16="http://schemas.microsoft.com/office/drawing/2014/main" id="{D4E7DEF5-651B-E543-BBBC-8037560925AA}"/>
                  </a:ext>
                </a:extLst>
              </p:cNvPr>
              <p:cNvCxnSpPr>
                <a:cxnSpLocks/>
                <a:stCxn id="91" idx="4"/>
                <a:endCxn id="90" idx="0"/>
              </p:cNvCxnSpPr>
              <p:nvPr/>
            </p:nvCxnSpPr>
            <p:spPr>
              <a:xfrm flipH="1">
                <a:off x="4223580" y="2501198"/>
                <a:ext cx="8200" cy="3560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3" name="Oval 92">
              <a:extLst>
                <a:ext uri="{FF2B5EF4-FFF2-40B4-BE49-F238E27FC236}">
                  <a16:creationId xmlns:a16="http://schemas.microsoft.com/office/drawing/2014/main" id="{4D33CA56-32D8-F94B-8218-5B07A45AEC21}"/>
                </a:ext>
              </a:extLst>
            </p:cNvPr>
            <p:cNvSpPr/>
            <p:nvPr/>
          </p:nvSpPr>
          <p:spPr>
            <a:xfrm rot="10800000" flipV="1">
              <a:off x="9113933" y="5651485"/>
              <a:ext cx="669590" cy="6695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94" name="Oval 93">
              <a:extLst>
                <a:ext uri="{FF2B5EF4-FFF2-40B4-BE49-F238E27FC236}">
                  <a16:creationId xmlns:a16="http://schemas.microsoft.com/office/drawing/2014/main" id="{E02981F6-0E55-BF44-84C9-A091B0322290}"/>
                </a:ext>
              </a:extLst>
            </p:cNvPr>
            <p:cNvSpPr/>
            <p:nvPr/>
          </p:nvSpPr>
          <p:spPr>
            <a:xfrm rot="10800000" flipV="1">
              <a:off x="9315239" y="4261714"/>
              <a:ext cx="234356" cy="2343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95" name="Straight Connector 94">
              <a:extLst>
                <a:ext uri="{FF2B5EF4-FFF2-40B4-BE49-F238E27FC236}">
                  <a16:creationId xmlns:a16="http://schemas.microsoft.com/office/drawing/2014/main" id="{3D28BB64-A5A5-5C41-9193-E9AAAB615D3A}"/>
                </a:ext>
              </a:extLst>
            </p:cNvPr>
            <p:cNvCxnSpPr>
              <a:cxnSpLocks/>
              <a:stCxn id="94" idx="4"/>
              <a:endCxn id="93" idx="0"/>
            </p:cNvCxnSpPr>
            <p:nvPr/>
          </p:nvCxnSpPr>
          <p:spPr>
            <a:xfrm>
              <a:off x="9432417" y="4496070"/>
              <a:ext cx="16311" cy="11554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1587443-5795-704E-A2ED-C83B7A420B8C}"/>
                </a:ext>
              </a:extLst>
            </p:cNvPr>
            <p:cNvCxnSpPr>
              <a:cxnSpLocks/>
            </p:cNvCxnSpPr>
            <p:nvPr/>
          </p:nvCxnSpPr>
          <p:spPr>
            <a:xfrm>
              <a:off x="1292586" y="5235678"/>
              <a:ext cx="41849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D30A4A01-E2FC-2F4A-A781-525E9A6894C6}"/>
                </a:ext>
              </a:extLst>
            </p:cNvPr>
            <p:cNvCxnSpPr>
              <a:cxnSpLocks/>
            </p:cNvCxnSpPr>
            <p:nvPr/>
          </p:nvCxnSpPr>
          <p:spPr>
            <a:xfrm>
              <a:off x="1292586" y="4403637"/>
              <a:ext cx="41849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E53EA6F7-8BF9-D745-81F1-654B5100FA70}"/>
                </a:ext>
              </a:extLst>
            </p:cNvPr>
            <p:cNvCxnSpPr>
              <a:cxnSpLocks/>
            </p:cNvCxnSpPr>
            <p:nvPr/>
          </p:nvCxnSpPr>
          <p:spPr>
            <a:xfrm>
              <a:off x="1317143" y="6070520"/>
              <a:ext cx="41849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Oval 98">
              <a:extLst>
                <a:ext uri="{FF2B5EF4-FFF2-40B4-BE49-F238E27FC236}">
                  <a16:creationId xmlns:a16="http://schemas.microsoft.com/office/drawing/2014/main" id="{61969E8F-9B0E-464E-B3A4-89B320D780CC}"/>
                </a:ext>
              </a:extLst>
            </p:cNvPr>
            <p:cNvSpPr/>
            <p:nvPr/>
          </p:nvSpPr>
          <p:spPr>
            <a:xfrm rot="10800000" flipV="1">
              <a:off x="1695566" y="5677003"/>
              <a:ext cx="669590" cy="6695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00" name="Oval 99">
              <a:extLst>
                <a:ext uri="{FF2B5EF4-FFF2-40B4-BE49-F238E27FC236}">
                  <a16:creationId xmlns:a16="http://schemas.microsoft.com/office/drawing/2014/main" id="{8D48A772-DC97-8A47-9C02-2CE2271D18D5}"/>
                </a:ext>
              </a:extLst>
            </p:cNvPr>
            <p:cNvSpPr/>
            <p:nvPr/>
          </p:nvSpPr>
          <p:spPr>
            <a:xfrm rot="10800000" flipV="1">
              <a:off x="1928696" y="4288264"/>
              <a:ext cx="234356" cy="2343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01" name="Straight Connector 100">
              <a:extLst>
                <a:ext uri="{FF2B5EF4-FFF2-40B4-BE49-F238E27FC236}">
                  <a16:creationId xmlns:a16="http://schemas.microsoft.com/office/drawing/2014/main" id="{E57126F8-6DE8-084E-9AF2-0165A9CE1B22}"/>
                </a:ext>
              </a:extLst>
            </p:cNvPr>
            <p:cNvCxnSpPr>
              <a:cxnSpLocks/>
              <a:stCxn id="100" idx="4"/>
              <a:endCxn id="99" idx="0"/>
            </p:cNvCxnSpPr>
            <p:nvPr/>
          </p:nvCxnSpPr>
          <p:spPr>
            <a:xfrm flipH="1">
              <a:off x="2030361" y="4522619"/>
              <a:ext cx="15513" cy="11543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2" name="Group 101">
              <a:extLst>
                <a:ext uri="{FF2B5EF4-FFF2-40B4-BE49-F238E27FC236}">
                  <a16:creationId xmlns:a16="http://schemas.microsoft.com/office/drawing/2014/main" id="{07D03C8F-F6FE-CE46-97E7-0016C9EDA208}"/>
                </a:ext>
              </a:extLst>
            </p:cNvPr>
            <p:cNvGrpSpPr/>
            <p:nvPr/>
          </p:nvGrpSpPr>
          <p:grpSpPr>
            <a:xfrm>
              <a:off x="3394878" y="4261986"/>
              <a:ext cx="669590" cy="1235035"/>
              <a:chOff x="3863580" y="2249199"/>
              <a:chExt cx="720000" cy="1328015"/>
            </a:xfrm>
          </p:grpSpPr>
          <p:sp>
            <p:nvSpPr>
              <p:cNvPr id="103" name="Oval 102">
                <a:extLst>
                  <a:ext uri="{FF2B5EF4-FFF2-40B4-BE49-F238E27FC236}">
                    <a16:creationId xmlns:a16="http://schemas.microsoft.com/office/drawing/2014/main" id="{A257F8BE-C98A-4B4D-A98F-D5A3B7938EA9}"/>
                  </a:ext>
                </a:extLst>
              </p:cNvPr>
              <p:cNvSpPr/>
              <p:nvPr/>
            </p:nvSpPr>
            <p:spPr>
              <a:xfrm rot="10800000" flipV="1">
                <a:off x="3863580" y="285721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04" name="Oval 103">
                <a:extLst>
                  <a:ext uri="{FF2B5EF4-FFF2-40B4-BE49-F238E27FC236}">
                    <a16:creationId xmlns:a16="http://schemas.microsoft.com/office/drawing/2014/main" id="{21657271-E2F3-DB4B-85B8-7CA1538C0BB1}"/>
                  </a:ext>
                </a:extLst>
              </p:cNvPr>
              <p:cNvSpPr/>
              <p:nvPr/>
            </p:nvSpPr>
            <p:spPr>
              <a:xfrm rot="10800000" flipV="1">
                <a:off x="4105781" y="2249199"/>
                <a:ext cx="251999" cy="2519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05" name="Straight Connector 104">
                <a:extLst>
                  <a:ext uri="{FF2B5EF4-FFF2-40B4-BE49-F238E27FC236}">
                    <a16:creationId xmlns:a16="http://schemas.microsoft.com/office/drawing/2014/main" id="{1E6BE635-9347-B14C-BC63-604B522B812B}"/>
                  </a:ext>
                </a:extLst>
              </p:cNvPr>
              <p:cNvCxnSpPr>
                <a:cxnSpLocks/>
                <a:stCxn id="104" idx="4"/>
                <a:endCxn id="103" idx="0"/>
              </p:cNvCxnSpPr>
              <p:nvPr/>
            </p:nvCxnSpPr>
            <p:spPr>
              <a:xfrm flipH="1">
                <a:off x="4223580" y="2501198"/>
                <a:ext cx="8200" cy="3560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6" name="Group 105">
              <a:extLst>
                <a:ext uri="{FF2B5EF4-FFF2-40B4-BE49-F238E27FC236}">
                  <a16:creationId xmlns:a16="http://schemas.microsoft.com/office/drawing/2014/main" id="{782C13AF-77C5-C945-83AA-892E85B6FB20}"/>
                </a:ext>
              </a:extLst>
            </p:cNvPr>
            <p:cNvGrpSpPr/>
            <p:nvPr/>
          </p:nvGrpSpPr>
          <p:grpSpPr>
            <a:xfrm>
              <a:off x="4323786" y="5081416"/>
              <a:ext cx="669590" cy="1282208"/>
              <a:chOff x="3871780" y="1363923"/>
              <a:chExt cx="720000" cy="1378739"/>
            </a:xfrm>
          </p:grpSpPr>
          <p:sp>
            <p:nvSpPr>
              <p:cNvPr id="107" name="Oval 106">
                <a:extLst>
                  <a:ext uri="{FF2B5EF4-FFF2-40B4-BE49-F238E27FC236}">
                    <a16:creationId xmlns:a16="http://schemas.microsoft.com/office/drawing/2014/main" id="{95CDB969-2CFE-1F4A-BB1A-A9D2AAB79B98}"/>
                  </a:ext>
                </a:extLst>
              </p:cNvPr>
              <p:cNvSpPr/>
              <p:nvPr/>
            </p:nvSpPr>
            <p:spPr>
              <a:xfrm rot="10800000" flipV="1">
                <a:off x="3871780" y="202266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08" name="Oval 107">
                <a:extLst>
                  <a:ext uri="{FF2B5EF4-FFF2-40B4-BE49-F238E27FC236}">
                    <a16:creationId xmlns:a16="http://schemas.microsoft.com/office/drawing/2014/main" id="{97149414-7584-424F-B9CD-C1CAD0BE3B81}"/>
                  </a:ext>
                </a:extLst>
              </p:cNvPr>
              <p:cNvSpPr/>
              <p:nvPr/>
            </p:nvSpPr>
            <p:spPr>
              <a:xfrm rot="10800000" flipV="1">
                <a:off x="4097579" y="1363923"/>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09" name="Straight Connector 108">
                <a:extLst>
                  <a:ext uri="{FF2B5EF4-FFF2-40B4-BE49-F238E27FC236}">
                    <a16:creationId xmlns:a16="http://schemas.microsoft.com/office/drawing/2014/main" id="{7BA6367D-B0B2-6941-A229-DA1E77EFE551}"/>
                  </a:ext>
                </a:extLst>
              </p:cNvPr>
              <p:cNvCxnSpPr>
                <a:cxnSpLocks/>
                <a:stCxn id="108" idx="4"/>
                <a:endCxn id="107" idx="0"/>
              </p:cNvCxnSpPr>
              <p:nvPr/>
            </p:nvCxnSpPr>
            <p:spPr>
              <a:xfrm>
                <a:off x="4223578" y="1615922"/>
                <a:ext cx="8202" cy="4067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3" name="Rectangle 112">
              <a:extLst>
                <a:ext uri="{FF2B5EF4-FFF2-40B4-BE49-F238E27FC236}">
                  <a16:creationId xmlns:a16="http://schemas.microsoft.com/office/drawing/2014/main" id="{6949ABDE-FACC-7B49-80FD-90950FB198C1}"/>
                </a:ext>
              </a:extLst>
            </p:cNvPr>
            <p:cNvSpPr/>
            <p:nvPr/>
          </p:nvSpPr>
          <p:spPr>
            <a:xfrm>
              <a:off x="3181505" y="4119855"/>
              <a:ext cx="1998134" cy="2401724"/>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BC830904-6F2E-DE4C-9E5B-C5BFBBDDD097}"/>
                </a:ext>
              </a:extLst>
            </p:cNvPr>
            <p:cNvSpPr/>
            <p:nvPr/>
          </p:nvSpPr>
          <p:spPr>
            <a:xfrm>
              <a:off x="6567287" y="4119855"/>
              <a:ext cx="1998134" cy="2401724"/>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9140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8668D-14FA-7D42-9DD1-7D98CB4F7015}"/>
              </a:ext>
            </a:extLst>
          </p:cNvPr>
          <p:cNvSpPr>
            <a:spLocks noGrp="1"/>
          </p:cNvSpPr>
          <p:nvPr>
            <p:ph type="title"/>
          </p:nvPr>
        </p:nvSpPr>
        <p:spPr/>
        <p:txBody>
          <a:bodyPr/>
          <a:lstStyle/>
          <a:p>
            <a:r>
              <a:rPr lang="en-ZA" dirty="0"/>
              <a:t>Building the SWAP Gate	</a:t>
            </a:r>
            <a:endParaRPr lang="en-US" dirty="0"/>
          </a:p>
        </p:txBody>
      </p:sp>
      <p:sp>
        <p:nvSpPr>
          <p:cNvPr id="3" name="Slide Number Placeholder 2">
            <a:extLst>
              <a:ext uri="{FF2B5EF4-FFF2-40B4-BE49-F238E27FC236}">
                <a16:creationId xmlns:a16="http://schemas.microsoft.com/office/drawing/2014/main" id="{8829D50D-A7DF-AD44-AE01-6814093FFEF2}"/>
              </a:ext>
            </a:extLst>
          </p:cNvPr>
          <p:cNvSpPr>
            <a:spLocks noGrp="1"/>
          </p:cNvSpPr>
          <p:nvPr>
            <p:ph type="sldNum" sz="quarter" idx="12"/>
          </p:nvPr>
        </p:nvSpPr>
        <p:spPr/>
        <p:txBody>
          <a:bodyPr/>
          <a:lstStyle/>
          <a:p>
            <a:fld id="{591A223C-FA10-BC46-A853-03BA373D023C}" type="slidenum">
              <a:rPr lang="en-US" smtClean="0"/>
              <a:t>23</a:t>
            </a:fld>
            <a:endParaRPr lang="en-US"/>
          </a:p>
        </p:txBody>
      </p:sp>
      <p:cxnSp>
        <p:nvCxnSpPr>
          <p:cNvPr id="5" name="Straight Connector 4">
            <a:extLst>
              <a:ext uri="{FF2B5EF4-FFF2-40B4-BE49-F238E27FC236}">
                <a16:creationId xmlns:a16="http://schemas.microsoft.com/office/drawing/2014/main" id="{DD7ED4A5-9545-AA4D-914D-915D69F35338}"/>
              </a:ext>
            </a:extLst>
          </p:cNvPr>
          <p:cNvCxnSpPr>
            <a:cxnSpLocks/>
          </p:cNvCxnSpPr>
          <p:nvPr/>
        </p:nvCxnSpPr>
        <p:spPr>
          <a:xfrm>
            <a:off x="480643" y="2612187"/>
            <a:ext cx="116559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9544E75-0BDD-7745-8298-79A94C4D68C7}"/>
              </a:ext>
            </a:extLst>
          </p:cNvPr>
          <p:cNvCxnSpPr>
            <a:cxnSpLocks/>
          </p:cNvCxnSpPr>
          <p:nvPr/>
        </p:nvCxnSpPr>
        <p:spPr>
          <a:xfrm>
            <a:off x="1061588" y="1658797"/>
            <a:ext cx="0" cy="95339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E9FC49D-C3DD-6340-BC27-2863DAE55AE3}"/>
              </a:ext>
            </a:extLst>
          </p:cNvPr>
          <p:cNvCxnSpPr>
            <a:cxnSpLocks/>
          </p:cNvCxnSpPr>
          <p:nvPr/>
        </p:nvCxnSpPr>
        <p:spPr>
          <a:xfrm>
            <a:off x="507788" y="1672326"/>
            <a:ext cx="1165590"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EA716F6-12B5-DE4B-99BC-F5237301B5F4}"/>
              </a:ext>
            </a:extLst>
          </p:cNvPr>
          <p:cNvGrpSpPr/>
          <p:nvPr/>
        </p:nvGrpSpPr>
        <p:grpSpPr>
          <a:xfrm>
            <a:off x="930057" y="1538744"/>
            <a:ext cx="270000" cy="270000"/>
            <a:chOff x="1181306" y="4249176"/>
            <a:chExt cx="270000" cy="270000"/>
          </a:xfrm>
        </p:grpSpPr>
        <p:cxnSp>
          <p:nvCxnSpPr>
            <p:cNvPr id="27" name="Straight Connector 26">
              <a:extLst>
                <a:ext uri="{FF2B5EF4-FFF2-40B4-BE49-F238E27FC236}">
                  <a16:creationId xmlns:a16="http://schemas.microsoft.com/office/drawing/2014/main" id="{BD949123-47E4-924A-848F-7C41D8793195}"/>
                </a:ext>
              </a:extLst>
            </p:cNvPr>
            <p:cNvCxnSpPr>
              <a:cxnSpLocks/>
            </p:cNvCxnSpPr>
            <p:nvPr/>
          </p:nvCxnSpPr>
          <p:spPr>
            <a:xfrm rot="-2700000">
              <a:off x="1181306" y="4384177"/>
              <a:ext cx="27000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2510ECB-A424-6244-A083-21780D64C8E1}"/>
                </a:ext>
              </a:extLst>
            </p:cNvPr>
            <p:cNvCxnSpPr>
              <a:cxnSpLocks/>
            </p:cNvCxnSpPr>
            <p:nvPr/>
          </p:nvCxnSpPr>
          <p:spPr>
            <a:xfrm rot="2700000">
              <a:off x="1181163" y="4384176"/>
              <a:ext cx="270000" cy="0"/>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AFC1B276-F81C-1045-85C3-427B71C2C9AB}"/>
              </a:ext>
            </a:extLst>
          </p:cNvPr>
          <p:cNvGrpSpPr/>
          <p:nvPr/>
        </p:nvGrpSpPr>
        <p:grpSpPr>
          <a:xfrm>
            <a:off x="932702" y="2479329"/>
            <a:ext cx="270000" cy="270000"/>
            <a:chOff x="1181306" y="4249176"/>
            <a:chExt cx="270000" cy="270000"/>
          </a:xfrm>
        </p:grpSpPr>
        <p:cxnSp>
          <p:nvCxnSpPr>
            <p:cNvPr id="25" name="Straight Connector 24">
              <a:extLst>
                <a:ext uri="{FF2B5EF4-FFF2-40B4-BE49-F238E27FC236}">
                  <a16:creationId xmlns:a16="http://schemas.microsoft.com/office/drawing/2014/main" id="{924CA8E4-9FD5-E648-9418-94B438216847}"/>
                </a:ext>
              </a:extLst>
            </p:cNvPr>
            <p:cNvCxnSpPr>
              <a:cxnSpLocks/>
            </p:cNvCxnSpPr>
            <p:nvPr/>
          </p:nvCxnSpPr>
          <p:spPr>
            <a:xfrm rot="-2700000">
              <a:off x="1181306" y="4384177"/>
              <a:ext cx="27000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48FC6BC-D293-E84B-BB22-7D3D718E0BAC}"/>
                </a:ext>
              </a:extLst>
            </p:cNvPr>
            <p:cNvCxnSpPr>
              <a:cxnSpLocks/>
            </p:cNvCxnSpPr>
            <p:nvPr/>
          </p:nvCxnSpPr>
          <p:spPr>
            <a:xfrm rot="2700000">
              <a:off x="1181163" y="4384176"/>
              <a:ext cx="270000" cy="0"/>
            </a:xfrm>
            <a:prstGeom prst="line">
              <a:avLst/>
            </a:prstGeom>
            <a:ln w="25400"/>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10D57FD8-7BA4-7D4A-879D-5719DDD996E8}"/>
              </a:ext>
            </a:extLst>
          </p:cNvPr>
          <p:cNvCxnSpPr>
            <a:cxnSpLocks/>
          </p:cNvCxnSpPr>
          <p:nvPr/>
        </p:nvCxnSpPr>
        <p:spPr>
          <a:xfrm>
            <a:off x="4906438" y="2592599"/>
            <a:ext cx="54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0128C82-06A0-D640-8279-072DF66E8F7F}"/>
              </a:ext>
            </a:extLst>
          </p:cNvPr>
          <p:cNvCxnSpPr>
            <a:cxnSpLocks/>
          </p:cNvCxnSpPr>
          <p:nvPr/>
        </p:nvCxnSpPr>
        <p:spPr>
          <a:xfrm>
            <a:off x="4906438" y="1635980"/>
            <a:ext cx="54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C2F33530-49B1-DD43-870C-8813157728AF}"/>
              </a:ext>
            </a:extLst>
          </p:cNvPr>
          <p:cNvGrpSpPr/>
          <p:nvPr/>
        </p:nvGrpSpPr>
        <p:grpSpPr>
          <a:xfrm>
            <a:off x="5317366" y="1521392"/>
            <a:ext cx="539302" cy="1329007"/>
            <a:chOff x="4902363" y="4278495"/>
            <a:chExt cx="914400" cy="2253365"/>
          </a:xfrm>
        </p:grpSpPr>
        <p:sp>
          <p:nvSpPr>
            <p:cNvPr id="22" name="Oval 21">
              <a:extLst>
                <a:ext uri="{FF2B5EF4-FFF2-40B4-BE49-F238E27FC236}">
                  <a16:creationId xmlns:a16="http://schemas.microsoft.com/office/drawing/2014/main" id="{57B2E2E7-B005-B441-A70B-1EDB03BC93B7}"/>
                </a:ext>
              </a:extLst>
            </p:cNvPr>
            <p:cNvSpPr/>
            <p:nvPr/>
          </p:nvSpPr>
          <p:spPr>
            <a:xfrm>
              <a:off x="4902363" y="561746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3" name="Oval 22">
              <a:extLst>
                <a:ext uri="{FF2B5EF4-FFF2-40B4-BE49-F238E27FC236}">
                  <a16:creationId xmlns:a16="http://schemas.microsoft.com/office/drawing/2014/main" id="{7677261B-821E-8443-9362-B19DC7C58BFA}"/>
                </a:ext>
              </a:extLst>
            </p:cNvPr>
            <p:cNvSpPr/>
            <p:nvPr/>
          </p:nvSpPr>
          <p:spPr>
            <a:xfrm>
              <a:off x="5179563" y="4278495"/>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4" name="Straight Connector 23">
              <a:extLst>
                <a:ext uri="{FF2B5EF4-FFF2-40B4-BE49-F238E27FC236}">
                  <a16:creationId xmlns:a16="http://schemas.microsoft.com/office/drawing/2014/main" id="{10CC9406-1A50-434D-9720-939CB4DE136F}"/>
                </a:ext>
              </a:extLst>
            </p:cNvPr>
            <p:cNvCxnSpPr>
              <a:cxnSpLocks/>
              <a:stCxn id="23" idx="4"/>
              <a:endCxn id="22" idx="0"/>
            </p:cNvCxnSpPr>
            <p:nvPr/>
          </p:nvCxnSpPr>
          <p:spPr>
            <a:xfrm>
              <a:off x="5359563" y="4638495"/>
              <a:ext cx="0" cy="97896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ACF3A1BE-348E-6848-B39C-A5629CF63896}"/>
              </a:ext>
            </a:extLst>
          </p:cNvPr>
          <p:cNvGrpSpPr/>
          <p:nvPr/>
        </p:nvGrpSpPr>
        <p:grpSpPr>
          <a:xfrm>
            <a:off x="9288928" y="1521392"/>
            <a:ext cx="539302" cy="1329007"/>
            <a:chOff x="7307142" y="1808257"/>
            <a:chExt cx="539302" cy="1329007"/>
          </a:xfrm>
        </p:grpSpPr>
        <p:sp>
          <p:nvSpPr>
            <p:cNvPr id="15" name="Oval 14">
              <a:extLst>
                <a:ext uri="{FF2B5EF4-FFF2-40B4-BE49-F238E27FC236}">
                  <a16:creationId xmlns:a16="http://schemas.microsoft.com/office/drawing/2014/main" id="{28CFF1F6-F076-584F-BA74-4C432A49F61B}"/>
                </a:ext>
              </a:extLst>
            </p:cNvPr>
            <p:cNvSpPr/>
            <p:nvPr/>
          </p:nvSpPr>
          <p:spPr>
            <a:xfrm>
              <a:off x="7307142" y="2597962"/>
              <a:ext cx="539302" cy="5393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6" name="Oval 15">
              <a:extLst>
                <a:ext uri="{FF2B5EF4-FFF2-40B4-BE49-F238E27FC236}">
                  <a16:creationId xmlns:a16="http://schemas.microsoft.com/office/drawing/2014/main" id="{F069970B-2592-274F-95D5-6000DFEE89B1}"/>
                </a:ext>
              </a:extLst>
            </p:cNvPr>
            <p:cNvSpPr/>
            <p:nvPr/>
          </p:nvSpPr>
          <p:spPr>
            <a:xfrm>
              <a:off x="7470631" y="1808257"/>
              <a:ext cx="212324" cy="2123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7" name="Straight Connector 16">
              <a:extLst>
                <a:ext uri="{FF2B5EF4-FFF2-40B4-BE49-F238E27FC236}">
                  <a16:creationId xmlns:a16="http://schemas.microsoft.com/office/drawing/2014/main" id="{CB6200B5-F64D-4347-853F-31516DF97AF9}"/>
                </a:ext>
              </a:extLst>
            </p:cNvPr>
            <p:cNvCxnSpPr>
              <a:cxnSpLocks/>
              <a:stCxn id="16" idx="4"/>
              <a:endCxn id="15" idx="0"/>
            </p:cNvCxnSpPr>
            <p:nvPr/>
          </p:nvCxnSpPr>
          <p:spPr>
            <a:xfrm>
              <a:off x="7576793" y="2020581"/>
              <a:ext cx="0" cy="57738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85385A34-67FA-C247-B734-D83B8663F988}"/>
              </a:ext>
            </a:extLst>
          </p:cNvPr>
          <p:cNvGrpSpPr/>
          <p:nvPr/>
        </p:nvGrpSpPr>
        <p:grpSpPr>
          <a:xfrm flipV="1">
            <a:off x="6957986" y="1348877"/>
            <a:ext cx="539302" cy="1329007"/>
            <a:chOff x="4902363" y="4278495"/>
            <a:chExt cx="914400" cy="2253365"/>
          </a:xfrm>
        </p:grpSpPr>
        <p:sp>
          <p:nvSpPr>
            <p:cNvPr id="19" name="Oval 18">
              <a:extLst>
                <a:ext uri="{FF2B5EF4-FFF2-40B4-BE49-F238E27FC236}">
                  <a16:creationId xmlns:a16="http://schemas.microsoft.com/office/drawing/2014/main" id="{ECE7B818-8065-BB4A-BA0B-9F638E9583B0}"/>
                </a:ext>
              </a:extLst>
            </p:cNvPr>
            <p:cNvSpPr/>
            <p:nvPr/>
          </p:nvSpPr>
          <p:spPr>
            <a:xfrm>
              <a:off x="4902363" y="561746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0" name="Oval 19">
              <a:extLst>
                <a:ext uri="{FF2B5EF4-FFF2-40B4-BE49-F238E27FC236}">
                  <a16:creationId xmlns:a16="http://schemas.microsoft.com/office/drawing/2014/main" id="{BCEC1087-D803-FD48-A709-81734FB703EC}"/>
                </a:ext>
              </a:extLst>
            </p:cNvPr>
            <p:cNvSpPr/>
            <p:nvPr/>
          </p:nvSpPr>
          <p:spPr>
            <a:xfrm>
              <a:off x="5179563" y="4278495"/>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1" name="Straight Connector 20">
              <a:extLst>
                <a:ext uri="{FF2B5EF4-FFF2-40B4-BE49-F238E27FC236}">
                  <a16:creationId xmlns:a16="http://schemas.microsoft.com/office/drawing/2014/main" id="{2395F469-8EB3-D841-BA3E-DCB6AAB4DBF2}"/>
                </a:ext>
              </a:extLst>
            </p:cNvPr>
            <p:cNvCxnSpPr>
              <a:cxnSpLocks/>
              <a:stCxn id="20" idx="4"/>
              <a:endCxn id="19" idx="0"/>
            </p:cNvCxnSpPr>
            <p:nvPr/>
          </p:nvCxnSpPr>
          <p:spPr>
            <a:xfrm>
              <a:off x="5359563" y="4638495"/>
              <a:ext cx="0" cy="97896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TextBox 29">
            <a:extLst>
              <a:ext uri="{FF2B5EF4-FFF2-40B4-BE49-F238E27FC236}">
                <a16:creationId xmlns:a16="http://schemas.microsoft.com/office/drawing/2014/main" id="{36C66D86-3666-BB41-9AB7-C14262DCD5D6}"/>
              </a:ext>
            </a:extLst>
          </p:cNvPr>
          <p:cNvSpPr txBox="1"/>
          <p:nvPr/>
        </p:nvSpPr>
        <p:spPr>
          <a:xfrm>
            <a:off x="43404" y="1339634"/>
            <a:ext cx="381836" cy="584775"/>
          </a:xfrm>
          <a:prstGeom prst="rect">
            <a:avLst/>
          </a:prstGeom>
          <a:noFill/>
        </p:spPr>
        <p:txBody>
          <a:bodyPr wrap="none" rtlCol="0">
            <a:spAutoFit/>
          </a:bodyPr>
          <a:lstStyle/>
          <a:p>
            <a:r>
              <a:rPr lang="en-US" sz="3200" dirty="0"/>
              <a:t>a</a:t>
            </a:r>
          </a:p>
        </p:txBody>
      </p:sp>
      <p:sp>
        <p:nvSpPr>
          <p:cNvPr id="31" name="TextBox 30">
            <a:extLst>
              <a:ext uri="{FF2B5EF4-FFF2-40B4-BE49-F238E27FC236}">
                <a16:creationId xmlns:a16="http://schemas.microsoft.com/office/drawing/2014/main" id="{697E4E19-C2EA-864C-BB43-D26CA692C224}"/>
              </a:ext>
            </a:extLst>
          </p:cNvPr>
          <p:cNvSpPr txBox="1"/>
          <p:nvPr/>
        </p:nvSpPr>
        <p:spPr>
          <a:xfrm>
            <a:off x="1705121" y="1354005"/>
            <a:ext cx="401072" cy="584775"/>
          </a:xfrm>
          <a:prstGeom prst="rect">
            <a:avLst/>
          </a:prstGeom>
          <a:noFill/>
        </p:spPr>
        <p:txBody>
          <a:bodyPr wrap="none" rtlCol="0">
            <a:spAutoFit/>
          </a:bodyPr>
          <a:lstStyle/>
          <a:p>
            <a:r>
              <a:rPr lang="en-US" sz="3200" dirty="0"/>
              <a:t>b</a:t>
            </a:r>
          </a:p>
        </p:txBody>
      </p:sp>
      <p:sp>
        <p:nvSpPr>
          <p:cNvPr id="32" name="TextBox 31">
            <a:extLst>
              <a:ext uri="{FF2B5EF4-FFF2-40B4-BE49-F238E27FC236}">
                <a16:creationId xmlns:a16="http://schemas.microsoft.com/office/drawing/2014/main" id="{F5953741-9A76-9944-946B-35441842FC2C}"/>
              </a:ext>
            </a:extLst>
          </p:cNvPr>
          <p:cNvSpPr txBox="1"/>
          <p:nvPr/>
        </p:nvSpPr>
        <p:spPr>
          <a:xfrm>
            <a:off x="1724874" y="2295700"/>
            <a:ext cx="381836" cy="584775"/>
          </a:xfrm>
          <a:prstGeom prst="rect">
            <a:avLst/>
          </a:prstGeom>
          <a:noFill/>
        </p:spPr>
        <p:txBody>
          <a:bodyPr wrap="none" rtlCol="0">
            <a:spAutoFit/>
          </a:bodyPr>
          <a:lstStyle/>
          <a:p>
            <a:r>
              <a:rPr lang="en-US" sz="3200" dirty="0"/>
              <a:t>a</a:t>
            </a:r>
          </a:p>
        </p:txBody>
      </p:sp>
      <p:sp>
        <p:nvSpPr>
          <p:cNvPr id="33" name="TextBox 32">
            <a:extLst>
              <a:ext uri="{FF2B5EF4-FFF2-40B4-BE49-F238E27FC236}">
                <a16:creationId xmlns:a16="http://schemas.microsoft.com/office/drawing/2014/main" id="{BDAB963D-C73C-504C-9A1F-65E9A4FA032B}"/>
              </a:ext>
            </a:extLst>
          </p:cNvPr>
          <p:cNvSpPr txBox="1"/>
          <p:nvPr/>
        </p:nvSpPr>
        <p:spPr>
          <a:xfrm>
            <a:off x="74644" y="2305619"/>
            <a:ext cx="401072" cy="584775"/>
          </a:xfrm>
          <a:prstGeom prst="rect">
            <a:avLst/>
          </a:prstGeom>
          <a:noFill/>
        </p:spPr>
        <p:txBody>
          <a:bodyPr wrap="none" rtlCol="0">
            <a:spAutoFit/>
          </a:bodyPr>
          <a:lstStyle/>
          <a:p>
            <a:r>
              <a:rPr lang="en-US" sz="3200" dirty="0"/>
              <a:t>b</a:t>
            </a:r>
          </a:p>
        </p:txBody>
      </p:sp>
      <p:sp>
        <p:nvSpPr>
          <p:cNvPr id="36" name="TextBox 35">
            <a:extLst>
              <a:ext uri="{FF2B5EF4-FFF2-40B4-BE49-F238E27FC236}">
                <a16:creationId xmlns:a16="http://schemas.microsoft.com/office/drawing/2014/main" id="{3D4110F8-FBF9-1446-8638-64A9A40C173E}"/>
              </a:ext>
            </a:extLst>
          </p:cNvPr>
          <p:cNvSpPr txBox="1"/>
          <p:nvPr/>
        </p:nvSpPr>
        <p:spPr>
          <a:xfrm>
            <a:off x="4421857" y="1288710"/>
            <a:ext cx="381836" cy="584775"/>
          </a:xfrm>
          <a:prstGeom prst="rect">
            <a:avLst/>
          </a:prstGeom>
          <a:noFill/>
        </p:spPr>
        <p:txBody>
          <a:bodyPr wrap="none" rtlCol="0">
            <a:spAutoFit/>
          </a:bodyPr>
          <a:lstStyle/>
          <a:p>
            <a:r>
              <a:rPr lang="en-US" sz="3200" dirty="0"/>
              <a:t>a</a:t>
            </a:r>
          </a:p>
        </p:txBody>
      </p:sp>
      <p:sp>
        <p:nvSpPr>
          <p:cNvPr id="37" name="TextBox 36">
            <a:extLst>
              <a:ext uri="{FF2B5EF4-FFF2-40B4-BE49-F238E27FC236}">
                <a16:creationId xmlns:a16="http://schemas.microsoft.com/office/drawing/2014/main" id="{7CD3FB3F-4333-0243-BBD2-C4952302D4B1}"/>
              </a:ext>
            </a:extLst>
          </p:cNvPr>
          <p:cNvSpPr txBox="1"/>
          <p:nvPr/>
        </p:nvSpPr>
        <p:spPr>
          <a:xfrm>
            <a:off x="4453097" y="2254695"/>
            <a:ext cx="401072" cy="584775"/>
          </a:xfrm>
          <a:prstGeom prst="rect">
            <a:avLst/>
          </a:prstGeom>
          <a:noFill/>
        </p:spPr>
        <p:txBody>
          <a:bodyPr wrap="none" rtlCol="0">
            <a:spAutoFit/>
          </a:bodyPr>
          <a:lstStyle/>
          <a:p>
            <a:r>
              <a:rPr lang="en-US" sz="3200" dirty="0"/>
              <a:t>b</a:t>
            </a:r>
          </a:p>
        </p:txBody>
      </p:sp>
      <p:sp>
        <p:nvSpPr>
          <p:cNvPr id="38" name="TextBox 37">
            <a:extLst>
              <a:ext uri="{FF2B5EF4-FFF2-40B4-BE49-F238E27FC236}">
                <a16:creationId xmlns:a16="http://schemas.microsoft.com/office/drawing/2014/main" id="{5F553BF9-8DF0-984E-A774-EF4B23B2D7C2}"/>
              </a:ext>
            </a:extLst>
          </p:cNvPr>
          <p:cNvSpPr txBox="1"/>
          <p:nvPr/>
        </p:nvSpPr>
        <p:spPr>
          <a:xfrm>
            <a:off x="5938029" y="2615480"/>
            <a:ext cx="955711" cy="584775"/>
          </a:xfrm>
          <a:prstGeom prst="rect">
            <a:avLst/>
          </a:prstGeom>
          <a:noFill/>
        </p:spPr>
        <p:txBody>
          <a:bodyPr wrap="none" rtlCol="0">
            <a:spAutoFit/>
          </a:bodyPr>
          <a:lstStyle/>
          <a:p>
            <a:r>
              <a:rPr lang="en-US" sz="3200" dirty="0" err="1"/>
              <a:t>a⨁b</a:t>
            </a:r>
            <a:endParaRPr lang="en-US" sz="3200" dirty="0"/>
          </a:p>
        </p:txBody>
      </p:sp>
      <p:sp>
        <p:nvSpPr>
          <p:cNvPr id="39" name="TextBox 38">
            <a:extLst>
              <a:ext uri="{FF2B5EF4-FFF2-40B4-BE49-F238E27FC236}">
                <a16:creationId xmlns:a16="http://schemas.microsoft.com/office/drawing/2014/main" id="{3D1C7A03-26D5-EF4A-AE4E-8D753C5907B4}"/>
              </a:ext>
            </a:extLst>
          </p:cNvPr>
          <p:cNvSpPr txBox="1"/>
          <p:nvPr/>
        </p:nvSpPr>
        <p:spPr>
          <a:xfrm>
            <a:off x="6223201" y="1056490"/>
            <a:ext cx="381836" cy="584775"/>
          </a:xfrm>
          <a:prstGeom prst="rect">
            <a:avLst/>
          </a:prstGeom>
          <a:noFill/>
        </p:spPr>
        <p:txBody>
          <a:bodyPr wrap="none" rtlCol="0">
            <a:spAutoFit/>
          </a:bodyPr>
          <a:lstStyle/>
          <a:p>
            <a:r>
              <a:rPr lang="en-US" sz="3200" dirty="0"/>
              <a:t>a</a:t>
            </a:r>
          </a:p>
        </p:txBody>
      </p:sp>
      <p:sp>
        <p:nvSpPr>
          <p:cNvPr id="40" name="TextBox 39">
            <a:extLst>
              <a:ext uri="{FF2B5EF4-FFF2-40B4-BE49-F238E27FC236}">
                <a16:creationId xmlns:a16="http://schemas.microsoft.com/office/drawing/2014/main" id="{CCF1FC3A-40A3-CB49-AA5D-CBAF3F7CA026}"/>
              </a:ext>
            </a:extLst>
          </p:cNvPr>
          <p:cNvSpPr txBox="1"/>
          <p:nvPr/>
        </p:nvSpPr>
        <p:spPr>
          <a:xfrm>
            <a:off x="7396341" y="936617"/>
            <a:ext cx="2182008" cy="584775"/>
          </a:xfrm>
          <a:prstGeom prst="rect">
            <a:avLst/>
          </a:prstGeom>
          <a:noFill/>
        </p:spPr>
        <p:txBody>
          <a:bodyPr wrap="none" rtlCol="0">
            <a:spAutoFit/>
          </a:bodyPr>
          <a:lstStyle/>
          <a:p>
            <a:r>
              <a:rPr lang="en-US" sz="3200" dirty="0"/>
              <a:t>(</a:t>
            </a:r>
            <a:r>
              <a:rPr lang="en-US" sz="3200" dirty="0" err="1"/>
              <a:t>a⨁b</a:t>
            </a:r>
            <a:r>
              <a:rPr lang="en-US" sz="3200" dirty="0"/>
              <a:t>)⨁a=b</a:t>
            </a:r>
          </a:p>
        </p:txBody>
      </p:sp>
      <p:sp>
        <p:nvSpPr>
          <p:cNvPr id="41" name="TextBox 40">
            <a:extLst>
              <a:ext uri="{FF2B5EF4-FFF2-40B4-BE49-F238E27FC236}">
                <a16:creationId xmlns:a16="http://schemas.microsoft.com/office/drawing/2014/main" id="{1E906B5C-2398-3A4A-B7AF-C47F9804425B}"/>
              </a:ext>
            </a:extLst>
          </p:cNvPr>
          <p:cNvSpPr txBox="1"/>
          <p:nvPr/>
        </p:nvSpPr>
        <p:spPr>
          <a:xfrm>
            <a:off x="7892770" y="2587315"/>
            <a:ext cx="955711" cy="584775"/>
          </a:xfrm>
          <a:prstGeom prst="rect">
            <a:avLst/>
          </a:prstGeom>
          <a:noFill/>
        </p:spPr>
        <p:txBody>
          <a:bodyPr wrap="none" rtlCol="0">
            <a:spAutoFit/>
          </a:bodyPr>
          <a:lstStyle/>
          <a:p>
            <a:r>
              <a:rPr lang="en-US" sz="3200" dirty="0" err="1"/>
              <a:t>a⨁b</a:t>
            </a:r>
            <a:endParaRPr lang="en-US" sz="3200" dirty="0"/>
          </a:p>
        </p:txBody>
      </p:sp>
      <p:sp>
        <p:nvSpPr>
          <p:cNvPr id="42" name="TextBox 41">
            <a:extLst>
              <a:ext uri="{FF2B5EF4-FFF2-40B4-BE49-F238E27FC236}">
                <a16:creationId xmlns:a16="http://schemas.microsoft.com/office/drawing/2014/main" id="{1903A49B-57B9-304D-AAFC-BCDBA59CAFE8}"/>
              </a:ext>
            </a:extLst>
          </p:cNvPr>
          <p:cNvSpPr txBox="1"/>
          <p:nvPr/>
        </p:nvSpPr>
        <p:spPr>
          <a:xfrm>
            <a:off x="10016704" y="1046571"/>
            <a:ext cx="401072" cy="584775"/>
          </a:xfrm>
          <a:prstGeom prst="rect">
            <a:avLst/>
          </a:prstGeom>
          <a:noFill/>
        </p:spPr>
        <p:txBody>
          <a:bodyPr wrap="none" rtlCol="0">
            <a:spAutoFit/>
          </a:bodyPr>
          <a:lstStyle/>
          <a:p>
            <a:r>
              <a:rPr lang="en-US" sz="3200" dirty="0"/>
              <a:t>b</a:t>
            </a:r>
          </a:p>
        </p:txBody>
      </p:sp>
      <p:sp>
        <p:nvSpPr>
          <p:cNvPr id="43" name="TextBox 42">
            <a:extLst>
              <a:ext uri="{FF2B5EF4-FFF2-40B4-BE49-F238E27FC236}">
                <a16:creationId xmlns:a16="http://schemas.microsoft.com/office/drawing/2014/main" id="{7025CB2A-57C1-0448-9ED0-E0B4A6CC1474}"/>
              </a:ext>
            </a:extLst>
          </p:cNvPr>
          <p:cNvSpPr txBox="1"/>
          <p:nvPr/>
        </p:nvSpPr>
        <p:spPr>
          <a:xfrm>
            <a:off x="10028424" y="2676025"/>
            <a:ext cx="2274982" cy="584775"/>
          </a:xfrm>
          <a:prstGeom prst="rect">
            <a:avLst/>
          </a:prstGeom>
          <a:noFill/>
        </p:spPr>
        <p:txBody>
          <a:bodyPr wrap="none" rtlCol="0">
            <a:spAutoFit/>
          </a:bodyPr>
          <a:lstStyle/>
          <a:p>
            <a:r>
              <a:rPr lang="en-US" sz="3200" dirty="0"/>
              <a:t>b ⨁(</a:t>
            </a:r>
            <a:r>
              <a:rPr lang="en-US" sz="3200" dirty="0" err="1"/>
              <a:t>a⨁b</a:t>
            </a:r>
            <a:r>
              <a:rPr lang="en-US" sz="3200" dirty="0"/>
              <a:t>)=a</a:t>
            </a:r>
          </a:p>
        </p:txBody>
      </p:sp>
      <p:grpSp>
        <p:nvGrpSpPr>
          <p:cNvPr id="49" name="Group 48">
            <a:extLst>
              <a:ext uri="{FF2B5EF4-FFF2-40B4-BE49-F238E27FC236}">
                <a16:creationId xmlns:a16="http://schemas.microsoft.com/office/drawing/2014/main" id="{4744CDC2-4E68-7748-9B3D-16A233A3C54A}"/>
              </a:ext>
            </a:extLst>
          </p:cNvPr>
          <p:cNvGrpSpPr/>
          <p:nvPr/>
        </p:nvGrpSpPr>
        <p:grpSpPr>
          <a:xfrm>
            <a:off x="890312" y="4509612"/>
            <a:ext cx="10411376" cy="2248757"/>
            <a:chOff x="890312" y="4226813"/>
            <a:chExt cx="10411376" cy="2248757"/>
          </a:xfrm>
        </p:grpSpPr>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3347D551-219A-9849-A4FE-AC986A10133A}"/>
                    </a:ext>
                  </a:extLst>
                </p:cNvPr>
                <p:cNvSpPr/>
                <p:nvPr/>
              </p:nvSpPr>
              <p:spPr>
                <a:xfrm>
                  <a:off x="890312" y="4226813"/>
                  <a:ext cx="10411376" cy="1701813"/>
                </a:xfrm>
                <a:prstGeom prst="rect">
                  <a:avLst/>
                </a:prstGeom>
              </p:spPr>
              <p:txBody>
                <a:bodyPr wrap="none">
                  <a:spAutoFit/>
                </a:bodyPr>
                <a:lstStyle/>
                <a:p>
                  <a14:m>
                    <m:oMath xmlns:m="http://schemas.openxmlformats.org/officeDocument/2006/math">
                      <m:d>
                        <m:dPr>
                          <m:ctrlPr>
                            <a:rPr lang="en-US" sz="2800" i="1" smtClean="0">
                              <a:latin typeface="Cambria Math" panose="02040503050406030204" pitchFamily="18" charset="0"/>
                            </a:rPr>
                          </m:ctrlPr>
                        </m:dPr>
                        <m:e>
                          <m:m>
                            <m:mPr>
                              <m:mcs>
                                <m:mc>
                                  <m:mcPr>
                                    <m:count m:val="4"/>
                                    <m:mcJc m:val="center"/>
                                  </m:mcPr>
                                </m:mc>
                              </m:mcs>
                              <m:ctrlPr>
                                <a:rPr lang="en-US" sz="2800" i="1">
                                  <a:latin typeface="Cambria Math" panose="02040503050406030204" pitchFamily="18" charset="0"/>
                                </a:rPr>
                              </m:ctrlPr>
                            </m:mPr>
                            <m:mr>
                              <m:e>
                                <m:r>
                                  <m:rPr>
                                    <m:brk m:alnAt="7"/>
                                  </m:rPr>
                                  <a:rPr lang="en-US" sz="2800" i="1">
                                    <a:latin typeface="Cambria Math" panose="02040503050406030204" pitchFamily="18" charset="0"/>
                                  </a:rPr>
                                  <m:t>1</m:t>
                                </m:r>
                              </m:e>
                              <m:e>
                                <m:r>
                                  <a:rPr lang="en-US" sz="2800" i="1">
                                    <a:latin typeface="Cambria Math" panose="02040503050406030204" pitchFamily="18" charset="0"/>
                                  </a:rPr>
                                  <m:t>0</m:t>
                                </m:r>
                              </m:e>
                              <m:e>
                                <m:r>
                                  <a:rPr lang="en-US" sz="2800" i="1">
                                    <a:latin typeface="Cambria Math" panose="02040503050406030204" pitchFamily="18" charset="0"/>
                                  </a:rPr>
                                  <m:t>0</m:t>
                                </m:r>
                              </m:e>
                              <m:e>
                                <m:r>
                                  <a:rPr lang="en-US" sz="2800" i="1">
                                    <a:latin typeface="Cambria Math" panose="02040503050406030204" pitchFamily="18" charset="0"/>
                                  </a:rPr>
                                  <m:t>0</m:t>
                                </m:r>
                              </m:e>
                            </m:mr>
                            <m:mr>
                              <m:e>
                                <m:r>
                                  <a:rPr lang="en-US" sz="2800" i="1">
                                    <a:latin typeface="Cambria Math" panose="02040503050406030204" pitchFamily="18" charset="0"/>
                                  </a:rPr>
                                  <m:t>0</m:t>
                                </m:r>
                              </m:e>
                              <m:e>
                                <m:r>
                                  <a:rPr lang="en-US" sz="2800" i="1">
                                    <a:latin typeface="Cambria Math" panose="02040503050406030204" pitchFamily="18" charset="0"/>
                                  </a:rPr>
                                  <m:t>1</m:t>
                                </m:r>
                              </m:e>
                              <m:e>
                                <m:r>
                                  <a:rPr lang="en-US" sz="2800" i="1">
                                    <a:latin typeface="Cambria Math" panose="02040503050406030204" pitchFamily="18" charset="0"/>
                                  </a:rPr>
                                  <m:t>0</m:t>
                                </m:r>
                              </m:e>
                              <m:e>
                                <m:r>
                                  <a:rPr lang="en-US" sz="2800" i="1">
                                    <a:latin typeface="Cambria Math" panose="02040503050406030204" pitchFamily="18" charset="0"/>
                                  </a:rPr>
                                  <m:t>0</m:t>
                                </m:r>
                              </m:e>
                            </m:mr>
                            <m:mr>
                              <m:e>
                                <m:r>
                                  <a:rPr lang="en-US" sz="2800" i="1">
                                    <a:latin typeface="Cambria Math" panose="02040503050406030204" pitchFamily="18" charset="0"/>
                                  </a:rPr>
                                  <m:t>0</m:t>
                                </m:r>
                              </m:e>
                              <m:e>
                                <m:r>
                                  <a:rPr lang="en-US" sz="2800" i="1">
                                    <a:latin typeface="Cambria Math" panose="02040503050406030204" pitchFamily="18" charset="0"/>
                                  </a:rPr>
                                  <m:t>0</m:t>
                                </m:r>
                              </m:e>
                              <m:e>
                                <m:r>
                                  <a:rPr lang="en-US" sz="2800" i="1">
                                    <a:latin typeface="Cambria Math" panose="02040503050406030204" pitchFamily="18" charset="0"/>
                                  </a:rPr>
                                  <m:t>0</m:t>
                                </m:r>
                              </m:e>
                              <m:e>
                                <m:r>
                                  <a:rPr lang="en-US" sz="2800" i="1">
                                    <a:latin typeface="Cambria Math" panose="02040503050406030204" pitchFamily="18" charset="0"/>
                                  </a:rPr>
                                  <m:t>1</m:t>
                                </m:r>
                              </m:e>
                            </m:mr>
                            <m:mr>
                              <m:e>
                                <m:r>
                                  <a:rPr lang="en-US" sz="2800" i="1">
                                    <a:latin typeface="Cambria Math" panose="02040503050406030204" pitchFamily="18" charset="0"/>
                                  </a:rPr>
                                  <m:t>0</m:t>
                                </m:r>
                              </m:e>
                              <m:e>
                                <m:r>
                                  <a:rPr lang="en-US" sz="2800" i="1">
                                    <a:latin typeface="Cambria Math" panose="02040503050406030204" pitchFamily="18" charset="0"/>
                                  </a:rPr>
                                  <m:t>0</m:t>
                                </m:r>
                              </m:e>
                              <m:e>
                                <m:r>
                                  <a:rPr lang="en-US" sz="2800" i="1">
                                    <a:latin typeface="Cambria Math" panose="02040503050406030204" pitchFamily="18" charset="0"/>
                                  </a:rPr>
                                  <m:t>1</m:t>
                                </m:r>
                              </m:e>
                              <m:e>
                                <m:r>
                                  <a:rPr lang="en-US" sz="2800" i="1">
                                    <a:latin typeface="Cambria Math" panose="02040503050406030204" pitchFamily="18" charset="0"/>
                                  </a:rPr>
                                  <m:t>0</m:t>
                                </m:r>
                              </m:e>
                            </m:mr>
                          </m:m>
                        </m:e>
                      </m:d>
                    </m:oMath>
                  </a14:m>
                  <a:r>
                    <a:rPr lang="en-US" sz="2800" dirty="0"/>
                    <a:t> </a:t>
                  </a:r>
                  <a14:m>
                    <m:oMath xmlns:m="http://schemas.openxmlformats.org/officeDocument/2006/math">
                      <m:d>
                        <m:dPr>
                          <m:ctrlPr>
                            <a:rPr lang="en-US" sz="2800" i="1">
                              <a:latin typeface="Cambria Math" panose="02040503050406030204" pitchFamily="18" charset="0"/>
                            </a:rPr>
                          </m:ctrlPr>
                        </m:dPr>
                        <m:e>
                          <m:m>
                            <m:mPr>
                              <m:plcHide m:val="on"/>
                              <m:mcs>
                                <m:mc>
                                  <m:mcPr>
                                    <m:count m:val="4"/>
                                    <m:mcJc m:val="center"/>
                                  </m:mcPr>
                                </m:mc>
                              </m:mcs>
                              <m:ctrlPr>
                                <a:rPr lang="en-US" sz="2800" i="1">
                                  <a:latin typeface="Cambria Math" panose="02040503050406030204" pitchFamily="18" charset="0"/>
                                </a:rPr>
                              </m:ctrlPr>
                            </m:mPr>
                            <m:mr>
                              <m:e>
                                <m:r>
                                  <a:rPr lang="en-US" sz="2800">
                                    <a:latin typeface="Cambria Math" panose="02040503050406030204" pitchFamily="18" charset="0"/>
                                  </a:rPr>
                                  <m:t>1</m:t>
                                </m:r>
                              </m:e>
                              <m:e>
                                <m:r>
                                  <a:rPr lang="en-US" sz="2800">
                                    <a:latin typeface="Cambria Math" panose="02040503050406030204" pitchFamily="18" charset="0"/>
                                  </a:rPr>
                                  <m:t>0</m:t>
                                </m:r>
                              </m:e>
                              <m:e>
                                <m:r>
                                  <a:rPr lang="en-US" sz="2800">
                                    <a:latin typeface="Cambria Math" panose="02040503050406030204" pitchFamily="18" charset="0"/>
                                  </a:rPr>
                                  <m:t>0</m:t>
                                </m:r>
                              </m:e>
                              <m:e>
                                <m:r>
                                  <a:rPr lang="en-US" sz="2800">
                                    <a:latin typeface="Cambria Math" panose="02040503050406030204" pitchFamily="18" charset="0"/>
                                  </a:rPr>
                                  <m:t>0</m:t>
                                </m:r>
                              </m:e>
                            </m:mr>
                            <m:mr>
                              <m:e>
                                <m:r>
                                  <a:rPr lang="en-US" sz="2800">
                                    <a:latin typeface="Cambria Math" panose="02040503050406030204" pitchFamily="18" charset="0"/>
                                  </a:rPr>
                                  <m:t>0</m:t>
                                </m:r>
                              </m:e>
                              <m:e>
                                <m:r>
                                  <a:rPr lang="en-US" sz="2800">
                                    <a:latin typeface="Cambria Math" panose="02040503050406030204" pitchFamily="18" charset="0"/>
                                  </a:rPr>
                                  <m:t>0</m:t>
                                </m:r>
                              </m:e>
                              <m:e>
                                <m:r>
                                  <a:rPr lang="en-US" sz="2800">
                                    <a:latin typeface="Cambria Math" panose="02040503050406030204" pitchFamily="18" charset="0"/>
                                  </a:rPr>
                                  <m:t>0</m:t>
                                </m:r>
                              </m:e>
                              <m:e>
                                <m:r>
                                  <a:rPr lang="en-US" sz="2800">
                                    <a:latin typeface="Cambria Math" panose="02040503050406030204" pitchFamily="18" charset="0"/>
                                  </a:rPr>
                                  <m:t>1</m:t>
                                </m:r>
                              </m:e>
                            </m:mr>
                            <m:mr>
                              <m:e>
                                <m:r>
                                  <a:rPr lang="en-US" sz="2800">
                                    <a:latin typeface="Cambria Math" panose="02040503050406030204" pitchFamily="18" charset="0"/>
                                  </a:rPr>
                                  <m:t>0</m:t>
                                </m:r>
                              </m:e>
                              <m:e>
                                <m:r>
                                  <a:rPr lang="en-US" sz="2800">
                                    <a:latin typeface="Cambria Math" panose="02040503050406030204" pitchFamily="18" charset="0"/>
                                  </a:rPr>
                                  <m:t>0</m:t>
                                </m:r>
                              </m:e>
                              <m:e>
                                <m:r>
                                  <a:rPr lang="en-US" sz="2800">
                                    <a:latin typeface="Cambria Math" panose="02040503050406030204" pitchFamily="18" charset="0"/>
                                  </a:rPr>
                                  <m:t>1</m:t>
                                </m:r>
                              </m:e>
                              <m:e>
                                <m:r>
                                  <a:rPr lang="en-US" sz="2800">
                                    <a:latin typeface="Cambria Math" panose="02040503050406030204" pitchFamily="18" charset="0"/>
                                  </a:rPr>
                                  <m:t>0</m:t>
                                </m:r>
                              </m:e>
                            </m:mr>
                            <m:mr>
                              <m:e>
                                <m:r>
                                  <a:rPr lang="en-US" sz="2800">
                                    <a:latin typeface="Cambria Math" panose="02040503050406030204" pitchFamily="18" charset="0"/>
                                  </a:rPr>
                                  <m:t>0</m:t>
                                </m:r>
                              </m:e>
                              <m:e>
                                <m:r>
                                  <a:rPr lang="en-US" sz="2800">
                                    <a:latin typeface="Cambria Math" panose="02040503050406030204" pitchFamily="18" charset="0"/>
                                  </a:rPr>
                                  <m:t>1</m:t>
                                </m:r>
                              </m:e>
                              <m:e>
                                <m:r>
                                  <a:rPr lang="en-US" sz="2800">
                                    <a:latin typeface="Cambria Math" panose="02040503050406030204" pitchFamily="18" charset="0"/>
                                  </a:rPr>
                                  <m:t>0</m:t>
                                </m:r>
                              </m:e>
                              <m:e>
                                <m:r>
                                  <a:rPr lang="en-US" sz="2800">
                                    <a:latin typeface="Cambria Math" panose="02040503050406030204" pitchFamily="18" charset="0"/>
                                  </a:rPr>
                                  <m:t>0</m:t>
                                </m:r>
                              </m:e>
                            </m:mr>
                          </m:m>
                        </m:e>
                      </m:d>
                    </m:oMath>
                  </a14:m>
                  <a:r>
                    <a:rPr lang="en-US" sz="2800" dirty="0"/>
                    <a:t> </a:t>
                  </a:r>
                  <a14:m>
                    <m:oMath xmlns:m="http://schemas.openxmlformats.org/officeDocument/2006/math">
                      <m:d>
                        <m:dPr>
                          <m:ctrlPr>
                            <a:rPr lang="en-US" sz="2800" i="1">
                              <a:latin typeface="Cambria Math" panose="02040503050406030204" pitchFamily="18" charset="0"/>
                            </a:rPr>
                          </m:ctrlPr>
                        </m:dPr>
                        <m:e>
                          <m:m>
                            <m:mPr>
                              <m:mcs>
                                <m:mc>
                                  <m:mcPr>
                                    <m:count m:val="4"/>
                                    <m:mcJc m:val="center"/>
                                  </m:mcPr>
                                </m:mc>
                              </m:mcs>
                              <m:ctrlPr>
                                <a:rPr lang="en-US" sz="2800" i="1">
                                  <a:latin typeface="Cambria Math" panose="02040503050406030204" pitchFamily="18" charset="0"/>
                                </a:rPr>
                              </m:ctrlPr>
                            </m:mPr>
                            <m:mr>
                              <m:e>
                                <m:r>
                                  <m:rPr>
                                    <m:brk m:alnAt="7"/>
                                  </m:rPr>
                                  <a:rPr lang="en-US" sz="2800" i="1">
                                    <a:latin typeface="Cambria Math" panose="02040503050406030204" pitchFamily="18" charset="0"/>
                                  </a:rPr>
                                  <m:t>1</m:t>
                                </m:r>
                              </m:e>
                              <m:e>
                                <m:r>
                                  <a:rPr lang="en-US" sz="2800" i="1">
                                    <a:latin typeface="Cambria Math" panose="02040503050406030204" pitchFamily="18" charset="0"/>
                                  </a:rPr>
                                  <m:t>0</m:t>
                                </m:r>
                              </m:e>
                              <m:e>
                                <m:r>
                                  <a:rPr lang="en-US" sz="2800" i="1">
                                    <a:latin typeface="Cambria Math" panose="02040503050406030204" pitchFamily="18" charset="0"/>
                                  </a:rPr>
                                  <m:t>0</m:t>
                                </m:r>
                              </m:e>
                              <m:e>
                                <m:r>
                                  <a:rPr lang="en-US" sz="2800" i="1">
                                    <a:latin typeface="Cambria Math" panose="02040503050406030204" pitchFamily="18" charset="0"/>
                                  </a:rPr>
                                  <m:t>0</m:t>
                                </m:r>
                              </m:e>
                            </m:mr>
                            <m:mr>
                              <m:e>
                                <m:r>
                                  <a:rPr lang="en-US" sz="2800" i="1">
                                    <a:latin typeface="Cambria Math" panose="02040503050406030204" pitchFamily="18" charset="0"/>
                                  </a:rPr>
                                  <m:t>0</m:t>
                                </m:r>
                              </m:e>
                              <m:e>
                                <m:r>
                                  <a:rPr lang="en-US" sz="2800" i="1">
                                    <a:latin typeface="Cambria Math" panose="02040503050406030204" pitchFamily="18" charset="0"/>
                                  </a:rPr>
                                  <m:t>1</m:t>
                                </m:r>
                              </m:e>
                              <m:e>
                                <m:r>
                                  <a:rPr lang="en-US" sz="2800" i="1">
                                    <a:latin typeface="Cambria Math" panose="02040503050406030204" pitchFamily="18" charset="0"/>
                                  </a:rPr>
                                  <m:t>0</m:t>
                                </m:r>
                              </m:e>
                              <m:e>
                                <m:r>
                                  <a:rPr lang="en-US" sz="2800" i="1">
                                    <a:latin typeface="Cambria Math" panose="02040503050406030204" pitchFamily="18" charset="0"/>
                                  </a:rPr>
                                  <m:t>0</m:t>
                                </m:r>
                              </m:e>
                            </m:mr>
                            <m:mr>
                              <m:e>
                                <m:r>
                                  <a:rPr lang="en-US" sz="2800" i="1">
                                    <a:latin typeface="Cambria Math" panose="02040503050406030204" pitchFamily="18" charset="0"/>
                                  </a:rPr>
                                  <m:t>0</m:t>
                                </m:r>
                              </m:e>
                              <m:e>
                                <m:r>
                                  <a:rPr lang="en-US" sz="2800" i="1">
                                    <a:latin typeface="Cambria Math" panose="02040503050406030204" pitchFamily="18" charset="0"/>
                                  </a:rPr>
                                  <m:t>0</m:t>
                                </m:r>
                              </m:e>
                              <m:e>
                                <m:r>
                                  <a:rPr lang="en-US" sz="2800" i="1">
                                    <a:latin typeface="Cambria Math" panose="02040503050406030204" pitchFamily="18" charset="0"/>
                                  </a:rPr>
                                  <m:t>0</m:t>
                                </m:r>
                              </m:e>
                              <m:e>
                                <m:r>
                                  <a:rPr lang="en-US" sz="2800" i="1">
                                    <a:latin typeface="Cambria Math" panose="02040503050406030204" pitchFamily="18" charset="0"/>
                                  </a:rPr>
                                  <m:t>1</m:t>
                                </m:r>
                              </m:e>
                            </m:mr>
                            <m:mr>
                              <m:e>
                                <m:r>
                                  <a:rPr lang="en-US" sz="2800" i="1">
                                    <a:latin typeface="Cambria Math" panose="02040503050406030204" pitchFamily="18" charset="0"/>
                                  </a:rPr>
                                  <m:t>0</m:t>
                                </m:r>
                              </m:e>
                              <m:e>
                                <m:r>
                                  <a:rPr lang="en-US" sz="2800" i="1">
                                    <a:latin typeface="Cambria Math" panose="02040503050406030204" pitchFamily="18" charset="0"/>
                                  </a:rPr>
                                  <m:t>0</m:t>
                                </m:r>
                              </m:e>
                              <m:e>
                                <m:r>
                                  <a:rPr lang="en-US" sz="2800" i="1">
                                    <a:latin typeface="Cambria Math" panose="02040503050406030204" pitchFamily="18" charset="0"/>
                                  </a:rPr>
                                  <m:t>1</m:t>
                                </m:r>
                              </m:e>
                              <m:e>
                                <m:r>
                                  <a:rPr lang="en-US" sz="2800" i="1">
                                    <a:latin typeface="Cambria Math" panose="02040503050406030204" pitchFamily="18" charset="0"/>
                                  </a:rPr>
                                  <m:t>0</m:t>
                                </m:r>
                              </m:e>
                            </m:mr>
                          </m:m>
                        </m:e>
                      </m:d>
                      <m:r>
                        <a:rPr lang="sr-Latn-RS" sz="2800" b="0" i="0" smtClean="0">
                          <a:latin typeface="Cambria Math" panose="02040503050406030204" pitchFamily="18" charset="0"/>
                        </a:rPr>
                        <m:t>=</m:t>
                      </m:r>
                      <m:d>
                        <m:dPr>
                          <m:ctrlPr>
                            <a:rPr lang="en-US" sz="2800" i="1">
                              <a:latin typeface="Cambria Math" panose="02040503050406030204" pitchFamily="18" charset="0"/>
                            </a:rPr>
                          </m:ctrlPr>
                        </m:dPr>
                        <m:e>
                          <m:m>
                            <m:mPr>
                              <m:mcs>
                                <m:mc>
                                  <m:mcPr>
                                    <m:count m:val="4"/>
                                    <m:mcJc m:val="center"/>
                                  </m:mcPr>
                                </m:mc>
                              </m:mcs>
                              <m:ctrlPr>
                                <a:rPr lang="en-US" sz="2800" i="1">
                                  <a:latin typeface="Cambria Math" panose="02040503050406030204" pitchFamily="18" charset="0"/>
                                </a:rPr>
                              </m:ctrlPr>
                            </m:mPr>
                            <m:mr>
                              <m:e>
                                <m:r>
                                  <m:rPr>
                                    <m:brk m:alnAt="7"/>
                                  </m:rPr>
                                  <a:rPr lang="en-US" sz="2800" i="1">
                                    <a:latin typeface="Cambria Math" panose="02040503050406030204" pitchFamily="18" charset="0"/>
                                  </a:rPr>
                                  <m:t>1</m:t>
                                </m:r>
                              </m:e>
                              <m:e>
                                <m:r>
                                  <a:rPr lang="en-US" sz="2800" i="1">
                                    <a:latin typeface="Cambria Math" panose="02040503050406030204" pitchFamily="18" charset="0"/>
                                  </a:rPr>
                                  <m:t>0</m:t>
                                </m:r>
                              </m:e>
                              <m:e>
                                <m:r>
                                  <a:rPr lang="en-US" sz="2800" i="1">
                                    <a:latin typeface="Cambria Math" panose="02040503050406030204" pitchFamily="18" charset="0"/>
                                  </a:rPr>
                                  <m:t>0</m:t>
                                </m:r>
                              </m:e>
                              <m:e>
                                <m:r>
                                  <a:rPr lang="en-US" sz="2800" i="1">
                                    <a:latin typeface="Cambria Math" panose="02040503050406030204" pitchFamily="18" charset="0"/>
                                  </a:rPr>
                                  <m:t>0</m:t>
                                </m:r>
                              </m:e>
                            </m:mr>
                            <m:mr>
                              <m:e>
                                <m:r>
                                  <a:rPr lang="en-US" sz="2800" i="1">
                                    <a:latin typeface="Cambria Math" panose="02040503050406030204" pitchFamily="18" charset="0"/>
                                  </a:rPr>
                                  <m:t>0</m:t>
                                </m:r>
                              </m:e>
                              <m:e>
                                <m:r>
                                  <a:rPr lang="en-US" sz="2800" i="1">
                                    <a:latin typeface="Cambria Math" panose="02040503050406030204" pitchFamily="18" charset="0"/>
                                  </a:rPr>
                                  <m:t>0</m:t>
                                </m:r>
                              </m:e>
                              <m:e>
                                <m:r>
                                  <a:rPr lang="en-US" sz="2800" i="1">
                                    <a:latin typeface="Cambria Math" panose="02040503050406030204" pitchFamily="18" charset="0"/>
                                  </a:rPr>
                                  <m:t>1</m:t>
                                </m:r>
                              </m:e>
                              <m:e>
                                <m:r>
                                  <a:rPr lang="en-US" sz="2800" i="1">
                                    <a:latin typeface="Cambria Math" panose="02040503050406030204" pitchFamily="18" charset="0"/>
                                  </a:rPr>
                                  <m:t>0</m:t>
                                </m:r>
                              </m:e>
                            </m:mr>
                            <m:mr>
                              <m:e>
                                <m:r>
                                  <a:rPr lang="en-US" sz="2800" i="1">
                                    <a:latin typeface="Cambria Math" panose="02040503050406030204" pitchFamily="18" charset="0"/>
                                  </a:rPr>
                                  <m:t>0</m:t>
                                </m:r>
                              </m:e>
                              <m:e>
                                <m:r>
                                  <a:rPr lang="en-US" sz="2800" i="1">
                                    <a:latin typeface="Cambria Math" panose="02040503050406030204" pitchFamily="18" charset="0"/>
                                  </a:rPr>
                                  <m:t>1</m:t>
                                </m:r>
                              </m:e>
                              <m:e>
                                <m:r>
                                  <a:rPr lang="en-US" sz="2800" i="1">
                                    <a:latin typeface="Cambria Math" panose="02040503050406030204" pitchFamily="18" charset="0"/>
                                  </a:rPr>
                                  <m:t>0</m:t>
                                </m:r>
                              </m:e>
                              <m:e>
                                <m:r>
                                  <a:rPr lang="en-US" sz="2800" i="1">
                                    <a:latin typeface="Cambria Math" panose="02040503050406030204" pitchFamily="18" charset="0"/>
                                  </a:rPr>
                                  <m:t>0</m:t>
                                </m:r>
                              </m:e>
                            </m:mr>
                            <m:mr>
                              <m:e>
                                <m:r>
                                  <a:rPr lang="en-US" sz="2800" i="1">
                                    <a:latin typeface="Cambria Math" panose="02040503050406030204" pitchFamily="18" charset="0"/>
                                  </a:rPr>
                                  <m:t>0</m:t>
                                </m:r>
                              </m:e>
                              <m:e>
                                <m:r>
                                  <a:rPr lang="en-US" sz="2800" i="1">
                                    <a:latin typeface="Cambria Math" panose="02040503050406030204" pitchFamily="18" charset="0"/>
                                  </a:rPr>
                                  <m:t>0</m:t>
                                </m:r>
                              </m:e>
                              <m:e>
                                <m:r>
                                  <a:rPr lang="en-US" sz="2800" i="1">
                                    <a:latin typeface="Cambria Math" panose="02040503050406030204" pitchFamily="18" charset="0"/>
                                  </a:rPr>
                                  <m:t>0</m:t>
                                </m:r>
                              </m:e>
                              <m:e>
                                <m:r>
                                  <a:rPr lang="en-US" sz="2800" i="1">
                                    <a:latin typeface="Cambria Math" panose="02040503050406030204" pitchFamily="18" charset="0"/>
                                  </a:rPr>
                                  <m:t>1</m:t>
                                </m:r>
                              </m:e>
                            </m:mr>
                          </m:m>
                        </m:e>
                      </m:d>
                    </m:oMath>
                  </a14:m>
                  <a:endParaRPr lang="en-US" sz="2800" dirty="0"/>
                </a:p>
              </p:txBody>
            </p:sp>
          </mc:Choice>
          <mc:Fallback xmlns="">
            <p:sp>
              <p:nvSpPr>
                <p:cNvPr id="44" name="Rectangle 43">
                  <a:extLst>
                    <a:ext uri="{FF2B5EF4-FFF2-40B4-BE49-F238E27FC236}">
                      <a16:creationId xmlns:a16="http://schemas.microsoft.com/office/drawing/2014/main" id="{3347D551-219A-9849-A4FE-AC986A10133A}"/>
                    </a:ext>
                  </a:extLst>
                </p:cNvPr>
                <p:cNvSpPr>
                  <a:spLocks noRot="1" noChangeAspect="1" noMove="1" noResize="1" noEditPoints="1" noAdjustHandles="1" noChangeArrowheads="1" noChangeShapeType="1" noTextEdit="1"/>
                </p:cNvSpPr>
                <p:nvPr/>
              </p:nvSpPr>
              <p:spPr>
                <a:xfrm>
                  <a:off x="890312" y="4226813"/>
                  <a:ext cx="10411376" cy="1701813"/>
                </a:xfrm>
                <a:prstGeom prst="rect">
                  <a:avLst/>
                </a:prstGeom>
                <a:blipFill>
                  <a:blip r:embed="rId3"/>
                  <a:stretch>
                    <a:fillRect b="-2222"/>
                  </a:stretch>
                </a:blipFill>
              </p:spPr>
              <p:txBody>
                <a:bodyPr/>
                <a:lstStyle/>
                <a:p>
                  <a:r>
                    <a:rPr lang="en-US">
                      <a:noFill/>
                    </a:rPr>
                    <a:t> </a:t>
                  </a:r>
                </a:p>
              </p:txBody>
            </p:sp>
          </mc:Fallback>
        </mc:AlternateContent>
        <p:sp>
          <p:nvSpPr>
            <p:cNvPr id="45" name="TextBox 44">
              <a:extLst>
                <a:ext uri="{FF2B5EF4-FFF2-40B4-BE49-F238E27FC236}">
                  <a16:creationId xmlns:a16="http://schemas.microsoft.com/office/drawing/2014/main" id="{310C23B1-6071-054E-B7A1-A6C258CE54AF}"/>
                </a:ext>
              </a:extLst>
            </p:cNvPr>
            <p:cNvSpPr txBox="1"/>
            <p:nvPr/>
          </p:nvSpPr>
          <p:spPr>
            <a:xfrm>
              <a:off x="1800986" y="5890795"/>
              <a:ext cx="570990" cy="584775"/>
            </a:xfrm>
            <a:prstGeom prst="rect">
              <a:avLst/>
            </a:prstGeom>
            <a:noFill/>
          </p:spPr>
          <p:txBody>
            <a:bodyPr wrap="none" rtlCol="0">
              <a:spAutoFit/>
            </a:bodyPr>
            <a:lstStyle/>
            <a:p>
              <a:r>
                <a:rPr lang="en-US" sz="3200" dirty="0" err="1"/>
                <a:t>cX</a:t>
              </a:r>
              <a:endParaRPr lang="en-US" sz="3200" dirty="0"/>
            </a:p>
          </p:txBody>
        </p:sp>
        <p:sp>
          <p:nvSpPr>
            <p:cNvPr id="46" name="TextBox 45">
              <a:extLst>
                <a:ext uri="{FF2B5EF4-FFF2-40B4-BE49-F238E27FC236}">
                  <a16:creationId xmlns:a16="http://schemas.microsoft.com/office/drawing/2014/main" id="{47DC31D3-E08B-4442-94DD-BF5007D010C8}"/>
                </a:ext>
              </a:extLst>
            </p:cNvPr>
            <p:cNvSpPr txBox="1"/>
            <p:nvPr/>
          </p:nvSpPr>
          <p:spPr>
            <a:xfrm>
              <a:off x="4320048" y="5890795"/>
              <a:ext cx="707630" cy="584775"/>
            </a:xfrm>
            <a:prstGeom prst="rect">
              <a:avLst/>
            </a:prstGeom>
            <a:noFill/>
          </p:spPr>
          <p:txBody>
            <a:bodyPr wrap="none" rtlCol="0">
              <a:spAutoFit/>
            </a:bodyPr>
            <a:lstStyle/>
            <a:p>
              <a:r>
                <a:rPr lang="en-US" sz="3200" dirty="0" err="1"/>
                <a:t>rcX</a:t>
              </a:r>
              <a:endParaRPr lang="en-US" sz="3200" dirty="0"/>
            </a:p>
          </p:txBody>
        </p:sp>
        <p:sp>
          <p:nvSpPr>
            <p:cNvPr id="47" name="TextBox 46">
              <a:extLst>
                <a:ext uri="{FF2B5EF4-FFF2-40B4-BE49-F238E27FC236}">
                  <a16:creationId xmlns:a16="http://schemas.microsoft.com/office/drawing/2014/main" id="{C46BD743-E1A9-FB40-9FAE-1B08AFEBF063}"/>
                </a:ext>
              </a:extLst>
            </p:cNvPr>
            <p:cNvSpPr txBox="1"/>
            <p:nvPr/>
          </p:nvSpPr>
          <p:spPr>
            <a:xfrm>
              <a:off x="6839110" y="5890795"/>
              <a:ext cx="570990" cy="584775"/>
            </a:xfrm>
            <a:prstGeom prst="rect">
              <a:avLst/>
            </a:prstGeom>
            <a:noFill/>
          </p:spPr>
          <p:txBody>
            <a:bodyPr wrap="none" rtlCol="0">
              <a:spAutoFit/>
            </a:bodyPr>
            <a:lstStyle/>
            <a:p>
              <a:r>
                <a:rPr lang="en-US" sz="3200" dirty="0" err="1"/>
                <a:t>cX</a:t>
              </a:r>
              <a:endParaRPr lang="en-US" sz="3200" dirty="0"/>
            </a:p>
          </p:txBody>
        </p:sp>
        <p:sp>
          <p:nvSpPr>
            <p:cNvPr id="48" name="TextBox 47">
              <a:extLst>
                <a:ext uri="{FF2B5EF4-FFF2-40B4-BE49-F238E27FC236}">
                  <a16:creationId xmlns:a16="http://schemas.microsoft.com/office/drawing/2014/main" id="{7B327D11-F47E-3C4B-8972-56CDDCDFC4CE}"/>
                </a:ext>
              </a:extLst>
            </p:cNvPr>
            <p:cNvSpPr txBox="1"/>
            <p:nvPr/>
          </p:nvSpPr>
          <p:spPr>
            <a:xfrm>
              <a:off x="9358172" y="5890795"/>
              <a:ext cx="1166473" cy="584775"/>
            </a:xfrm>
            <a:prstGeom prst="rect">
              <a:avLst/>
            </a:prstGeom>
            <a:noFill/>
          </p:spPr>
          <p:txBody>
            <a:bodyPr wrap="none" rtlCol="0">
              <a:spAutoFit/>
            </a:bodyPr>
            <a:lstStyle/>
            <a:p>
              <a:r>
                <a:rPr lang="en-US" sz="3200" dirty="0"/>
                <a:t>SWAP</a:t>
              </a:r>
            </a:p>
          </p:txBody>
        </p: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EE0B002-0FFC-DC47-8BA6-656F74D72E8E}"/>
                  </a:ext>
                </a:extLst>
              </p:cNvPr>
              <p:cNvSpPr txBox="1"/>
              <p:nvPr/>
            </p:nvSpPr>
            <p:spPr>
              <a:xfrm>
                <a:off x="2221926" y="1381764"/>
                <a:ext cx="1930080" cy="12003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𝑎</m:t>
                      </m:r>
                      <m:r>
                        <a:rPr lang="sr-Latn-RS" sz="2400" b="0" i="1" smtClean="0">
                          <a:latin typeface="Cambria Math" panose="02040503050406030204" pitchFamily="18" charset="0"/>
                        </a:rPr>
                        <m:t>=</m:t>
                      </m:r>
                      <m:r>
                        <a:rPr lang="sr-Latn-RS" sz="2400" b="0" i="1" smtClean="0">
                          <a:latin typeface="Cambria Math" panose="02040503050406030204" pitchFamily="18" charset="0"/>
                        </a:rPr>
                        <m:t>𝑎</m:t>
                      </m:r>
                      <m:r>
                        <a:rPr lang="sr-Latn-RS" sz="2400" b="0" i="1" smtClean="0">
                          <a:latin typeface="Cambria Math" panose="02040503050406030204" pitchFamily="18" charset="0"/>
                        </a:rPr>
                        <m:t> </m:t>
                      </m:r>
                      <m:r>
                        <a:rPr lang="sr-Latn-RS" sz="2400" b="0" i="1" smtClean="0">
                          <a:latin typeface="Cambria Math" panose="02040503050406030204" pitchFamily="18" charset="0"/>
                        </a:rPr>
                        <m:t>𝑋𝑂𝑅</m:t>
                      </m:r>
                      <m:r>
                        <a:rPr lang="sr-Latn-RS" sz="2400" b="0" i="1" smtClean="0">
                          <a:latin typeface="Cambria Math" panose="02040503050406030204" pitchFamily="18" charset="0"/>
                        </a:rPr>
                        <m:t> </m:t>
                      </m:r>
                      <m:r>
                        <a:rPr lang="sr-Latn-RS" sz="2400" b="0" i="1" smtClean="0">
                          <a:latin typeface="Cambria Math" panose="02040503050406030204" pitchFamily="18" charset="0"/>
                        </a:rPr>
                        <m:t>𝑏</m:t>
                      </m:r>
                    </m:oMath>
                  </m:oMathPara>
                </a14:m>
                <a:endParaRPr lang="sr-Latn-RS" sz="2400" b="0" dirty="0"/>
              </a:p>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𝑏</m:t>
                      </m:r>
                      <m:r>
                        <a:rPr lang="sr-Latn-RS" sz="2400" i="1">
                          <a:latin typeface="Cambria Math" panose="02040503050406030204" pitchFamily="18" charset="0"/>
                        </a:rPr>
                        <m:t>=</m:t>
                      </m:r>
                      <m:r>
                        <a:rPr lang="sr-Latn-RS" sz="2400" b="0" i="1" smtClean="0">
                          <a:latin typeface="Cambria Math" panose="02040503050406030204" pitchFamily="18" charset="0"/>
                        </a:rPr>
                        <m:t>𝑏</m:t>
                      </m:r>
                      <m:r>
                        <a:rPr lang="sr-Latn-RS" sz="2400" i="1">
                          <a:latin typeface="Cambria Math" panose="02040503050406030204" pitchFamily="18" charset="0"/>
                        </a:rPr>
                        <m:t> </m:t>
                      </m:r>
                      <m:r>
                        <a:rPr lang="sr-Latn-RS" sz="2400" i="1">
                          <a:latin typeface="Cambria Math" panose="02040503050406030204" pitchFamily="18" charset="0"/>
                        </a:rPr>
                        <m:t>𝑋𝑂𝑅</m:t>
                      </m:r>
                      <m:r>
                        <a:rPr lang="sr-Latn-RS" sz="2400" i="1">
                          <a:latin typeface="Cambria Math" panose="02040503050406030204" pitchFamily="18" charset="0"/>
                        </a:rPr>
                        <m:t> </m:t>
                      </m:r>
                      <m:r>
                        <a:rPr lang="sr-Latn-RS" sz="2400" b="0" i="1" smtClean="0">
                          <a:latin typeface="Cambria Math" panose="02040503050406030204" pitchFamily="18" charset="0"/>
                        </a:rPr>
                        <m:t>𝑎</m:t>
                      </m:r>
                    </m:oMath>
                  </m:oMathPara>
                </a14:m>
                <a:endParaRPr lang="en-US" sz="2400" dirty="0"/>
              </a:p>
              <a:p>
                <a:pPr/>
                <a14:m>
                  <m:oMathPara xmlns:m="http://schemas.openxmlformats.org/officeDocument/2006/math">
                    <m:oMathParaPr>
                      <m:jc m:val="centerGroup"/>
                    </m:oMathParaPr>
                    <m:oMath xmlns:m="http://schemas.openxmlformats.org/officeDocument/2006/math">
                      <m:r>
                        <a:rPr lang="sr-Latn-RS" sz="2400" i="1">
                          <a:latin typeface="Cambria Math" panose="02040503050406030204" pitchFamily="18" charset="0"/>
                        </a:rPr>
                        <m:t>𝑎</m:t>
                      </m:r>
                      <m:r>
                        <a:rPr lang="sr-Latn-RS" sz="2400" i="1">
                          <a:latin typeface="Cambria Math" panose="02040503050406030204" pitchFamily="18" charset="0"/>
                        </a:rPr>
                        <m:t>=</m:t>
                      </m:r>
                      <m:r>
                        <a:rPr lang="sr-Latn-RS" sz="2400" i="1">
                          <a:latin typeface="Cambria Math" panose="02040503050406030204" pitchFamily="18" charset="0"/>
                        </a:rPr>
                        <m:t>𝑎</m:t>
                      </m:r>
                      <m:r>
                        <a:rPr lang="sr-Latn-RS" sz="2400" i="1">
                          <a:latin typeface="Cambria Math" panose="02040503050406030204" pitchFamily="18" charset="0"/>
                        </a:rPr>
                        <m:t> </m:t>
                      </m:r>
                      <m:r>
                        <a:rPr lang="sr-Latn-RS" sz="2400" i="1">
                          <a:latin typeface="Cambria Math" panose="02040503050406030204" pitchFamily="18" charset="0"/>
                        </a:rPr>
                        <m:t>𝑋𝑂𝑅</m:t>
                      </m:r>
                      <m:r>
                        <a:rPr lang="sr-Latn-RS" sz="2400" i="1">
                          <a:latin typeface="Cambria Math" panose="02040503050406030204" pitchFamily="18" charset="0"/>
                        </a:rPr>
                        <m:t> </m:t>
                      </m:r>
                      <m:r>
                        <a:rPr lang="sr-Latn-RS" sz="2400" i="1">
                          <a:latin typeface="Cambria Math" panose="02040503050406030204" pitchFamily="18" charset="0"/>
                        </a:rPr>
                        <m:t>𝑏</m:t>
                      </m:r>
                    </m:oMath>
                  </m:oMathPara>
                </a14:m>
                <a:endParaRPr lang="en-US" sz="2400" dirty="0"/>
              </a:p>
            </p:txBody>
          </p:sp>
        </mc:Choice>
        <mc:Fallback xmlns="">
          <p:sp>
            <p:nvSpPr>
              <p:cNvPr id="4" name="TextBox 3">
                <a:extLst>
                  <a:ext uri="{FF2B5EF4-FFF2-40B4-BE49-F238E27FC236}">
                    <a16:creationId xmlns:a16="http://schemas.microsoft.com/office/drawing/2014/main" id="{DEE0B002-0FFC-DC47-8BA6-656F74D72E8E}"/>
                  </a:ext>
                </a:extLst>
              </p:cNvPr>
              <p:cNvSpPr txBox="1">
                <a:spLocks noRot="1" noChangeAspect="1" noMove="1" noResize="1" noEditPoints="1" noAdjustHandles="1" noChangeArrowheads="1" noChangeShapeType="1" noTextEdit="1"/>
              </p:cNvSpPr>
              <p:nvPr/>
            </p:nvSpPr>
            <p:spPr>
              <a:xfrm>
                <a:off x="2221926" y="1381764"/>
                <a:ext cx="1930080" cy="1200329"/>
              </a:xfrm>
              <a:prstGeom prst="rect">
                <a:avLst/>
              </a:prstGeom>
              <a:blipFill>
                <a:blip r:embed="rId4"/>
                <a:stretch>
                  <a:fillRect b="-6316"/>
                </a:stretch>
              </a:blipFill>
            </p:spPr>
            <p:txBody>
              <a:bodyPr/>
              <a:lstStyle/>
              <a:p>
                <a:r>
                  <a:rPr lang="en-US">
                    <a:noFill/>
                  </a:rPr>
                  <a:t> </a:t>
                </a:r>
              </a:p>
            </p:txBody>
          </p:sp>
        </mc:Fallback>
      </mc:AlternateContent>
      <p:cxnSp>
        <p:nvCxnSpPr>
          <p:cNvPr id="29" name="Straight Arrow Connector 28">
            <a:extLst>
              <a:ext uri="{FF2B5EF4-FFF2-40B4-BE49-F238E27FC236}">
                <a16:creationId xmlns:a16="http://schemas.microsoft.com/office/drawing/2014/main" id="{6C2E2792-AACA-9C49-91A0-6FAA2D68979E}"/>
              </a:ext>
            </a:extLst>
          </p:cNvPr>
          <p:cNvCxnSpPr>
            <a:cxnSpLocks/>
          </p:cNvCxnSpPr>
          <p:nvPr/>
        </p:nvCxnSpPr>
        <p:spPr>
          <a:xfrm>
            <a:off x="2345189" y="2666110"/>
            <a:ext cx="1683554" cy="0"/>
          </a:xfrm>
          <a:prstGeom prst="straightConnector1">
            <a:avLst/>
          </a:prstGeom>
          <a:ln w="38100">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44C5C4B5-5BEE-C24E-A682-3F43F3163E3C}"/>
              </a:ext>
            </a:extLst>
          </p:cNvPr>
          <p:cNvSpPr/>
          <p:nvPr/>
        </p:nvSpPr>
        <p:spPr>
          <a:xfrm>
            <a:off x="5414474" y="3297540"/>
            <a:ext cx="4850174" cy="461665"/>
          </a:xfrm>
          <a:prstGeom prst="rect">
            <a:avLst/>
          </a:prstGeom>
          <a:solidFill>
            <a:schemeClr val="accent4">
              <a:lumMod val="20000"/>
              <a:lumOff val="80000"/>
            </a:schemeClr>
          </a:solidFill>
        </p:spPr>
        <p:txBody>
          <a:bodyPr wrap="none">
            <a:spAutoFit/>
          </a:bodyPr>
          <a:lstStyle/>
          <a:p>
            <a:r>
              <a:rPr lang="sr-Latn-RS" sz="2400" dirty="0">
                <a:latin typeface="Cambria" panose="02040503050406030204" pitchFamily="18" charset="0"/>
                <a:ea typeface="Times New Roman" panose="02020603050405020304" pitchFamily="18" charset="0"/>
                <a:cs typeface="Times New Roman" panose="02020603050405020304" pitchFamily="18" charset="0"/>
              </a:rPr>
              <a:t>gate </a:t>
            </a:r>
            <a:r>
              <a:rPr lang="sr-Latn-RS" sz="2400" dirty="0" err="1">
                <a:latin typeface="Cambria" panose="02040503050406030204" pitchFamily="18" charset="0"/>
                <a:ea typeface="Times New Roman" panose="02020603050405020304" pitchFamily="18" charset="0"/>
                <a:cs typeface="Times New Roman" panose="02020603050405020304" pitchFamily="18" charset="0"/>
              </a:rPr>
              <a:t>swap</a:t>
            </a:r>
            <a:r>
              <a:rPr lang="sr-Latn-RS" sz="2400" dirty="0">
                <a:latin typeface="Cambria" panose="02040503050406030204" pitchFamily="18" charset="0"/>
                <a:ea typeface="Times New Roman" panose="02020603050405020304" pitchFamily="18" charset="0"/>
                <a:cs typeface="Times New Roman" panose="02020603050405020304" pitchFamily="18" charset="0"/>
              </a:rPr>
              <a:t> </a:t>
            </a:r>
            <a:r>
              <a:rPr lang="sr-Latn-RS" sz="2400" dirty="0" err="1">
                <a:latin typeface="Cambria" panose="02040503050406030204" pitchFamily="18" charset="0"/>
                <a:ea typeface="Times New Roman" panose="02020603050405020304" pitchFamily="18" charset="0"/>
                <a:cs typeface="Times New Roman" panose="02020603050405020304" pitchFamily="18" charset="0"/>
              </a:rPr>
              <a:t>a,b</a:t>
            </a:r>
            <a:r>
              <a:rPr lang="sr-Latn-RS" sz="2400" dirty="0">
                <a:latin typeface="Cambria" panose="02040503050406030204" pitchFamily="18" charset="0"/>
                <a:ea typeface="Times New Roman" panose="02020603050405020304" pitchFamily="18" charset="0"/>
                <a:cs typeface="Times New Roman" panose="02020603050405020304" pitchFamily="18" charset="0"/>
              </a:rPr>
              <a:t> { cx </a:t>
            </a:r>
            <a:r>
              <a:rPr lang="sr-Latn-RS" sz="2400" dirty="0" err="1">
                <a:latin typeface="Cambria" panose="02040503050406030204" pitchFamily="18" charset="0"/>
                <a:ea typeface="Times New Roman" panose="02020603050405020304" pitchFamily="18" charset="0"/>
                <a:cs typeface="Times New Roman" panose="02020603050405020304" pitchFamily="18" charset="0"/>
              </a:rPr>
              <a:t>a,b</a:t>
            </a:r>
            <a:r>
              <a:rPr lang="sr-Latn-RS" sz="2400" dirty="0">
                <a:latin typeface="Cambria" panose="02040503050406030204" pitchFamily="18" charset="0"/>
                <a:ea typeface="Times New Roman" panose="02020603050405020304" pitchFamily="18" charset="0"/>
                <a:cs typeface="Times New Roman" panose="02020603050405020304" pitchFamily="18" charset="0"/>
              </a:rPr>
              <a:t>; cx </a:t>
            </a:r>
            <a:r>
              <a:rPr lang="sr-Latn-RS" sz="2400" dirty="0" err="1">
                <a:latin typeface="Cambria" panose="02040503050406030204" pitchFamily="18" charset="0"/>
                <a:ea typeface="Times New Roman" panose="02020603050405020304" pitchFamily="18" charset="0"/>
                <a:cs typeface="Times New Roman" panose="02020603050405020304" pitchFamily="18" charset="0"/>
              </a:rPr>
              <a:t>b,a</a:t>
            </a:r>
            <a:r>
              <a:rPr lang="sr-Latn-RS" sz="2400" dirty="0">
                <a:latin typeface="Cambria" panose="02040503050406030204" pitchFamily="18" charset="0"/>
                <a:ea typeface="Times New Roman" panose="02020603050405020304" pitchFamily="18" charset="0"/>
                <a:cs typeface="Times New Roman" panose="02020603050405020304" pitchFamily="18" charset="0"/>
              </a:rPr>
              <a:t>; cx </a:t>
            </a:r>
            <a:r>
              <a:rPr lang="sr-Latn-RS" sz="2400" dirty="0" err="1">
                <a:latin typeface="Cambria" panose="02040503050406030204" pitchFamily="18" charset="0"/>
                <a:ea typeface="Times New Roman" panose="02020603050405020304" pitchFamily="18" charset="0"/>
                <a:cs typeface="Times New Roman" panose="02020603050405020304" pitchFamily="18" charset="0"/>
              </a:rPr>
              <a:t>a,b</a:t>
            </a:r>
            <a:r>
              <a:rPr lang="sr-Latn-RS" sz="2400" dirty="0">
                <a:latin typeface="Cambria" panose="02040503050406030204" pitchFamily="18" charset="0"/>
                <a:ea typeface="Times New Roman" panose="02020603050405020304" pitchFamily="18" charset="0"/>
                <a:cs typeface="Times New Roman" panose="02020603050405020304" pitchFamily="18" charset="0"/>
              </a:rPr>
              <a:t>; }</a:t>
            </a:r>
            <a:r>
              <a:rPr lang="en-ZA" sz="2400" dirty="0"/>
              <a:t> </a:t>
            </a:r>
            <a:endParaRPr lang="en-US" sz="2400" dirty="0"/>
          </a:p>
        </p:txBody>
      </p:sp>
      <p:sp>
        <p:nvSpPr>
          <p:cNvPr id="10" name="TextBox 9">
            <a:extLst>
              <a:ext uri="{FF2B5EF4-FFF2-40B4-BE49-F238E27FC236}">
                <a16:creationId xmlns:a16="http://schemas.microsoft.com/office/drawing/2014/main" id="{C031E2BE-6EFF-AC49-ABE9-5CD04E418692}"/>
              </a:ext>
            </a:extLst>
          </p:cNvPr>
          <p:cNvSpPr txBox="1"/>
          <p:nvPr/>
        </p:nvSpPr>
        <p:spPr>
          <a:xfrm>
            <a:off x="2204292" y="2822217"/>
            <a:ext cx="2074094" cy="369332"/>
          </a:xfrm>
          <a:prstGeom prst="rect">
            <a:avLst/>
          </a:prstGeom>
          <a:noFill/>
        </p:spPr>
        <p:txBody>
          <a:bodyPr wrap="none" rtlCol="0">
            <a:spAutoFit/>
          </a:bodyPr>
          <a:lstStyle/>
          <a:p>
            <a:r>
              <a:rPr lang="en-US" dirty="0"/>
              <a:t>XOR swap algorithm</a:t>
            </a:r>
          </a:p>
        </p:txBody>
      </p:sp>
    </p:spTree>
    <p:extLst>
      <p:ext uri="{BB962C8B-B14F-4D97-AF65-F5344CB8AC3E}">
        <p14:creationId xmlns:p14="http://schemas.microsoft.com/office/powerpoint/2010/main" val="1576489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dissolv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dissolve">
                                      <p:cBhvr>
                                        <p:cTn id="1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7791D-4BD4-BC47-90D8-A48DF2B9CFBF}"/>
              </a:ext>
            </a:extLst>
          </p:cNvPr>
          <p:cNvSpPr>
            <a:spLocks noGrp="1"/>
          </p:cNvSpPr>
          <p:nvPr>
            <p:ph type="title"/>
          </p:nvPr>
        </p:nvSpPr>
        <p:spPr/>
        <p:txBody>
          <a:bodyPr/>
          <a:lstStyle/>
          <a:p>
            <a:r>
              <a:rPr lang="en-ZA" dirty="0"/>
              <a:t>Z-Y-Z Decomposition Theorem</a:t>
            </a:r>
            <a:endParaRPr lang="en-US" dirty="0"/>
          </a:p>
        </p:txBody>
      </p:sp>
      <p:sp>
        <p:nvSpPr>
          <p:cNvPr id="3" name="Slide Number Placeholder 2">
            <a:extLst>
              <a:ext uri="{FF2B5EF4-FFF2-40B4-BE49-F238E27FC236}">
                <a16:creationId xmlns:a16="http://schemas.microsoft.com/office/drawing/2014/main" id="{F2266EFA-D27B-C844-BDFD-46984AA5013A}"/>
              </a:ext>
            </a:extLst>
          </p:cNvPr>
          <p:cNvSpPr>
            <a:spLocks noGrp="1"/>
          </p:cNvSpPr>
          <p:nvPr>
            <p:ph type="sldNum" sz="quarter" idx="12"/>
          </p:nvPr>
        </p:nvSpPr>
        <p:spPr/>
        <p:txBody>
          <a:bodyPr/>
          <a:lstStyle/>
          <a:p>
            <a:fld id="{591A223C-FA10-BC46-A853-03BA373D023C}" type="slidenum">
              <a:rPr lang="en-US" smtClean="0"/>
              <a:t>24</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EDD22EE-2026-0F43-9CC1-A3AE75598E6B}"/>
                  </a:ext>
                </a:extLst>
              </p:cNvPr>
              <p:cNvSpPr txBox="1"/>
              <p:nvPr/>
            </p:nvSpPr>
            <p:spPr>
              <a:xfrm>
                <a:off x="4722350" y="1304719"/>
                <a:ext cx="6867113" cy="2091278"/>
              </a:xfrm>
              <a:prstGeom prst="rect">
                <a:avLst/>
              </a:prstGeom>
              <a:solidFill>
                <a:schemeClr val="accent4">
                  <a:lumMod val="20000"/>
                  <a:lumOff val="80000"/>
                </a:schemeClr>
              </a:solidFill>
            </p:spPr>
            <p:txBody>
              <a:bodyPr wrap="square" rtlCol="0">
                <a:spAutoFit/>
              </a:bodyPr>
              <a:lstStyle/>
              <a:p>
                <a:pPr algn="ctr"/>
                <a:r>
                  <a:rPr lang="en-ZA" sz="2400" dirty="0">
                    <a:latin typeface="+mj-lt"/>
                  </a:rPr>
                  <a:t>Any single-qubit unitary operator </a:t>
                </a:r>
                <a14:m>
                  <m:oMath xmlns:m="http://schemas.openxmlformats.org/officeDocument/2006/math">
                    <m:r>
                      <a:rPr lang="en-US" sz="2400" i="1">
                        <a:latin typeface="Cambria Math" panose="02040503050406030204" pitchFamily="18" charset="0"/>
                        <a:ea typeface="Cambria Math" panose="02040503050406030204" pitchFamily="18" charset="0"/>
                      </a:rPr>
                      <m:t>𝑈</m:t>
                    </m:r>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𝑆𝑈</m:t>
                    </m:r>
                    <m:r>
                      <a:rPr lang="en-US" sz="2400" b="0" i="1" smtClean="0">
                        <a:latin typeface="Cambria Math" panose="02040503050406030204" pitchFamily="18" charset="0"/>
                        <a:ea typeface="Cambria Math" panose="02040503050406030204" pitchFamily="18" charset="0"/>
                      </a:rPr>
                      <m:t>(2)</m:t>
                    </m:r>
                  </m:oMath>
                </a14:m>
                <a:endParaRPr lang="en-ZA" sz="2400" dirty="0">
                  <a:latin typeface="+mj-lt"/>
                </a:endParaRPr>
              </a:p>
              <a:p>
                <a:pPr algn="ctr"/>
                <a:r>
                  <a:rPr lang="en-ZA" sz="2400" dirty="0">
                    <a:latin typeface="+mj-lt"/>
                  </a:rPr>
                  <a:t>can be decomposed into a sequence of three rotations about two fixed axes</a:t>
                </a:r>
                <a:endParaRPr lang="en-ZA" sz="800" dirty="0">
                  <a:latin typeface="+mj-lt"/>
                </a:endParaRPr>
              </a:p>
              <a:p>
                <a:pPr algn="ct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0" i="1">
                              <a:latin typeface="Cambria Math" panose="02040503050406030204" pitchFamily="18" charset="0"/>
                            </a:rPr>
                            <m:t>𝑈</m:t>
                          </m:r>
                          <m:r>
                            <a:rPr lang="en-US" sz="2400" b="0">
                              <a:latin typeface="Cambria Math" panose="02040503050406030204" pitchFamily="18" charset="0"/>
                            </a:rPr>
                            <m:t>=</m:t>
                          </m:r>
                          <m:r>
                            <a:rPr lang="en-US" sz="2400" b="0" i="1">
                              <a:latin typeface="Cambria Math" panose="02040503050406030204" pitchFamily="18" charset="0"/>
                            </a:rPr>
                            <m:t>𝑅</m:t>
                          </m:r>
                        </m:e>
                        <m:sub>
                          <m:r>
                            <a:rPr lang="en-US" sz="2400" b="0" i="1">
                              <a:latin typeface="Cambria Math" panose="02040503050406030204" pitchFamily="18" charset="0"/>
                            </a:rPr>
                            <m:t>𝑧</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0" i="1">
                                  <a:latin typeface="Cambria Math" panose="02040503050406030204" pitchFamily="18" charset="0"/>
                                </a:rPr>
                                <m:t>𝛼</m:t>
                              </m:r>
                            </m:e>
                            <m:sub>
                              <m:r>
                                <a:rPr lang="en-US" sz="2400" b="0" i="1">
                                  <a:latin typeface="Cambria Math" panose="02040503050406030204" pitchFamily="18" charset="0"/>
                                </a:rPr>
                                <m:t>1</m:t>
                              </m:r>
                            </m:sub>
                          </m:sSub>
                        </m:e>
                      </m:d>
                      <m:sSub>
                        <m:sSubPr>
                          <m:ctrlPr>
                            <a:rPr lang="en-US" sz="2400" i="1">
                              <a:latin typeface="Cambria Math" panose="02040503050406030204" pitchFamily="18" charset="0"/>
                            </a:rPr>
                          </m:ctrlPr>
                        </m:sSubPr>
                        <m:e>
                          <m:r>
                            <a:rPr lang="en-US" sz="2400" b="0" i="1">
                              <a:latin typeface="Cambria Math" panose="02040503050406030204" pitchFamily="18" charset="0"/>
                            </a:rPr>
                            <m:t>𝑅</m:t>
                          </m:r>
                        </m:e>
                        <m:sub>
                          <m:r>
                            <a:rPr lang="en-US" sz="2400" b="0" i="1">
                              <a:latin typeface="Cambria Math" panose="02040503050406030204" pitchFamily="18" charset="0"/>
                            </a:rPr>
                            <m:t>𝑦</m:t>
                          </m:r>
                        </m:sub>
                      </m:sSub>
                      <m:d>
                        <m:dPr>
                          <m:ctrlPr>
                            <a:rPr lang="en-US" sz="2400" i="1">
                              <a:latin typeface="Cambria Math" panose="02040503050406030204" pitchFamily="18" charset="0"/>
                            </a:rPr>
                          </m:ctrlPr>
                        </m:dPr>
                        <m:e>
                          <m:r>
                            <a:rPr lang="en-US" sz="2400" b="0" i="1">
                              <a:latin typeface="Cambria Math" panose="02040503050406030204" pitchFamily="18" charset="0"/>
                            </a:rPr>
                            <m:t>𝜃</m:t>
                          </m:r>
                        </m:e>
                      </m:d>
                      <m:sSub>
                        <m:sSubPr>
                          <m:ctrlPr>
                            <a:rPr lang="en-US" sz="2400" i="1">
                              <a:latin typeface="Cambria Math" panose="02040503050406030204" pitchFamily="18" charset="0"/>
                            </a:rPr>
                          </m:ctrlPr>
                        </m:sSubPr>
                        <m:e>
                          <m:r>
                            <a:rPr lang="en-US" sz="2400" b="0" i="1">
                              <a:latin typeface="Cambria Math" panose="02040503050406030204" pitchFamily="18" charset="0"/>
                            </a:rPr>
                            <m:t>𝑅</m:t>
                          </m:r>
                        </m:e>
                        <m:sub>
                          <m:r>
                            <a:rPr lang="en-US" sz="2400" b="0" i="1">
                              <a:latin typeface="Cambria Math" panose="02040503050406030204" pitchFamily="18" charset="0"/>
                            </a:rPr>
                            <m:t>𝑧</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0" i="1">
                                  <a:latin typeface="Cambria Math" panose="02040503050406030204" pitchFamily="18" charset="0"/>
                                </a:rPr>
                                <m:t>𝛼</m:t>
                              </m:r>
                            </m:e>
                            <m:sub>
                              <m:r>
                                <a:rPr lang="en-US" sz="2400" b="0" i="1">
                                  <a:latin typeface="Cambria Math" panose="02040503050406030204" pitchFamily="18" charset="0"/>
                                </a:rPr>
                                <m:t>2</m:t>
                              </m:r>
                            </m:sub>
                          </m:sSub>
                        </m:e>
                      </m:d>
                    </m:oMath>
                  </m:oMathPara>
                </a14:m>
                <a:endParaRPr lang="en-US" sz="2400" dirty="0">
                  <a:latin typeface="+mj-lt"/>
                </a:endParaRPr>
              </a:p>
              <a:p>
                <a:pPr algn="ctr"/>
                <a:endParaRPr lang="en-US" sz="800" dirty="0">
                  <a:latin typeface="+mj-lt"/>
                </a:endParaRPr>
              </a:p>
              <a:p>
                <a:pPr algn="ctr"/>
                <a:r>
                  <a:rPr lang="en-US" sz="2400" dirty="0">
                    <a:latin typeface="+mj-lt"/>
                  </a:rPr>
                  <a:t>where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𝛼</m:t>
                        </m:r>
                      </m:e>
                      <m:sub>
                        <m:r>
                          <a:rPr lang="en-US" sz="2400">
                            <a:latin typeface="Cambria Math" panose="02040503050406030204" pitchFamily="18" charset="0"/>
                          </a:rPr>
                          <m:t>1</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𝛼</m:t>
                        </m:r>
                      </m:e>
                      <m:sub>
                        <m:r>
                          <a:rPr lang="en-US" sz="2400" b="0" i="0" smtClean="0">
                            <a:latin typeface="Cambria Math" panose="02040503050406030204" pitchFamily="18" charset="0"/>
                          </a:rPr>
                          <m:t>2</m:t>
                        </m:r>
                      </m:sub>
                    </m:sSub>
                    <m:r>
                      <a:rPr lang="en-US" sz="2400" b="0" i="1" smtClean="0">
                        <a:latin typeface="Cambria Math" panose="02040503050406030204" pitchFamily="18" charset="0"/>
                      </a:rPr>
                      <m:t>, </m:t>
                    </m:r>
                    <m:r>
                      <m:rPr>
                        <m:sty m:val="p"/>
                      </m:rPr>
                      <a:rPr lang="en-US" sz="2400" b="0" i="0" smtClean="0">
                        <a:latin typeface="Cambria Math" panose="02040503050406030204" pitchFamily="18" charset="0"/>
                      </a:rPr>
                      <m:t>and</m:t>
                    </m:r>
                  </m:oMath>
                </a14:m>
                <a:r>
                  <a:rPr lang="en-US" sz="2400" dirty="0">
                    <a:latin typeface="+mj-lt"/>
                  </a:rPr>
                  <a:t> </a:t>
                </a:r>
                <a14:m>
                  <m:oMath xmlns:m="http://schemas.openxmlformats.org/officeDocument/2006/math">
                    <m:r>
                      <a:rPr lang="en-US" sz="2400" i="1">
                        <a:latin typeface="Cambria Math" panose="02040503050406030204" pitchFamily="18" charset="0"/>
                      </a:rPr>
                      <m:t>𝜃</m:t>
                    </m:r>
                    <m:r>
                      <a:rPr lang="en-US" sz="2400" i="1">
                        <a:latin typeface="Cambria Math" panose="02040503050406030204" pitchFamily="18" charset="0"/>
                      </a:rPr>
                      <m:t> </m:t>
                    </m:r>
                  </m:oMath>
                </a14:m>
                <a:r>
                  <a:rPr lang="en-ZA" sz="2400" dirty="0">
                    <a:latin typeface="+mj-lt"/>
                  </a:rPr>
                  <a:t>are real rotation angles.</a:t>
                </a:r>
                <a:endParaRPr lang="en-US" sz="2400" dirty="0">
                  <a:latin typeface="+mj-lt"/>
                </a:endParaRPr>
              </a:p>
            </p:txBody>
          </p:sp>
        </mc:Choice>
        <mc:Fallback xmlns="">
          <p:sp>
            <p:nvSpPr>
              <p:cNvPr id="5" name="TextBox 4">
                <a:extLst>
                  <a:ext uri="{FF2B5EF4-FFF2-40B4-BE49-F238E27FC236}">
                    <a16:creationId xmlns:a16="http://schemas.microsoft.com/office/drawing/2014/main" id="{7EDD22EE-2026-0F43-9CC1-A3AE75598E6B}"/>
                  </a:ext>
                </a:extLst>
              </p:cNvPr>
              <p:cNvSpPr txBox="1">
                <a:spLocks noRot="1" noChangeAspect="1" noMove="1" noResize="1" noEditPoints="1" noAdjustHandles="1" noChangeArrowheads="1" noChangeShapeType="1" noTextEdit="1"/>
              </p:cNvSpPr>
              <p:nvPr/>
            </p:nvSpPr>
            <p:spPr>
              <a:xfrm>
                <a:off x="4722350" y="1304719"/>
                <a:ext cx="6867113" cy="2091278"/>
              </a:xfrm>
              <a:prstGeom prst="rect">
                <a:avLst/>
              </a:prstGeom>
              <a:blipFill>
                <a:blip r:embed="rId3"/>
                <a:stretch>
                  <a:fillRect l="-1479" t="-1818" r="-2033" b="-5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79B61635-DE43-BE4C-8DA8-382A0DF505AD}"/>
                  </a:ext>
                </a:extLst>
              </p:cNvPr>
              <p:cNvSpPr/>
              <p:nvPr/>
            </p:nvSpPr>
            <p:spPr>
              <a:xfrm>
                <a:off x="5871306" y="3836446"/>
                <a:ext cx="4569200" cy="6236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𝑈</m:t>
                          </m:r>
                          <m:r>
                            <a:rPr lang="en-US" sz="3200" i="0">
                              <a:latin typeface="Cambria Math" panose="02040503050406030204" pitchFamily="18" charset="0"/>
                            </a:rPr>
                            <m:t>=</m:t>
                          </m:r>
                          <m:r>
                            <a:rPr lang="en-US" sz="3200" i="1">
                              <a:latin typeface="Cambria Math" panose="02040503050406030204" pitchFamily="18" charset="0"/>
                            </a:rPr>
                            <m:t>𝑅</m:t>
                          </m:r>
                        </m:e>
                        <m:sub>
                          <m:r>
                            <a:rPr lang="en-US" sz="3200" i="1">
                              <a:latin typeface="Cambria Math" panose="02040503050406030204" pitchFamily="18" charset="0"/>
                            </a:rPr>
                            <m:t>𝑧</m:t>
                          </m:r>
                        </m:sub>
                      </m:sSub>
                      <m:d>
                        <m:dPr>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𝛼</m:t>
                              </m:r>
                            </m:e>
                            <m:sub>
                              <m:r>
                                <a:rPr lang="en-US" sz="3200" i="0">
                                  <a:latin typeface="Cambria Math" panose="02040503050406030204" pitchFamily="18" charset="0"/>
                                </a:rPr>
                                <m:t>1</m:t>
                              </m:r>
                            </m:sub>
                          </m:sSub>
                        </m:e>
                      </m:d>
                      <m:sSub>
                        <m:sSubPr>
                          <m:ctrlPr>
                            <a:rPr lang="en-US" sz="3200" i="1">
                              <a:latin typeface="Cambria Math" panose="02040503050406030204" pitchFamily="18" charset="0"/>
                            </a:rPr>
                          </m:ctrlPr>
                        </m:sSubPr>
                        <m:e>
                          <m:r>
                            <a:rPr lang="en-US" sz="3200" i="1">
                              <a:latin typeface="Cambria Math" panose="02040503050406030204" pitchFamily="18" charset="0"/>
                            </a:rPr>
                            <m:t>𝑅</m:t>
                          </m:r>
                        </m:e>
                        <m:sub>
                          <m:r>
                            <a:rPr lang="en-US" sz="3200" i="1">
                              <a:latin typeface="Cambria Math" panose="02040503050406030204" pitchFamily="18" charset="0"/>
                            </a:rPr>
                            <m:t>𝑦</m:t>
                          </m:r>
                        </m:sub>
                      </m:sSub>
                      <m:d>
                        <m:dPr>
                          <m:ctrlPr>
                            <a:rPr lang="en-US" sz="3200" i="1">
                              <a:latin typeface="Cambria Math" panose="02040503050406030204" pitchFamily="18" charset="0"/>
                            </a:rPr>
                          </m:ctrlPr>
                        </m:dPr>
                        <m:e>
                          <m:r>
                            <a:rPr lang="en-US" sz="3200" i="1">
                              <a:latin typeface="Cambria Math" panose="02040503050406030204" pitchFamily="18" charset="0"/>
                            </a:rPr>
                            <m:t>𝜃</m:t>
                          </m:r>
                        </m:e>
                      </m:d>
                      <m:sSub>
                        <m:sSubPr>
                          <m:ctrlPr>
                            <a:rPr lang="en-US" sz="3200" i="1">
                              <a:latin typeface="Cambria Math" panose="02040503050406030204" pitchFamily="18" charset="0"/>
                            </a:rPr>
                          </m:ctrlPr>
                        </m:sSubPr>
                        <m:e>
                          <m:r>
                            <a:rPr lang="en-US" sz="3200" i="1">
                              <a:latin typeface="Cambria Math" panose="02040503050406030204" pitchFamily="18" charset="0"/>
                            </a:rPr>
                            <m:t>𝑅</m:t>
                          </m:r>
                        </m:e>
                        <m:sub>
                          <m:r>
                            <a:rPr lang="en-US" sz="3200" i="1">
                              <a:latin typeface="Cambria Math" panose="02040503050406030204" pitchFamily="18" charset="0"/>
                            </a:rPr>
                            <m:t>𝑧</m:t>
                          </m:r>
                        </m:sub>
                      </m:sSub>
                      <m:d>
                        <m:dPr>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𝛼</m:t>
                              </m:r>
                            </m:e>
                            <m:sub>
                              <m:r>
                                <a:rPr lang="en-US" sz="3200" i="0">
                                  <a:latin typeface="Cambria Math" panose="02040503050406030204" pitchFamily="18" charset="0"/>
                                </a:rPr>
                                <m:t>2</m:t>
                              </m:r>
                            </m:sub>
                          </m:sSub>
                        </m:e>
                      </m:d>
                    </m:oMath>
                  </m:oMathPara>
                </a14:m>
                <a:endParaRPr lang="en-US" sz="3200" dirty="0"/>
              </a:p>
            </p:txBody>
          </p:sp>
        </mc:Choice>
        <mc:Fallback xmlns="">
          <p:sp>
            <p:nvSpPr>
              <p:cNvPr id="6" name="Rectangle 5">
                <a:extLst>
                  <a:ext uri="{FF2B5EF4-FFF2-40B4-BE49-F238E27FC236}">
                    <a16:creationId xmlns:a16="http://schemas.microsoft.com/office/drawing/2014/main" id="{79B61635-DE43-BE4C-8DA8-382A0DF505AD}"/>
                  </a:ext>
                </a:extLst>
              </p:cNvPr>
              <p:cNvSpPr>
                <a:spLocks noRot="1" noChangeAspect="1" noMove="1" noResize="1" noEditPoints="1" noAdjustHandles="1" noChangeArrowheads="1" noChangeShapeType="1" noTextEdit="1"/>
              </p:cNvSpPr>
              <p:nvPr/>
            </p:nvSpPr>
            <p:spPr>
              <a:xfrm>
                <a:off x="5871306" y="3836446"/>
                <a:ext cx="4569200" cy="623632"/>
              </a:xfrm>
              <a:prstGeom prst="rect">
                <a:avLst/>
              </a:prstGeom>
              <a:blipFill>
                <a:blip r:embed="rId4"/>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F91020E8-7FBD-0C40-B15B-76E365504E7D}"/>
                  </a:ext>
                </a:extLst>
              </p:cNvPr>
              <p:cNvSpPr/>
              <p:nvPr/>
            </p:nvSpPr>
            <p:spPr>
              <a:xfrm>
                <a:off x="3939613" y="4731584"/>
                <a:ext cx="8252387" cy="17749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𝑈</m:t>
                      </m:r>
                      <m:r>
                        <a:rPr lang="en-US" sz="2800" i="0">
                          <a:latin typeface="Cambria Math" panose="02040503050406030204" pitchFamily="18" charset="0"/>
                        </a:rPr>
                        <m:t>=</m:t>
                      </m:r>
                      <m:d>
                        <m:dPr>
                          <m:ctrlPr>
                            <a:rPr lang="en-ZA" sz="2800" i="1">
                              <a:latin typeface="Cambria Math" panose="02040503050406030204" pitchFamily="18" charset="0"/>
                            </a:rPr>
                          </m:ctrlPr>
                        </m:dPr>
                        <m:e>
                          <m:m>
                            <m:mPr>
                              <m:mcs>
                                <m:mc>
                                  <m:mcPr>
                                    <m:count m:val="2"/>
                                    <m:mcJc m:val="center"/>
                                  </m:mcPr>
                                </m:mc>
                              </m:mcs>
                              <m:ctrlPr>
                                <a:rPr lang="en-ZA" sz="2800" i="1">
                                  <a:latin typeface="Cambria Math" panose="02040503050406030204" pitchFamily="18" charset="0"/>
                                </a:rPr>
                              </m:ctrlPr>
                            </m:mPr>
                            <m:mr>
                              <m:e>
                                <m:sSup>
                                  <m:sSupPr>
                                    <m:ctrlPr>
                                      <a:rPr lang="en-ZA" sz="2800" i="1">
                                        <a:latin typeface="Cambria Math" panose="02040503050406030204" pitchFamily="18" charset="0"/>
                                      </a:rPr>
                                    </m:ctrlPr>
                                  </m:sSupPr>
                                  <m:e>
                                    <m:r>
                                      <a:rPr lang="sr-Latn-RS" sz="2800" i="1">
                                        <a:latin typeface="Cambria Math" panose="02040503050406030204" pitchFamily="18" charset="0"/>
                                      </a:rPr>
                                      <m:t>𝑒</m:t>
                                    </m:r>
                                  </m:e>
                                  <m:sup>
                                    <m:r>
                                      <a:rPr lang="sr-Latn-RS" sz="2800" i="1">
                                        <a:latin typeface="Cambria Math" panose="02040503050406030204" pitchFamily="18" charset="0"/>
                                      </a:rPr>
                                      <m:t>−</m:t>
                                    </m:r>
                                    <m:r>
                                      <a:rPr lang="sr-Latn-RS" sz="2800" i="1">
                                        <a:latin typeface="Cambria Math" panose="02040503050406030204" pitchFamily="18" charset="0"/>
                                      </a:rPr>
                                      <m:t>𝑖</m:t>
                                    </m:r>
                                    <m:f>
                                      <m:fPr>
                                        <m:ctrlPr>
                                          <a:rPr lang="en-ZA"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𝛼</m:t>
                                            </m:r>
                                          </m:e>
                                          <m:sub>
                                            <m:r>
                                              <a:rPr lang="en-US" sz="2800">
                                                <a:latin typeface="Cambria Math" panose="02040503050406030204" pitchFamily="18" charset="0"/>
                                              </a:rPr>
                                              <m:t>1</m:t>
                                            </m:r>
                                          </m:sub>
                                        </m:sSub>
                                      </m:num>
                                      <m:den>
                                        <m:r>
                                          <a:rPr lang="sr-Latn-RS" sz="2800" i="1">
                                            <a:latin typeface="Cambria Math" panose="02040503050406030204" pitchFamily="18" charset="0"/>
                                          </a:rPr>
                                          <m:t>2</m:t>
                                        </m:r>
                                      </m:den>
                                    </m:f>
                                  </m:sup>
                                </m:sSup>
                              </m:e>
                              <m:e>
                                <m:r>
                                  <a:rPr lang="sr-Latn-RS" sz="2800" i="1">
                                    <a:latin typeface="Cambria Math" panose="02040503050406030204" pitchFamily="18" charset="0"/>
                                  </a:rPr>
                                  <m:t>0</m:t>
                                </m:r>
                              </m:e>
                            </m:mr>
                            <m:mr>
                              <m:e>
                                <m:r>
                                  <a:rPr lang="sr-Latn-RS" sz="2800" i="1">
                                    <a:latin typeface="Cambria Math" panose="02040503050406030204" pitchFamily="18" charset="0"/>
                                  </a:rPr>
                                  <m:t>0</m:t>
                                </m:r>
                              </m:e>
                              <m:e>
                                <m:sSup>
                                  <m:sSupPr>
                                    <m:ctrlPr>
                                      <a:rPr lang="en-ZA" sz="2800" i="1">
                                        <a:latin typeface="Cambria Math" panose="02040503050406030204" pitchFamily="18" charset="0"/>
                                      </a:rPr>
                                    </m:ctrlPr>
                                  </m:sSupPr>
                                  <m:e>
                                    <m:r>
                                      <a:rPr lang="sr-Latn-RS" sz="2800" i="1">
                                        <a:latin typeface="Cambria Math" panose="02040503050406030204" pitchFamily="18" charset="0"/>
                                      </a:rPr>
                                      <m:t>𝑒</m:t>
                                    </m:r>
                                  </m:e>
                                  <m:sup>
                                    <m:r>
                                      <a:rPr lang="sr-Latn-RS" sz="2800" i="1">
                                        <a:latin typeface="Cambria Math" panose="02040503050406030204" pitchFamily="18" charset="0"/>
                                      </a:rPr>
                                      <m:t>𝑖</m:t>
                                    </m:r>
                                    <m:f>
                                      <m:fPr>
                                        <m:ctrlPr>
                                          <a:rPr lang="en-ZA"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𝛼</m:t>
                                            </m:r>
                                          </m:e>
                                          <m:sub>
                                            <m:r>
                                              <a:rPr lang="en-US" sz="2800">
                                                <a:latin typeface="Cambria Math" panose="02040503050406030204" pitchFamily="18" charset="0"/>
                                              </a:rPr>
                                              <m:t>1</m:t>
                                            </m:r>
                                          </m:sub>
                                        </m:sSub>
                                      </m:num>
                                      <m:den>
                                        <m:r>
                                          <a:rPr lang="sr-Latn-RS" sz="2800" i="1">
                                            <a:latin typeface="Cambria Math" panose="02040503050406030204" pitchFamily="18" charset="0"/>
                                          </a:rPr>
                                          <m:t>2</m:t>
                                        </m:r>
                                      </m:den>
                                    </m:f>
                                  </m:sup>
                                </m:sSup>
                              </m:e>
                            </m:mr>
                          </m:m>
                        </m:e>
                      </m:d>
                      <m:d>
                        <m:dPr>
                          <m:ctrlPr>
                            <a:rPr lang="en-US" sz="2800" i="1" smtClean="0">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i="1">
                                    <a:latin typeface="Cambria Math" panose="02040503050406030204" pitchFamily="18" charset="0"/>
                                  </a:rPr>
                                  <m:t>𝑐𝑜𝑠</m:t>
                                </m:r>
                                <m:f>
                                  <m:fPr>
                                    <m:ctrlPr>
                                      <a:rPr lang="en-US" sz="2800" i="1">
                                        <a:latin typeface="Cambria Math" panose="02040503050406030204" pitchFamily="18" charset="0"/>
                                      </a:rPr>
                                    </m:ctrlPr>
                                  </m:fPr>
                                  <m:num>
                                    <m:r>
                                      <a:rPr lang="en-US" sz="2800" i="1">
                                        <a:latin typeface="Cambria Math" panose="02040503050406030204" pitchFamily="18" charset="0"/>
                                      </a:rPr>
                                      <m:t>𝜃</m:t>
                                    </m:r>
                                  </m:num>
                                  <m:den>
                                    <m:r>
                                      <a:rPr lang="en-US" sz="2800">
                                        <a:latin typeface="Cambria Math" panose="02040503050406030204" pitchFamily="18" charset="0"/>
                                      </a:rPr>
                                      <m:t>2</m:t>
                                    </m:r>
                                  </m:den>
                                </m:f>
                              </m:e>
                              <m:e>
                                <m:r>
                                  <a:rPr lang="en-US" sz="2800" i="1">
                                    <a:latin typeface="Cambria Math" panose="02040503050406030204" pitchFamily="18" charset="0"/>
                                  </a:rPr>
                                  <m:t>−</m:t>
                                </m:r>
                                <m:r>
                                  <a:rPr lang="en-US" sz="2800" i="1">
                                    <a:latin typeface="Cambria Math" panose="02040503050406030204" pitchFamily="18" charset="0"/>
                                  </a:rPr>
                                  <m:t>𝑠𝑖𝑛</m:t>
                                </m:r>
                                <m:f>
                                  <m:fPr>
                                    <m:ctrlPr>
                                      <a:rPr lang="en-US" sz="2800" i="1">
                                        <a:latin typeface="Cambria Math" panose="02040503050406030204" pitchFamily="18" charset="0"/>
                                      </a:rPr>
                                    </m:ctrlPr>
                                  </m:fPr>
                                  <m:num>
                                    <m:r>
                                      <a:rPr lang="en-US" sz="2800" i="1">
                                        <a:latin typeface="Cambria Math" panose="02040503050406030204" pitchFamily="18" charset="0"/>
                                      </a:rPr>
                                      <m:t>𝜃</m:t>
                                    </m:r>
                                  </m:num>
                                  <m:den>
                                    <m:r>
                                      <a:rPr lang="en-US" sz="2800">
                                        <a:latin typeface="Cambria Math" panose="02040503050406030204" pitchFamily="18" charset="0"/>
                                      </a:rPr>
                                      <m:t>2</m:t>
                                    </m:r>
                                  </m:den>
                                </m:f>
                              </m:e>
                            </m:mr>
                            <m:mr>
                              <m:e>
                                <m:r>
                                  <a:rPr lang="en-US" sz="2800" i="1">
                                    <a:latin typeface="Cambria Math" panose="02040503050406030204" pitchFamily="18" charset="0"/>
                                  </a:rPr>
                                  <m:t>𝑠𝑖𝑛</m:t>
                                </m:r>
                                <m:f>
                                  <m:fPr>
                                    <m:ctrlPr>
                                      <a:rPr lang="en-US" sz="2800" i="1">
                                        <a:latin typeface="Cambria Math" panose="02040503050406030204" pitchFamily="18" charset="0"/>
                                      </a:rPr>
                                    </m:ctrlPr>
                                  </m:fPr>
                                  <m:num>
                                    <m:r>
                                      <a:rPr lang="en-US" sz="2800" i="1">
                                        <a:latin typeface="Cambria Math" panose="02040503050406030204" pitchFamily="18" charset="0"/>
                                      </a:rPr>
                                      <m:t>𝜃</m:t>
                                    </m:r>
                                  </m:num>
                                  <m:den>
                                    <m:r>
                                      <a:rPr lang="en-US" sz="2800">
                                        <a:latin typeface="Cambria Math" panose="02040503050406030204" pitchFamily="18" charset="0"/>
                                      </a:rPr>
                                      <m:t>2</m:t>
                                    </m:r>
                                  </m:den>
                                </m:f>
                              </m:e>
                              <m:e>
                                <m:r>
                                  <a:rPr lang="en-US" sz="2800" i="1">
                                    <a:latin typeface="Cambria Math" panose="02040503050406030204" pitchFamily="18" charset="0"/>
                                  </a:rPr>
                                  <m:t>𝑐𝑜𝑠</m:t>
                                </m:r>
                                <m:f>
                                  <m:fPr>
                                    <m:ctrlPr>
                                      <a:rPr lang="en-US" sz="2800" i="1">
                                        <a:latin typeface="Cambria Math" panose="02040503050406030204" pitchFamily="18" charset="0"/>
                                      </a:rPr>
                                    </m:ctrlPr>
                                  </m:fPr>
                                  <m:num>
                                    <m:r>
                                      <a:rPr lang="en-US" sz="2800" i="1">
                                        <a:latin typeface="Cambria Math" panose="02040503050406030204" pitchFamily="18" charset="0"/>
                                      </a:rPr>
                                      <m:t>𝜃</m:t>
                                    </m:r>
                                  </m:num>
                                  <m:den>
                                    <m:r>
                                      <a:rPr lang="en-US" sz="2800">
                                        <a:latin typeface="Cambria Math" panose="02040503050406030204" pitchFamily="18" charset="0"/>
                                      </a:rPr>
                                      <m:t>2</m:t>
                                    </m:r>
                                  </m:den>
                                </m:f>
                              </m:e>
                            </m:mr>
                          </m:m>
                        </m:e>
                      </m:d>
                      <m:d>
                        <m:dPr>
                          <m:ctrlPr>
                            <a:rPr lang="en-ZA" sz="2800" i="1">
                              <a:latin typeface="Cambria Math" panose="02040503050406030204" pitchFamily="18" charset="0"/>
                            </a:rPr>
                          </m:ctrlPr>
                        </m:dPr>
                        <m:e>
                          <m:m>
                            <m:mPr>
                              <m:mcs>
                                <m:mc>
                                  <m:mcPr>
                                    <m:count m:val="2"/>
                                    <m:mcJc m:val="center"/>
                                  </m:mcPr>
                                </m:mc>
                              </m:mcs>
                              <m:ctrlPr>
                                <a:rPr lang="en-ZA" sz="2800" i="1">
                                  <a:latin typeface="Cambria Math" panose="02040503050406030204" pitchFamily="18" charset="0"/>
                                </a:rPr>
                              </m:ctrlPr>
                            </m:mPr>
                            <m:mr>
                              <m:e>
                                <m:sSup>
                                  <m:sSupPr>
                                    <m:ctrlPr>
                                      <a:rPr lang="en-ZA" sz="2800" i="1">
                                        <a:latin typeface="Cambria Math" panose="02040503050406030204" pitchFamily="18" charset="0"/>
                                      </a:rPr>
                                    </m:ctrlPr>
                                  </m:sSupPr>
                                  <m:e>
                                    <m:r>
                                      <a:rPr lang="sr-Latn-RS" sz="2800" i="1">
                                        <a:latin typeface="Cambria Math" panose="02040503050406030204" pitchFamily="18" charset="0"/>
                                      </a:rPr>
                                      <m:t>𝑒</m:t>
                                    </m:r>
                                  </m:e>
                                  <m:sup>
                                    <m:r>
                                      <a:rPr lang="sr-Latn-RS" sz="2800" i="1">
                                        <a:latin typeface="Cambria Math" panose="02040503050406030204" pitchFamily="18" charset="0"/>
                                      </a:rPr>
                                      <m:t>−</m:t>
                                    </m:r>
                                    <m:r>
                                      <a:rPr lang="sr-Latn-RS" sz="2800" i="1">
                                        <a:latin typeface="Cambria Math" panose="02040503050406030204" pitchFamily="18" charset="0"/>
                                      </a:rPr>
                                      <m:t>𝑖</m:t>
                                    </m:r>
                                    <m:f>
                                      <m:fPr>
                                        <m:ctrlPr>
                                          <a:rPr lang="en-ZA"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𝛼</m:t>
                                            </m:r>
                                          </m:e>
                                          <m:sub>
                                            <m:r>
                                              <a:rPr lang="en-US" sz="2800">
                                                <a:latin typeface="Cambria Math" panose="02040503050406030204" pitchFamily="18" charset="0"/>
                                              </a:rPr>
                                              <m:t>2</m:t>
                                            </m:r>
                                          </m:sub>
                                        </m:sSub>
                                      </m:num>
                                      <m:den>
                                        <m:r>
                                          <a:rPr lang="sr-Latn-RS" sz="2800" i="1">
                                            <a:latin typeface="Cambria Math" panose="02040503050406030204" pitchFamily="18" charset="0"/>
                                          </a:rPr>
                                          <m:t>2</m:t>
                                        </m:r>
                                      </m:den>
                                    </m:f>
                                  </m:sup>
                                </m:sSup>
                              </m:e>
                              <m:e>
                                <m:r>
                                  <a:rPr lang="sr-Latn-RS" sz="2800" i="1">
                                    <a:latin typeface="Cambria Math" panose="02040503050406030204" pitchFamily="18" charset="0"/>
                                  </a:rPr>
                                  <m:t>0</m:t>
                                </m:r>
                              </m:e>
                            </m:mr>
                            <m:mr>
                              <m:e>
                                <m:r>
                                  <a:rPr lang="sr-Latn-RS" sz="2800" i="1">
                                    <a:latin typeface="Cambria Math" panose="02040503050406030204" pitchFamily="18" charset="0"/>
                                  </a:rPr>
                                  <m:t>0</m:t>
                                </m:r>
                              </m:e>
                              <m:e>
                                <m:sSup>
                                  <m:sSupPr>
                                    <m:ctrlPr>
                                      <a:rPr lang="en-ZA" sz="2800" i="1">
                                        <a:latin typeface="Cambria Math" panose="02040503050406030204" pitchFamily="18" charset="0"/>
                                      </a:rPr>
                                    </m:ctrlPr>
                                  </m:sSupPr>
                                  <m:e>
                                    <m:r>
                                      <a:rPr lang="sr-Latn-RS" sz="2800" i="1">
                                        <a:latin typeface="Cambria Math" panose="02040503050406030204" pitchFamily="18" charset="0"/>
                                      </a:rPr>
                                      <m:t>𝑒</m:t>
                                    </m:r>
                                  </m:e>
                                  <m:sup>
                                    <m:r>
                                      <a:rPr lang="sr-Latn-RS" sz="2800" i="1">
                                        <a:latin typeface="Cambria Math" panose="02040503050406030204" pitchFamily="18" charset="0"/>
                                      </a:rPr>
                                      <m:t>𝑖</m:t>
                                    </m:r>
                                    <m:f>
                                      <m:fPr>
                                        <m:ctrlPr>
                                          <a:rPr lang="en-ZA"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𝛼</m:t>
                                            </m:r>
                                          </m:e>
                                          <m:sub>
                                            <m:r>
                                              <a:rPr lang="en-US" sz="2800">
                                                <a:latin typeface="Cambria Math" panose="02040503050406030204" pitchFamily="18" charset="0"/>
                                              </a:rPr>
                                              <m:t>2</m:t>
                                            </m:r>
                                          </m:sub>
                                        </m:sSub>
                                      </m:num>
                                      <m:den>
                                        <m:r>
                                          <a:rPr lang="sr-Latn-RS" sz="2800" i="1">
                                            <a:latin typeface="Cambria Math" panose="02040503050406030204" pitchFamily="18" charset="0"/>
                                          </a:rPr>
                                          <m:t>2</m:t>
                                        </m:r>
                                      </m:den>
                                    </m:f>
                                  </m:sup>
                                </m:sSup>
                              </m:e>
                            </m:mr>
                          </m:m>
                        </m:e>
                      </m:d>
                    </m:oMath>
                  </m:oMathPara>
                </a14:m>
                <a:endParaRPr lang="en-US" sz="2800" dirty="0"/>
              </a:p>
            </p:txBody>
          </p:sp>
        </mc:Choice>
        <mc:Fallback xmlns="">
          <p:sp>
            <p:nvSpPr>
              <p:cNvPr id="11" name="Rectangle 10">
                <a:extLst>
                  <a:ext uri="{FF2B5EF4-FFF2-40B4-BE49-F238E27FC236}">
                    <a16:creationId xmlns:a16="http://schemas.microsoft.com/office/drawing/2014/main" id="{F91020E8-7FBD-0C40-B15B-76E365504E7D}"/>
                  </a:ext>
                </a:extLst>
              </p:cNvPr>
              <p:cNvSpPr>
                <a:spLocks noRot="1" noChangeAspect="1" noMove="1" noResize="1" noEditPoints="1" noAdjustHandles="1" noChangeArrowheads="1" noChangeShapeType="1" noTextEdit="1"/>
              </p:cNvSpPr>
              <p:nvPr/>
            </p:nvSpPr>
            <p:spPr>
              <a:xfrm>
                <a:off x="3939613" y="4731584"/>
                <a:ext cx="8252387" cy="1774909"/>
              </a:xfrm>
              <a:prstGeom prst="rect">
                <a:avLst/>
              </a:prstGeom>
              <a:blipFill>
                <a:blip r:embed="rId5"/>
                <a:stretch>
                  <a:fillRect b="-2857"/>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7B9CD626-CDD3-884B-9972-462987A0ECC2}"/>
              </a:ext>
            </a:extLst>
          </p:cNvPr>
          <p:cNvSpPr>
            <a:spLocks noChangeAspect="1"/>
          </p:cNvSpPr>
          <p:nvPr/>
        </p:nvSpPr>
        <p:spPr>
          <a:xfrm>
            <a:off x="423868" y="2281739"/>
            <a:ext cx="2880000" cy="2880001"/>
          </a:xfrm>
          <a:prstGeom prst="ellipse">
            <a:avLst/>
          </a:prstGeom>
          <a:gradFill>
            <a:gsLst>
              <a:gs pos="0">
                <a:schemeClr val="accent1">
                  <a:lumMod val="5000"/>
                  <a:lumOff val="95000"/>
                </a:schemeClr>
              </a:gs>
              <a:gs pos="100000">
                <a:schemeClr val="accent5">
                  <a:lumMod val="20000"/>
                  <a:lumOff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138A47BB-78D3-3546-AC29-68EE4D14FA0C}"/>
                  </a:ext>
                </a:extLst>
              </p:cNvPr>
              <p:cNvSpPr/>
              <p:nvPr/>
            </p:nvSpPr>
            <p:spPr>
              <a:xfrm>
                <a:off x="209332" y="4269919"/>
                <a:ext cx="426399"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14" name="Rectangle 13">
                <a:extLst>
                  <a:ext uri="{FF2B5EF4-FFF2-40B4-BE49-F238E27FC236}">
                    <a16:creationId xmlns:a16="http://schemas.microsoft.com/office/drawing/2014/main" id="{138A47BB-78D3-3546-AC29-68EE4D14FA0C}"/>
                  </a:ext>
                </a:extLst>
              </p:cNvPr>
              <p:cNvSpPr>
                <a:spLocks noRot="1" noChangeAspect="1" noMove="1" noResize="1" noEditPoints="1" noAdjustHandles="1" noChangeArrowheads="1" noChangeShapeType="1" noTextEdit="1"/>
              </p:cNvSpPr>
              <p:nvPr/>
            </p:nvSpPr>
            <p:spPr>
              <a:xfrm>
                <a:off x="209332" y="4269919"/>
                <a:ext cx="426399"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4ABA340-F2B5-B24C-92FA-E8CE7076A0DC}"/>
                  </a:ext>
                </a:extLst>
              </p:cNvPr>
              <p:cNvSpPr/>
              <p:nvPr/>
            </p:nvSpPr>
            <p:spPr>
              <a:xfrm>
                <a:off x="3168155" y="4011276"/>
                <a:ext cx="430374"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oMath>
                  </m:oMathPara>
                </a14:m>
                <a:endParaRPr lang="en-US" sz="2400" dirty="0"/>
              </a:p>
            </p:txBody>
          </p:sp>
        </mc:Choice>
        <mc:Fallback xmlns="">
          <p:sp>
            <p:nvSpPr>
              <p:cNvPr id="15" name="Rectangle 14">
                <a:extLst>
                  <a:ext uri="{FF2B5EF4-FFF2-40B4-BE49-F238E27FC236}">
                    <a16:creationId xmlns:a16="http://schemas.microsoft.com/office/drawing/2014/main" id="{44ABA340-F2B5-B24C-92FA-E8CE7076A0DC}"/>
                  </a:ext>
                </a:extLst>
              </p:cNvPr>
              <p:cNvSpPr>
                <a:spLocks noRot="1" noChangeAspect="1" noMove="1" noResize="1" noEditPoints="1" noAdjustHandles="1" noChangeArrowheads="1" noChangeShapeType="1" noTextEdit="1"/>
              </p:cNvSpPr>
              <p:nvPr/>
            </p:nvSpPr>
            <p:spPr>
              <a:xfrm>
                <a:off x="3168155" y="4011276"/>
                <a:ext cx="430374" cy="461665"/>
              </a:xfrm>
              <a:prstGeom prst="rect">
                <a:avLst/>
              </a:prstGeom>
              <a:blipFill>
                <a:blip r:embed="rId7"/>
                <a:stretch>
                  <a:fillRect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8A526A02-6AE0-8648-9664-865421C064F4}"/>
                  </a:ext>
                </a:extLst>
              </p:cNvPr>
              <p:cNvSpPr/>
              <p:nvPr/>
            </p:nvSpPr>
            <p:spPr>
              <a:xfrm>
                <a:off x="1253108" y="1892715"/>
                <a:ext cx="407932"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oMath>
                  </m:oMathPara>
                </a14:m>
                <a:endParaRPr lang="en-US" sz="2400" dirty="0"/>
              </a:p>
            </p:txBody>
          </p:sp>
        </mc:Choice>
        <mc:Fallback xmlns="">
          <p:sp>
            <p:nvSpPr>
              <p:cNvPr id="17" name="Rectangle 16">
                <a:extLst>
                  <a:ext uri="{FF2B5EF4-FFF2-40B4-BE49-F238E27FC236}">
                    <a16:creationId xmlns:a16="http://schemas.microsoft.com/office/drawing/2014/main" id="{8A526A02-6AE0-8648-9664-865421C064F4}"/>
                  </a:ext>
                </a:extLst>
              </p:cNvPr>
              <p:cNvSpPr>
                <a:spLocks noRot="1" noChangeAspect="1" noMove="1" noResize="1" noEditPoints="1" noAdjustHandles="1" noChangeArrowheads="1" noChangeShapeType="1" noTextEdit="1"/>
              </p:cNvSpPr>
              <p:nvPr/>
            </p:nvSpPr>
            <p:spPr>
              <a:xfrm>
                <a:off x="1253108" y="1892715"/>
                <a:ext cx="407932" cy="461665"/>
              </a:xfrm>
              <a:prstGeom prst="rect">
                <a:avLst/>
              </a:prstGeom>
              <a:blipFill>
                <a:blip r:embed="rId8"/>
                <a:stretch>
                  <a:fillRect/>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28E28C80-E772-124D-9220-BE61278AC5FB}"/>
              </a:ext>
            </a:extLst>
          </p:cNvPr>
          <p:cNvCxnSpPr>
            <a:cxnSpLocks/>
          </p:cNvCxnSpPr>
          <p:nvPr/>
        </p:nvCxnSpPr>
        <p:spPr>
          <a:xfrm>
            <a:off x="1829322" y="3660427"/>
            <a:ext cx="1636163" cy="426358"/>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3527F27-6038-624B-9F61-BCAB8E2D3F06}"/>
              </a:ext>
            </a:extLst>
          </p:cNvPr>
          <p:cNvCxnSpPr>
            <a:cxnSpLocks/>
          </p:cNvCxnSpPr>
          <p:nvPr/>
        </p:nvCxnSpPr>
        <p:spPr>
          <a:xfrm flipH="1">
            <a:off x="611753" y="3660427"/>
            <a:ext cx="1217572" cy="10546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94A635A-CBD3-874F-80EF-1D50C259C894}"/>
              </a:ext>
            </a:extLst>
          </p:cNvPr>
          <p:cNvCxnSpPr>
            <a:cxnSpLocks/>
          </p:cNvCxnSpPr>
          <p:nvPr/>
        </p:nvCxnSpPr>
        <p:spPr>
          <a:xfrm flipV="1">
            <a:off x="1829323" y="2165145"/>
            <a:ext cx="0" cy="149528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6D1351B1-8243-F34D-8D88-4D93A22F2700}"/>
              </a:ext>
            </a:extLst>
          </p:cNvPr>
          <p:cNvSpPr/>
          <p:nvPr/>
        </p:nvSpPr>
        <p:spPr>
          <a:xfrm>
            <a:off x="422532" y="3295099"/>
            <a:ext cx="2880001" cy="925922"/>
          </a:xfrm>
          <a:prstGeom prst="ellipse">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3A9FB6BC-35FC-D449-AAB4-EF24DB578B19}"/>
              </a:ext>
            </a:extLst>
          </p:cNvPr>
          <p:cNvCxnSpPr>
            <a:cxnSpLocks/>
          </p:cNvCxnSpPr>
          <p:nvPr/>
        </p:nvCxnSpPr>
        <p:spPr>
          <a:xfrm flipH="1" flipV="1">
            <a:off x="1274921" y="2836074"/>
            <a:ext cx="558230" cy="803724"/>
          </a:xfrm>
          <a:prstGeom prst="straightConnector1">
            <a:avLst/>
          </a:prstGeom>
          <a:ln w="50800" cap="rnd">
            <a:solidFill>
              <a:srgbClr val="00800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8560138-7EBB-1A4D-82E9-936CFDF23A08}"/>
              </a:ext>
            </a:extLst>
          </p:cNvPr>
          <p:cNvCxnSpPr>
            <a:cxnSpLocks/>
          </p:cNvCxnSpPr>
          <p:nvPr/>
        </p:nvCxnSpPr>
        <p:spPr>
          <a:xfrm flipV="1">
            <a:off x="1830255" y="2984321"/>
            <a:ext cx="828308" cy="663928"/>
          </a:xfrm>
          <a:prstGeom prst="straightConnector1">
            <a:avLst/>
          </a:prstGeom>
          <a:ln w="50800" cap="rnd">
            <a:solidFill>
              <a:srgbClr val="CA251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540612C6-F0F6-C347-8E3C-AB7C6D62E239}"/>
                  </a:ext>
                </a:extLst>
              </p:cNvPr>
              <p:cNvSpPr/>
              <p:nvPr/>
            </p:nvSpPr>
            <p:spPr>
              <a:xfrm>
                <a:off x="2669014" y="2696909"/>
                <a:ext cx="1825821" cy="492443"/>
              </a:xfrm>
              <a:prstGeom prst="rect">
                <a:avLst/>
              </a:prstGeom>
            </p:spPr>
            <p:txBody>
              <a:bodyPr wrap="none">
                <a:spAutoFit/>
              </a:bodyPr>
              <a:lstStyle/>
              <a:p>
                <a14:m>
                  <m:oMath xmlns:m="http://schemas.openxmlformats.org/officeDocument/2006/math">
                    <m:d>
                      <m:dPr>
                        <m:begChr m:val="|"/>
                        <m:endChr m:val="⟩"/>
                        <m:ctrlPr>
                          <a:rPr lang="en-US" sz="2600" i="1" smtClean="0">
                            <a:latin typeface="Cambria Math" panose="02040503050406030204" pitchFamily="18" charset="0"/>
                          </a:rPr>
                        </m:ctrlPr>
                      </m:dPr>
                      <m:e>
                        <m:r>
                          <a:rPr lang="en-US" sz="2600" i="1">
                            <a:latin typeface="Cambria Math" panose="02040503050406030204" pitchFamily="18" charset="0"/>
                          </a:rPr>
                          <m:t>𝑆</m:t>
                        </m:r>
                        <m:r>
                          <a:rPr lang="en-US" sz="2600" i="1">
                            <a:latin typeface="Cambria Math" panose="02040503050406030204" pitchFamily="18" charset="0"/>
                          </a:rPr>
                          <m:t>′</m:t>
                        </m:r>
                      </m:e>
                    </m:d>
                    <m:r>
                      <a:rPr lang="sr-Latn-RS" sz="2600" b="0" i="1" smtClean="0">
                        <a:latin typeface="Cambria Math" panose="02040503050406030204" pitchFamily="18" charset="0"/>
                      </a:rPr>
                      <m:t>=</m:t>
                    </m:r>
                    <m:r>
                      <a:rPr lang="sr-Latn-RS" sz="2600" i="1" smtClean="0">
                        <a:solidFill>
                          <a:schemeClr val="tx1"/>
                        </a:solidFill>
                        <a:latin typeface="Cambria Math" panose="02040503050406030204" pitchFamily="18" charset="0"/>
                      </a:rPr>
                      <m:t>𝑈</m:t>
                    </m:r>
                  </m:oMath>
                </a14:m>
                <a:r>
                  <a:rPr lang="en-US" sz="2600" dirty="0">
                    <a:solidFill>
                      <a:schemeClr val="tx1"/>
                    </a:solidFill>
                  </a:rPr>
                  <a:t> </a:t>
                </a:r>
                <a14:m>
                  <m:oMath xmlns:m="http://schemas.openxmlformats.org/officeDocument/2006/math">
                    <m:d>
                      <m:dPr>
                        <m:begChr m:val="|"/>
                        <m:endChr m:val="⟩"/>
                        <m:ctrlPr>
                          <a:rPr lang="en-US" sz="2600" i="1">
                            <a:solidFill>
                              <a:schemeClr val="tx1"/>
                            </a:solidFill>
                            <a:latin typeface="Cambria Math" panose="02040503050406030204" pitchFamily="18" charset="0"/>
                          </a:rPr>
                        </m:ctrlPr>
                      </m:dPr>
                      <m:e>
                        <m:r>
                          <a:rPr lang="en-US" sz="2600" b="0" i="1" smtClean="0">
                            <a:solidFill>
                              <a:schemeClr val="tx1"/>
                            </a:solidFill>
                            <a:latin typeface="Cambria Math" panose="02040503050406030204" pitchFamily="18" charset="0"/>
                          </a:rPr>
                          <m:t>𝑆</m:t>
                        </m:r>
                      </m:e>
                    </m:d>
                  </m:oMath>
                </a14:m>
                <a:endParaRPr lang="en-US" sz="2600" dirty="0">
                  <a:solidFill>
                    <a:schemeClr val="tx1"/>
                  </a:solidFill>
                </a:endParaRPr>
              </a:p>
            </p:txBody>
          </p:sp>
        </mc:Choice>
        <mc:Fallback xmlns="">
          <p:sp>
            <p:nvSpPr>
              <p:cNvPr id="30" name="Rectangle 29">
                <a:extLst>
                  <a:ext uri="{FF2B5EF4-FFF2-40B4-BE49-F238E27FC236}">
                    <a16:creationId xmlns:a16="http://schemas.microsoft.com/office/drawing/2014/main" id="{540612C6-F0F6-C347-8E3C-AB7C6D62E239}"/>
                  </a:ext>
                </a:extLst>
              </p:cNvPr>
              <p:cNvSpPr>
                <a:spLocks noRot="1" noChangeAspect="1" noMove="1" noResize="1" noEditPoints="1" noAdjustHandles="1" noChangeArrowheads="1" noChangeShapeType="1" noTextEdit="1"/>
              </p:cNvSpPr>
              <p:nvPr/>
            </p:nvSpPr>
            <p:spPr>
              <a:xfrm>
                <a:off x="2669014" y="2696909"/>
                <a:ext cx="1825821" cy="492443"/>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AAE26AC4-3B27-954C-96C7-CBA55DA8C100}"/>
                  </a:ext>
                </a:extLst>
              </p:cNvPr>
              <p:cNvSpPr/>
              <p:nvPr/>
            </p:nvSpPr>
            <p:spPr>
              <a:xfrm>
                <a:off x="584912" y="2685243"/>
                <a:ext cx="668196" cy="4924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600" i="1">
                              <a:solidFill>
                                <a:schemeClr val="tx1"/>
                              </a:solidFill>
                              <a:latin typeface="Cambria Math" panose="02040503050406030204" pitchFamily="18" charset="0"/>
                            </a:rPr>
                          </m:ctrlPr>
                        </m:dPr>
                        <m:e>
                          <m:r>
                            <a:rPr lang="en-US" sz="2600" b="0" i="1" smtClean="0">
                              <a:solidFill>
                                <a:schemeClr val="tx1"/>
                              </a:solidFill>
                              <a:latin typeface="Cambria Math" panose="02040503050406030204" pitchFamily="18" charset="0"/>
                            </a:rPr>
                            <m:t>𝑆</m:t>
                          </m:r>
                        </m:e>
                      </m:d>
                    </m:oMath>
                  </m:oMathPara>
                </a14:m>
                <a:endParaRPr lang="en-US" sz="2600" dirty="0">
                  <a:solidFill>
                    <a:schemeClr val="tx1"/>
                  </a:solidFill>
                </a:endParaRPr>
              </a:p>
            </p:txBody>
          </p:sp>
        </mc:Choice>
        <mc:Fallback xmlns="">
          <p:sp>
            <p:nvSpPr>
              <p:cNvPr id="31" name="Rectangle 30">
                <a:extLst>
                  <a:ext uri="{FF2B5EF4-FFF2-40B4-BE49-F238E27FC236}">
                    <a16:creationId xmlns:a16="http://schemas.microsoft.com/office/drawing/2014/main" id="{AAE26AC4-3B27-954C-96C7-CBA55DA8C100}"/>
                  </a:ext>
                </a:extLst>
              </p:cNvPr>
              <p:cNvSpPr>
                <a:spLocks noRot="1" noChangeAspect="1" noMove="1" noResize="1" noEditPoints="1" noAdjustHandles="1" noChangeArrowheads="1" noChangeShapeType="1" noTextEdit="1"/>
              </p:cNvSpPr>
              <p:nvPr/>
            </p:nvSpPr>
            <p:spPr>
              <a:xfrm>
                <a:off x="584912" y="2685243"/>
                <a:ext cx="668196" cy="492443"/>
              </a:xfrm>
              <a:prstGeom prst="rect">
                <a:avLst/>
              </a:prstGeom>
              <a:blipFill>
                <a:blip r:embed="rId10"/>
                <a:stretch>
                  <a:fillRect/>
                </a:stretch>
              </a:blipFill>
            </p:spPr>
            <p:txBody>
              <a:bodyPr/>
              <a:lstStyle/>
              <a:p>
                <a:r>
                  <a:rPr lang="en-US">
                    <a:noFill/>
                  </a:rPr>
                  <a:t> </a:t>
                </a:r>
              </a:p>
            </p:txBody>
          </p:sp>
        </mc:Fallback>
      </mc:AlternateContent>
      <p:sp>
        <p:nvSpPr>
          <p:cNvPr id="33" name="Curved Right Arrow 32">
            <a:extLst>
              <a:ext uri="{FF2B5EF4-FFF2-40B4-BE49-F238E27FC236}">
                <a16:creationId xmlns:a16="http://schemas.microsoft.com/office/drawing/2014/main" id="{A44B126B-B9E4-1F49-BD7F-0168FB3F53A3}"/>
              </a:ext>
            </a:extLst>
          </p:cNvPr>
          <p:cNvSpPr/>
          <p:nvPr/>
        </p:nvSpPr>
        <p:spPr>
          <a:xfrm>
            <a:off x="1675753" y="2095419"/>
            <a:ext cx="297673" cy="444500"/>
          </a:xfrm>
          <a:prstGeom prst="curved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urved Right Arrow 33">
            <a:extLst>
              <a:ext uri="{FF2B5EF4-FFF2-40B4-BE49-F238E27FC236}">
                <a16:creationId xmlns:a16="http://schemas.microsoft.com/office/drawing/2014/main" id="{32672A06-BBED-3F47-A980-69575C413539}"/>
              </a:ext>
            </a:extLst>
          </p:cNvPr>
          <p:cNvSpPr/>
          <p:nvPr/>
        </p:nvSpPr>
        <p:spPr>
          <a:xfrm>
            <a:off x="1615362" y="1498629"/>
            <a:ext cx="297673" cy="444500"/>
          </a:xfrm>
          <a:prstGeom prst="curved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Curved Right Arrow 34">
            <a:extLst>
              <a:ext uri="{FF2B5EF4-FFF2-40B4-BE49-F238E27FC236}">
                <a16:creationId xmlns:a16="http://schemas.microsoft.com/office/drawing/2014/main" id="{50F3A241-C074-2342-885F-8748B38E5AEF}"/>
              </a:ext>
            </a:extLst>
          </p:cNvPr>
          <p:cNvSpPr/>
          <p:nvPr/>
        </p:nvSpPr>
        <p:spPr>
          <a:xfrm rot="21059304">
            <a:off x="2790074" y="3814794"/>
            <a:ext cx="297673" cy="444500"/>
          </a:xfrm>
          <a:prstGeom prst="curved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35998F98-F9AE-7745-B560-74F5140E1A6B}"/>
                  </a:ext>
                </a:extLst>
              </p:cNvPr>
              <p:cNvSpPr/>
              <p:nvPr/>
            </p:nvSpPr>
            <p:spPr>
              <a:xfrm>
                <a:off x="1980137" y="1520979"/>
                <a:ext cx="477438"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𝛼</m:t>
                          </m:r>
                        </m:e>
                        <m:sub>
                          <m:r>
                            <a:rPr lang="en-US" sz="2400">
                              <a:latin typeface="Cambria Math" panose="02040503050406030204" pitchFamily="18" charset="0"/>
                            </a:rPr>
                            <m:t>1</m:t>
                          </m:r>
                        </m:sub>
                      </m:sSub>
                    </m:oMath>
                  </m:oMathPara>
                </a14:m>
                <a:endParaRPr lang="en-US" sz="2400" dirty="0"/>
              </a:p>
            </p:txBody>
          </p:sp>
        </mc:Choice>
        <mc:Fallback xmlns="">
          <p:sp>
            <p:nvSpPr>
              <p:cNvPr id="36" name="Rectangle 35">
                <a:extLst>
                  <a:ext uri="{FF2B5EF4-FFF2-40B4-BE49-F238E27FC236}">
                    <a16:creationId xmlns:a16="http://schemas.microsoft.com/office/drawing/2014/main" id="{35998F98-F9AE-7745-B560-74F5140E1A6B}"/>
                  </a:ext>
                </a:extLst>
              </p:cNvPr>
              <p:cNvSpPr>
                <a:spLocks noRot="1" noChangeAspect="1" noMove="1" noResize="1" noEditPoints="1" noAdjustHandles="1" noChangeArrowheads="1" noChangeShapeType="1" noTextEdit="1"/>
              </p:cNvSpPr>
              <p:nvPr/>
            </p:nvSpPr>
            <p:spPr>
              <a:xfrm>
                <a:off x="1980137" y="1520979"/>
                <a:ext cx="477438" cy="46166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80259D5D-2073-4642-A3B5-BE2E87725B07}"/>
                  </a:ext>
                </a:extLst>
              </p:cNvPr>
              <p:cNvSpPr/>
              <p:nvPr/>
            </p:nvSpPr>
            <p:spPr>
              <a:xfrm>
                <a:off x="2011812" y="1926076"/>
                <a:ext cx="477438"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𝛼</m:t>
                          </m:r>
                        </m:e>
                        <m:sub>
                          <m:r>
                            <a:rPr lang="sr-Latn-RS" sz="2400" b="0" i="0" smtClean="0">
                              <a:latin typeface="Cambria Math" panose="02040503050406030204" pitchFamily="18" charset="0"/>
                            </a:rPr>
                            <m:t>2</m:t>
                          </m:r>
                        </m:sub>
                      </m:sSub>
                    </m:oMath>
                  </m:oMathPara>
                </a14:m>
                <a:endParaRPr lang="en-US" sz="2400" dirty="0"/>
              </a:p>
            </p:txBody>
          </p:sp>
        </mc:Choice>
        <mc:Fallback xmlns="">
          <p:sp>
            <p:nvSpPr>
              <p:cNvPr id="37" name="Rectangle 36">
                <a:extLst>
                  <a:ext uri="{FF2B5EF4-FFF2-40B4-BE49-F238E27FC236}">
                    <a16:creationId xmlns:a16="http://schemas.microsoft.com/office/drawing/2014/main" id="{80259D5D-2073-4642-A3B5-BE2E87725B07}"/>
                  </a:ext>
                </a:extLst>
              </p:cNvPr>
              <p:cNvSpPr>
                <a:spLocks noRot="1" noChangeAspect="1" noMove="1" noResize="1" noEditPoints="1" noAdjustHandles="1" noChangeArrowheads="1" noChangeShapeType="1" noTextEdit="1"/>
              </p:cNvSpPr>
              <p:nvPr/>
            </p:nvSpPr>
            <p:spPr>
              <a:xfrm>
                <a:off x="2011812" y="1926076"/>
                <a:ext cx="477438" cy="461665"/>
              </a:xfrm>
              <a:prstGeom prst="rect">
                <a:avLst/>
              </a:prstGeom>
              <a:blipFill>
                <a:blip r:embed="rId12"/>
                <a:stretch>
                  <a:fillRect b="-2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5F99CC88-CD02-D04D-A62F-4405C13C73AC}"/>
                  </a:ext>
                </a:extLst>
              </p:cNvPr>
              <p:cNvSpPr/>
              <p:nvPr/>
            </p:nvSpPr>
            <p:spPr>
              <a:xfrm>
                <a:off x="3249142" y="3658747"/>
                <a:ext cx="43576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𝜃</m:t>
                      </m:r>
                    </m:oMath>
                  </m:oMathPara>
                </a14:m>
                <a:endParaRPr lang="en-US" sz="2400" dirty="0"/>
              </a:p>
            </p:txBody>
          </p:sp>
        </mc:Choice>
        <mc:Fallback xmlns="">
          <p:sp>
            <p:nvSpPr>
              <p:cNvPr id="38" name="Rectangle 37">
                <a:extLst>
                  <a:ext uri="{FF2B5EF4-FFF2-40B4-BE49-F238E27FC236}">
                    <a16:creationId xmlns:a16="http://schemas.microsoft.com/office/drawing/2014/main" id="{5F99CC88-CD02-D04D-A62F-4405C13C73AC}"/>
                  </a:ext>
                </a:extLst>
              </p:cNvPr>
              <p:cNvSpPr>
                <a:spLocks noRot="1" noChangeAspect="1" noMove="1" noResize="1" noEditPoints="1" noAdjustHandles="1" noChangeArrowheads="1" noChangeShapeType="1" noTextEdit="1"/>
              </p:cNvSpPr>
              <p:nvPr/>
            </p:nvSpPr>
            <p:spPr>
              <a:xfrm>
                <a:off x="3249142" y="3658747"/>
                <a:ext cx="435760" cy="461665"/>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1652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9620A-DA7E-2F46-B760-9463CA2025AC}"/>
              </a:ext>
            </a:extLst>
          </p:cNvPr>
          <p:cNvSpPr>
            <a:spLocks noGrp="1"/>
          </p:cNvSpPr>
          <p:nvPr>
            <p:ph type="title"/>
          </p:nvPr>
        </p:nvSpPr>
        <p:spPr/>
        <p:txBody>
          <a:bodyPr/>
          <a:lstStyle/>
          <a:p>
            <a:r>
              <a:rPr lang="en-US" dirty="0"/>
              <a:t>Lemma 1 </a:t>
            </a:r>
            <a:r>
              <a:rPr lang="en-ZA" dirty="0"/>
              <a:t>of the Decomposition Theorem</a:t>
            </a:r>
            <a:endParaRPr lang="en-US" dirty="0"/>
          </a:p>
        </p:txBody>
      </p:sp>
      <p:sp>
        <p:nvSpPr>
          <p:cNvPr id="3" name="Slide Number Placeholder 2">
            <a:extLst>
              <a:ext uri="{FF2B5EF4-FFF2-40B4-BE49-F238E27FC236}">
                <a16:creationId xmlns:a16="http://schemas.microsoft.com/office/drawing/2014/main" id="{6C1C8F0F-B7EF-BE43-AC04-DC5C69EEE84B}"/>
              </a:ext>
            </a:extLst>
          </p:cNvPr>
          <p:cNvSpPr>
            <a:spLocks noGrp="1"/>
          </p:cNvSpPr>
          <p:nvPr>
            <p:ph type="sldNum" sz="quarter" idx="12"/>
          </p:nvPr>
        </p:nvSpPr>
        <p:spPr/>
        <p:txBody>
          <a:bodyPr/>
          <a:lstStyle/>
          <a:p>
            <a:fld id="{591A223C-FA10-BC46-A853-03BA373D023C}" type="slidenum">
              <a:rPr lang="en-US" smtClean="0"/>
              <a:t>25</a:t>
            </a:fld>
            <a:endParaRPr lang="en-US"/>
          </a:p>
        </p:txBody>
      </p:sp>
      <p:sp>
        <p:nvSpPr>
          <p:cNvPr id="5" name="TextBox 4">
            <a:extLst>
              <a:ext uri="{FF2B5EF4-FFF2-40B4-BE49-F238E27FC236}">
                <a16:creationId xmlns:a16="http://schemas.microsoft.com/office/drawing/2014/main" id="{633953EB-4BDC-4940-B618-AF73CBC5B914}"/>
              </a:ext>
            </a:extLst>
          </p:cNvPr>
          <p:cNvSpPr txBox="1"/>
          <p:nvPr/>
        </p:nvSpPr>
        <p:spPr>
          <a:xfrm>
            <a:off x="1544149" y="1113140"/>
            <a:ext cx="5665075" cy="461665"/>
          </a:xfrm>
          <a:prstGeom prst="rect">
            <a:avLst/>
          </a:prstGeom>
          <a:noFill/>
        </p:spPr>
        <p:txBody>
          <a:bodyPr wrap="square" rtlCol="0">
            <a:spAutoFit/>
          </a:bodyPr>
          <a:lstStyle/>
          <a:p>
            <a:r>
              <a:rPr lang="en-ZA" sz="2400" dirty="0"/>
              <a:t>There exist operators</a:t>
            </a:r>
            <a:r>
              <a:rPr lang="sr-Latn-RS" sz="2400" dirty="0"/>
              <a:t> A, </a:t>
            </a:r>
            <a:r>
              <a:rPr lang="sr-Latn-RS" sz="2400" dirty="0" err="1"/>
              <a:t>B</a:t>
            </a:r>
            <a:r>
              <a:rPr lang="sr-Latn-RS" sz="2400" dirty="0"/>
              <a:t> </a:t>
            </a:r>
            <a:r>
              <a:rPr lang="sr-Latn-RS" sz="2400" dirty="0" err="1"/>
              <a:t>and</a:t>
            </a:r>
            <a:r>
              <a:rPr lang="sr-Latn-RS" sz="2400" dirty="0"/>
              <a:t> C </a:t>
            </a:r>
            <a:r>
              <a:rPr lang="en-ZA" sz="2400" dirty="0"/>
              <a:t>such that </a:t>
            </a:r>
            <a:r>
              <a:rPr lang="sr-Latn-RS" sz="2400" dirty="0"/>
              <a:t>:</a:t>
            </a:r>
            <a:endParaRPr lang="en-US" sz="2400" dirty="0"/>
          </a:p>
        </p:txBody>
      </p:sp>
      <p:grpSp>
        <p:nvGrpSpPr>
          <p:cNvPr id="36" name="Group 35">
            <a:extLst>
              <a:ext uri="{FF2B5EF4-FFF2-40B4-BE49-F238E27FC236}">
                <a16:creationId xmlns:a16="http://schemas.microsoft.com/office/drawing/2014/main" id="{1FED61C7-42B2-F54E-A94A-F3074E9B6354}"/>
              </a:ext>
            </a:extLst>
          </p:cNvPr>
          <p:cNvGrpSpPr/>
          <p:nvPr/>
        </p:nvGrpSpPr>
        <p:grpSpPr>
          <a:xfrm>
            <a:off x="4915313" y="4425396"/>
            <a:ext cx="4864280" cy="1657092"/>
            <a:chOff x="5059562" y="4419551"/>
            <a:chExt cx="4864280" cy="1657092"/>
          </a:xfrm>
        </p:grpSpPr>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98C7D5CE-B460-A048-BEF3-E758D02C5479}"/>
                    </a:ext>
                  </a:extLst>
                </p:cNvPr>
                <p:cNvSpPr/>
                <p:nvPr/>
              </p:nvSpPr>
              <p:spPr>
                <a:xfrm>
                  <a:off x="5059562" y="5585803"/>
                  <a:ext cx="4864280" cy="490840"/>
                </a:xfrm>
                <a:prstGeom prst="rect">
                  <a:avLst/>
                </a:prstGeom>
                <a:solidFill>
                  <a:schemeClr val="accent4">
                    <a:lumMod val="60000"/>
                    <a:lumOff val="40000"/>
                  </a:schemeClr>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𝐴𝑋𝐵𝑋𝐶</m:t>
                            </m:r>
                            <m:r>
                              <a:rPr lang="en-US" sz="2400">
                                <a:latin typeface="Cambria Math" panose="02040503050406030204" pitchFamily="18" charset="0"/>
                              </a:rPr>
                              <m:t>=</m:t>
                            </m:r>
                            <m:r>
                              <a:rPr lang="en-US" sz="2400" i="1">
                                <a:latin typeface="Cambria Math" panose="02040503050406030204" pitchFamily="18" charset="0"/>
                              </a:rPr>
                              <m:t>𝑅</m:t>
                            </m:r>
                          </m:e>
                          <m:sub>
                            <m:r>
                              <a:rPr lang="en-US" sz="2400" i="1">
                                <a:latin typeface="Cambria Math" panose="02040503050406030204" pitchFamily="18" charset="0"/>
                              </a:rPr>
                              <m:t>𝑧</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𝛼</m:t>
                                </m:r>
                              </m:e>
                              <m:sub>
                                <m:r>
                                  <a:rPr lang="en-US" sz="2400">
                                    <a:latin typeface="Cambria Math" panose="02040503050406030204" pitchFamily="18" charset="0"/>
                                  </a:rPr>
                                  <m:t>1</m:t>
                                </m:r>
                              </m:sub>
                            </m:sSub>
                          </m:e>
                        </m:d>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𝑦</m:t>
                            </m:r>
                          </m:sub>
                        </m:sSub>
                        <m:d>
                          <m:dPr>
                            <m:ctrlPr>
                              <a:rPr lang="en-US" sz="2400" i="1">
                                <a:latin typeface="Cambria Math" panose="02040503050406030204" pitchFamily="18" charset="0"/>
                              </a:rPr>
                            </m:ctrlPr>
                          </m:dPr>
                          <m:e>
                            <m:r>
                              <a:rPr lang="en-US" sz="2400" i="1">
                                <a:latin typeface="Cambria Math" panose="02040503050406030204" pitchFamily="18" charset="0"/>
                              </a:rPr>
                              <m:t>𝜃</m:t>
                            </m:r>
                          </m:e>
                        </m:d>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𝑧</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𝛼</m:t>
                                </m:r>
                              </m:e>
                              <m:sub>
                                <m:r>
                                  <a:rPr lang="en-US" sz="2400">
                                    <a:latin typeface="Cambria Math" panose="02040503050406030204" pitchFamily="18" charset="0"/>
                                  </a:rPr>
                                  <m:t>2</m:t>
                                </m:r>
                              </m:sub>
                            </m:sSub>
                          </m:e>
                        </m:d>
                        <m:r>
                          <a:rPr lang="sr-Latn-RS" sz="2400" b="0" i="1" smtClean="0">
                            <a:latin typeface="Cambria Math" panose="02040503050406030204" pitchFamily="18" charset="0"/>
                          </a:rPr>
                          <m:t>=</m:t>
                        </m:r>
                        <m:r>
                          <a:rPr lang="sr-Latn-RS" sz="2400" b="0" i="1" smtClean="0">
                            <a:latin typeface="Cambria Math" panose="02040503050406030204" pitchFamily="18" charset="0"/>
                          </a:rPr>
                          <m:t>𝑈</m:t>
                        </m:r>
                      </m:oMath>
                    </m:oMathPara>
                  </a14:m>
                  <a:endParaRPr lang="en-US" sz="2400" dirty="0"/>
                </a:p>
              </p:txBody>
            </p:sp>
          </mc:Choice>
          <mc:Fallback xmlns="">
            <p:sp>
              <p:nvSpPr>
                <p:cNvPr id="18" name="Rectangle 17">
                  <a:extLst>
                    <a:ext uri="{FF2B5EF4-FFF2-40B4-BE49-F238E27FC236}">
                      <a16:creationId xmlns:a16="http://schemas.microsoft.com/office/drawing/2014/main" id="{98C7D5CE-B460-A048-BEF3-E758D02C5479}"/>
                    </a:ext>
                  </a:extLst>
                </p:cNvPr>
                <p:cNvSpPr>
                  <a:spLocks noRot="1" noChangeAspect="1" noMove="1" noResize="1" noEditPoints="1" noAdjustHandles="1" noChangeArrowheads="1" noChangeShapeType="1" noTextEdit="1"/>
                </p:cNvSpPr>
                <p:nvPr/>
              </p:nvSpPr>
              <p:spPr>
                <a:xfrm>
                  <a:off x="5059562" y="5585803"/>
                  <a:ext cx="4864280" cy="490840"/>
                </a:xfrm>
                <a:prstGeom prst="rect">
                  <a:avLst/>
                </a:prstGeom>
                <a:blipFill>
                  <a:blip r:embed="rId3"/>
                  <a:stretch>
                    <a:fillRect b="-2500"/>
                  </a:stretch>
                </a:blipFill>
              </p:spPr>
              <p:txBody>
                <a:bodyPr/>
                <a:lstStyle/>
                <a:p>
                  <a:r>
                    <a:rPr lang="en-US">
                      <a:noFill/>
                    </a:rPr>
                    <a:t> </a:t>
                  </a:r>
                </a:p>
              </p:txBody>
            </p:sp>
          </mc:Fallback>
        </mc:AlternateContent>
        <p:sp>
          <p:nvSpPr>
            <p:cNvPr id="21" name="Right Arrow 20">
              <a:extLst>
                <a:ext uri="{FF2B5EF4-FFF2-40B4-BE49-F238E27FC236}">
                  <a16:creationId xmlns:a16="http://schemas.microsoft.com/office/drawing/2014/main" id="{389044D4-9711-684D-AEAE-6A2429FAF596}"/>
                </a:ext>
              </a:extLst>
            </p:cNvPr>
            <p:cNvSpPr/>
            <p:nvPr/>
          </p:nvSpPr>
          <p:spPr>
            <a:xfrm rot="5400000">
              <a:off x="7023599" y="4276677"/>
              <a:ext cx="851164" cy="1136911"/>
            </a:xfrm>
            <a:prstGeom prst="rightArrow">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gr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1C78E590-70AB-A547-8023-6297EFC129ED}"/>
                  </a:ext>
                </a:extLst>
              </p:cNvPr>
              <p:cNvSpPr/>
              <p:nvPr/>
            </p:nvSpPr>
            <p:spPr>
              <a:xfrm>
                <a:off x="7021255" y="1104651"/>
                <a:ext cx="4041452"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5"/>
                                <m:mcJc m:val="center"/>
                              </m:mcPr>
                            </m:mc>
                          </m:mcs>
                          <m:ctrlPr>
                            <a:rPr lang="en-US" sz="2400" i="1" smtClean="0">
                              <a:latin typeface="Cambria Math" panose="02040503050406030204" pitchFamily="18" charset="0"/>
                            </a:rPr>
                          </m:ctrlPr>
                        </m:mPr>
                        <m:mr>
                          <m:e>
                            <m:r>
                              <a:rPr lang="en-US" sz="2400" i="1">
                                <a:latin typeface="Cambria Math" panose="02040503050406030204" pitchFamily="18" charset="0"/>
                              </a:rPr>
                              <m:t>𝑈</m:t>
                            </m:r>
                            <m:r>
                              <a:rPr lang="en-US" sz="2400" i="0">
                                <a:latin typeface="Cambria Math" panose="02040503050406030204" pitchFamily="18" charset="0"/>
                              </a:rPr>
                              <m:t>=</m:t>
                            </m:r>
                            <m:r>
                              <a:rPr lang="en-US" sz="2400" i="1">
                                <a:latin typeface="Cambria Math" panose="02040503050406030204" pitchFamily="18" charset="0"/>
                              </a:rPr>
                              <m:t>𝐴𝑋𝐵𝑋𝐶</m:t>
                            </m:r>
                            <m:r>
                              <a:rPr lang="sr-Latn-RS" sz="2400" b="0" i="1" smtClean="0">
                                <a:latin typeface="Cambria Math" panose="02040503050406030204" pitchFamily="18" charset="0"/>
                              </a:rPr>
                              <m:t> </m:t>
                            </m:r>
                            <m:r>
                              <m:rPr>
                                <m:sty m:val="p"/>
                              </m:rPr>
                              <a:rPr lang="en-US" sz="2400" b="0" i="0" smtClean="0">
                                <a:latin typeface="Cambria Math" panose="02040503050406030204" pitchFamily="18" charset="0"/>
                              </a:rPr>
                              <m:t>where</m:t>
                            </m:r>
                            <m:r>
                              <a:rPr lang="en-US" sz="2400" b="0" i="0" smtClean="0">
                                <a:latin typeface="Cambria Math" panose="02040503050406030204" pitchFamily="18" charset="0"/>
                              </a:rPr>
                              <m:t> </m:t>
                            </m:r>
                            <m:r>
                              <a:rPr lang="sr-Latn-RS" sz="2400" b="0" i="1" smtClean="0">
                                <a:latin typeface="Cambria Math" panose="02040503050406030204" pitchFamily="18" charset="0"/>
                              </a:rPr>
                              <m:t> </m:t>
                            </m:r>
                            <m:r>
                              <a:rPr lang="en-US" sz="2400" b="0" i="1" smtClean="0">
                                <a:latin typeface="Cambria Math" panose="02040503050406030204" pitchFamily="18" charset="0"/>
                              </a:rPr>
                              <m:t>𝐴𝐵𝐶</m:t>
                            </m:r>
                            <m:r>
                              <a:rPr lang="en-US" sz="2400" b="0" i="1" smtClean="0">
                                <a:latin typeface="Cambria Math" panose="02040503050406030204" pitchFamily="18" charset="0"/>
                              </a:rPr>
                              <m:t>=</m:t>
                            </m:r>
                            <m:r>
                              <a:rPr lang="en-US" sz="2400" b="0" i="1" smtClean="0">
                                <a:latin typeface="Cambria Math" panose="02040503050406030204" pitchFamily="18" charset="0"/>
                              </a:rPr>
                              <m:t>𝐼</m:t>
                            </m:r>
                          </m:e>
                          <m:e/>
                          <m:e/>
                          <m:e/>
                          <m:e/>
                        </m:mr>
                      </m:m>
                    </m:oMath>
                  </m:oMathPara>
                </a14:m>
                <a:endParaRPr lang="en-US" sz="2400" dirty="0"/>
              </a:p>
            </p:txBody>
          </p:sp>
        </mc:Choice>
        <mc:Fallback xmlns="">
          <p:sp>
            <p:nvSpPr>
              <p:cNvPr id="24" name="Rectangle 23">
                <a:extLst>
                  <a:ext uri="{FF2B5EF4-FFF2-40B4-BE49-F238E27FC236}">
                    <a16:creationId xmlns:a16="http://schemas.microsoft.com/office/drawing/2014/main" id="{1C78E590-70AB-A547-8023-6297EFC129ED}"/>
                  </a:ext>
                </a:extLst>
              </p:cNvPr>
              <p:cNvSpPr>
                <a:spLocks noRot="1" noChangeAspect="1" noMove="1" noResize="1" noEditPoints="1" noAdjustHandles="1" noChangeArrowheads="1" noChangeShapeType="1" noTextEdit="1"/>
              </p:cNvSpPr>
              <p:nvPr/>
            </p:nvSpPr>
            <p:spPr>
              <a:xfrm>
                <a:off x="7021255" y="1104651"/>
                <a:ext cx="4041452" cy="461665"/>
              </a:xfrm>
              <a:prstGeom prst="rect">
                <a:avLst/>
              </a:prstGeom>
              <a:blipFill>
                <a:blip r:embed="rId4"/>
                <a:stretch>
                  <a:fillRect r="-35110" b="-24324"/>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C8CB9F43-FC98-F549-9A85-BA8CE8D22469}"/>
              </a:ext>
            </a:extLst>
          </p:cNvPr>
          <p:cNvSpPr txBox="1"/>
          <p:nvPr/>
        </p:nvSpPr>
        <p:spPr>
          <a:xfrm>
            <a:off x="169334" y="1086688"/>
            <a:ext cx="1207382" cy="461665"/>
          </a:xfrm>
          <a:prstGeom prst="rect">
            <a:avLst/>
          </a:prstGeom>
          <a:noFill/>
        </p:spPr>
        <p:txBody>
          <a:bodyPr wrap="none" rtlCol="0">
            <a:spAutoFit/>
          </a:bodyPr>
          <a:lstStyle/>
          <a:p>
            <a:r>
              <a:rPr lang="en-US" sz="2400" b="1" dirty="0"/>
              <a:t>Lemma:</a:t>
            </a:r>
          </a:p>
        </p:txBody>
      </p:sp>
      <p:grpSp>
        <p:nvGrpSpPr>
          <p:cNvPr id="35" name="Group 34">
            <a:extLst>
              <a:ext uri="{FF2B5EF4-FFF2-40B4-BE49-F238E27FC236}">
                <a16:creationId xmlns:a16="http://schemas.microsoft.com/office/drawing/2014/main" id="{67977869-E150-D641-811C-377900204C2F}"/>
              </a:ext>
            </a:extLst>
          </p:cNvPr>
          <p:cNvGrpSpPr/>
          <p:nvPr/>
        </p:nvGrpSpPr>
        <p:grpSpPr>
          <a:xfrm>
            <a:off x="4915313" y="2673758"/>
            <a:ext cx="4691221" cy="1642632"/>
            <a:chOff x="4915313" y="2673758"/>
            <a:chExt cx="4691221" cy="1642632"/>
          </a:xfrm>
        </p:grpSpPr>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52AD9096-DA75-7240-93CA-8332241CCAB3}"/>
                    </a:ext>
                  </a:extLst>
                </p:cNvPr>
                <p:cNvSpPr/>
                <p:nvPr/>
              </p:nvSpPr>
              <p:spPr>
                <a:xfrm>
                  <a:off x="6428465" y="2673758"/>
                  <a:ext cx="141051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𝑅</m:t>
                        </m:r>
                        <m:d>
                          <m:dPr>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r>
                          <a:rPr lang="en-US" sz="2400" i="1">
                            <a:latin typeface="Cambria Math" panose="02040503050406030204" pitchFamily="18" charset="0"/>
                          </a:rPr>
                          <m:t>𝐼</m:t>
                        </m:r>
                      </m:oMath>
                    </m:oMathPara>
                  </a14:m>
                  <a:endParaRPr lang="en-US" sz="2400" dirty="0"/>
                </a:p>
              </p:txBody>
            </p:sp>
          </mc:Choice>
          <mc:Fallback xmlns="">
            <p:sp>
              <p:nvSpPr>
                <p:cNvPr id="11" name="Rectangle 10">
                  <a:extLst>
                    <a:ext uri="{FF2B5EF4-FFF2-40B4-BE49-F238E27FC236}">
                      <a16:creationId xmlns:a16="http://schemas.microsoft.com/office/drawing/2014/main" id="{52AD9096-DA75-7240-93CA-8332241CCAB3}"/>
                    </a:ext>
                  </a:extLst>
                </p:cNvPr>
                <p:cNvSpPr>
                  <a:spLocks noRot="1" noChangeAspect="1" noMove="1" noResize="1" noEditPoints="1" noAdjustHandles="1" noChangeArrowheads="1" noChangeShapeType="1" noTextEdit="1"/>
                </p:cNvSpPr>
                <p:nvPr/>
              </p:nvSpPr>
              <p:spPr>
                <a:xfrm>
                  <a:off x="6428465" y="2673758"/>
                  <a:ext cx="1410514"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26F91EEF-AC7E-E64B-B178-DAE4A810D1EC}"/>
                    </a:ext>
                  </a:extLst>
                </p:cNvPr>
                <p:cNvSpPr/>
                <p:nvPr/>
              </p:nvSpPr>
              <p:spPr>
                <a:xfrm>
                  <a:off x="6428741" y="3067414"/>
                  <a:ext cx="317779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𝑅</m:t>
                        </m:r>
                        <m:d>
                          <m:dPr>
                            <m:ctrlPr>
                              <a:rPr lang="en-US" sz="2400" i="1">
                                <a:latin typeface="Cambria Math" panose="02040503050406030204" pitchFamily="18" charset="0"/>
                              </a:rPr>
                            </m:ctrlPr>
                          </m:dPr>
                          <m:e>
                            <m:r>
                              <a:rPr lang="en-US" sz="2400" i="1">
                                <a:latin typeface="Cambria Math" panose="02040503050406030204" pitchFamily="18" charset="0"/>
                              </a:rPr>
                              <m:t>𝛼</m:t>
                            </m:r>
                          </m:e>
                        </m:d>
                        <m:r>
                          <a:rPr lang="en-US" sz="2400" i="1">
                            <a:latin typeface="Cambria Math" panose="02040503050406030204" pitchFamily="18" charset="0"/>
                          </a:rPr>
                          <m:t>𝑅</m:t>
                        </m:r>
                        <m:d>
                          <m:dPr>
                            <m:ctrlPr>
                              <a:rPr lang="en-US" sz="2400" i="1">
                                <a:latin typeface="Cambria Math" panose="02040503050406030204" pitchFamily="18" charset="0"/>
                              </a:rPr>
                            </m:ctrlPr>
                          </m:dPr>
                          <m:e>
                            <m:r>
                              <a:rPr lang="en-US" sz="2400" i="1">
                                <a:latin typeface="Cambria Math" panose="02040503050406030204" pitchFamily="18" charset="0"/>
                              </a:rPr>
                              <m:t>𝛽</m:t>
                            </m:r>
                          </m:e>
                        </m:d>
                        <m:r>
                          <a:rPr lang="en-US" sz="2400" b="0" i="1" smtClean="0">
                            <a:latin typeface="Cambria Math" panose="02040503050406030204" pitchFamily="18" charset="0"/>
                          </a:rPr>
                          <m:t>=</m:t>
                        </m:r>
                        <m:r>
                          <a:rPr lang="en-US" sz="2400" i="1" smtClean="0">
                            <a:latin typeface="Cambria Math" panose="02040503050406030204" pitchFamily="18" charset="0"/>
                          </a:rPr>
                          <m:t>𝑅</m:t>
                        </m:r>
                        <m:d>
                          <m:dPr>
                            <m:ctrlPr>
                              <a:rPr lang="en-US" sz="2400" i="1">
                                <a:latin typeface="Cambria Math" panose="02040503050406030204" pitchFamily="18" charset="0"/>
                              </a:rPr>
                            </m:ctrlPr>
                          </m:dPr>
                          <m:e>
                            <m:r>
                              <a:rPr lang="en-US" sz="2400" i="1" smtClean="0">
                                <a:latin typeface="Cambria Math" panose="02040503050406030204" pitchFamily="18" charset="0"/>
                              </a:rPr>
                              <m:t>𝛼</m:t>
                            </m:r>
                            <m:r>
                              <a:rPr lang="en-US" sz="2400">
                                <a:latin typeface="Cambria Math" panose="02040503050406030204" pitchFamily="18" charset="0"/>
                              </a:rPr>
                              <m:t>+</m:t>
                            </m:r>
                            <m:r>
                              <a:rPr lang="en-US" sz="2400" i="1">
                                <a:latin typeface="Cambria Math" panose="02040503050406030204" pitchFamily="18" charset="0"/>
                              </a:rPr>
                              <m:t>𝛽</m:t>
                            </m:r>
                          </m:e>
                        </m:d>
                      </m:oMath>
                    </m:oMathPara>
                  </a14:m>
                  <a:endParaRPr lang="en-US" sz="2400" dirty="0"/>
                </a:p>
              </p:txBody>
            </p:sp>
          </mc:Choice>
          <mc:Fallback xmlns="">
            <p:sp>
              <p:nvSpPr>
                <p:cNvPr id="12" name="Rectangle 11">
                  <a:extLst>
                    <a:ext uri="{FF2B5EF4-FFF2-40B4-BE49-F238E27FC236}">
                      <a16:creationId xmlns:a16="http://schemas.microsoft.com/office/drawing/2014/main" id="{26F91EEF-AC7E-E64B-B178-DAE4A810D1EC}"/>
                    </a:ext>
                  </a:extLst>
                </p:cNvPr>
                <p:cNvSpPr>
                  <a:spLocks noRot="1" noChangeAspect="1" noMove="1" noResize="1" noEditPoints="1" noAdjustHandles="1" noChangeArrowheads="1" noChangeShapeType="1" noTextEdit="1"/>
                </p:cNvSpPr>
                <p:nvPr/>
              </p:nvSpPr>
              <p:spPr>
                <a:xfrm>
                  <a:off x="6428741" y="3067414"/>
                  <a:ext cx="3177793" cy="461665"/>
                </a:xfrm>
                <a:prstGeom prst="rect">
                  <a:avLst/>
                </a:prstGeom>
                <a:blipFill>
                  <a:blip r:embed="rId6"/>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02356F0C-3933-3E44-B1E7-3DAC25B75F8D}"/>
                    </a:ext>
                  </a:extLst>
                </p:cNvPr>
                <p:cNvSpPr/>
                <p:nvPr/>
              </p:nvSpPr>
              <p:spPr>
                <a:xfrm>
                  <a:off x="6428741" y="3461070"/>
                  <a:ext cx="3001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𝑋</m:t>
                        </m:r>
                        <m:r>
                          <a:rPr lang="sr-Latn-RS" sz="2400" b="0" i="1" smtClean="0">
                            <a:latin typeface="Cambria Math" panose="02040503050406030204" pitchFamily="18" charset="0"/>
                          </a:rPr>
                          <m:t>𝑅𝑦</m:t>
                        </m:r>
                        <m:r>
                          <a:rPr lang="en-US" sz="2400" b="0" i="1" smtClean="0">
                            <a:latin typeface="Cambria Math" panose="02040503050406030204" pitchFamily="18" charset="0"/>
                          </a:rPr>
                          <m:t>,</m:t>
                        </m:r>
                        <m:r>
                          <a:rPr lang="en-US" sz="2400" b="0" i="1" smtClean="0">
                            <a:latin typeface="Cambria Math" panose="02040503050406030204" pitchFamily="18" charset="0"/>
                          </a:rPr>
                          <m:t>𝑧</m:t>
                        </m:r>
                        <m:d>
                          <m:dPr>
                            <m:ctrlPr>
                              <a:rPr lang="en-US" sz="2400" i="1">
                                <a:latin typeface="Cambria Math" panose="02040503050406030204" pitchFamily="18" charset="0"/>
                              </a:rPr>
                            </m:ctrlPr>
                          </m:dPr>
                          <m:e>
                            <m:r>
                              <a:rPr lang="en-US" sz="2400" i="1" smtClean="0">
                                <a:latin typeface="Cambria Math" panose="02040503050406030204" pitchFamily="18" charset="0"/>
                              </a:rPr>
                              <m:t>𝛼</m:t>
                            </m:r>
                          </m:e>
                        </m:d>
                        <m:r>
                          <m:rPr>
                            <m:sty m:val="p"/>
                          </m:rPr>
                          <a:rPr lang="sr-Latn-RS" sz="2400" b="0" i="0" smtClean="0">
                            <a:latin typeface="Cambria Math" panose="02040503050406030204" pitchFamily="18" charset="0"/>
                          </a:rPr>
                          <m:t>X</m:t>
                        </m:r>
                        <m:r>
                          <a:rPr lang="en-US" sz="2400">
                            <a:latin typeface="Cambria Math" panose="02040503050406030204" pitchFamily="18" charset="0"/>
                          </a:rPr>
                          <m:t>=</m:t>
                        </m:r>
                        <m:r>
                          <a:rPr lang="en-US" sz="2400" i="1">
                            <a:latin typeface="Cambria Math" panose="02040503050406030204" pitchFamily="18" charset="0"/>
                          </a:rPr>
                          <m:t>𝑅</m:t>
                        </m:r>
                        <m:d>
                          <m:dPr>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𝛼</m:t>
                            </m:r>
                          </m:e>
                        </m:d>
                      </m:oMath>
                    </m:oMathPara>
                  </a14:m>
                  <a:endParaRPr lang="en-US" sz="2400" dirty="0"/>
                </a:p>
              </p:txBody>
            </p:sp>
          </mc:Choice>
          <mc:Fallback xmlns="">
            <p:sp>
              <p:nvSpPr>
                <p:cNvPr id="13" name="Rectangle 12">
                  <a:extLst>
                    <a:ext uri="{FF2B5EF4-FFF2-40B4-BE49-F238E27FC236}">
                      <a16:creationId xmlns:a16="http://schemas.microsoft.com/office/drawing/2014/main" id="{02356F0C-3933-3E44-B1E7-3DAC25B75F8D}"/>
                    </a:ext>
                  </a:extLst>
                </p:cNvPr>
                <p:cNvSpPr>
                  <a:spLocks noRot="1" noChangeAspect="1" noMove="1" noResize="1" noEditPoints="1" noAdjustHandles="1" noChangeArrowheads="1" noChangeShapeType="1" noTextEdit="1"/>
                </p:cNvSpPr>
                <p:nvPr/>
              </p:nvSpPr>
              <p:spPr>
                <a:xfrm>
                  <a:off x="6428741" y="3461070"/>
                  <a:ext cx="3001399" cy="461665"/>
                </a:xfrm>
                <a:prstGeom prst="rect">
                  <a:avLst/>
                </a:prstGeom>
                <a:blipFill>
                  <a:blip r:embed="rId7"/>
                  <a:stretch>
                    <a:fillRect b="-135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C834C10A-D7BF-A047-B4C5-AAAA901C721C}"/>
                    </a:ext>
                  </a:extLst>
                </p:cNvPr>
                <p:cNvSpPr/>
                <p:nvPr/>
              </p:nvSpPr>
              <p:spPr>
                <a:xfrm>
                  <a:off x="6428465" y="3854725"/>
                  <a:ext cx="118558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𝑋</m:t>
                        </m:r>
                        <m:r>
                          <a:rPr lang="sr-Latn-RS" sz="2400" b="0" i="1" smtClean="0">
                            <a:latin typeface="Cambria Math" panose="02040503050406030204" pitchFamily="18" charset="0"/>
                          </a:rPr>
                          <m:t>𝑋</m:t>
                        </m:r>
                        <m:r>
                          <a:rPr lang="en-US" sz="2400">
                            <a:latin typeface="Cambria Math" panose="02040503050406030204" pitchFamily="18" charset="0"/>
                          </a:rPr>
                          <m:t>=</m:t>
                        </m:r>
                        <m:r>
                          <a:rPr lang="sr-Latn-RS" sz="2400" b="0" i="1" smtClean="0">
                            <a:latin typeface="Cambria Math" panose="02040503050406030204" pitchFamily="18" charset="0"/>
                          </a:rPr>
                          <m:t>𝐼</m:t>
                        </m:r>
                      </m:oMath>
                    </m:oMathPara>
                  </a14:m>
                  <a:endParaRPr lang="en-US" sz="2400" dirty="0"/>
                </a:p>
              </p:txBody>
            </p:sp>
          </mc:Choice>
          <mc:Fallback xmlns="">
            <p:sp>
              <p:nvSpPr>
                <p:cNvPr id="14" name="Rectangle 13">
                  <a:extLst>
                    <a:ext uri="{FF2B5EF4-FFF2-40B4-BE49-F238E27FC236}">
                      <a16:creationId xmlns:a16="http://schemas.microsoft.com/office/drawing/2014/main" id="{C834C10A-D7BF-A047-B4C5-AAAA901C721C}"/>
                    </a:ext>
                  </a:extLst>
                </p:cNvPr>
                <p:cNvSpPr>
                  <a:spLocks noRot="1" noChangeAspect="1" noMove="1" noResize="1" noEditPoints="1" noAdjustHandles="1" noChangeArrowheads="1" noChangeShapeType="1" noTextEdit="1"/>
                </p:cNvSpPr>
                <p:nvPr/>
              </p:nvSpPr>
              <p:spPr>
                <a:xfrm>
                  <a:off x="6428465" y="3854725"/>
                  <a:ext cx="1185581" cy="461665"/>
                </a:xfrm>
                <a:prstGeom prst="rect">
                  <a:avLst/>
                </a:prstGeom>
                <a:blipFill>
                  <a:blip r:embed="rId8"/>
                  <a:stretch>
                    <a:fillRect/>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8B7C1393-4BEF-4948-8BF7-EB00DA18133E}"/>
                </a:ext>
              </a:extLst>
            </p:cNvPr>
            <p:cNvSpPr txBox="1"/>
            <p:nvPr/>
          </p:nvSpPr>
          <p:spPr>
            <a:xfrm>
              <a:off x="5067174" y="2979723"/>
              <a:ext cx="821059" cy="461665"/>
            </a:xfrm>
            <a:prstGeom prst="rect">
              <a:avLst/>
            </a:prstGeom>
            <a:noFill/>
          </p:spPr>
          <p:txBody>
            <a:bodyPr wrap="none" rtlCol="0">
              <a:spAutoFit/>
            </a:bodyPr>
            <a:lstStyle/>
            <a:p>
              <a:r>
                <a:rPr lang="en-US" sz="2400" dirty="0"/>
                <a:t>since</a:t>
              </a:r>
            </a:p>
          </p:txBody>
        </p:sp>
        <p:cxnSp>
          <p:nvCxnSpPr>
            <p:cNvPr id="30" name="Straight Arrow Connector 29">
              <a:extLst>
                <a:ext uri="{FF2B5EF4-FFF2-40B4-BE49-F238E27FC236}">
                  <a16:creationId xmlns:a16="http://schemas.microsoft.com/office/drawing/2014/main" id="{C421F56A-47AA-1D41-BCE8-F17B40B1D281}"/>
                </a:ext>
              </a:extLst>
            </p:cNvPr>
            <p:cNvCxnSpPr>
              <a:cxnSpLocks/>
            </p:cNvCxnSpPr>
            <p:nvPr/>
          </p:nvCxnSpPr>
          <p:spPr>
            <a:xfrm>
              <a:off x="4915313" y="3529079"/>
              <a:ext cx="1361567"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4F068F7D-310F-8D4C-A9BA-1FDE53B20FA3}"/>
              </a:ext>
            </a:extLst>
          </p:cNvPr>
          <p:cNvGrpSpPr/>
          <p:nvPr/>
        </p:nvGrpSpPr>
        <p:grpSpPr>
          <a:xfrm>
            <a:off x="169334" y="1898051"/>
            <a:ext cx="6699590" cy="3231215"/>
            <a:chOff x="169334" y="1898051"/>
            <a:chExt cx="6699590" cy="3231215"/>
          </a:xfrm>
        </p:grpSpPr>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9450E99E-1B3C-324D-9912-7CBB290F3F91}"/>
                    </a:ext>
                  </a:extLst>
                </p:cNvPr>
                <p:cNvSpPr/>
                <p:nvPr/>
              </p:nvSpPr>
              <p:spPr>
                <a:xfrm>
                  <a:off x="169334" y="2482060"/>
                  <a:ext cx="2883418" cy="4908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𝐴</m:t>
                        </m:r>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𝑧</m:t>
                            </m:r>
                          </m:sub>
                        </m:sSub>
                        <m:d>
                          <m:dPr>
                            <m:ctrlPr>
                              <a:rPr lang="en-US" sz="2400" i="1">
                                <a:latin typeface="Cambria Math" panose="02040503050406030204" pitchFamily="18" charset="0"/>
                              </a:rPr>
                            </m:ctrlPr>
                          </m:dPr>
                          <m:e>
                            <m:sSub>
                              <m:sSubPr>
                                <m:ctrlPr>
                                  <a:rPr lang="en-US" sz="2400" i="1" smtClean="0">
                                    <a:latin typeface="Cambria Math" panose="02040503050406030204" pitchFamily="18" charset="0"/>
                                  </a:rPr>
                                </m:ctrlPr>
                              </m:sSubPr>
                              <m:e>
                                <m:r>
                                  <a:rPr lang="en-US" sz="2400" i="1">
                                    <a:latin typeface="Cambria Math" panose="02040503050406030204" pitchFamily="18" charset="0"/>
                                  </a:rPr>
                                  <m:t>𝛼</m:t>
                                </m:r>
                              </m:e>
                              <m:sub>
                                <m:r>
                                  <a:rPr lang="en-US" sz="2400">
                                    <a:latin typeface="Cambria Math" panose="02040503050406030204" pitchFamily="18" charset="0"/>
                                  </a:rPr>
                                  <m:t>1</m:t>
                                </m:r>
                              </m:sub>
                            </m:sSub>
                          </m:e>
                        </m:d>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𝑦</m:t>
                            </m:r>
                          </m:sub>
                        </m:sSub>
                        <m:d>
                          <m:dPr>
                            <m:ctrlPr>
                              <a:rPr lang="en-US" sz="2400" i="1">
                                <a:latin typeface="Cambria Math" panose="02040503050406030204" pitchFamily="18" charset="0"/>
                              </a:rPr>
                            </m:ctrlPr>
                          </m:dPr>
                          <m:e>
                            <m:f>
                              <m:fPr>
                                <m:type m:val="lin"/>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a:latin typeface="Cambria Math" panose="02040503050406030204" pitchFamily="18" charset="0"/>
                                  </a:rPr>
                                  <m:t>2</m:t>
                                </m:r>
                              </m:den>
                            </m:f>
                          </m:e>
                        </m:d>
                      </m:oMath>
                    </m:oMathPara>
                  </a14:m>
                  <a:endParaRPr lang="en-US" sz="2400" dirty="0"/>
                </a:p>
              </p:txBody>
            </p:sp>
          </mc:Choice>
          <mc:Fallback xmlns="">
            <p:sp>
              <p:nvSpPr>
                <p:cNvPr id="7" name="Rectangle 6">
                  <a:extLst>
                    <a:ext uri="{FF2B5EF4-FFF2-40B4-BE49-F238E27FC236}">
                      <a16:creationId xmlns:a16="http://schemas.microsoft.com/office/drawing/2014/main" id="{9450E99E-1B3C-324D-9912-7CBB290F3F91}"/>
                    </a:ext>
                  </a:extLst>
                </p:cNvPr>
                <p:cNvSpPr>
                  <a:spLocks noRot="1" noChangeAspect="1" noMove="1" noResize="1" noEditPoints="1" noAdjustHandles="1" noChangeArrowheads="1" noChangeShapeType="1" noTextEdit="1"/>
                </p:cNvSpPr>
                <p:nvPr/>
              </p:nvSpPr>
              <p:spPr>
                <a:xfrm>
                  <a:off x="169334" y="2482060"/>
                  <a:ext cx="2883418" cy="490840"/>
                </a:xfrm>
                <a:prstGeom prst="rect">
                  <a:avLst/>
                </a:prstGeom>
                <a:blipFill>
                  <a:blip r:embed="rId9"/>
                  <a:stretch>
                    <a:fillRect t="-115000" b="-17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76058D9C-ED36-6E46-AAC1-7598BBC2B789}"/>
                    </a:ext>
                  </a:extLst>
                </p:cNvPr>
                <p:cNvSpPr/>
                <p:nvPr/>
              </p:nvSpPr>
              <p:spPr>
                <a:xfrm>
                  <a:off x="169334" y="2978509"/>
                  <a:ext cx="4745979" cy="4908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𝐵</m:t>
                        </m:r>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𝑦</m:t>
                            </m:r>
                          </m:sub>
                        </m:sSub>
                        <m:d>
                          <m:dPr>
                            <m:ctrlPr>
                              <a:rPr lang="en-US" sz="2400" i="1">
                                <a:latin typeface="Cambria Math" panose="02040503050406030204" pitchFamily="18" charset="0"/>
                              </a:rPr>
                            </m:ctrlPr>
                          </m:dPr>
                          <m:e>
                            <m:r>
                              <a:rPr lang="en-US" sz="2400">
                                <a:latin typeface="Cambria Math" panose="02040503050406030204" pitchFamily="18" charset="0"/>
                              </a:rPr>
                              <m:t>−</m:t>
                            </m:r>
                            <m:f>
                              <m:fPr>
                                <m:type m:val="lin"/>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a:latin typeface="Cambria Math" panose="02040503050406030204" pitchFamily="18" charset="0"/>
                                  </a:rPr>
                                  <m:t>2</m:t>
                                </m:r>
                              </m:den>
                            </m:f>
                          </m:e>
                        </m:d>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𝑧</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𝛼</m:t>
                                    </m:r>
                                  </m:e>
                                  <m:sub>
                                    <m:r>
                                      <a:rPr lang="en-US" sz="2400">
                                        <a:latin typeface="Cambria Math" panose="02040503050406030204" pitchFamily="18" charset="0"/>
                                      </a:rPr>
                                      <m:t>2</m:t>
                                    </m:r>
                                  </m:sub>
                                </m:sSub>
                                <m:r>
                                  <a:rPr lang="en-US" sz="2400">
                                    <a:latin typeface="Cambria Math" panose="02040503050406030204" pitchFamily="18" charset="0"/>
                                  </a:rPr>
                                  <m:t>+</m:t>
                                </m:r>
                                <m:r>
                                  <a:rPr lang="en-US" sz="2400" i="1">
                                    <a:latin typeface="Cambria Math" panose="02040503050406030204" pitchFamily="18" charset="0"/>
                                  </a:rPr>
                                  <m:t>𝛼</m:t>
                                </m:r>
                              </m:e>
                              <m:sub>
                                <m:r>
                                  <a:rPr lang="en-US" sz="2400">
                                    <a:latin typeface="Cambria Math" panose="02040503050406030204" pitchFamily="18" charset="0"/>
                                  </a:rPr>
                                  <m:t>1</m:t>
                                </m:r>
                              </m:sub>
                            </m:sSub>
                            <m:f>
                              <m:fPr>
                                <m:type m:val="lin"/>
                                <m:ctrlPr>
                                  <a:rPr lang="en-US" sz="2400" i="1">
                                    <a:latin typeface="Cambria Math" panose="02040503050406030204" pitchFamily="18" charset="0"/>
                                  </a:rPr>
                                </m:ctrlPr>
                              </m:fPr>
                              <m:num>
                                <m:r>
                                  <a:rPr lang="en-US" sz="2400">
                                    <a:latin typeface="Cambria Math" panose="02040503050406030204" pitchFamily="18" charset="0"/>
                                  </a:rPr>
                                  <m:t>)</m:t>
                                </m:r>
                              </m:num>
                              <m:den>
                                <m:r>
                                  <a:rPr lang="en-US" sz="2400">
                                    <a:latin typeface="Cambria Math" panose="02040503050406030204" pitchFamily="18" charset="0"/>
                                  </a:rPr>
                                  <m:t>2</m:t>
                                </m:r>
                              </m:den>
                            </m:f>
                          </m:e>
                        </m:d>
                      </m:oMath>
                    </m:oMathPara>
                  </a14:m>
                  <a:endParaRPr lang="en-US" sz="2400" dirty="0"/>
                </a:p>
              </p:txBody>
            </p:sp>
          </mc:Choice>
          <mc:Fallback xmlns="">
            <p:sp>
              <p:nvSpPr>
                <p:cNvPr id="8" name="Rectangle 7">
                  <a:extLst>
                    <a:ext uri="{FF2B5EF4-FFF2-40B4-BE49-F238E27FC236}">
                      <a16:creationId xmlns:a16="http://schemas.microsoft.com/office/drawing/2014/main" id="{76058D9C-ED36-6E46-AAC1-7598BBC2B789}"/>
                    </a:ext>
                  </a:extLst>
                </p:cNvPr>
                <p:cNvSpPr>
                  <a:spLocks noRot="1" noChangeAspect="1" noMove="1" noResize="1" noEditPoints="1" noAdjustHandles="1" noChangeArrowheads="1" noChangeShapeType="1" noTextEdit="1"/>
                </p:cNvSpPr>
                <p:nvPr/>
              </p:nvSpPr>
              <p:spPr>
                <a:xfrm>
                  <a:off x="169334" y="2978509"/>
                  <a:ext cx="4745979" cy="490840"/>
                </a:xfrm>
                <a:prstGeom prst="rect">
                  <a:avLst/>
                </a:prstGeom>
                <a:blipFill>
                  <a:blip r:embed="rId10"/>
                  <a:stretch>
                    <a:fillRect t="-120513" b="-17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D8A29A42-59B5-C141-A38C-06D35A0D0A5F}"/>
                    </a:ext>
                  </a:extLst>
                </p:cNvPr>
                <p:cNvSpPr/>
                <p:nvPr/>
              </p:nvSpPr>
              <p:spPr>
                <a:xfrm>
                  <a:off x="169334" y="3474958"/>
                  <a:ext cx="3201069" cy="6450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𝐶</m:t>
                        </m:r>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𝑧</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d>
                                  <m:dPr>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𝛼</m:t>
                                        </m:r>
                                      </m:e>
                                      <m:sub>
                                        <m:r>
                                          <a:rPr lang="en-US" sz="2400">
                                            <a:latin typeface="Cambria Math" panose="02040503050406030204" pitchFamily="18" charset="0"/>
                                          </a:rPr>
                                          <m:t>2</m:t>
                                        </m:r>
                                      </m:sub>
                                    </m:sSub>
                                    <m:r>
                                      <a:rPr lang="en-US" sz="2400">
                                        <a:latin typeface="Cambria Math" panose="02040503050406030204" pitchFamily="18" charset="0"/>
                                      </a:rPr>
                                      <m:t>−</m:t>
                                    </m:r>
                                    <m:r>
                                      <a:rPr lang="en-US" sz="2400" i="1">
                                        <a:latin typeface="Cambria Math" panose="02040503050406030204" pitchFamily="18" charset="0"/>
                                      </a:rPr>
                                      <m:t>𝛼</m:t>
                                    </m:r>
                                  </m:e>
                                </m:d>
                              </m:e>
                              <m:sub>
                                <m:r>
                                  <a:rPr lang="en-US" sz="2400">
                                    <a:latin typeface="Cambria Math" panose="02040503050406030204" pitchFamily="18" charset="0"/>
                                  </a:rPr>
                                  <m:t>1</m:t>
                                </m:r>
                              </m:sub>
                            </m:sSub>
                            <m:f>
                              <m:fPr>
                                <m:type m:val="lin"/>
                                <m:ctrlPr>
                                  <a:rPr lang="en-US" sz="2400" i="1">
                                    <a:latin typeface="Cambria Math" panose="02040503050406030204" pitchFamily="18" charset="0"/>
                                  </a:rPr>
                                </m:ctrlPr>
                              </m:fPr>
                              <m:num>
                                <m:r>
                                  <a:rPr lang="en-US" sz="2400">
                                    <a:latin typeface="Cambria Math" panose="02040503050406030204" pitchFamily="18" charset="0"/>
                                  </a:rPr>
                                  <m:t>)</m:t>
                                </m:r>
                              </m:num>
                              <m:den>
                                <m:r>
                                  <a:rPr lang="en-US" sz="2400">
                                    <a:latin typeface="Cambria Math" panose="02040503050406030204" pitchFamily="18" charset="0"/>
                                  </a:rPr>
                                  <m:t>2</m:t>
                                </m:r>
                              </m:den>
                            </m:f>
                          </m:e>
                        </m:d>
                      </m:oMath>
                    </m:oMathPara>
                  </a14:m>
                  <a:endParaRPr lang="en-US" sz="2400" dirty="0"/>
                </a:p>
              </p:txBody>
            </p:sp>
          </mc:Choice>
          <mc:Fallback xmlns="">
            <p:sp>
              <p:nvSpPr>
                <p:cNvPr id="9" name="Rectangle 8">
                  <a:extLst>
                    <a:ext uri="{FF2B5EF4-FFF2-40B4-BE49-F238E27FC236}">
                      <a16:creationId xmlns:a16="http://schemas.microsoft.com/office/drawing/2014/main" id="{D8A29A42-59B5-C141-A38C-06D35A0D0A5F}"/>
                    </a:ext>
                  </a:extLst>
                </p:cNvPr>
                <p:cNvSpPr>
                  <a:spLocks noRot="1" noChangeAspect="1" noMove="1" noResize="1" noEditPoints="1" noAdjustHandles="1" noChangeArrowheads="1" noChangeShapeType="1" noTextEdit="1"/>
                </p:cNvSpPr>
                <p:nvPr/>
              </p:nvSpPr>
              <p:spPr>
                <a:xfrm>
                  <a:off x="169334" y="3474958"/>
                  <a:ext cx="3201069" cy="645048"/>
                </a:xfrm>
                <a:prstGeom prst="rect">
                  <a:avLst/>
                </a:prstGeom>
                <a:blipFill>
                  <a:blip r:embed="rId11"/>
                  <a:stretch>
                    <a:fillRect t="-78431" b="-125490"/>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E45EB7AA-3433-1A4B-AAD2-6B6AD6419F6E}"/>
                </a:ext>
              </a:extLst>
            </p:cNvPr>
            <p:cNvSpPr txBox="1"/>
            <p:nvPr/>
          </p:nvSpPr>
          <p:spPr>
            <a:xfrm>
              <a:off x="172539" y="1898051"/>
              <a:ext cx="6696385" cy="461665"/>
            </a:xfrm>
            <a:prstGeom prst="rect">
              <a:avLst/>
            </a:prstGeom>
            <a:noFill/>
          </p:spPr>
          <p:txBody>
            <a:bodyPr wrap="none" rtlCol="0">
              <a:spAutoFit/>
            </a:bodyPr>
            <a:lstStyle/>
            <a:p>
              <a:r>
                <a:rPr lang="en-US" sz="2400" b="1" dirty="0"/>
                <a:t>Proof</a:t>
              </a:r>
              <a:r>
                <a:rPr lang="en-US" sz="2400" dirty="0"/>
                <a:t>: </a:t>
              </a:r>
              <a:r>
                <a:rPr lang="en-ZA" sz="2400" dirty="0"/>
                <a:t>If the rotation operators are chosen such that</a:t>
              </a:r>
              <a:endParaRPr lang="en-US" sz="2400" dirty="0"/>
            </a:p>
          </p:txBody>
        </p:sp>
        <p:sp>
          <p:nvSpPr>
            <p:cNvPr id="32" name="Right Brace 31">
              <a:extLst>
                <a:ext uri="{FF2B5EF4-FFF2-40B4-BE49-F238E27FC236}">
                  <a16:creationId xmlns:a16="http://schemas.microsoft.com/office/drawing/2014/main" id="{4A6FDD1F-B5AD-2F47-A3A5-64C2ADDD676D}"/>
                </a:ext>
              </a:extLst>
            </p:cNvPr>
            <p:cNvSpPr/>
            <p:nvPr/>
          </p:nvSpPr>
          <p:spPr>
            <a:xfrm rot="5400000">
              <a:off x="2019416" y="2212712"/>
              <a:ext cx="507189" cy="4207353"/>
            </a:xfrm>
            <a:prstGeom prst="rightBrace">
              <a:avLst>
                <a:gd name="adj1" fmla="val 6257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42BC7408-9225-B545-9378-E13D4D564DB7}"/>
                    </a:ext>
                  </a:extLst>
                </p:cNvPr>
                <p:cNvSpPr/>
                <p:nvPr/>
              </p:nvSpPr>
              <p:spPr>
                <a:xfrm>
                  <a:off x="1561219" y="4667601"/>
                  <a:ext cx="137595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𝐴𝐵𝐶</m:t>
                        </m:r>
                        <m:r>
                          <a:rPr lang="en-US" sz="2400" i="1">
                            <a:latin typeface="Cambria Math" panose="02040503050406030204" pitchFamily="18" charset="0"/>
                          </a:rPr>
                          <m:t>=</m:t>
                        </m:r>
                        <m:r>
                          <a:rPr lang="en-US" sz="2400" i="1">
                            <a:latin typeface="Cambria Math" panose="02040503050406030204" pitchFamily="18" charset="0"/>
                          </a:rPr>
                          <m:t>𝐼</m:t>
                        </m:r>
                      </m:oMath>
                    </m:oMathPara>
                  </a14:m>
                  <a:endParaRPr lang="en-US" sz="2400" dirty="0"/>
                </a:p>
              </p:txBody>
            </p:sp>
          </mc:Choice>
          <mc:Fallback xmlns="">
            <p:sp>
              <p:nvSpPr>
                <p:cNvPr id="33" name="Rectangle 32">
                  <a:extLst>
                    <a:ext uri="{FF2B5EF4-FFF2-40B4-BE49-F238E27FC236}">
                      <a16:creationId xmlns:a16="http://schemas.microsoft.com/office/drawing/2014/main" id="{42BC7408-9225-B545-9378-E13D4D564DB7}"/>
                    </a:ext>
                  </a:extLst>
                </p:cNvPr>
                <p:cNvSpPr>
                  <a:spLocks noRot="1" noChangeAspect="1" noMove="1" noResize="1" noEditPoints="1" noAdjustHandles="1" noChangeArrowheads="1" noChangeShapeType="1" noTextEdit="1"/>
                </p:cNvSpPr>
                <p:nvPr/>
              </p:nvSpPr>
              <p:spPr>
                <a:xfrm>
                  <a:off x="1561219" y="4667601"/>
                  <a:ext cx="1375954" cy="461665"/>
                </a:xfrm>
                <a:prstGeom prst="rect">
                  <a:avLst/>
                </a:prstGeom>
                <a:blipFill>
                  <a:blip r:embed="rId12"/>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627593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ssolv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dissolv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1EA5C-CCE0-E547-B444-CD9092C29BE2}"/>
              </a:ext>
            </a:extLst>
          </p:cNvPr>
          <p:cNvSpPr>
            <a:spLocks noGrp="1"/>
          </p:cNvSpPr>
          <p:nvPr>
            <p:ph type="title"/>
          </p:nvPr>
        </p:nvSpPr>
        <p:spPr/>
        <p:txBody>
          <a:bodyPr/>
          <a:lstStyle/>
          <a:p>
            <a:r>
              <a:rPr lang="en-US" dirty="0"/>
              <a:t>Lemma 2 </a:t>
            </a:r>
            <a:r>
              <a:rPr lang="en-ZA" dirty="0"/>
              <a:t>of the Decomposition Theorem</a:t>
            </a:r>
            <a:endParaRPr lang="en-US" dirty="0"/>
          </a:p>
        </p:txBody>
      </p:sp>
      <p:sp>
        <p:nvSpPr>
          <p:cNvPr id="3" name="Slide Number Placeholder 2">
            <a:extLst>
              <a:ext uri="{FF2B5EF4-FFF2-40B4-BE49-F238E27FC236}">
                <a16:creationId xmlns:a16="http://schemas.microsoft.com/office/drawing/2014/main" id="{0D743AAA-F179-F546-900A-BAD3C7DF607D}"/>
              </a:ext>
            </a:extLst>
          </p:cNvPr>
          <p:cNvSpPr>
            <a:spLocks noGrp="1"/>
          </p:cNvSpPr>
          <p:nvPr>
            <p:ph type="sldNum" sz="quarter" idx="12"/>
          </p:nvPr>
        </p:nvSpPr>
        <p:spPr/>
        <p:txBody>
          <a:bodyPr/>
          <a:lstStyle/>
          <a:p>
            <a:fld id="{591A223C-FA10-BC46-A853-03BA373D023C}" type="slidenum">
              <a:rPr lang="en-US" smtClean="0"/>
              <a:t>26</a:t>
            </a:fld>
            <a:endParaRPr lang="en-US"/>
          </a:p>
        </p:txBody>
      </p:sp>
      <p:cxnSp>
        <p:nvCxnSpPr>
          <p:cNvPr id="4" name="Straight Connector 3">
            <a:extLst>
              <a:ext uri="{FF2B5EF4-FFF2-40B4-BE49-F238E27FC236}">
                <a16:creationId xmlns:a16="http://schemas.microsoft.com/office/drawing/2014/main" id="{65EAF9A6-6882-BF42-9D0C-F5ABF0049BB5}"/>
              </a:ext>
            </a:extLst>
          </p:cNvPr>
          <p:cNvCxnSpPr>
            <a:cxnSpLocks/>
          </p:cNvCxnSpPr>
          <p:nvPr/>
        </p:nvCxnSpPr>
        <p:spPr>
          <a:xfrm>
            <a:off x="1623511" y="3535175"/>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4D19BC9-CDE9-0C40-81BA-BCE4973BA1B2}"/>
              </a:ext>
            </a:extLst>
          </p:cNvPr>
          <p:cNvCxnSpPr>
            <a:cxnSpLocks/>
          </p:cNvCxnSpPr>
          <p:nvPr/>
        </p:nvCxnSpPr>
        <p:spPr>
          <a:xfrm>
            <a:off x="1623511" y="2450804"/>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D672BEC7-9C6E-144B-8614-4ADF9EDE0DC0}"/>
              </a:ext>
            </a:extLst>
          </p:cNvPr>
          <p:cNvSpPr/>
          <p:nvPr/>
        </p:nvSpPr>
        <p:spPr>
          <a:xfrm>
            <a:off x="2196904" y="2308755"/>
            <a:ext cx="270000" cy="27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7" name="Straight Connector 6">
            <a:extLst>
              <a:ext uri="{FF2B5EF4-FFF2-40B4-BE49-F238E27FC236}">
                <a16:creationId xmlns:a16="http://schemas.microsoft.com/office/drawing/2014/main" id="{5CE1B6FA-6EAC-8D4E-BE96-37CA04F568A1}"/>
              </a:ext>
            </a:extLst>
          </p:cNvPr>
          <p:cNvCxnSpPr>
            <a:cxnSpLocks/>
            <a:endCxn id="6" idx="4"/>
          </p:cNvCxnSpPr>
          <p:nvPr/>
        </p:nvCxnSpPr>
        <p:spPr>
          <a:xfrm flipV="1">
            <a:off x="2331904" y="2578755"/>
            <a:ext cx="0" cy="5964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8E48AC2-6BF8-2240-9B8B-B1FEC031B976}"/>
              </a:ext>
            </a:extLst>
          </p:cNvPr>
          <p:cNvSpPr/>
          <p:nvPr/>
        </p:nvSpPr>
        <p:spPr>
          <a:xfrm>
            <a:off x="1971904" y="3175175"/>
            <a:ext cx="720000" cy="720000"/>
          </a:xfrm>
          <a:prstGeom prst="rect">
            <a:avLst/>
          </a:prstGeom>
          <a:solidFill>
            <a:srgbClr val="9B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U</a:t>
            </a:r>
          </a:p>
        </p:txBody>
      </p:sp>
      <p:cxnSp>
        <p:nvCxnSpPr>
          <p:cNvPr id="15" name="Straight Connector 14">
            <a:extLst>
              <a:ext uri="{FF2B5EF4-FFF2-40B4-BE49-F238E27FC236}">
                <a16:creationId xmlns:a16="http://schemas.microsoft.com/office/drawing/2014/main" id="{2B179C05-3773-C945-9CD2-7F1B1AAD2059}"/>
              </a:ext>
            </a:extLst>
          </p:cNvPr>
          <p:cNvCxnSpPr>
            <a:cxnSpLocks/>
          </p:cNvCxnSpPr>
          <p:nvPr/>
        </p:nvCxnSpPr>
        <p:spPr>
          <a:xfrm>
            <a:off x="6053686" y="3429290"/>
            <a:ext cx="54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BF86A65-CC5F-4B40-9741-452F2E22538E}"/>
              </a:ext>
            </a:extLst>
          </p:cNvPr>
          <p:cNvCxnSpPr>
            <a:cxnSpLocks/>
          </p:cNvCxnSpPr>
          <p:nvPr/>
        </p:nvCxnSpPr>
        <p:spPr>
          <a:xfrm>
            <a:off x="5937281" y="2500732"/>
            <a:ext cx="54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3BE915AC-0EF7-A54A-B5E5-261ABC1F48B7}"/>
              </a:ext>
            </a:extLst>
          </p:cNvPr>
          <p:cNvGrpSpPr/>
          <p:nvPr/>
        </p:nvGrpSpPr>
        <p:grpSpPr>
          <a:xfrm rot="10800000">
            <a:off x="7351851" y="2364587"/>
            <a:ext cx="720000" cy="1396107"/>
            <a:chOff x="2596286" y="1207649"/>
            <a:chExt cx="720000" cy="1396107"/>
          </a:xfrm>
        </p:grpSpPr>
        <p:sp>
          <p:nvSpPr>
            <p:cNvPr id="19" name="Oval 18">
              <a:extLst>
                <a:ext uri="{FF2B5EF4-FFF2-40B4-BE49-F238E27FC236}">
                  <a16:creationId xmlns:a16="http://schemas.microsoft.com/office/drawing/2014/main" id="{4871F680-B35E-1646-9540-0804A855E1F4}"/>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0" name="Oval 19">
              <a:extLst>
                <a:ext uri="{FF2B5EF4-FFF2-40B4-BE49-F238E27FC236}">
                  <a16:creationId xmlns:a16="http://schemas.microsoft.com/office/drawing/2014/main" id="{4455939E-0D44-0148-9EB2-CD10E77955B1}"/>
                </a:ext>
              </a:extLst>
            </p:cNvPr>
            <p:cNvSpPr/>
            <p:nvPr/>
          </p:nvSpPr>
          <p:spPr>
            <a:xfrm flipV="1">
              <a:off x="2821286" y="233375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1" name="Straight Connector 20">
              <a:extLst>
                <a:ext uri="{FF2B5EF4-FFF2-40B4-BE49-F238E27FC236}">
                  <a16:creationId xmlns:a16="http://schemas.microsoft.com/office/drawing/2014/main" id="{10C79A30-581E-6549-8F60-924DC23A2DFF}"/>
                </a:ext>
              </a:extLst>
            </p:cNvPr>
            <p:cNvCxnSpPr>
              <a:cxnSpLocks/>
              <a:stCxn id="20" idx="4"/>
              <a:endCxn id="19" idx="0"/>
            </p:cNvCxnSpPr>
            <p:nvPr/>
          </p:nvCxnSpPr>
          <p:spPr>
            <a:xfrm>
              <a:off x="2956286" y="1927649"/>
              <a:ext cx="0" cy="4061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Rectangle 21">
            <a:extLst>
              <a:ext uri="{FF2B5EF4-FFF2-40B4-BE49-F238E27FC236}">
                <a16:creationId xmlns:a16="http://schemas.microsoft.com/office/drawing/2014/main" id="{B2F42CA1-28AD-4A4D-AC02-EED2B61AA9C2}"/>
              </a:ext>
            </a:extLst>
          </p:cNvPr>
          <p:cNvSpPr>
            <a:spLocks noChangeAspect="1"/>
          </p:cNvSpPr>
          <p:nvPr/>
        </p:nvSpPr>
        <p:spPr>
          <a:xfrm>
            <a:off x="6443577" y="3057367"/>
            <a:ext cx="720000" cy="7200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C</a:t>
            </a:r>
          </a:p>
        </p:txBody>
      </p:sp>
      <p:sp>
        <p:nvSpPr>
          <p:cNvPr id="23" name="Rectangle 22">
            <a:extLst>
              <a:ext uri="{FF2B5EF4-FFF2-40B4-BE49-F238E27FC236}">
                <a16:creationId xmlns:a16="http://schemas.microsoft.com/office/drawing/2014/main" id="{E1B54191-DF18-CB47-B56F-CE45E541F0D4}"/>
              </a:ext>
            </a:extLst>
          </p:cNvPr>
          <p:cNvSpPr>
            <a:spLocks noChangeAspect="1"/>
          </p:cNvSpPr>
          <p:nvPr/>
        </p:nvSpPr>
        <p:spPr>
          <a:xfrm>
            <a:off x="8443190" y="3040694"/>
            <a:ext cx="720000" cy="7200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B</a:t>
            </a:r>
          </a:p>
        </p:txBody>
      </p:sp>
      <p:grpSp>
        <p:nvGrpSpPr>
          <p:cNvPr id="25" name="Group 24">
            <a:extLst>
              <a:ext uri="{FF2B5EF4-FFF2-40B4-BE49-F238E27FC236}">
                <a16:creationId xmlns:a16="http://schemas.microsoft.com/office/drawing/2014/main" id="{997A2F1E-C74A-FF4C-B6A6-D159E0088C87}"/>
              </a:ext>
            </a:extLst>
          </p:cNvPr>
          <p:cNvGrpSpPr/>
          <p:nvPr/>
        </p:nvGrpSpPr>
        <p:grpSpPr>
          <a:xfrm rot="10800000">
            <a:off x="9357100" y="2381260"/>
            <a:ext cx="720000" cy="1396107"/>
            <a:chOff x="2596286" y="1207649"/>
            <a:chExt cx="720000" cy="1396107"/>
          </a:xfrm>
        </p:grpSpPr>
        <p:sp>
          <p:nvSpPr>
            <p:cNvPr id="26" name="Oval 25">
              <a:extLst>
                <a:ext uri="{FF2B5EF4-FFF2-40B4-BE49-F238E27FC236}">
                  <a16:creationId xmlns:a16="http://schemas.microsoft.com/office/drawing/2014/main" id="{FC361AC4-4D48-9E42-B5AF-776BC715794A}"/>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7" name="Oval 26">
              <a:extLst>
                <a:ext uri="{FF2B5EF4-FFF2-40B4-BE49-F238E27FC236}">
                  <a16:creationId xmlns:a16="http://schemas.microsoft.com/office/drawing/2014/main" id="{8B3B4BCF-DA5A-D149-99D5-98D745A90675}"/>
                </a:ext>
              </a:extLst>
            </p:cNvPr>
            <p:cNvSpPr/>
            <p:nvPr/>
          </p:nvSpPr>
          <p:spPr>
            <a:xfrm flipV="1">
              <a:off x="2821286" y="233375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8" name="Straight Connector 27">
              <a:extLst>
                <a:ext uri="{FF2B5EF4-FFF2-40B4-BE49-F238E27FC236}">
                  <a16:creationId xmlns:a16="http://schemas.microsoft.com/office/drawing/2014/main" id="{FBF134BA-2116-2941-941C-C6947A7CBFBF}"/>
                </a:ext>
              </a:extLst>
            </p:cNvPr>
            <p:cNvCxnSpPr>
              <a:cxnSpLocks/>
              <a:stCxn id="27" idx="4"/>
              <a:endCxn id="26" idx="0"/>
            </p:cNvCxnSpPr>
            <p:nvPr/>
          </p:nvCxnSpPr>
          <p:spPr>
            <a:xfrm>
              <a:off x="2956286" y="1927649"/>
              <a:ext cx="0" cy="4061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Rectangle 28">
            <a:extLst>
              <a:ext uri="{FF2B5EF4-FFF2-40B4-BE49-F238E27FC236}">
                <a16:creationId xmlns:a16="http://schemas.microsoft.com/office/drawing/2014/main" id="{F5B0A40F-5F8A-AE4D-9DAD-99B71556E318}"/>
              </a:ext>
            </a:extLst>
          </p:cNvPr>
          <p:cNvSpPr>
            <a:spLocks noChangeAspect="1"/>
          </p:cNvSpPr>
          <p:nvPr/>
        </p:nvSpPr>
        <p:spPr>
          <a:xfrm>
            <a:off x="10265374" y="3069290"/>
            <a:ext cx="720000" cy="7200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A</a:t>
            </a:r>
          </a:p>
        </p:txBody>
      </p: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66812F02-72CC-354B-904C-A62FD0BE32B6}"/>
                  </a:ext>
                </a:extLst>
              </p:cNvPr>
              <p:cNvSpPr/>
              <p:nvPr/>
            </p:nvSpPr>
            <p:spPr>
              <a:xfrm>
                <a:off x="207648" y="1657585"/>
                <a:ext cx="4582292"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5"/>
                                <m:mcJc m:val="center"/>
                              </m:mcPr>
                            </m:mc>
                          </m:mcs>
                          <m:ctrlPr>
                            <a:rPr lang="en-US" sz="2800" i="1" smtClean="0">
                              <a:latin typeface="Cambria Math" panose="02040503050406030204" pitchFamily="18" charset="0"/>
                            </a:rPr>
                          </m:ctrlPr>
                        </m:mPr>
                        <m:mr>
                          <m:e>
                            <m:r>
                              <m:rPr>
                                <m:sty m:val="p"/>
                              </m:rPr>
                              <a:rPr lang="en-US" sz="2800" b="0" i="0" smtClean="0">
                                <a:latin typeface="Cambria Math" panose="02040503050406030204" pitchFamily="18" charset="0"/>
                              </a:rPr>
                              <m:t>if</m:t>
                            </m:r>
                            <m:r>
                              <a:rPr lang="en-US" sz="2800" b="0" i="1" smtClean="0">
                                <a:latin typeface="Cambria Math" panose="02040503050406030204" pitchFamily="18" charset="0"/>
                              </a:rPr>
                              <m:t> </m:t>
                            </m:r>
                            <m:r>
                              <a:rPr lang="en-US" sz="2800" i="1">
                                <a:latin typeface="Cambria Math" panose="02040503050406030204" pitchFamily="18" charset="0"/>
                              </a:rPr>
                              <m:t>𝑈</m:t>
                            </m:r>
                            <m:r>
                              <a:rPr lang="en-US" sz="2800" i="0">
                                <a:latin typeface="Cambria Math" panose="02040503050406030204" pitchFamily="18" charset="0"/>
                              </a:rPr>
                              <m:t>=</m:t>
                            </m:r>
                            <m:r>
                              <a:rPr lang="en-US" sz="2800" i="1">
                                <a:latin typeface="Cambria Math" panose="02040503050406030204" pitchFamily="18" charset="0"/>
                              </a:rPr>
                              <m:t>𝐴𝑋𝐵𝑋𝐶</m:t>
                            </m:r>
                            <m:r>
                              <a:rPr lang="en-US" sz="2800" b="0" i="1" smtClean="0">
                                <a:latin typeface="Cambria Math" panose="02040503050406030204" pitchFamily="18" charset="0"/>
                              </a:rPr>
                              <m:t> </m:t>
                            </m:r>
                            <m:r>
                              <m:rPr>
                                <m:sty m:val="p"/>
                              </m:rPr>
                              <a:rPr lang="en-US" sz="2800" b="0" i="0" smtClean="0">
                                <a:latin typeface="Cambria Math" panose="02040503050406030204" pitchFamily="18" charset="0"/>
                              </a:rPr>
                              <m:t>and</m:t>
                            </m:r>
                            <m:r>
                              <a:rPr lang="sr-Latn-RS" sz="2800" b="0" i="1" smtClean="0">
                                <a:latin typeface="Cambria Math" panose="02040503050406030204" pitchFamily="18" charset="0"/>
                              </a:rPr>
                              <m:t> </m:t>
                            </m:r>
                            <m:r>
                              <a:rPr lang="sr-Latn-RS" sz="2800" b="0" i="1" smtClean="0">
                                <a:latin typeface="Cambria Math" panose="02040503050406030204" pitchFamily="18" charset="0"/>
                              </a:rPr>
                              <m:t>𝐴𝐵𝐶</m:t>
                            </m:r>
                            <m:r>
                              <a:rPr lang="sr-Latn-RS" sz="2800" b="0" i="1" smtClean="0">
                                <a:latin typeface="Cambria Math" panose="02040503050406030204" pitchFamily="18" charset="0"/>
                              </a:rPr>
                              <m:t>=</m:t>
                            </m:r>
                            <m:r>
                              <a:rPr lang="sr-Latn-RS" sz="2800" b="0" i="1" smtClean="0">
                                <a:latin typeface="Cambria Math" panose="02040503050406030204" pitchFamily="18" charset="0"/>
                              </a:rPr>
                              <m:t>𝐼</m:t>
                            </m:r>
                            <m:r>
                              <a:rPr lang="en-US" sz="2800" b="0" i="1" smtClean="0">
                                <a:latin typeface="Cambria Math" panose="02040503050406030204" pitchFamily="18" charset="0"/>
                              </a:rPr>
                              <m:t> </m:t>
                            </m:r>
                            <m:r>
                              <m:rPr>
                                <m:sty m:val="p"/>
                              </m:rPr>
                              <a:rPr lang="en-US" sz="2800" b="0" i="0" smtClean="0">
                                <a:latin typeface="Cambria Math" panose="02040503050406030204" pitchFamily="18" charset="0"/>
                              </a:rPr>
                              <m:t>then</m:t>
                            </m:r>
                            <m:r>
                              <a:rPr lang="en-US" sz="2800" b="0" i="1" smtClean="0">
                                <a:latin typeface="Cambria Math" panose="02040503050406030204" pitchFamily="18" charset="0"/>
                              </a:rPr>
                              <m:t>:</m:t>
                            </m:r>
                          </m:e>
                          <m:e/>
                          <m:e/>
                          <m:e/>
                          <m:e/>
                        </m:mr>
                      </m:m>
                    </m:oMath>
                  </m:oMathPara>
                </a14:m>
                <a:endParaRPr lang="en-US" sz="2800" dirty="0"/>
              </a:p>
            </p:txBody>
          </p:sp>
        </mc:Choice>
        <mc:Fallback xmlns="">
          <p:sp>
            <p:nvSpPr>
              <p:cNvPr id="31" name="Rectangle 30">
                <a:extLst>
                  <a:ext uri="{FF2B5EF4-FFF2-40B4-BE49-F238E27FC236}">
                    <a16:creationId xmlns:a16="http://schemas.microsoft.com/office/drawing/2014/main" id="{66812F02-72CC-354B-904C-A62FD0BE32B6}"/>
                  </a:ext>
                </a:extLst>
              </p:cNvPr>
              <p:cNvSpPr>
                <a:spLocks noRot="1" noChangeAspect="1" noMove="1" noResize="1" noEditPoints="1" noAdjustHandles="1" noChangeArrowheads="1" noChangeShapeType="1" noTextEdit="1"/>
              </p:cNvSpPr>
              <p:nvPr/>
            </p:nvSpPr>
            <p:spPr>
              <a:xfrm>
                <a:off x="207648" y="1657585"/>
                <a:ext cx="4582292" cy="523220"/>
              </a:xfrm>
              <a:prstGeom prst="rect">
                <a:avLst/>
              </a:prstGeom>
              <a:blipFill>
                <a:blip r:embed="rId3"/>
                <a:stretch>
                  <a:fillRect l="-552" r="-53039" b="-23810"/>
                </a:stretch>
              </a:blipFill>
            </p:spPr>
            <p:txBody>
              <a:bodyPr/>
              <a:lstStyle/>
              <a:p>
                <a:r>
                  <a:rPr lang="en-US">
                    <a:noFill/>
                  </a:rPr>
                  <a:t> </a:t>
                </a:r>
              </a:p>
            </p:txBody>
          </p:sp>
        </mc:Fallback>
      </mc:AlternateContent>
      <p:sp>
        <p:nvSpPr>
          <p:cNvPr id="32" name="TextBox 31">
            <a:extLst>
              <a:ext uri="{FF2B5EF4-FFF2-40B4-BE49-F238E27FC236}">
                <a16:creationId xmlns:a16="http://schemas.microsoft.com/office/drawing/2014/main" id="{051AB5D5-3DE0-0042-A3CE-2E7858672B57}"/>
              </a:ext>
            </a:extLst>
          </p:cNvPr>
          <p:cNvSpPr txBox="1"/>
          <p:nvPr/>
        </p:nvSpPr>
        <p:spPr>
          <a:xfrm>
            <a:off x="5501994" y="2191221"/>
            <a:ext cx="336952" cy="523220"/>
          </a:xfrm>
          <a:prstGeom prst="rect">
            <a:avLst/>
          </a:prstGeom>
          <a:noFill/>
        </p:spPr>
        <p:txBody>
          <a:bodyPr wrap="none" rtlCol="0">
            <a:spAutoFit/>
          </a:bodyPr>
          <a:lstStyle/>
          <a:p>
            <a:r>
              <a:rPr lang="en-US" sz="2800" dirty="0"/>
              <a:t>c</a:t>
            </a:r>
          </a:p>
        </p:txBody>
      </p:sp>
      <p:sp>
        <p:nvSpPr>
          <p:cNvPr id="33" name="TextBox 32">
            <a:extLst>
              <a:ext uri="{FF2B5EF4-FFF2-40B4-BE49-F238E27FC236}">
                <a16:creationId xmlns:a16="http://schemas.microsoft.com/office/drawing/2014/main" id="{E451B681-4E6D-554F-A971-7A4BB4D2A922}"/>
              </a:ext>
            </a:extLst>
          </p:cNvPr>
          <p:cNvSpPr txBox="1"/>
          <p:nvPr/>
        </p:nvSpPr>
        <p:spPr>
          <a:xfrm>
            <a:off x="5501994" y="3078282"/>
            <a:ext cx="304892" cy="523220"/>
          </a:xfrm>
          <a:prstGeom prst="rect">
            <a:avLst/>
          </a:prstGeom>
          <a:noFill/>
        </p:spPr>
        <p:txBody>
          <a:bodyPr wrap="none" rtlCol="0">
            <a:spAutoFit/>
          </a:bodyPr>
          <a:lstStyle/>
          <a:p>
            <a:r>
              <a:rPr lang="en-US" sz="2800" dirty="0"/>
              <a:t>t</a:t>
            </a:r>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57585EF8-33E7-9F45-A84C-01A8F6CC5948}"/>
                  </a:ext>
                </a:extLst>
              </p:cNvPr>
              <p:cNvSpPr/>
              <p:nvPr/>
            </p:nvSpPr>
            <p:spPr>
              <a:xfrm>
                <a:off x="6156229" y="5040868"/>
                <a:ext cx="394665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𝑖𝑓</m:t>
                      </m:r>
                      <m:r>
                        <a:rPr lang="en-US" sz="2800" b="0" i="1" smtClean="0">
                          <a:latin typeface="Cambria Math" panose="02040503050406030204" pitchFamily="18" charset="0"/>
                        </a:rPr>
                        <m:t> </m:t>
                      </m:r>
                      <m:r>
                        <a:rPr lang="sr-Latn-RS" sz="2800" i="1" smtClean="0">
                          <a:latin typeface="Cambria Math" panose="02040503050406030204" pitchFamily="18" charset="0"/>
                        </a:rPr>
                        <m:t>𝑐</m:t>
                      </m:r>
                      <m:r>
                        <a:rPr lang="sr-Latn-RS" sz="2800" i="1" smtClean="0">
                          <a:latin typeface="Cambria Math" panose="02040503050406030204" pitchFamily="18" charset="0"/>
                        </a:rPr>
                        <m:t>=</m:t>
                      </m:r>
                      <m:d>
                        <m:dPr>
                          <m:begChr m:val="|"/>
                          <m:endChr m:val="⟩"/>
                          <m:ctrlPr>
                            <a:rPr lang="sr-Latn-RS" sz="2800" b="0" i="1" smtClean="0">
                              <a:latin typeface="Cambria Math" panose="02040503050406030204" pitchFamily="18" charset="0"/>
                            </a:rPr>
                          </m:ctrlPr>
                        </m:dPr>
                        <m:e>
                          <m:r>
                            <a:rPr lang="sr-Latn-RS" sz="2800" b="0" i="1" smtClean="0">
                              <a:latin typeface="Cambria Math" panose="02040503050406030204" pitchFamily="18" charset="0"/>
                            </a:rPr>
                            <m:t>0</m:t>
                          </m:r>
                        </m:e>
                      </m:d>
                      <m:r>
                        <a:rPr lang="en-US" sz="2800" b="0" i="1" smtClean="0">
                          <a:latin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𝑡h𝑒𝑛</m:t>
                      </m:r>
                      <m:r>
                        <a:rPr lang="en-US" sz="2800" b="0" i="1" smtClean="0">
                          <a:latin typeface="Cambria Math" panose="02040503050406030204" pitchFamily="18" charset="0"/>
                          <a:ea typeface="Cambria Math" panose="02040503050406030204" pitchFamily="18" charset="0"/>
                        </a:rPr>
                        <m:t> </m:t>
                      </m:r>
                      <m:r>
                        <a:rPr lang="sr-Latn-RS" sz="2800" b="0" i="1" smtClean="0">
                          <a:latin typeface="Cambria Math" panose="02040503050406030204" pitchFamily="18" charset="0"/>
                          <a:ea typeface="Cambria Math" panose="02040503050406030204" pitchFamily="18" charset="0"/>
                        </a:rPr>
                        <m:t>𝐴𝐵𝐶</m:t>
                      </m:r>
                      <m:r>
                        <a:rPr lang="sr-Latn-RS" sz="2800" b="0" i="1" smtClean="0">
                          <a:latin typeface="Cambria Math" panose="02040503050406030204" pitchFamily="18" charset="0"/>
                          <a:ea typeface="Cambria Math" panose="02040503050406030204" pitchFamily="18" charset="0"/>
                        </a:rPr>
                        <m:t>=</m:t>
                      </m:r>
                      <m:r>
                        <a:rPr lang="sr-Latn-RS" sz="2800" b="0" i="1" smtClean="0">
                          <a:latin typeface="Cambria Math" panose="02040503050406030204" pitchFamily="18" charset="0"/>
                          <a:ea typeface="Cambria Math" panose="02040503050406030204" pitchFamily="18" charset="0"/>
                        </a:rPr>
                        <m:t>𝐼</m:t>
                      </m:r>
                    </m:oMath>
                  </m:oMathPara>
                </a14:m>
                <a:endParaRPr lang="en-US" sz="2800" dirty="0"/>
              </a:p>
            </p:txBody>
          </p:sp>
        </mc:Choice>
        <mc:Fallback xmlns="">
          <p:sp>
            <p:nvSpPr>
              <p:cNvPr id="36" name="Rectangle 35">
                <a:extLst>
                  <a:ext uri="{FF2B5EF4-FFF2-40B4-BE49-F238E27FC236}">
                    <a16:creationId xmlns:a16="http://schemas.microsoft.com/office/drawing/2014/main" id="{57585EF8-33E7-9F45-A84C-01A8F6CC5948}"/>
                  </a:ext>
                </a:extLst>
              </p:cNvPr>
              <p:cNvSpPr>
                <a:spLocks noRot="1" noChangeAspect="1" noMove="1" noResize="1" noEditPoints="1" noAdjustHandles="1" noChangeArrowheads="1" noChangeShapeType="1" noTextEdit="1"/>
              </p:cNvSpPr>
              <p:nvPr/>
            </p:nvSpPr>
            <p:spPr>
              <a:xfrm>
                <a:off x="6156229" y="5040868"/>
                <a:ext cx="3946658" cy="523220"/>
              </a:xfrm>
              <a:prstGeom prst="rect">
                <a:avLst/>
              </a:prstGeom>
              <a:blipFill>
                <a:blip r:embed="rId4"/>
                <a:stretch>
                  <a:fillRect l="-321"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BEF1A8E2-5991-6A4A-9089-39B24BEE5DF4}"/>
                  </a:ext>
                </a:extLst>
              </p:cNvPr>
              <p:cNvSpPr/>
              <p:nvPr/>
            </p:nvSpPr>
            <p:spPr>
              <a:xfrm>
                <a:off x="6207270" y="5698171"/>
                <a:ext cx="459305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𝑖𝑓</m:t>
                      </m:r>
                      <m:r>
                        <a:rPr lang="en-US" sz="2800" b="0" i="1" smtClean="0">
                          <a:latin typeface="Cambria Math" panose="02040503050406030204" pitchFamily="18" charset="0"/>
                        </a:rPr>
                        <m:t> </m:t>
                      </m:r>
                      <m:r>
                        <a:rPr lang="sr-Latn-RS" sz="2800" i="1" smtClean="0">
                          <a:latin typeface="Cambria Math" panose="02040503050406030204" pitchFamily="18" charset="0"/>
                        </a:rPr>
                        <m:t>𝑐</m:t>
                      </m:r>
                      <m:r>
                        <a:rPr lang="sr-Latn-RS" sz="2800" i="1" smtClean="0">
                          <a:latin typeface="Cambria Math" panose="02040503050406030204" pitchFamily="18" charset="0"/>
                        </a:rPr>
                        <m:t>=</m:t>
                      </m:r>
                      <m:d>
                        <m:dPr>
                          <m:begChr m:val="|"/>
                          <m:endChr m:val="⟩"/>
                          <m:ctrlPr>
                            <a:rPr lang="sr-Latn-RS" sz="2800" b="0" i="1" smtClean="0">
                              <a:latin typeface="Cambria Math" panose="02040503050406030204" pitchFamily="18" charset="0"/>
                            </a:rPr>
                          </m:ctrlPr>
                        </m:dPr>
                        <m:e>
                          <m:r>
                            <a:rPr lang="sr-Latn-RS" sz="2800" b="0" i="1" smtClean="0">
                              <a:latin typeface="Cambria Math" panose="02040503050406030204" pitchFamily="18" charset="0"/>
                            </a:rPr>
                            <m:t>1</m:t>
                          </m:r>
                        </m:e>
                      </m:d>
                      <m:r>
                        <a:rPr lang="en-US" sz="2800" b="0" i="1" smtClean="0">
                          <a:latin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𝑡h𝑒𝑛</m:t>
                      </m:r>
                      <m:r>
                        <a:rPr lang="en-US" sz="2800" b="0" i="1" smtClean="0">
                          <a:latin typeface="Cambria Math" panose="02040503050406030204" pitchFamily="18" charset="0"/>
                          <a:ea typeface="Cambria Math" panose="02040503050406030204" pitchFamily="18" charset="0"/>
                        </a:rPr>
                        <m:t> </m:t>
                      </m:r>
                      <m:r>
                        <a:rPr lang="sr-Latn-RS" sz="2800" b="0" i="1" smtClean="0">
                          <a:latin typeface="Cambria Math" panose="02040503050406030204" pitchFamily="18" charset="0"/>
                          <a:ea typeface="Cambria Math" panose="02040503050406030204" pitchFamily="18" charset="0"/>
                        </a:rPr>
                        <m:t>𝐴𝑋𝐵𝑋𝐶</m:t>
                      </m:r>
                      <m:r>
                        <a:rPr lang="sr-Latn-RS" sz="2800" b="0" i="1" smtClean="0">
                          <a:latin typeface="Cambria Math" panose="02040503050406030204" pitchFamily="18" charset="0"/>
                          <a:ea typeface="Cambria Math" panose="02040503050406030204" pitchFamily="18" charset="0"/>
                        </a:rPr>
                        <m:t>=</m:t>
                      </m:r>
                      <m:r>
                        <a:rPr lang="sr-Latn-RS" sz="2800" b="0" i="1" smtClean="0">
                          <a:latin typeface="Cambria Math" panose="02040503050406030204" pitchFamily="18" charset="0"/>
                          <a:ea typeface="Cambria Math" panose="02040503050406030204" pitchFamily="18" charset="0"/>
                        </a:rPr>
                        <m:t>𝑈</m:t>
                      </m:r>
                    </m:oMath>
                  </m:oMathPara>
                </a14:m>
                <a:endParaRPr lang="en-US" sz="2800" dirty="0"/>
              </a:p>
            </p:txBody>
          </p:sp>
        </mc:Choice>
        <mc:Fallback xmlns="">
          <p:sp>
            <p:nvSpPr>
              <p:cNvPr id="37" name="Rectangle 36">
                <a:extLst>
                  <a:ext uri="{FF2B5EF4-FFF2-40B4-BE49-F238E27FC236}">
                    <a16:creationId xmlns:a16="http://schemas.microsoft.com/office/drawing/2014/main" id="{BEF1A8E2-5991-6A4A-9089-39B24BEE5DF4}"/>
                  </a:ext>
                </a:extLst>
              </p:cNvPr>
              <p:cNvSpPr>
                <a:spLocks noRot="1" noChangeAspect="1" noMove="1" noResize="1" noEditPoints="1" noAdjustHandles="1" noChangeArrowheads="1" noChangeShapeType="1" noTextEdit="1"/>
              </p:cNvSpPr>
              <p:nvPr/>
            </p:nvSpPr>
            <p:spPr>
              <a:xfrm>
                <a:off x="6207270" y="5698171"/>
                <a:ext cx="4593052" cy="523220"/>
              </a:xfrm>
              <a:prstGeom prst="rect">
                <a:avLst/>
              </a:prstGeom>
              <a:blipFill>
                <a:blip r:embed="rId5"/>
                <a:stretch>
                  <a:fillRect l="-276" b="-19048"/>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D74713B1-5D59-4247-8F9E-DF084667FAC9}"/>
              </a:ext>
            </a:extLst>
          </p:cNvPr>
          <p:cNvSpPr txBox="1"/>
          <p:nvPr/>
        </p:nvSpPr>
        <p:spPr>
          <a:xfrm>
            <a:off x="6156229" y="4524329"/>
            <a:ext cx="1073371" cy="523220"/>
          </a:xfrm>
          <a:prstGeom prst="rect">
            <a:avLst/>
          </a:prstGeom>
          <a:noFill/>
        </p:spPr>
        <p:txBody>
          <a:bodyPr wrap="none" rtlCol="0">
            <a:spAutoFit/>
          </a:bodyPr>
          <a:lstStyle/>
          <a:p>
            <a:r>
              <a:rPr lang="en-US" sz="2800" dirty="0"/>
              <a:t>Proof:</a:t>
            </a:r>
          </a:p>
        </p:txBody>
      </p:sp>
    </p:spTree>
    <p:extLst>
      <p:ext uri="{BB962C8B-B14F-4D97-AF65-F5344CB8AC3E}">
        <p14:creationId xmlns:p14="http://schemas.microsoft.com/office/powerpoint/2010/main" val="3656864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35A0B-AD2C-A845-91B9-346E21971323}"/>
              </a:ext>
            </a:extLst>
          </p:cNvPr>
          <p:cNvSpPr>
            <a:spLocks noGrp="1"/>
          </p:cNvSpPr>
          <p:nvPr>
            <p:ph type="title"/>
          </p:nvPr>
        </p:nvSpPr>
        <p:spPr/>
        <p:txBody>
          <a:bodyPr/>
          <a:lstStyle/>
          <a:p>
            <a:r>
              <a:rPr lang="en-US" dirty="0"/>
              <a:t>Lemma 3 </a:t>
            </a:r>
            <a:r>
              <a:rPr lang="en-ZA" dirty="0"/>
              <a:t>of the Decomposition Theorem</a:t>
            </a:r>
            <a:endParaRPr lang="en-US" dirty="0"/>
          </a:p>
        </p:txBody>
      </p:sp>
      <p:sp>
        <p:nvSpPr>
          <p:cNvPr id="3" name="Slide Number Placeholder 2">
            <a:extLst>
              <a:ext uri="{FF2B5EF4-FFF2-40B4-BE49-F238E27FC236}">
                <a16:creationId xmlns:a16="http://schemas.microsoft.com/office/drawing/2014/main" id="{6673086A-B321-D14E-BF92-3C1992879667}"/>
              </a:ext>
            </a:extLst>
          </p:cNvPr>
          <p:cNvSpPr>
            <a:spLocks noGrp="1"/>
          </p:cNvSpPr>
          <p:nvPr>
            <p:ph type="sldNum" sz="quarter" idx="12"/>
          </p:nvPr>
        </p:nvSpPr>
        <p:spPr/>
        <p:txBody>
          <a:bodyPr/>
          <a:lstStyle/>
          <a:p>
            <a:fld id="{591A223C-FA10-BC46-A853-03BA373D023C}" type="slidenum">
              <a:rPr lang="en-US" smtClean="0"/>
              <a:t>27</a:t>
            </a:fld>
            <a:endParaRPr lang="en-US"/>
          </a:p>
        </p:txBody>
      </p:sp>
      <p:cxnSp>
        <p:nvCxnSpPr>
          <p:cNvPr id="14" name="Straight Connector 13">
            <a:extLst>
              <a:ext uri="{FF2B5EF4-FFF2-40B4-BE49-F238E27FC236}">
                <a16:creationId xmlns:a16="http://schemas.microsoft.com/office/drawing/2014/main" id="{09EB2413-1B21-5643-BBA0-1DB946594167}"/>
              </a:ext>
            </a:extLst>
          </p:cNvPr>
          <p:cNvCxnSpPr>
            <a:cxnSpLocks/>
          </p:cNvCxnSpPr>
          <p:nvPr/>
        </p:nvCxnSpPr>
        <p:spPr>
          <a:xfrm flipV="1">
            <a:off x="2517913" y="1555409"/>
            <a:ext cx="3295549" cy="12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44AF5044-0493-AB40-991C-C58E97F42AF8}"/>
              </a:ext>
            </a:extLst>
          </p:cNvPr>
          <p:cNvCxnSpPr>
            <a:cxnSpLocks/>
          </p:cNvCxnSpPr>
          <p:nvPr/>
        </p:nvCxnSpPr>
        <p:spPr>
          <a:xfrm>
            <a:off x="2517913" y="2713971"/>
            <a:ext cx="3295549" cy="16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6856899D-8713-4143-BC43-AA4E7D75F22B}"/>
              </a:ext>
            </a:extLst>
          </p:cNvPr>
          <p:cNvSpPr/>
          <p:nvPr/>
        </p:nvSpPr>
        <p:spPr>
          <a:xfrm>
            <a:off x="4108561" y="1418572"/>
            <a:ext cx="270000" cy="27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7" name="Straight Connector 6">
            <a:extLst>
              <a:ext uri="{FF2B5EF4-FFF2-40B4-BE49-F238E27FC236}">
                <a16:creationId xmlns:a16="http://schemas.microsoft.com/office/drawing/2014/main" id="{85388F20-FF9D-8344-8116-E748D80475F1}"/>
              </a:ext>
            </a:extLst>
          </p:cNvPr>
          <p:cNvCxnSpPr>
            <a:cxnSpLocks/>
            <a:endCxn id="6" idx="4"/>
          </p:cNvCxnSpPr>
          <p:nvPr/>
        </p:nvCxnSpPr>
        <p:spPr>
          <a:xfrm flipV="1">
            <a:off x="4243561" y="1688572"/>
            <a:ext cx="0" cy="5964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7507ED74-79EE-A949-9C7E-9DF12E74F730}"/>
                  </a:ext>
                </a:extLst>
              </p:cNvPr>
              <p:cNvSpPr/>
              <p:nvPr/>
            </p:nvSpPr>
            <p:spPr>
              <a:xfrm>
                <a:off x="2811622" y="2261941"/>
                <a:ext cx="2701282" cy="914201"/>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l-GR" sz="2000" smtClean="0">
                          <a:solidFill>
                            <a:schemeClr val="tx1"/>
                          </a:solidFill>
                          <a:latin typeface="Cambria Math" panose="02040503050406030204" pitchFamily="18" charset="0"/>
                          <a:ea typeface="Cambria Math" panose="02040503050406030204" pitchFamily="18" charset="0"/>
                        </a:rPr>
                        <m:t>Φ</m:t>
                      </m:r>
                      <m:d>
                        <m:dPr>
                          <m:ctrlPr>
                            <a:rPr lang="el-GR" sz="2000" i="1">
                              <a:solidFill>
                                <a:schemeClr val="tx1"/>
                              </a:solidFill>
                              <a:latin typeface="Cambria Math" panose="02040503050406030204" pitchFamily="18" charset="0"/>
                              <a:ea typeface="Cambria Math" panose="02040503050406030204" pitchFamily="18" charset="0"/>
                            </a:rPr>
                          </m:ctrlPr>
                        </m:dPr>
                        <m:e>
                          <m:r>
                            <a:rPr lang="el-GR" sz="2000" i="1">
                              <a:solidFill>
                                <a:schemeClr val="tx1"/>
                              </a:solidFill>
                              <a:latin typeface="Cambria Math" panose="02040503050406030204" pitchFamily="18" charset="0"/>
                              <a:ea typeface="Cambria Math" panose="02040503050406030204" pitchFamily="18" charset="0"/>
                            </a:rPr>
                            <m:t>𝜑</m:t>
                          </m:r>
                        </m:e>
                      </m:d>
                      <m:r>
                        <a:rPr lang="en-US" sz="2000" b="0" i="1" smtClean="0">
                          <a:solidFill>
                            <a:schemeClr val="tx1"/>
                          </a:solidFill>
                          <a:latin typeface="Cambria Math" panose="02040503050406030204" pitchFamily="18" charset="0"/>
                          <a:ea typeface="Cambria Math" panose="02040503050406030204" pitchFamily="18" charset="0"/>
                        </a:rPr>
                        <m:t>=</m:t>
                      </m:r>
                      <m:d>
                        <m:dPr>
                          <m:ctrlPr>
                            <a:rPr lang="en-US" sz="2100" i="1" smtClean="0">
                              <a:solidFill>
                                <a:schemeClr val="tx1"/>
                              </a:solidFill>
                              <a:latin typeface="Cambria Math" panose="02040503050406030204" pitchFamily="18" charset="0"/>
                            </a:rPr>
                          </m:ctrlPr>
                        </m:dPr>
                        <m:e>
                          <m:m>
                            <m:mPr>
                              <m:plcHide m:val="on"/>
                              <m:mcs>
                                <m:mc>
                                  <m:mcPr>
                                    <m:count m:val="2"/>
                                    <m:mcJc m:val="center"/>
                                  </m:mcPr>
                                </m:mc>
                              </m:mcs>
                              <m:ctrlPr>
                                <a:rPr lang="en-US" sz="2100" i="1">
                                  <a:solidFill>
                                    <a:schemeClr val="tx1"/>
                                  </a:solidFill>
                                  <a:latin typeface="Cambria Math" panose="02040503050406030204" pitchFamily="18" charset="0"/>
                                </a:rPr>
                              </m:ctrlPr>
                            </m:mPr>
                            <m:mr>
                              <m:e>
                                <m:sSup>
                                  <m:sSupPr>
                                    <m:ctrlPr>
                                      <a:rPr lang="en-US" sz="2100" i="1">
                                        <a:solidFill>
                                          <a:schemeClr val="tx1"/>
                                        </a:solidFill>
                                        <a:latin typeface="Cambria Math" panose="02040503050406030204" pitchFamily="18" charset="0"/>
                                      </a:rPr>
                                    </m:ctrlPr>
                                  </m:sSupPr>
                                  <m:e>
                                    <m:r>
                                      <a:rPr lang="sr-Latn-RS" sz="2100" i="1">
                                        <a:solidFill>
                                          <a:schemeClr val="tx1"/>
                                        </a:solidFill>
                                        <a:latin typeface="Cambria Math" panose="02040503050406030204" pitchFamily="18" charset="0"/>
                                      </a:rPr>
                                      <m:t>𝑒</m:t>
                                    </m:r>
                                  </m:e>
                                  <m:sup>
                                    <m:r>
                                      <a:rPr lang="en-US" sz="2100" i="1">
                                        <a:solidFill>
                                          <a:schemeClr val="tx1"/>
                                        </a:solidFill>
                                        <a:latin typeface="Cambria Math" panose="02040503050406030204" pitchFamily="18" charset="0"/>
                                      </a:rPr>
                                      <m:t>𝑖</m:t>
                                    </m:r>
                                    <m:r>
                                      <a:rPr lang="en-US" sz="2100" i="1">
                                        <a:solidFill>
                                          <a:schemeClr val="tx1"/>
                                        </a:solidFill>
                                        <a:latin typeface="Cambria Math" panose="02040503050406030204" pitchFamily="18" charset="0"/>
                                      </a:rPr>
                                      <m:t>𝜑</m:t>
                                    </m:r>
                                  </m:sup>
                                </m:sSup>
                              </m:e>
                              <m:e>
                                <m:r>
                                  <m:rPr>
                                    <m:nor/>
                                  </m:rPr>
                                  <a:rPr lang="sr-Latn-RS" sz="2100">
                                    <a:solidFill>
                                      <a:schemeClr val="tx1"/>
                                    </a:solidFill>
                                    <a:latin typeface="Cambria Math" panose="02040503050406030204" pitchFamily="18" charset="0"/>
                                  </a:rPr>
                                  <m:t>0</m:t>
                                </m:r>
                              </m:e>
                            </m:mr>
                            <m:mr>
                              <m:e>
                                <m:r>
                                  <m:rPr>
                                    <m:nor/>
                                  </m:rPr>
                                  <a:rPr lang="sr-Latn-RS" sz="2100">
                                    <a:solidFill>
                                      <a:schemeClr val="tx1"/>
                                    </a:solidFill>
                                    <a:latin typeface="Cambria Math" panose="02040503050406030204" pitchFamily="18" charset="0"/>
                                  </a:rPr>
                                  <m:t>0</m:t>
                                </m:r>
                              </m:e>
                              <m:e>
                                <m:sSup>
                                  <m:sSupPr>
                                    <m:ctrlPr>
                                      <a:rPr lang="en-US" sz="2100" i="1">
                                        <a:solidFill>
                                          <a:schemeClr val="tx1"/>
                                        </a:solidFill>
                                        <a:latin typeface="Cambria Math" panose="02040503050406030204" pitchFamily="18" charset="0"/>
                                      </a:rPr>
                                    </m:ctrlPr>
                                  </m:sSupPr>
                                  <m:e>
                                    <m:r>
                                      <a:rPr lang="sr-Latn-RS" sz="2100" i="1">
                                        <a:solidFill>
                                          <a:schemeClr val="tx1"/>
                                        </a:solidFill>
                                        <a:latin typeface="Cambria Math" panose="02040503050406030204" pitchFamily="18" charset="0"/>
                                      </a:rPr>
                                      <m:t>𝑒</m:t>
                                    </m:r>
                                  </m:e>
                                  <m:sup>
                                    <m:r>
                                      <a:rPr lang="en-US" sz="2100" i="1" smtClean="0">
                                        <a:solidFill>
                                          <a:schemeClr val="tx1"/>
                                        </a:solidFill>
                                        <a:latin typeface="Cambria Math" panose="02040503050406030204" pitchFamily="18" charset="0"/>
                                      </a:rPr>
                                      <m:t>𝑖</m:t>
                                    </m:r>
                                    <m:r>
                                      <a:rPr lang="en-US" sz="2100" i="1" smtClean="0">
                                        <a:solidFill>
                                          <a:schemeClr val="tx1"/>
                                        </a:solidFill>
                                        <a:latin typeface="Cambria Math" panose="02040503050406030204" pitchFamily="18" charset="0"/>
                                      </a:rPr>
                                      <m:t>𝜑</m:t>
                                    </m:r>
                                  </m:sup>
                                </m:sSup>
                              </m:e>
                            </m:mr>
                          </m:m>
                        </m:e>
                      </m:d>
                    </m:oMath>
                  </m:oMathPara>
                </a14:m>
                <a:endParaRPr lang="en-US" sz="2100" dirty="0">
                  <a:solidFill>
                    <a:schemeClr val="tx1"/>
                  </a:solidFill>
                  <a:latin typeface="Times" pitchFamily="2" charset="0"/>
                </a:endParaRPr>
              </a:p>
            </p:txBody>
          </p:sp>
        </mc:Choice>
        <mc:Fallback xmlns="">
          <p:sp>
            <p:nvSpPr>
              <p:cNvPr id="8" name="Rectangle 7">
                <a:extLst>
                  <a:ext uri="{FF2B5EF4-FFF2-40B4-BE49-F238E27FC236}">
                    <a16:creationId xmlns:a16="http://schemas.microsoft.com/office/drawing/2014/main" id="{7507ED74-79EE-A949-9C7E-9DF12E74F730}"/>
                  </a:ext>
                </a:extLst>
              </p:cNvPr>
              <p:cNvSpPr>
                <a:spLocks noRot="1" noChangeAspect="1" noMove="1" noResize="1" noEditPoints="1" noAdjustHandles="1" noChangeArrowheads="1" noChangeShapeType="1" noTextEdit="1"/>
              </p:cNvSpPr>
              <p:nvPr/>
            </p:nvSpPr>
            <p:spPr>
              <a:xfrm>
                <a:off x="2811622" y="2261941"/>
                <a:ext cx="2701282" cy="91420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321DA018-D139-0644-B591-87141538DDF5}"/>
                  </a:ext>
                </a:extLst>
              </p:cNvPr>
              <p:cNvSpPr/>
              <p:nvPr/>
            </p:nvSpPr>
            <p:spPr>
              <a:xfrm>
                <a:off x="5858918" y="1805717"/>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9" name="Rectangle 8">
                <a:extLst>
                  <a:ext uri="{FF2B5EF4-FFF2-40B4-BE49-F238E27FC236}">
                    <a16:creationId xmlns:a16="http://schemas.microsoft.com/office/drawing/2014/main" id="{321DA018-D139-0644-B591-87141538DDF5}"/>
                  </a:ext>
                </a:extLst>
              </p:cNvPr>
              <p:cNvSpPr>
                <a:spLocks noRot="1" noChangeAspect="1" noMove="1" noResize="1" noEditPoints="1" noAdjustHandles="1" noChangeArrowheads="1" noChangeShapeType="1" noTextEdit="1"/>
              </p:cNvSpPr>
              <p:nvPr/>
            </p:nvSpPr>
            <p:spPr>
              <a:xfrm>
                <a:off x="5858918" y="1805717"/>
                <a:ext cx="633507" cy="646331"/>
              </a:xfrm>
              <a:prstGeom prst="rect">
                <a:avLst/>
              </a:prstGeom>
              <a:blipFill>
                <a:blip r:embed="rId4"/>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882A4C15-0DC8-1A45-83D7-0ACC330062A5}"/>
              </a:ext>
            </a:extLst>
          </p:cNvPr>
          <p:cNvCxnSpPr>
            <a:cxnSpLocks/>
          </p:cNvCxnSpPr>
          <p:nvPr/>
        </p:nvCxnSpPr>
        <p:spPr>
          <a:xfrm>
            <a:off x="6727684" y="2713971"/>
            <a:ext cx="14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61A1282-DE8F-CC4C-82C4-3B0B6703C39F}"/>
              </a:ext>
            </a:extLst>
          </p:cNvPr>
          <p:cNvCxnSpPr>
            <a:cxnSpLocks/>
          </p:cNvCxnSpPr>
          <p:nvPr/>
        </p:nvCxnSpPr>
        <p:spPr>
          <a:xfrm>
            <a:off x="6671253" y="1556707"/>
            <a:ext cx="14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6E0509A3-234B-BE46-8E00-1B68B26FE0CC}"/>
              </a:ext>
            </a:extLst>
          </p:cNvPr>
          <p:cNvSpPr/>
          <p:nvPr/>
        </p:nvSpPr>
        <p:spPr>
          <a:xfrm>
            <a:off x="7031253" y="1190386"/>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P</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4671C38B-E533-FF4D-A4C5-806F7E05C554}"/>
                  </a:ext>
                </a:extLst>
              </p:cNvPr>
              <p:cNvSpPr/>
              <p:nvPr/>
            </p:nvSpPr>
            <p:spPr>
              <a:xfrm>
                <a:off x="1859101" y="4084838"/>
                <a:ext cx="9302931" cy="8765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5"/>
                                <m:mcJc m:val="center"/>
                              </m:mcPr>
                            </m:mc>
                          </m:mcs>
                          <m:ctrlPr>
                            <a:rPr lang="en-US" sz="2400" i="1" smtClean="0">
                              <a:latin typeface="Cambria Math" panose="02040503050406030204" pitchFamily="18" charset="0"/>
                            </a:rPr>
                          </m:ctrlPr>
                        </m:mPr>
                        <m:mr>
                          <m:e>
                            <m:r>
                              <a:rPr lang="en-US" sz="2400" i="1">
                                <a:latin typeface="Cambria Math" panose="02040503050406030204" pitchFamily="18" charset="0"/>
                              </a:rPr>
                              <m:t>𝐶</m:t>
                            </m:r>
                            <m:r>
                              <m:rPr>
                                <m:sty m:val="p"/>
                              </m:rPr>
                              <a:rPr lang="en-US" sz="2400" i="0">
                                <a:latin typeface="Cambria Math" panose="02040503050406030204" pitchFamily="18" charset="0"/>
                              </a:rPr>
                              <m:t>Φ</m:t>
                            </m:r>
                            <m:r>
                              <a:rPr lang="en-US" sz="2400" i="0">
                                <a:latin typeface="Cambria Math" panose="02040503050406030204" pitchFamily="18" charset="0"/>
                              </a:rPr>
                              <m:t>:</m:t>
                            </m:r>
                          </m:e>
                          <m:e>
                            <m:d>
                              <m:dPr>
                                <m:begChr m:val="|"/>
                                <m:endChr m:val="⟩"/>
                                <m:ctrlPr>
                                  <a:rPr lang="en-US" sz="2400" i="1">
                                    <a:latin typeface="Cambria Math" panose="02040503050406030204" pitchFamily="18" charset="0"/>
                                  </a:rPr>
                                </m:ctrlPr>
                              </m:dPr>
                              <m:e>
                                <m:r>
                                  <a:rPr lang="en-US" sz="2400" i="0">
                                    <a:latin typeface="Cambria Math" panose="02040503050406030204" pitchFamily="18" charset="0"/>
                                  </a:rPr>
                                  <m:t>00</m:t>
                                </m:r>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00</m:t>
                                </m:r>
                              </m:e>
                            </m:d>
                          </m:e>
                          <m:e>
                            <m:d>
                              <m:dPr>
                                <m:begChr m:val="|"/>
                                <m:endChr m:val="⟩"/>
                                <m:ctrlPr>
                                  <a:rPr lang="en-US" sz="2400" i="1">
                                    <a:latin typeface="Cambria Math" panose="02040503050406030204" pitchFamily="18" charset="0"/>
                                  </a:rPr>
                                </m:ctrlPr>
                              </m:dPr>
                              <m:e>
                                <m:r>
                                  <a:rPr lang="en-US" sz="2400" i="0">
                                    <a:latin typeface="Cambria Math" panose="02040503050406030204" pitchFamily="18" charset="0"/>
                                  </a:rPr>
                                  <m:t>01</m:t>
                                </m:r>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0</m:t>
                                </m:r>
                                <m:r>
                                  <a:rPr lang="en-US" sz="2400" b="0" i="1" smtClean="0">
                                    <a:latin typeface="Cambria Math" panose="02040503050406030204" pitchFamily="18" charset="0"/>
                                  </a:rPr>
                                  <m:t>1</m:t>
                                </m:r>
                              </m:e>
                            </m:d>
                          </m:e>
                          <m:e>
                            <m:d>
                              <m:dPr>
                                <m:begChr m:val="|"/>
                                <m:endChr m:val="⟩"/>
                                <m:ctrlPr>
                                  <a:rPr lang="en-US" sz="2400" i="1">
                                    <a:latin typeface="Cambria Math" panose="02040503050406030204" pitchFamily="18" charset="0"/>
                                  </a:rPr>
                                </m:ctrlPr>
                              </m:dPr>
                              <m:e>
                                <m:r>
                                  <a:rPr lang="en-US" sz="2400" i="0">
                                    <a:latin typeface="Cambria Math" panose="02040503050406030204" pitchFamily="18" charset="0"/>
                                  </a:rPr>
                                  <m:t>10</m:t>
                                </m:r>
                              </m:e>
                            </m:d>
                            <m:r>
                              <a:rPr lang="en-US" sz="2400" i="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𝑖</m:t>
                                </m:r>
                                <m:r>
                                  <a:rPr lang="en-US" sz="2400" i="1">
                                    <a:latin typeface="Cambria Math" panose="02040503050406030204" pitchFamily="18" charset="0"/>
                                  </a:rPr>
                                  <m:t>𝜑</m:t>
                                </m:r>
                              </m:sup>
                            </m:sSup>
                            <m:d>
                              <m:dPr>
                                <m:begChr m:val="|"/>
                                <m:endChr m:val="⟩"/>
                                <m:ctrlPr>
                                  <a:rPr lang="en-US" sz="2400" i="1">
                                    <a:latin typeface="Cambria Math" panose="02040503050406030204" pitchFamily="18" charset="0"/>
                                  </a:rPr>
                                </m:ctrlPr>
                              </m:dPr>
                              <m:e>
                                <m:r>
                                  <a:rPr lang="en-US" sz="2400" i="0">
                                    <a:latin typeface="Cambria Math" panose="02040503050406030204" pitchFamily="18" charset="0"/>
                                  </a:rPr>
                                  <m:t>10</m:t>
                                </m:r>
                              </m:e>
                            </m:d>
                          </m:e>
                          <m:e>
                            <m:d>
                              <m:dPr>
                                <m:begChr m:val="|"/>
                                <m:endChr m:val="⟩"/>
                                <m:ctrlPr>
                                  <a:rPr lang="en-US" sz="2400" i="1">
                                    <a:latin typeface="Cambria Math" panose="02040503050406030204" pitchFamily="18" charset="0"/>
                                  </a:rPr>
                                </m:ctrlPr>
                              </m:dPr>
                              <m:e>
                                <m:r>
                                  <a:rPr lang="en-US" sz="2400" i="0">
                                    <a:latin typeface="Cambria Math" panose="02040503050406030204" pitchFamily="18" charset="0"/>
                                  </a:rPr>
                                  <m:t>11</m:t>
                                </m:r>
                              </m:e>
                            </m:d>
                            <m:r>
                              <a:rPr lang="en-US" sz="2400" i="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𝑖</m:t>
                                </m:r>
                                <m:r>
                                  <a:rPr lang="en-US" sz="2400" i="1">
                                    <a:latin typeface="Cambria Math" panose="02040503050406030204" pitchFamily="18" charset="0"/>
                                  </a:rPr>
                                  <m:t>𝜑</m:t>
                                </m:r>
                              </m:sup>
                            </m:sSup>
                            <m:d>
                              <m:dPr>
                                <m:begChr m:val="|"/>
                                <m:endChr m:val="⟩"/>
                                <m:ctrlPr>
                                  <a:rPr lang="en-US" sz="2400" i="1">
                                    <a:latin typeface="Cambria Math" panose="02040503050406030204" pitchFamily="18" charset="0"/>
                                  </a:rPr>
                                </m:ctrlPr>
                              </m:dPr>
                              <m:e>
                                <m:r>
                                  <a:rPr lang="en-US" sz="2400" i="0">
                                    <a:latin typeface="Cambria Math" panose="02040503050406030204" pitchFamily="18" charset="0"/>
                                  </a:rPr>
                                  <m:t>11</m:t>
                                </m:r>
                              </m:e>
                            </m:d>
                          </m:e>
                        </m:mr>
                        <m:mr>
                          <m:e>
                            <m:r>
                              <a:rPr lang="en-US" sz="2400" i="1">
                                <a:latin typeface="Cambria Math" panose="02040503050406030204" pitchFamily="18" charset="0"/>
                              </a:rPr>
                              <m:t>𝑃</m:t>
                            </m:r>
                            <m:r>
                              <a:rPr lang="en-US" sz="2400" dirty="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𝐼</m:t>
                            </m:r>
                            <m:r>
                              <a:rPr lang="en-US" sz="2400" i="0">
                                <a:latin typeface="Cambria Math" panose="02040503050406030204" pitchFamily="18" charset="0"/>
                              </a:rPr>
                              <m:t>:</m:t>
                            </m:r>
                          </m:e>
                          <m:e>
                            <m:d>
                              <m:dPr>
                                <m:begChr m:val="|"/>
                                <m:endChr m:val="⟩"/>
                                <m:ctrlPr>
                                  <a:rPr lang="en-US" sz="2400" i="1">
                                    <a:latin typeface="Cambria Math" panose="02040503050406030204" pitchFamily="18" charset="0"/>
                                  </a:rPr>
                                </m:ctrlPr>
                              </m:dPr>
                              <m:e>
                                <m:r>
                                  <a:rPr lang="en-US" sz="2400" i="0">
                                    <a:latin typeface="Cambria Math" panose="02040503050406030204" pitchFamily="18" charset="0"/>
                                  </a:rPr>
                                  <m:t>00</m:t>
                                </m:r>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00</m:t>
                                </m:r>
                              </m:e>
                            </m:d>
                          </m:e>
                          <m:e>
                            <m:d>
                              <m:dPr>
                                <m:begChr m:val="|"/>
                                <m:endChr m:val="⟩"/>
                                <m:ctrlPr>
                                  <a:rPr lang="en-US" sz="2400" i="1">
                                    <a:latin typeface="Cambria Math" panose="02040503050406030204" pitchFamily="18" charset="0"/>
                                  </a:rPr>
                                </m:ctrlPr>
                              </m:dPr>
                              <m:e>
                                <m:r>
                                  <a:rPr lang="en-US" sz="2400" i="0">
                                    <a:latin typeface="Cambria Math" panose="02040503050406030204" pitchFamily="18" charset="0"/>
                                  </a:rPr>
                                  <m:t>01</m:t>
                                </m:r>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01</m:t>
                                </m:r>
                              </m:e>
                            </m:d>
                          </m:e>
                          <m:e>
                            <m:d>
                              <m:dPr>
                                <m:begChr m:val="|"/>
                                <m:endChr m:val="⟩"/>
                                <m:ctrlPr>
                                  <a:rPr lang="en-US" sz="2400" i="1">
                                    <a:latin typeface="Cambria Math" panose="02040503050406030204" pitchFamily="18" charset="0"/>
                                  </a:rPr>
                                </m:ctrlPr>
                              </m:dPr>
                              <m:e>
                                <m:r>
                                  <a:rPr lang="en-US" sz="2400" i="0">
                                    <a:latin typeface="Cambria Math" panose="02040503050406030204" pitchFamily="18" charset="0"/>
                                  </a:rPr>
                                  <m:t>10</m:t>
                                </m:r>
                              </m:e>
                            </m:d>
                            <m:r>
                              <a:rPr lang="en-US" sz="2400" i="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𝑖</m:t>
                                </m:r>
                                <m:r>
                                  <a:rPr lang="en-US" sz="2400" i="1">
                                    <a:latin typeface="Cambria Math" panose="02040503050406030204" pitchFamily="18" charset="0"/>
                                  </a:rPr>
                                  <m:t>𝜑</m:t>
                                </m:r>
                              </m:sup>
                            </m:sSup>
                            <m:d>
                              <m:dPr>
                                <m:begChr m:val="|"/>
                                <m:endChr m:val="⟩"/>
                                <m:ctrlPr>
                                  <a:rPr lang="en-US" sz="2400" i="1">
                                    <a:latin typeface="Cambria Math" panose="02040503050406030204" pitchFamily="18" charset="0"/>
                                  </a:rPr>
                                </m:ctrlPr>
                              </m:dPr>
                              <m:e>
                                <m:r>
                                  <a:rPr lang="en-US" sz="2400" i="0">
                                    <a:latin typeface="Cambria Math" panose="02040503050406030204" pitchFamily="18" charset="0"/>
                                  </a:rPr>
                                  <m:t>10</m:t>
                                </m:r>
                              </m:e>
                            </m:d>
                          </m:e>
                          <m:e>
                            <m:d>
                              <m:dPr>
                                <m:begChr m:val="|"/>
                                <m:endChr m:val="⟩"/>
                                <m:ctrlPr>
                                  <a:rPr lang="en-US" sz="2400" i="1">
                                    <a:latin typeface="Cambria Math" panose="02040503050406030204" pitchFamily="18" charset="0"/>
                                  </a:rPr>
                                </m:ctrlPr>
                              </m:dPr>
                              <m:e>
                                <m:r>
                                  <a:rPr lang="en-US" sz="2400" i="0">
                                    <a:latin typeface="Cambria Math" panose="02040503050406030204" pitchFamily="18" charset="0"/>
                                  </a:rPr>
                                  <m:t>11</m:t>
                                </m:r>
                              </m:e>
                            </m:d>
                            <m:r>
                              <a:rPr lang="en-US" sz="2400" i="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𝑖</m:t>
                                </m:r>
                                <m:r>
                                  <a:rPr lang="en-US" sz="2400" i="1">
                                    <a:latin typeface="Cambria Math" panose="02040503050406030204" pitchFamily="18" charset="0"/>
                                  </a:rPr>
                                  <m:t>𝜑</m:t>
                                </m:r>
                              </m:sup>
                            </m:sSup>
                            <m:d>
                              <m:dPr>
                                <m:begChr m:val="|"/>
                                <m:endChr m:val="⟩"/>
                                <m:ctrlPr>
                                  <a:rPr lang="en-US" sz="2400" i="1">
                                    <a:latin typeface="Cambria Math" panose="02040503050406030204" pitchFamily="18" charset="0"/>
                                  </a:rPr>
                                </m:ctrlPr>
                              </m:dPr>
                              <m:e>
                                <m:r>
                                  <a:rPr lang="en-US" sz="2400" i="0">
                                    <a:latin typeface="Cambria Math" panose="02040503050406030204" pitchFamily="18" charset="0"/>
                                  </a:rPr>
                                  <m:t>11</m:t>
                                </m:r>
                              </m:e>
                            </m:d>
                          </m:e>
                        </m:mr>
                      </m:m>
                    </m:oMath>
                  </m:oMathPara>
                </a14:m>
                <a:endParaRPr lang="en-US" sz="2400" dirty="0"/>
              </a:p>
            </p:txBody>
          </p:sp>
        </mc:Choice>
        <mc:Fallback xmlns="">
          <p:sp>
            <p:nvSpPr>
              <p:cNvPr id="13" name="Rectangle 12">
                <a:extLst>
                  <a:ext uri="{FF2B5EF4-FFF2-40B4-BE49-F238E27FC236}">
                    <a16:creationId xmlns:a16="http://schemas.microsoft.com/office/drawing/2014/main" id="{4671C38B-E533-FF4D-A4C5-806F7E05C554}"/>
                  </a:ext>
                </a:extLst>
              </p:cNvPr>
              <p:cNvSpPr>
                <a:spLocks noRot="1" noChangeAspect="1" noMove="1" noResize="1" noEditPoints="1" noAdjustHandles="1" noChangeArrowheads="1" noChangeShapeType="1" noTextEdit="1"/>
              </p:cNvSpPr>
              <p:nvPr/>
            </p:nvSpPr>
            <p:spPr>
              <a:xfrm>
                <a:off x="1859101" y="4084838"/>
                <a:ext cx="9302931" cy="876587"/>
              </a:xfrm>
              <a:prstGeom prst="rect">
                <a:avLst/>
              </a:prstGeom>
              <a:blipFill>
                <a:blip r:embed="rId5"/>
                <a:stretch>
                  <a:fillRect b="-5714"/>
                </a:stretch>
              </a:blipFill>
            </p:spPr>
            <p:txBody>
              <a:bodyPr/>
              <a:lstStyle/>
              <a:p>
                <a:r>
                  <a:rPr lang="en-US">
                    <a:noFill/>
                  </a:rPr>
                  <a:t> </a:t>
                </a:r>
              </a:p>
            </p:txBody>
          </p:sp>
        </mc:Fallback>
      </mc:AlternateContent>
    </p:spTree>
    <p:extLst>
      <p:ext uri="{BB962C8B-B14F-4D97-AF65-F5344CB8AC3E}">
        <p14:creationId xmlns:p14="http://schemas.microsoft.com/office/powerpoint/2010/main" val="32476611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1EA5C-CCE0-E547-B444-CD9092C29BE2}"/>
              </a:ext>
            </a:extLst>
          </p:cNvPr>
          <p:cNvSpPr>
            <a:spLocks noGrp="1"/>
          </p:cNvSpPr>
          <p:nvPr>
            <p:ph type="title"/>
          </p:nvPr>
        </p:nvSpPr>
        <p:spPr/>
        <p:txBody>
          <a:bodyPr/>
          <a:lstStyle/>
          <a:p>
            <a:r>
              <a:rPr lang="en-ZA" dirty="0"/>
              <a:t>Decomposition of the Controlled Gate</a:t>
            </a:r>
            <a:endParaRPr lang="en-US" dirty="0"/>
          </a:p>
        </p:txBody>
      </p:sp>
      <p:sp>
        <p:nvSpPr>
          <p:cNvPr id="3" name="Slide Number Placeholder 2">
            <a:extLst>
              <a:ext uri="{FF2B5EF4-FFF2-40B4-BE49-F238E27FC236}">
                <a16:creationId xmlns:a16="http://schemas.microsoft.com/office/drawing/2014/main" id="{0D743AAA-F179-F546-900A-BAD3C7DF607D}"/>
              </a:ext>
            </a:extLst>
          </p:cNvPr>
          <p:cNvSpPr>
            <a:spLocks noGrp="1"/>
          </p:cNvSpPr>
          <p:nvPr>
            <p:ph type="sldNum" sz="quarter" idx="12"/>
          </p:nvPr>
        </p:nvSpPr>
        <p:spPr/>
        <p:txBody>
          <a:bodyPr/>
          <a:lstStyle/>
          <a:p>
            <a:fld id="{591A223C-FA10-BC46-A853-03BA373D023C}" type="slidenum">
              <a:rPr lang="en-US" smtClean="0"/>
              <a:t>28</a:t>
            </a:fld>
            <a:endParaRPr lang="en-US"/>
          </a:p>
        </p:txBody>
      </p:sp>
      <p:cxnSp>
        <p:nvCxnSpPr>
          <p:cNvPr id="4" name="Straight Connector 3">
            <a:extLst>
              <a:ext uri="{FF2B5EF4-FFF2-40B4-BE49-F238E27FC236}">
                <a16:creationId xmlns:a16="http://schemas.microsoft.com/office/drawing/2014/main" id="{65EAF9A6-6882-BF42-9D0C-F5ABF0049BB5}"/>
              </a:ext>
            </a:extLst>
          </p:cNvPr>
          <p:cNvCxnSpPr>
            <a:cxnSpLocks/>
          </p:cNvCxnSpPr>
          <p:nvPr/>
        </p:nvCxnSpPr>
        <p:spPr>
          <a:xfrm>
            <a:off x="1555805" y="3796703"/>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4D19BC9-CDE9-0C40-81BA-BCE4973BA1B2}"/>
              </a:ext>
            </a:extLst>
          </p:cNvPr>
          <p:cNvCxnSpPr>
            <a:cxnSpLocks/>
          </p:cNvCxnSpPr>
          <p:nvPr/>
        </p:nvCxnSpPr>
        <p:spPr>
          <a:xfrm>
            <a:off x="1555805" y="2712332"/>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D672BEC7-9C6E-144B-8614-4ADF9EDE0DC0}"/>
              </a:ext>
            </a:extLst>
          </p:cNvPr>
          <p:cNvSpPr/>
          <p:nvPr/>
        </p:nvSpPr>
        <p:spPr>
          <a:xfrm>
            <a:off x="2129198" y="2570283"/>
            <a:ext cx="270000" cy="27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7" name="Straight Connector 6">
            <a:extLst>
              <a:ext uri="{FF2B5EF4-FFF2-40B4-BE49-F238E27FC236}">
                <a16:creationId xmlns:a16="http://schemas.microsoft.com/office/drawing/2014/main" id="{5CE1B6FA-6EAC-8D4E-BE96-37CA04F568A1}"/>
              </a:ext>
            </a:extLst>
          </p:cNvPr>
          <p:cNvCxnSpPr>
            <a:cxnSpLocks/>
            <a:endCxn id="6" idx="4"/>
          </p:cNvCxnSpPr>
          <p:nvPr/>
        </p:nvCxnSpPr>
        <p:spPr>
          <a:xfrm flipV="1">
            <a:off x="2264198" y="2840283"/>
            <a:ext cx="0" cy="5964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8E48AC2-6BF8-2240-9B8B-B1FEC031B976}"/>
              </a:ext>
            </a:extLst>
          </p:cNvPr>
          <p:cNvSpPr/>
          <p:nvPr/>
        </p:nvSpPr>
        <p:spPr>
          <a:xfrm>
            <a:off x="1904198" y="3436703"/>
            <a:ext cx="720000" cy="720000"/>
          </a:xfrm>
          <a:prstGeom prst="rect">
            <a:avLst/>
          </a:prstGeom>
          <a:solidFill>
            <a:srgbClr val="9B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U</a:t>
            </a: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28F5EED4-6FC2-4B4C-B4A7-71EAEA36AE22}"/>
                  </a:ext>
                </a:extLst>
              </p:cNvPr>
              <p:cNvSpPr/>
              <p:nvPr/>
            </p:nvSpPr>
            <p:spPr>
              <a:xfrm>
                <a:off x="4184214" y="3250514"/>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14" name="Rectangle 13">
                <a:extLst>
                  <a:ext uri="{FF2B5EF4-FFF2-40B4-BE49-F238E27FC236}">
                    <a16:creationId xmlns:a16="http://schemas.microsoft.com/office/drawing/2014/main" id="{28F5EED4-6FC2-4B4C-B4A7-71EAEA36AE22}"/>
                  </a:ext>
                </a:extLst>
              </p:cNvPr>
              <p:cNvSpPr>
                <a:spLocks noRot="1" noChangeAspect="1" noMove="1" noResize="1" noEditPoints="1" noAdjustHandles="1" noChangeArrowheads="1" noChangeShapeType="1" noTextEdit="1"/>
              </p:cNvSpPr>
              <p:nvPr/>
            </p:nvSpPr>
            <p:spPr>
              <a:xfrm>
                <a:off x="4184214" y="3250514"/>
                <a:ext cx="633507" cy="646331"/>
              </a:xfrm>
              <a:prstGeom prst="rect">
                <a:avLst/>
              </a:prstGeom>
              <a:blipFill>
                <a:blip r:embed="rId3"/>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2B179C05-3773-C945-9CD2-7F1B1AAD2059}"/>
              </a:ext>
            </a:extLst>
          </p:cNvPr>
          <p:cNvCxnSpPr>
            <a:cxnSpLocks/>
          </p:cNvCxnSpPr>
          <p:nvPr/>
        </p:nvCxnSpPr>
        <p:spPr>
          <a:xfrm>
            <a:off x="5682529" y="2246360"/>
            <a:ext cx="63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BF86A65-CC5F-4B40-9741-452F2E22538E}"/>
              </a:ext>
            </a:extLst>
          </p:cNvPr>
          <p:cNvCxnSpPr>
            <a:cxnSpLocks/>
          </p:cNvCxnSpPr>
          <p:nvPr/>
        </p:nvCxnSpPr>
        <p:spPr>
          <a:xfrm>
            <a:off x="5566124" y="1317802"/>
            <a:ext cx="63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3BE915AC-0EF7-A54A-B5E5-261ABC1F48B7}"/>
              </a:ext>
            </a:extLst>
          </p:cNvPr>
          <p:cNvGrpSpPr/>
          <p:nvPr/>
        </p:nvGrpSpPr>
        <p:grpSpPr>
          <a:xfrm rot="10800000">
            <a:off x="6980694" y="1181657"/>
            <a:ext cx="720000" cy="1396107"/>
            <a:chOff x="2596286" y="1207649"/>
            <a:chExt cx="720000" cy="1396107"/>
          </a:xfrm>
        </p:grpSpPr>
        <p:sp>
          <p:nvSpPr>
            <p:cNvPr id="19" name="Oval 18">
              <a:extLst>
                <a:ext uri="{FF2B5EF4-FFF2-40B4-BE49-F238E27FC236}">
                  <a16:creationId xmlns:a16="http://schemas.microsoft.com/office/drawing/2014/main" id="{4871F680-B35E-1646-9540-0804A855E1F4}"/>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0" name="Oval 19">
              <a:extLst>
                <a:ext uri="{FF2B5EF4-FFF2-40B4-BE49-F238E27FC236}">
                  <a16:creationId xmlns:a16="http://schemas.microsoft.com/office/drawing/2014/main" id="{4455939E-0D44-0148-9EB2-CD10E77955B1}"/>
                </a:ext>
              </a:extLst>
            </p:cNvPr>
            <p:cNvSpPr/>
            <p:nvPr/>
          </p:nvSpPr>
          <p:spPr>
            <a:xfrm flipV="1">
              <a:off x="2821286" y="233375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1" name="Straight Connector 20">
              <a:extLst>
                <a:ext uri="{FF2B5EF4-FFF2-40B4-BE49-F238E27FC236}">
                  <a16:creationId xmlns:a16="http://schemas.microsoft.com/office/drawing/2014/main" id="{10C79A30-581E-6549-8F60-924DC23A2DFF}"/>
                </a:ext>
              </a:extLst>
            </p:cNvPr>
            <p:cNvCxnSpPr>
              <a:cxnSpLocks/>
              <a:stCxn id="20" idx="4"/>
              <a:endCxn id="19" idx="0"/>
            </p:cNvCxnSpPr>
            <p:nvPr/>
          </p:nvCxnSpPr>
          <p:spPr>
            <a:xfrm>
              <a:off x="2956286" y="1927649"/>
              <a:ext cx="0" cy="4061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Rectangle 21">
            <a:extLst>
              <a:ext uri="{FF2B5EF4-FFF2-40B4-BE49-F238E27FC236}">
                <a16:creationId xmlns:a16="http://schemas.microsoft.com/office/drawing/2014/main" id="{B2F42CA1-28AD-4A4D-AC02-EED2B61AA9C2}"/>
              </a:ext>
            </a:extLst>
          </p:cNvPr>
          <p:cNvSpPr>
            <a:spLocks noChangeAspect="1"/>
          </p:cNvSpPr>
          <p:nvPr/>
        </p:nvSpPr>
        <p:spPr>
          <a:xfrm>
            <a:off x="6072420" y="1874437"/>
            <a:ext cx="720000" cy="7200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C</a:t>
            </a:r>
          </a:p>
        </p:txBody>
      </p:sp>
      <p:sp>
        <p:nvSpPr>
          <p:cNvPr id="23" name="Rectangle 22">
            <a:extLst>
              <a:ext uri="{FF2B5EF4-FFF2-40B4-BE49-F238E27FC236}">
                <a16:creationId xmlns:a16="http://schemas.microsoft.com/office/drawing/2014/main" id="{E1B54191-DF18-CB47-B56F-CE45E541F0D4}"/>
              </a:ext>
            </a:extLst>
          </p:cNvPr>
          <p:cNvSpPr>
            <a:spLocks noChangeAspect="1"/>
          </p:cNvSpPr>
          <p:nvPr/>
        </p:nvSpPr>
        <p:spPr>
          <a:xfrm>
            <a:off x="8072033" y="1857764"/>
            <a:ext cx="720000" cy="7200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B</a:t>
            </a:r>
          </a:p>
        </p:txBody>
      </p:sp>
      <p:grpSp>
        <p:nvGrpSpPr>
          <p:cNvPr id="25" name="Group 24">
            <a:extLst>
              <a:ext uri="{FF2B5EF4-FFF2-40B4-BE49-F238E27FC236}">
                <a16:creationId xmlns:a16="http://schemas.microsoft.com/office/drawing/2014/main" id="{997A2F1E-C74A-FF4C-B6A6-D159E0088C87}"/>
              </a:ext>
            </a:extLst>
          </p:cNvPr>
          <p:cNvGrpSpPr/>
          <p:nvPr/>
        </p:nvGrpSpPr>
        <p:grpSpPr>
          <a:xfrm rot="10800000">
            <a:off x="8985943" y="1198330"/>
            <a:ext cx="720000" cy="1396107"/>
            <a:chOff x="2596286" y="1207649"/>
            <a:chExt cx="720000" cy="1396107"/>
          </a:xfrm>
        </p:grpSpPr>
        <p:sp>
          <p:nvSpPr>
            <p:cNvPr id="26" name="Oval 25">
              <a:extLst>
                <a:ext uri="{FF2B5EF4-FFF2-40B4-BE49-F238E27FC236}">
                  <a16:creationId xmlns:a16="http://schemas.microsoft.com/office/drawing/2014/main" id="{FC361AC4-4D48-9E42-B5AF-776BC715794A}"/>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7" name="Oval 26">
              <a:extLst>
                <a:ext uri="{FF2B5EF4-FFF2-40B4-BE49-F238E27FC236}">
                  <a16:creationId xmlns:a16="http://schemas.microsoft.com/office/drawing/2014/main" id="{8B3B4BCF-DA5A-D149-99D5-98D745A90675}"/>
                </a:ext>
              </a:extLst>
            </p:cNvPr>
            <p:cNvSpPr/>
            <p:nvPr/>
          </p:nvSpPr>
          <p:spPr>
            <a:xfrm flipV="1">
              <a:off x="2821286" y="233375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8" name="Straight Connector 27">
              <a:extLst>
                <a:ext uri="{FF2B5EF4-FFF2-40B4-BE49-F238E27FC236}">
                  <a16:creationId xmlns:a16="http://schemas.microsoft.com/office/drawing/2014/main" id="{FBF134BA-2116-2941-941C-C6947A7CBFBF}"/>
                </a:ext>
              </a:extLst>
            </p:cNvPr>
            <p:cNvCxnSpPr>
              <a:cxnSpLocks/>
              <a:stCxn id="27" idx="4"/>
              <a:endCxn id="26" idx="0"/>
            </p:cNvCxnSpPr>
            <p:nvPr/>
          </p:nvCxnSpPr>
          <p:spPr>
            <a:xfrm>
              <a:off x="2956286" y="1927649"/>
              <a:ext cx="0" cy="4061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Rectangle 28">
            <a:extLst>
              <a:ext uri="{FF2B5EF4-FFF2-40B4-BE49-F238E27FC236}">
                <a16:creationId xmlns:a16="http://schemas.microsoft.com/office/drawing/2014/main" id="{F5B0A40F-5F8A-AE4D-9DAD-99B71556E318}"/>
              </a:ext>
            </a:extLst>
          </p:cNvPr>
          <p:cNvSpPr>
            <a:spLocks noChangeAspect="1"/>
          </p:cNvSpPr>
          <p:nvPr/>
        </p:nvSpPr>
        <p:spPr>
          <a:xfrm>
            <a:off x="9894217" y="1886360"/>
            <a:ext cx="720000" cy="7200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A</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91910962-E3EE-A643-B477-C4E257468CB4}"/>
                  </a:ext>
                </a:extLst>
              </p:cNvPr>
              <p:cNvSpPr/>
              <p:nvPr/>
            </p:nvSpPr>
            <p:spPr>
              <a:xfrm>
                <a:off x="70071" y="4398733"/>
                <a:ext cx="491532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𝑈</m:t>
                      </m:r>
                      <m:r>
                        <a:rPr lang="en-US" sz="2800">
                          <a:latin typeface="Cambria Math" panose="02040503050406030204" pitchFamily="18" charset="0"/>
                        </a:rPr>
                        <m:t>=</m:t>
                      </m:r>
                      <m:r>
                        <a:rPr lang="el-GR" sz="2800" i="1">
                          <a:latin typeface="Cambria Math" panose="02040503050406030204" pitchFamily="18" charset="0"/>
                          <a:ea typeface="Cambria Math" panose="02040503050406030204" pitchFamily="18" charset="0"/>
                        </a:rPr>
                        <m:t>𝛷</m:t>
                      </m:r>
                      <m:r>
                        <a:rPr lang="en-US" sz="2800" i="1">
                          <a:latin typeface="Cambria Math" panose="02040503050406030204" pitchFamily="18" charset="0"/>
                        </a:rPr>
                        <m:t>𝐴𝑋𝐵𝑋𝐶</m:t>
                      </m:r>
                      <m:r>
                        <a:rPr lang="sr-Latn-RS" sz="2800" b="0" i="0" smtClean="0">
                          <a:latin typeface="Cambria Math" panose="02040503050406030204" pitchFamily="18" charset="0"/>
                        </a:rPr>
                        <m:t> </m:t>
                      </m:r>
                      <m:r>
                        <m:rPr>
                          <m:sty m:val="p"/>
                        </m:rPr>
                        <a:rPr lang="en-US" sz="2800" b="0" i="0" smtClean="0">
                          <a:latin typeface="Cambria Math" panose="02040503050406030204" pitchFamily="18" charset="0"/>
                        </a:rPr>
                        <m:t>where</m:t>
                      </m:r>
                      <m:r>
                        <a:rPr lang="sr-Latn-RS" sz="2800" b="0" i="0" smtClean="0">
                          <a:latin typeface="Cambria Math" panose="02040503050406030204" pitchFamily="18" charset="0"/>
                        </a:rPr>
                        <m:t> </m:t>
                      </m:r>
                      <m:r>
                        <a:rPr lang="sr-Latn-RS" sz="2800" b="0" i="1" smtClean="0">
                          <a:latin typeface="Cambria Math" panose="02040503050406030204" pitchFamily="18" charset="0"/>
                        </a:rPr>
                        <m:t>𝐴𝐵𝐶</m:t>
                      </m:r>
                      <m:r>
                        <a:rPr lang="sr-Latn-RS" sz="2800" b="0" i="1" smtClean="0">
                          <a:latin typeface="Cambria Math" panose="02040503050406030204" pitchFamily="18" charset="0"/>
                        </a:rPr>
                        <m:t>=</m:t>
                      </m:r>
                      <m:r>
                        <a:rPr lang="sr-Latn-RS" sz="2800" b="0" i="1" smtClean="0">
                          <a:latin typeface="Cambria Math" panose="02040503050406030204" pitchFamily="18" charset="0"/>
                        </a:rPr>
                        <m:t>𝐼</m:t>
                      </m:r>
                      <m:r>
                        <a:rPr lang="sr-Latn-RS" sz="2800" i="1">
                          <a:latin typeface="Cambria Math" panose="02040503050406030204" pitchFamily="18" charset="0"/>
                        </a:rPr>
                        <m:t> </m:t>
                      </m:r>
                    </m:oMath>
                  </m:oMathPara>
                </a14:m>
                <a:endParaRPr lang="en-US" sz="2800" dirty="0"/>
              </a:p>
            </p:txBody>
          </p:sp>
        </mc:Choice>
        <mc:Fallback xmlns="">
          <p:sp>
            <p:nvSpPr>
              <p:cNvPr id="8" name="Rectangle 7">
                <a:extLst>
                  <a:ext uri="{FF2B5EF4-FFF2-40B4-BE49-F238E27FC236}">
                    <a16:creationId xmlns:a16="http://schemas.microsoft.com/office/drawing/2014/main" id="{91910962-E3EE-A643-B477-C4E257468CB4}"/>
                  </a:ext>
                </a:extLst>
              </p:cNvPr>
              <p:cNvSpPr>
                <a:spLocks noRot="1" noChangeAspect="1" noMove="1" noResize="1" noEditPoints="1" noAdjustHandles="1" noChangeArrowheads="1" noChangeShapeType="1" noTextEdit="1"/>
              </p:cNvSpPr>
              <p:nvPr/>
            </p:nvSpPr>
            <p:spPr>
              <a:xfrm>
                <a:off x="70071" y="4398733"/>
                <a:ext cx="4915320" cy="523220"/>
              </a:xfrm>
              <a:prstGeom prst="rect">
                <a:avLst/>
              </a:prstGeom>
              <a:blipFill>
                <a:blip r:embed="rId4"/>
                <a:stretch>
                  <a:fillRect r="-258" b="-186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3DCCD7B6-C054-CD44-A4D8-78F65AB03ED5}"/>
                  </a:ext>
                </a:extLst>
              </p:cNvPr>
              <p:cNvSpPr/>
              <p:nvPr/>
            </p:nvSpPr>
            <p:spPr>
              <a:xfrm>
                <a:off x="6989717" y="2725264"/>
                <a:ext cx="328936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𝑐</m:t>
                      </m:r>
                      <m:r>
                        <a:rPr lang="en-US" sz="2800" i="1">
                          <a:latin typeface="Cambria Math" panose="02040503050406030204" pitchFamily="18" charset="0"/>
                        </a:rPr>
                        <m:t>𝑈</m:t>
                      </m:r>
                      <m:r>
                        <a:rPr lang="en-US" sz="2800">
                          <a:latin typeface="Cambria Math" panose="02040503050406030204" pitchFamily="18" charset="0"/>
                        </a:rPr>
                        <m:t>=</m:t>
                      </m:r>
                      <m:r>
                        <a:rPr lang="sr-Latn-RS" sz="2800" b="0" i="1" smtClean="0">
                          <a:latin typeface="Cambria Math" panose="02040503050406030204" pitchFamily="18" charset="0"/>
                        </a:rPr>
                        <m:t>𝑐</m:t>
                      </m:r>
                      <m:r>
                        <a:rPr lang="el-GR" sz="2800" i="1">
                          <a:latin typeface="Cambria Math" panose="02040503050406030204" pitchFamily="18" charset="0"/>
                          <a:ea typeface="Cambria Math" panose="02040503050406030204" pitchFamily="18" charset="0"/>
                        </a:rPr>
                        <m:t>𝛷</m:t>
                      </m:r>
                      <m:r>
                        <a:rPr lang="sr-Latn-RS" sz="2800" b="0" i="1" smtClean="0">
                          <a:latin typeface="Cambria Math" panose="02040503050406030204" pitchFamily="18" charset="0"/>
                          <a:ea typeface="Cambria Math" panose="02040503050406030204" pitchFamily="18" charset="0"/>
                        </a:rPr>
                        <m:t>𝑐</m:t>
                      </m:r>
                      <m:r>
                        <a:rPr lang="sr-Latn-RS" sz="2800" b="0" i="1" smtClean="0">
                          <a:latin typeface="Cambria Math" panose="02040503050406030204" pitchFamily="18" charset="0"/>
                          <a:ea typeface="Cambria Math" panose="02040503050406030204" pitchFamily="18" charset="0"/>
                        </a:rPr>
                        <m:t>(</m:t>
                      </m:r>
                      <m:r>
                        <a:rPr lang="en-US" sz="2800" i="1">
                          <a:latin typeface="Cambria Math" panose="02040503050406030204" pitchFamily="18" charset="0"/>
                        </a:rPr>
                        <m:t>𝐴𝑋𝐵𝑋𝐶</m:t>
                      </m:r>
                      <m:r>
                        <a:rPr lang="sr-Latn-RS" sz="2800" b="0" i="1" smtClean="0">
                          <a:latin typeface="Cambria Math" panose="02040503050406030204" pitchFamily="18" charset="0"/>
                        </a:rPr>
                        <m:t>)</m:t>
                      </m:r>
                      <m:r>
                        <a:rPr lang="sr-Latn-RS" sz="2800" i="1">
                          <a:latin typeface="Cambria Math" panose="02040503050406030204" pitchFamily="18" charset="0"/>
                        </a:rPr>
                        <m:t> </m:t>
                      </m:r>
                    </m:oMath>
                  </m:oMathPara>
                </a14:m>
                <a:endParaRPr lang="en-US" sz="2800" dirty="0"/>
              </a:p>
            </p:txBody>
          </p:sp>
        </mc:Choice>
        <mc:Fallback xmlns="">
          <p:sp>
            <p:nvSpPr>
              <p:cNvPr id="32" name="Rectangle 31">
                <a:extLst>
                  <a:ext uri="{FF2B5EF4-FFF2-40B4-BE49-F238E27FC236}">
                    <a16:creationId xmlns:a16="http://schemas.microsoft.com/office/drawing/2014/main" id="{3DCCD7B6-C054-CD44-A4D8-78F65AB03ED5}"/>
                  </a:ext>
                </a:extLst>
              </p:cNvPr>
              <p:cNvSpPr>
                <a:spLocks noRot="1" noChangeAspect="1" noMove="1" noResize="1" noEditPoints="1" noAdjustHandles="1" noChangeArrowheads="1" noChangeShapeType="1" noTextEdit="1"/>
              </p:cNvSpPr>
              <p:nvPr/>
            </p:nvSpPr>
            <p:spPr>
              <a:xfrm>
                <a:off x="6989717" y="2725264"/>
                <a:ext cx="3289362" cy="523220"/>
              </a:xfrm>
              <a:prstGeom prst="rect">
                <a:avLst/>
              </a:prstGeom>
              <a:blipFill>
                <a:blip r:embed="rId5"/>
                <a:stretch>
                  <a:fillRect r="-1154"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095CB957-53DD-D140-BD5D-5339C559A8D7}"/>
                  </a:ext>
                </a:extLst>
              </p:cNvPr>
              <p:cNvSpPr/>
              <p:nvPr/>
            </p:nvSpPr>
            <p:spPr>
              <a:xfrm>
                <a:off x="6120472" y="6183570"/>
                <a:ext cx="502785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𝑐</m:t>
                      </m:r>
                      <m:r>
                        <a:rPr lang="en-US" sz="2800" i="1">
                          <a:latin typeface="Cambria Math" panose="02040503050406030204" pitchFamily="18" charset="0"/>
                        </a:rPr>
                        <m:t>𝑈</m:t>
                      </m:r>
                      <m:r>
                        <a:rPr lang="en-US" sz="2800">
                          <a:latin typeface="Cambria Math" panose="02040503050406030204" pitchFamily="18" charset="0"/>
                        </a:rPr>
                        <m:t>=</m:t>
                      </m:r>
                      <m:d>
                        <m:dPr>
                          <m:ctrlPr>
                            <a:rPr lang="en-US" sz="2800" i="1" smtClean="0">
                              <a:latin typeface="Cambria Math" panose="02040503050406030204" pitchFamily="18" charset="0"/>
                            </a:rPr>
                          </m:ctrlPr>
                        </m:dPr>
                        <m:e>
                          <m:r>
                            <a:rPr lang="sr-Latn-RS" sz="2800" b="0" i="1" smtClean="0">
                              <a:latin typeface="Cambria Math" panose="02040503050406030204" pitchFamily="18" charset="0"/>
                            </a:rPr>
                            <m:t>𝑃</m:t>
                          </m:r>
                          <m:r>
                            <a:rPr lang="sr-Latn-RS" sz="2800" b="0" i="1" smtClean="0">
                              <a:latin typeface="Cambria Math" panose="02040503050406030204" pitchFamily="18" charset="0"/>
                              <a:ea typeface="Cambria Math" panose="02040503050406030204" pitchFamily="18" charset="0"/>
                            </a:rPr>
                            <m:t>⨂</m:t>
                          </m:r>
                          <m:r>
                            <a:rPr lang="sr-Latn-RS" sz="2800" b="0" i="1" smtClean="0">
                              <a:latin typeface="Cambria Math" panose="02040503050406030204" pitchFamily="18" charset="0"/>
                              <a:ea typeface="Cambria Math" panose="02040503050406030204" pitchFamily="18" charset="0"/>
                            </a:rPr>
                            <m:t>𝐴</m:t>
                          </m:r>
                        </m:e>
                      </m:d>
                      <m:r>
                        <a:rPr lang="sr-Latn-RS" sz="2800" b="0" i="1" smtClean="0">
                          <a:latin typeface="Cambria Math" panose="02040503050406030204" pitchFamily="18" charset="0"/>
                        </a:rPr>
                        <m:t>𝑐𝑋</m:t>
                      </m:r>
                      <m:d>
                        <m:dPr>
                          <m:ctrlPr>
                            <a:rPr lang="en-US" sz="2800" i="1">
                              <a:latin typeface="Cambria Math" panose="02040503050406030204" pitchFamily="18" charset="0"/>
                            </a:rPr>
                          </m:ctrlPr>
                        </m:dPr>
                        <m:e>
                          <m:r>
                            <a:rPr lang="sr-Latn-RS" sz="2800" b="0" i="1" smtClean="0">
                              <a:latin typeface="Cambria Math" panose="02040503050406030204" pitchFamily="18" charset="0"/>
                            </a:rPr>
                            <m:t>𝐼</m:t>
                          </m:r>
                          <m:r>
                            <a:rPr lang="sr-Latn-RS" sz="2800" i="1">
                              <a:latin typeface="Cambria Math" panose="02040503050406030204" pitchFamily="18" charset="0"/>
                              <a:ea typeface="Cambria Math" panose="02040503050406030204" pitchFamily="18" charset="0"/>
                            </a:rPr>
                            <m:t>⨂</m:t>
                          </m:r>
                          <m:r>
                            <a:rPr lang="sr-Latn-RS" sz="2800" b="0" i="1" smtClean="0">
                              <a:latin typeface="Cambria Math" panose="02040503050406030204" pitchFamily="18" charset="0"/>
                              <a:ea typeface="Cambria Math" panose="02040503050406030204" pitchFamily="18" charset="0"/>
                            </a:rPr>
                            <m:t>𝐵</m:t>
                          </m:r>
                        </m:e>
                      </m:d>
                      <m:r>
                        <a:rPr lang="sr-Latn-RS" sz="2800" b="0" i="1" smtClean="0">
                          <a:latin typeface="Cambria Math" panose="02040503050406030204" pitchFamily="18" charset="0"/>
                          <a:ea typeface="Cambria Math" panose="02040503050406030204" pitchFamily="18" charset="0"/>
                        </a:rPr>
                        <m:t>𝑐𝑋</m:t>
                      </m:r>
                      <m:d>
                        <m:dPr>
                          <m:ctrlPr>
                            <a:rPr lang="en-US" sz="2800" i="1">
                              <a:latin typeface="Cambria Math" panose="02040503050406030204" pitchFamily="18" charset="0"/>
                            </a:rPr>
                          </m:ctrlPr>
                        </m:dPr>
                        <m:e>
                          <m:r>
                            <a:rPr lang="sr-Latn-RS" sz="2800" b="0" i="1" smtClean="0">
                              <a:latin typeface="Cambria Math" panose="02040503050406030204" pitchFamily="18" charset="0"/>
                            </a:rPr>
                            <m:t>𝐼</m:t>
                          </m:r>
                          <m:r>
                            <a:rPr lang="sr-Latn-RS" sz="2800" i="1">
                              <a:latin typeface="Cambria Math" panose="02040503050406030204" pitchFamily="18" charset="0"/>
                              <a:ea typeface="Cambria Math" panose="02040503050406030204" pitchFamily="18" charset="0"/>
                            </a:rPr>
                            <m:t>⨂</m:t>
                          </m:r>
                          <m:r>
                            <a:rPr lang="sr-Latn-RS" sz="2800" b="0" i="1" smtClean="0">
                              <a:latin typeface="Cambria Math" panose="02040503050406030204" pitchFamily="18" charset="0"/>
                              <a:ea typeface="Cambria Math" panose="02040503050406030204" pitchFamily="18" charset="0"/>
                            </a:rPr>
                            <m:t>𝐶</m:t>
                          </m:r>
                        </m:e>
                      </m:d>
                    </m:oMath>
                  </m:oMathPara>
                </a14:m>
                <a:endParaRPr lang="en-US" sz="2800" dirty="0"/>
              </a:p>
            </p:txBody>
          </p:sp>
        </mc:Choice>
        <mc:Fallback xmlns="">
          <p:sp>
            <p:nvSpPr>
              <p:cNvPr id="33" name="Rectangle 32">
                <a:extLst>
                  <a:ext uri="{FF2B5EF4-FFF2-40B4-BE49-F238E27FC236}">
                    <a16:creationId xmlns:a16="http://schemas.microsoft.com/office/drawing/2014/main" id="{095CB957-53DD-D140-BD5D-5339C559A8D7}"/>
                  </a:ext>
                </a:extLst>
              </p:cNvPr>
              <p:cNvSpPr>
                <a:spLocks noRot="1" noChangeAspect="1" noMove="1" noResize="1" noEditPoints="1" noAdjustHandles="1" noChangeArrowheads="1" noChangeShapeType="1" noTextEdit="1"/>
              </p:cNvSpPr>
              <p:nvPr/>
            </p:nvSpPr>
            <p:spPr>
              <a:xfrm>
                <a:off x="6120472" y="6183570"/>
                <a:ext cx="5027851" cy="523220"/>
              </a:xfrm>
              <a:prstGeom prst="rect">
                <a:avLst/>
              </a:prstGeom>
              <a:blipFill>
                <a:blip r:embed="rId6"/>
                <a:stretch>
                  <a:fillRect b="-4762"/>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0B083558-6DD7-664B-B874-EA25B979DB08}"/>
              </a:ext>
            </a:extLst>
          </p:cNvPr>
          <p:cNvCxnSpPr>
            <a:cxnSpLocks/>
          </p:cNvCxnSpPr>
          <p:nvPr/>
        </p:nvCxnSpPr>
        <p:spPr>
          <a:xfrm>
            <a:off x="5870803" y="5588901"/>
            <a:ext cx="57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7E15E96-DEB3-1C42-95EC-786F7F19CC11}"/>
              </a:ext>
            </a:extLst>
          </p:cNvPr>
          <p:cNvCxnSpPr>
            <a:cxnSpLocks/>
          </p:cNvCxnSpPr>
          <p:nvPr/>
        </p:nvCxnSpPr>
        <p:spPr>
          <a:xfrm>
            <a:off x="5754398" y="4660343"/>
            <a:ext cx="57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7F261785-87D6-5E47-94B8-7640583DB19D}"/>
              </a:ext>
            </a:extLst>
          </p:cNvPr>
          <p:cNvGrpSpPr/>
          <p:nvPr/>
        </p:nvGrpSpPr>
        <p:grpSpPr>
          <a:xfrm rot="10800000">
            <a:off x="7168968" y="4524198"/>
            <a:ext cx="720000" cy="1396107"/>
            <a:chOff x="2596286" y="1207649"/>
            <a:chExt cx="720000" cy="1396107"/>
          </a:xfrm>
        </p:grpSpPr>
        <p:sp>
          <p:nvSpPr>
            <p:cNvPr id="37" name="Oval 36">
              <a:extLst>
                <a:ext uri="{FF2B5EF4-FFF2-40B4-BE49-F238E27FC236}">
                  <a16:creationId xmlns:a16="http://schemas.microsoft.com/office/drawing/2014/main" id="{07FBE3EB-4F4B-D04D-9BC7-8D1583F5258A}"/>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8" name="Oval 37">
              <a:extLst>
                <a:ext uri="{FF2B5EF4-FFF2-40B4-BE49-F238E27FC236}">
                  <a16:creationId xmlns:a16="http://schemas.microsoft.com/office/drawing/2014/main" id="{EA18673F-44FB-EA4D-9B97-14BA444D1C37}"/>
                </a:ext>
              </a:extLst>
            </p:cNvPr>
            <p:cNvSpPr/>
            <p:nvPr/>
          </p:nvSpPr>
          <p:spPr>
            <a:xfrm flipV="1">
              <a:off x="2821286" y="233375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9" name="Straight Connector 38">
              <a:extLst>
                <a:ext uri="{FF2B5EF4-FFF2-40B4-BE49-F238E27FC236}">
                  <a16:creationId xmlns:a16="http://schemas.microsoft.com/office/drawing/2014/main" id="{522E769A-E77B-2A4E-9282-42E5CEB95393}"/>
                </a:ext>
              </a:extLst>
            </p:cNvPr>
            <p:cNvCxnSpPr>
              <a:cxnSpLocks/>
              <a:stCxn id="38" idx="4"/>
              <a:endCxn id="37" idx="0"/>
            </p:cNvCxnSpPr>
            <p:nvPr/>
          </p:nvCxnSpPr>
          <p:spPr>
            <a:xfrm>
              <a:off x="2956286" y="1927649"/>
              <a:ext cx="0" cy="4061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 name="Rectangle 39">
            <a:extLst>
              <a:ext uri="{FF2B5EF4-FFF2-40B4-BE49-F238E27FC236}">
                <a16:creationId xmlns:a16="http://schemas.microsoft.com/office/drawing/2014/main" id="{0C3CBB53-320C-3644-A364-1DBFE2130BEA}"/>
              </a:ext>
            </a:extLst>
          </p:cNvPr>
          <p:cNvSpPr>
            <a:spLocks noChangeAspect="1"/>
          </p:cNvSpPr>
          <p:nvPr/>
        </p:nvSpPr>
        <p:spPr>
          <a:xfrm>
            <a:off x="6260694" y="5216978"/>
            <a:ext cx="720000" cy="7200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C</a:t>
            </a:r>
          </a:p>
        </p:txBody>
      </p:sp>
      <p:sp>
        <p:nvSpPr>
          <p:cNvPr id="41" name="Rectangle 40">
            <a:extLst>
              <a:ext uri="{FF2B5EF4-FFF2-40B4-BE49-F238E27FC236}">
                <a16:creationId xmlns:a16="http://schemas.microsoft.com/office/drawing/2014/main" id="{87CBDC28-A646-7F4C-92B1-5F9B0EB519EF}"/>
              </a:ext>
            </a:extLst>
          </p:cNvPr>
          <p:cNvSpPr>
            <a:spLocks noChangeAspect="1"/>
          </p:cNvSpPr>
          <p:nvPr/>
        </p:nvSpPr>
        <p:spPr>
          <a:xfrm>
            <a:off x="8260307" y="5200305"/>
            <a:ext cx="720000" cy="7200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B</a:t>
            </a:r>
          </a:p>
        </p:txBody>
      </p:sp>
      <p:grpSp>
        <p:nvGrpSpPr>
          <p:cNvPr id="42" name="Group 41">
            <a:extLst>
              <a:ext uri="{FF2B5EF4-FFF2-40B4-BE49-F238E27FC236}">
                <a16:creationId xmlns:a16="http://schemas.microsoft.com/office/drawing/2014/main" id="{BC46A924-A1BD-A04A-9E6A-564AC4402ED3}"/>
              </a:ext>
            </a:extLst>
          </p:cNvPr>
          <p:cNvGrpSpPr/>
          <p:nvPr/>
        </p:nvGrpSpPr>
        <p:grpSpPr>
          <a:xfrm rot="10800000">
            <a:off x="9174217" y="4540871"/>
            <a:ext cx="720000" cy="1396107"/>
            <a:chOff x="2596286" y="1207649"/>
            <a:chExt cx="720000" cy="1396107"/>
          </a:xfrm>
        </p:grpSpPr>
        <p:sp>
          <p:nvSpPr>
            <p:cNvPr id="43" name="Oval 42">
              <a:extLst>
                <a:ext uri="{FF2B5EF4-FFF2-40B4-BE49-F238E27FC236}">
                  <a16:creationId xmlns:a16="http://schemas.microsoft.com/office/drawing/2014/main" id="{027EDEA6-5550-CD43-A729-B93673763F8A}"/>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44" name="Oval 43">
              <a:extLst>
                <a:ext uri="{FF2B5EF4-FFF2-40B4-BE49-F238E27FC236}">
                  <a16:creationId xmlns:a16="http://schemas.microsoft.com/office/drawing/2014/main" id="{B5F1396C-D885-DF42-B55B-428F7155DE55}"/>
                </a:ext>
              </a:extLst>
            </p:cNvPr>
            <p:cNvSpPr/>
            <p:nvPr/>
          </p:nvSpPr>
          <p:spPr>
            <a:xfrm flipV="1">
              <a:off x="2821286" y="233375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45" name="Straight Connector 44">
              <a:extLst>
                <a:ext uri="{FF2B5EF4-FFF2-40B4-BE49-F238E27FC236}">
                  <a16:creationId xmlns:a16="http://schemas.microsoft.com/office/drawing/2014/main" id="{D27E4121-54C9-C143-9F41-7F0AF8232D08}"/>
                </a:ext>
              </a:extLst>
            </p:cNvPr>
            <p:cNvCxnSpPr>
              <a:cxnSpLocks/>
              <a:stCxn id="44" idx="4"/>
              <a:endCxn id="43" idx="0"/>
            </p:cNvCxnSpPr>
            <p:nvPr/>
          </p:nvCxnSpPr>
          <p:spPr>
            <a:xfrm>
              <a:off x="2956286" y="1927649"/>
              <a:ext cx="0" cy="4061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Rectangle 45">
            <a:extLst>
              <a:ext uri="{FF2B5EF4-FFF2-40B4-BE49-F238E27FC236}">
                <a16:creationId xmlns:a16="http://schemas.microsoft.com/office/drawing/2014/main" id="{C4B38D35-DB76-4648-94D7-BBA230703427}"/>
              </a:ext>
            </a:extLst>
          </p:cNvPr>
          <p:cNvSpPr>
            <a:spLocks noChangeAspect="1"/>
          </p:cNvSpPr>
          <p:nvPr/>
        </p:nvSpPr>
        <p:spPr>
          <a:xfrm>
            <a:off x="10082491" y="5228901"/>
            <a:ext cx="720000" cy="7200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A</a:t>
            </a:r>
          </a:p>
        </p:txBody>
      </p:sp>
      <p:sp>
        <p:nvSpPr>
          <p:cNvPr id="47" name="Rectangle 46">
            <a:extLst>
              <a:ext uri="{FF2B5EF4-FFF2-40B4-BE49-F238E27FC236}">
                <a16:creationId xmlns:a16="http://schemas.microsoft.com/office/drawing/2014/main" id="{E0054C8B-8770-2C4F-AF1C-6D05A21F0AF5}"/>
              </a:ext>
            </a:extLst>
          </p:cNvPr>
          <p:cNvSpPr/>
          <p:nvPr/>
        </p:nvSpPr>
        <p:spPr>
          <a:xfrm>
            <a:off x="10082491" y="4299553"/>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P</a:t>
            </a:r>
          </a:p>
        </p:txBody>
      </p:sp>
      <p:sp>
        <p:nvSpPr>
          <p:cNvPr id="48" name="Down Arrow 47">
            <a:extLst>
              <a:ext uri="{FF2B5EF4-FFF2-40B4-BE49-F238E27FC236}">
                <a16:creationId xmlns:a16="http://schemas.microsoft.com/office/drawing/2014/main" id="{6E8470EE-23FB-8148-AEA3-4654916AD08E}"/>
              </a:ext>
            </a:extLst>
          </p:cNvPr>
          <p:cNvSpPr/>
          <p:nvPr/>
        </p:nvSpPr>
        <p:spPr>
          <a:xfrm>
            <a:off x="8128031" y="3523412"/>
            <a:ext cx="704498" cy="471550"/>
          </a:xfrm>
          <a:prstGeom prst="down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21662A3F-15A2-9C40-83E9-A9C758FDD7D5}"/>
                  </a:ext>
                </a:extLst>
              </p:cNvPr>
              <p:cNvSpPr>
                <a:spLocks noChangeAspect="1"/>
              </p:cNvSpPr>
              <p:nvPr/>
            </p:nvSpPr>
            <p:spPr>
              <a:xfrm>
                <a:off x="10902529" y="1857764"/>
                <a:ext cx="720000" cy="7200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l-GR" sz="4000" smtClean="0">
                          <a:solidFill>
                            <a:schemeClr val="tx1"/>
                          </a:solidFill>
                          <a:latin typeface="Cambria Math" panose="02040503050406030204" pitchFamily="18" charset="0"/>
                          <a:ea typeface="Cambria Math" panose="02040503050406030204" pitchFamily="18" charset="0"/>
                        </a:rPr>
                        <m:t>Φ</m:t>
                      </m:r>
                    </m:oMath>
                  </m:oMathPara>
                </a14:m>
                <a:endParaRPr lang="en-US" sz="4000" dirty="0">
                  <a:solidFill>
                    <a:schemeClr val="tx1"/>
                  </a:solidFill>
                  <a:latin typeface="Times" pitchFamily="2" charset="0"/>
                </a:endParaRPr>
              </a:p>
            </p:txBody>
          </p:sp>
        </mc:Choice>
        <mc:Fallback xmlns="">
          <p:sp>
            <p:nvSpPr>
              <p:cNvPr id="49" name="Rectangle 48">
                <a:extLst>
                  <a:ext uri="{FF2B5EF4-FFF2-40B4-BE49-F238E27FC236}">
                    <a16:creationId xmlns:a16="http://schemas.microsoft.com/office/drawing/2014/main" id="{21662A3F-15A2-9C40-83E9-A9C758FDD7D5}"/>
                  </a:ext>
                </a:extLst>
              </p:cNvPr>
              <p:cNvSpPr>
                <a:spLocks noRot="1" noChangeAspect="1" noMove="1" noResize="1" noEditPoints="1" noAdjustHandles="1" noChangeArrowheads="1" noChangeShapeType="1" noTextEdit="1"/>
              </p:cNvSpPr>
              <p:nvPr/>
            </p:nvSpPr>
            <p:spPr>
              <a:xfrm>
                <a:off x="10902529" y="1857764"/>
                <a:ext cx="720000" cy="720000"/>
              </a:xfrm>
              <a:prstGeom prst="rect">
                <a:avLst/>
              </a:prstGeom>
              <a:blipFill>
                <a:blip r:embed="rId7"/>
                <a:stretch>
                  <a:fillRect l="-8475"/>
                </a:stretch>
              </a:blipFill>
            </p:spPr>
            <p:txBody>
              <a:bodyPr/>
              <a:lstStyle/>
              <a:p>
                <a:r>
                  <a:rPr lang="en-US">
                    <a:noFill/>
                  </a:rPr>
                  <a:t> </a:t>
                </a:r>
              </a:p>
            </p:txBody>
          </p:sp>
        </mc:Fallback>
      </mc:AlternateContent>
      <p:sp>
        <p:nvSpPr>
          <p:cNvPr id="50" name="Oval 49">
            <a:extLst>
              <a:ext uri="{FF2B5EF4-FFF2-40B4-BE49-F238E27FC236}">
                <a16:creationId xmlns:a16="http://schemas.microsoft.com/office/drawing/2014/main" id="{41EB33D4-709D-4446-B1C4-F0395C720F7A}"/>
              </a:ext>
            </a:extLst>
          </p:cNvPr>
          <p:cNvSpPr/>
          <p:nvPr/>
        </p:nvSpPr>
        <p:spPr>
          <a:xfrm>
            <a:off x="11130866" y="1182012"/>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51" name="Straight Connector 50">
            <a:extLst>
              <a:ext uri="{FF2B5EF4-FFF2-40B4-BE49-F238E27FC236}">
                <a16:creationId xmlns:a16="http://schemas.microsoft.com/office/drawing/2014/main" id="{3E762236-CB21-6644-8C4D-59DB71DD8DB0}"/>
              </a:ext>
            </a:extLst>
          </p:cNvPr>
          <p:cNvCxnSpPr>
            <a:cxnSpLocks/>
            <a:stCxn id="49" idx="0"/>
            <a:endCxn id="50" idx="4"/>
          </p:cNvCxnSpPr>
          <p:nvPr/>
        </p:nvCxnSpPr>
        <p:spPr>
          <a:xfrm flipV="1">
            <a:off x="11262529" y="1452012"/>
            <a:ext cx="3337" cy="40575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3694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47F850C8-767B-F344-A8B2-39EEED4F410C}"/>
              </a:ext>
            </a:extLst>
          </p:cNvPr>
          <p:cNvCxnSpPr>
            <a:cxnSpLocks/>
            <a:endCxn id="54" idx="4"/>
          </p:cNvCxnSpPr>
          <p:nvPr/>
        </p:nvCxnSpPr>
        <p:spPr>
          <a:xfrm flipV="1">
            <a:off x="2064201" y="2481917"/>
            <a:ext cx="0" cy="14806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8AE4806-BE9C-E840-9FE9-C3F493200026}"/>
              </a:ext>
            </a:extLst>
          </p:cNvPr>
          <p:cNvCxnSpPr>
            <a:cxnSpLocks/>
            <a:stCxn id="31" idx="0"/>
            <a:endCxn id="40" idx="4"/>
          </p:cNvCxnSpPr>
          <p:nvPr/>
        </p:nvCxnSpPr>
        <p:spPr>
          <a:xfrm flipV="1">
            <a:off x="5940309" y="3415268"/>
            <a:ext cx="0" cy="4294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C5F89EA-AF11-9945-AE5C-20BF98B265CF}"/>
              </a:ext>
            </a:extLst>
          </p:cNvPr>
          <p:cNvCxnSpPr>
            <a:cxnSpLocks/>
            <a:stCxn id="37" idx="0"/>
            <a:endCxn id="42" idx="4"/>
          </p:cNvCxnSpPr>
          <p:nvPr/>
        </p:nvCxnSpPr>
        <p:spPr>
          <a:xfrm flipH="1" flipV="1">
            <a:off x="9912756" y="2464036"/>
            <a:ext cx="0" cy="136405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D869796-E387-3446-A6E9-C753D592812E}"/>
              </a:ext>
            </a:extLst>
          </p:cNvPr>
          <p:cNvCxnSpPr>
            <a:cxnSpLocks/>
            <a:endCxn id="49" idx="4"/>
          </p:cNvCxnSpPr>
          <p:nvPr/>
        </p:nvCxnSpPr>
        <p:spPr>
          <a:xfrm flipV="1">
            <a:off x="7933530" y="3428059"/>
            <a:ext cx="0" cy="4294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E995B4E-3CD1-704D-A535-3AB4851789E2}"/>
              </a:ext>
            </a:extLst>
          </p:cNvPr>
          <p:cNvCxnSpPr>
            <a:cxnSpLocks/>
          </p:cNvCxnSpPr>
          <p:nvPr/>
        </p:nvCxnSpPr>
        <p:spPr>
          <a:xfrm>
            <a:off x="5074013" y="2343848"/>
            <a:ext cx="57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F3FBA5C-ADD8-214B-8662-F553611872E5}"/>
              </a:ext>
            </a:extLst>
          </p:cNvPr>
          <p:cNvSpPr>
            <a:spLocks noGrp="1"/>
          </p:cNvSpPr>
          <p:nvPr>
            <p:ph type="title"/>
          </p:nvPr>
        </p:nvSpPr>
        <p:spPr/>
        <p:txBody>
          <a:bodyPr/>
          <a:lstStyle/>
          <a:p>
            <a:r>
              <a:rPr lang="en-US" dirty="0"/>
              <a:t>C</a:t>
            </a:r>
            <a:r>
              <a:rPr lang="en-US" baseline="30000" dirty="0"/>
              <a:t>2</a:t>
            </a:r>
            <a:r>
              <a:rPr lang="en-US" dirty="0"/>
              <a:t>(U) Gate Construction</a:t>
            </a:r>
          </a:p>
        </p:txBody>
      </p:sp>
      <p:sp>
        <p:nvSpPr>
          <p:cNvPr id="3" name="Slide Number Placeholder 2">
            <a:extLst>
              <a:ext uri="{FF2B5EF4-FFF2-40B4-BE49-F238E27FC236}">
                <a16:creationId xmlns:a16="http://schemas.microsoft.com/office/drawing/2014/main" id="{D68183A9-0E67-3C4B-BC66-F86543BF37CA}"/>
              </a:ext>
            </a:extLst>
          </p:cNvPr>
          <p:cNvSpPr>
            <a:spLocks noGrp="1"/>
          </p:cNvSpPr>
          <p:nvPr>
            <p:ph type="sldNum" sz="quarter" idx="12"/>
          </p:nvPr>
        </p:nvSpPr>
        <p:spPr/>
        <p:txBody>
          <a:bodyPr/>
          <a:lstStyle/>
          <a:p>
            <a:fld id="{591A223C-FA10-BC46-A853-03BA373D023C}" type="slidenum">
              <a:rPr lang="en-US" smtClean="0"/>
              <a:t>29</a:t>
            </a:fld>
            <a:endParaRPr lang="en-US"/>
          </a:p>
        </p:txBody>
      </p:sp>
      <p:cxnSp>
        <p:nvCxnSpPr>
          <p:cNvPr id="19" name="Straight Connector 18">
            <a:extLst>
              <a:ext uri="{FF2B5EF4-FFF2-40B4-BE49-F238E27FC236}">
                <a16:creationId xmlns:a16="http://schemas.microsoft.com/office/drawing/2014/main" id="{5598724E-6E5A-5D43-BB6A-2108AB6D8D94}"/>
              </a:ext>
            </a:extLst>
          </p:cNvPr>
          <p:cNvCxnSpPr>
            <a:cxnSpLocks/>
          </p:cNvCxnSpPr>
          <p:nvPr/>
        </p:nvCxnSpPr>
        <p:spPr>
          <a:xfrm>
            <a:off x="1355808" y="4322572"/>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669934-25A5-E449-8C0F-025543B002D2}"/>
              </a:ext>
            </a:extLst>
          </p:cNvPr>
          <p:cNvCxnSpPr>
            <a:cxnSpLocks/>
          </p:cNvCxnSpPr>
          <p:nvPr/>
        </p:nvCxnSpPr>
        <p:spPr>
          <a:xfrm>
            <a:off x="1355808" y="3238201"/>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2791F254-EE40-EA4B-9D50-2EEF32576659}"/>
              </a:ext>
            </a:extLst>
          </p:cNvPr>
          <p:cNvSpPr/>
          <p:nvPr/>
        </p:nvSpPr>
        <p:spPr>
          <a:xfrm>
            <a:off x="1929201" y="3096152"/>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23" name="Rectangle 22">
            <a:extLst>
              <a:ext uri="{FF2B5EF4-FFF2-40B4-BE49-F238E27FC236}">
                <a16:creationId xmlns:a16="http://schemas.microsoft.com/office/drawing/2014/main" id="{1EDCAF18-F7A8-7B41-8ABD-8FE8B1FC66C0}"/>
              </a:ext>
            </a:extLst>
          </p:cNvPr>
          <p:cNvSpPr/>
          <p:nvPr/>
        </p:nvSpPr>
        <p:spPr>
          <a:xfrm>
            <a:off x="1704201" y="3962572"/>
            <a:ext cx="720000" cy="720000"/>
          </a:xfrm>
          <a:prstGeom prst="rect">
            <a:avLst/>
          </a:prstGeom>
          <a:solidFill>
            <a:srgbClr val="9B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U</a:t>
            </a: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93972E7A-1CFB-9046-B7E0-29436250D6EB}"/>
                  </a:ext>
                </a:extLst>
              </p:cNvPr>
              <p:cNvSpPr/>
              <p:nvPr/>
            </p:nvSpPr>
            <p:spPr>
              <a:xfrm>
                <a:off x="3404339" y="2915035"/>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24" name="Rectangle 23">
                <a:extLst>
                  <a:ext uri="{FF2B5EF4-FFF2-40B4-BE49-F238E27FC236}">
                    <a16:creationId xmlns:a16="http://schemas.microsoft.com/office/drawing/2014/main" id="{93972E7A-1CFB-9046-B7E0-29436250D6EB}"/>
                  </a:ext>
                </a:extLst>
              </p:cNvPr>
              <p:cNvSpPr>
                <a:spLocks noRot="1" noChangeAspect="1" noMove="1" noResize="1" noEditPoints="1" noAdjustHandles="1" noChangeArrowheads="1" noChangeShapeType="1" noTextEdit="1"/>
              </p:cNvSpPr>
              <p:nvPr/>
            </p:nvSpPr>
            <p:spPr>
              <a:xfrm>
                <a:off x="3404339" y="2915035"/>
                <a:ext cx="633507" cy="646331"/>
              </a:xfrm>
              <a:prstGeom prst="rect">
                <a:avLst/>
              </a:prstGeom>
              <a:blipFill>
                <a:blip r:embed="rId3"/>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93C22313-6985-1445-ACE3-E19C785B5F25}"/>
              </a:ext>
            </a:extLst>
          </p:cNvPr>
          <p:cNvCxnSpPr>
            <a:cxnSpLocks/>
          </p:cNvCxnSpPr>
          <p:nvPr/>
        </p:nvCxnSpPr>
        <p:spPr>
          <a:xfrm>
            <a:off x="5190418" y="4216687"/>
            <a:ext cx="57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311D70F-17EA-244A-AFCF-80AD5CA12663}"/>
              </a:ext>
            </a:extLst>
          </p:cNvPr>
          <p:cNvCxnSpPr>
            <a:cxnSpLocks/>
          </p:cNvCxnSpPr>
          <p:nvPr/>
        </p:nvCxnSpPr>
        <p:spPr>
          <a:xfrm>
            <a:off x="5074013" y="3288129"/>
            <a:ext cx="57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70F5E1C0-1C69-B446-BC5E-24D8C16BC18D}"/>
              </a:ext>
            </a:extLst>
          </p:cNvPr>
          <p:cNvGrpSpPr/>
          <p:nvPr/>
        </p:nvGrpSpPr>
        <p:grpSpPr>
          <a:xfrm rot="10800000">
            <a:off x="6482262" y="2208849"/>
            <a:ext cx="720000" cy="1396107"/>
            <a:chOff x="2596286" y="1207649"/>
            <a:chExt cx="720000" cy="1396107"/>
          </a:xfrm>
        </p:grpSpPr>
        <p:sp>
          <p:nvSpPr>
            <p:cNvPr id="28" name="Oval 27">
              <a:extLst>
                <a:ext uri="{FF2B5EF4-FFF2-40B4-BE49-F238E27FC236}">
                  <a16:creationId xmlns:a16="http://schemas.microsoft.com/office/drawing/2014/main" id="{266A6014-CACB-8542-8F4A-4DD544861AB0}"/>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9" name="Oval 28">
              <a:extLst>
                <a:ext uri="{FF2B5EF4-FFF2-40B4-BE49-F238E27FC236}">
                  <a16:creationId xmlns:a16="http://schemas.microsoft.com/office/drawing/2014/main" id="{230A43DE-3DFB-4C4E-8355-AF7DC553B10E}"/>
                </a:ext>
              </a:extLst>
            </p:cNvPr>
            <p:cNvSpPr/>
            <p:nvPr/>
          </p:nvSpPr>
          <p:spPr>
            <a:xfrm flipV="1">
              <a:off x="2821286" y="233375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0" name="Straight Connector 29">
              <a:extLst>
                <a:ext uri="{FF2B5EF4-FFF2-40B4-BE49-F238E27FC236}">
                  <a16:creationId xmlns:a16="http://schemas.microsoft.com/office/drawing/2014/main" id="{92F67E9D-1E8B-F74E-89E8-90B69AA4BF7B}"/>
                </a:ext>
              </a:extLst>
            </p:cNvPr>
            <p:cNvCxnSpPr>
              <a:cxnSpLocks/>
              <a:stCxn id="29" idx="4"/>
              <a:endCxn id="28" idx="0"/>
            </p:cNvCxnSpPr>
            <p:nvPr/>
          </p:nvCxnSpPr>
          <p:spPr>
            <a:xfrm>
              <a:off x="2956286" y="1927649"/>
              <a:ext cx="0" cy="4061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Rectangle 30">
            <a:extLst>
              <a:ext uri="{FF2B5EF4-FFF2-40B4-BE49-F238E27FC236}">
                <a16:creationId xmlns:a16="http://schemas.microsoft.com/office/drawing/2014/main" id="{8A6DF0D7-BAB6-FB4D-85AD-F0D0F27E61DF}"/>
              </a:ext>
            </a:extLst>
          </p:cNvPr>
          <p:cNvSpPr>
            <a:spLocks noChangeAspect="1"/>
          </p:cNvSpPr>
          <p:nvPr/>
        </p:nvSpPr>
        <p:spPr>
          <a:xfrm>
            <a:off x="5580309" y="3844764"/>
            <a:ext cx="720000" cy="7200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V</a:t>
            </a:r>
          </a:p>
        </p:txBody>
      </p:sp>
      <p:sp>
        <p:nvSpPr>
          <p:cNvPr id="32" name="Rectangle 31">
            <a:extLst>
              <a:ext uri="{FF2B5EF4-FFF2-40B4-BE49-F238E27FC236}">
                <a16:creationId xmlns:a16="http://schemas.microsoft.com/office/drawing/2014/main" id="{5528B53F-0E64-D446-B800-6305D14C9FAB}"/>
              </a:ext>
            </a:extLst>
          </p:cNvPr>
          <p:cNvSpPr>
            <a:spLocks noChangeAspect="1"/>
          </p:cNvSpPr>
          <p:nvPr/>
        </p:nvSpPr>
        <p:spPr>
          <a:xfrm>
            <a:off x="7579922" y="3828091"/>
            <a:ext cx="720000" cy="7200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V</a:t>
            </a:r>
            <a:r>
              <a:rPr lang="en-US" sz="4000" baseline="30000" dirty="0">
                <a:solidFill>
                  <a:schemeClr val="tx1"/>
                </a:solidFill>
                <a:latin typeface="Times" pitchFamily="2" charset="0"/>
              </a:rPr>
              <a:t>†</a:t>
            </a:r>
          </a:p>
        </p:txBody>
      </p:sp>
      <p:grpSp>
        <p:nvGrpSpPr>
          <p:cNvPr id="33" name="Group 32">
            <a:extLst>
              <a:ext uri="{FF2B5EF4-FFF2-40B4-BE49-F238E27FC236}">
                <a16:creationId xmlns:a16="http://schemas.microsoft.com/office/drawing/2014/main" id="{F39CACB3-2CF0-9D4C-B128-3573DEF99657}"/>
              </a:ext>
            </a:extLst>
          </p:cNvPr>
          <p:cNvGrpSpPr/>
          <p:nvPr/>
        </p:nvGrpSpPr>
        <p:grpSpPr>
          <a:xfrm rot="10800000">
            <a:off x="8497241" y="2204496"/>
            <a:ext cx="720000" cy="1396107"/>
            <a:chOff x="2596286" y="1207649"/>
            <a:chExt cx="720000" cy="1396107"/>
          </a:xfrm>
        </p:grpSpPr>
        <p:sp>
          <p:nvSpPr>
            <p:cNvPr id="34" name="Oval 33">
              <a:extLst>
                <a:ext uri="{FF2B5EF4-FFF2-40B4-BE49-F238E27FC236}">
                  <a16:creationId xmlns:a16="http://schemas.microsoft.com/office/drawing/2014/main" id="{5F7CA87D-E232-6849-BDFF-3F01C8862BA9}"/>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5" name="Oval 34">
              <a:extLst>
                <a:ext uri="{FF2B5EF4-FFF2-40B4-BE49-F238E27FC236}">
                  <a16:creationId xmlns:a16="http://schemas.microsoft.com/office/drawing/2014/main" id="{E3DD31FF-08BB-594B-A66E-E054414E0CEF}"/>
                </a:ext>
              </a:extLst>
            </p:cNvPr>
            <p:cNvSpPr/>
            <p:nvPr/>
          </p:nvSpPr>
          <p:spPr>
            <a:xfrm flipV="1">
              <a:off x="2821286" y="233375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6" name="Straight Connector 35">
              <a:extLst>
                <a:ext uri="{FF2B5EF4-FFF2-40B4-BE49-F238E27FC236}">
                  <a16:creationId xmlns:a16="http://schemas.microsoft.com/office/drawing/2014/main" id="{5A4A726A-D4A1-594F-B571-E8DA0433C844}"/>
                </a:ext>
              </a:extLst>
            </p:cNvPr>
            <p:cNvCxnSpPr>
              <a:cxnSpLocks/>
              <a:stCxn id="35" idx="4"/>
              <a:endCxn id="34" idx="0"/>
            </p:cNvCxnSpPr>
            <p:nvPr/>
          </p:nvCxnSpPr>
          <p:spPr>
            <a:xfrm>
              <a:off x="2956286" y="1927649"/>
              <a:ext cx="0" cy="4061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Rectangle 36">
            <a:extLst>
              <a:ext uri="{FF2B5EF4-FFF2-40B4-BE49-F238E27FC236}">
                <a16:creationId xmlns:a16="http://schemas.microsoft.com/office/drawing/2014/main" id="{F3A6E179-11B6-144B-A92B-0803C17DEFE5}"/>
              </a:ext>
            </a:extLst>
          </p:cNvPr>
          <p:cNvSpPr>
            <a:spLocks noChangeAspect="1"/>
          </p:cNvSpPr>
          <p:nvPr/>
        </p:nvSpPr>
        <p:spPr>
          <a:xfrm>
            <a:off x="9579535" y="3828091"/>
            <a:ext cx="720000" cy="7200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V</a:t>
            </a:r>
          </a:p>
        </p:txBody>
      </p:sp>
      <p:sp>
        <p:nvSpPr>
          <p:cNvPr id="40" name="Oval 39">
            <a:extLst>
              <a:ext uri="{FF2B5EF4-FFF2-40B4-BE49-F238E27FC236}">
                <a16:creationId xmlns:a16="http://schemas.microsoft.com/office/drawing/2014/main" id="{526773E2-596D-3249-BFCA-05D010A011D1}"/>
              </a:ext>
            </a:extLst>
          </p:cNvPr>
          <p:cNvSpPr/>
          <p:nvPr/>
        </p:nvSpPr>
        <p:spPr>
          <a:xfrm>
            <a:off x="5808505" y="3145268"/>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42" name="Oval 41">
            <a:extLst>
              <a:ext uri="{FF2B5EF4-FFF2-40B4-BE49-F238E27FC236}">
                <a16:creationId xmlns:a16="http://schemas.microsoft.com/office/drawing/2014/main" id="{A99CEEC9-773B-9A46-B7B2-2BC661ABA9CE}"/>
              </a:ext>
            </a:extLst>
          </p:cNvPr>
          <p:cNvSpPr/>
          <p:nvPr/>
        </p:nvSpPr>
        <p:spPr>
          <a:xfrm>
            <a:off x="9777756" y="219403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49" name="Oval 48">
            <a:extLst>
              <a:ext uri="{FF2B5EF4-FFF2-40B4-BE49-F238E27FC236}">
                <a16:creationId xmlns:a16="http://schemas.microsoft.com/office/drawing/2014/main" id="{79BDA864-7FCA-EB46-BDA3-9509DD3F5A49}"/>
              </a:ext>
            </a:extLst>
          </p:cNvPr>
          <p:cNvSpPr/>
          <p:nvPr/>
        </p:nvSpPr>
        <p:spPr>
          <a:xfrm>
            <a:off x="7801726" y="3158059"/>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53" name="Straight Connector 52">
            <a:extLst>
              <a:ext uri="{FF2B5EF4-FFF2-40B4-BE49-F238E27FC236}">
                <a16:creationId xmlns:a16="http://schemas.microsoft.com/office/drawing/2014/main" id="{AB05EA7F-95CD-F147-BBA7-D9003BF7083D}"/>
              </a:ext>
            </a:extLst>
          </p:cNvPr>
          <p:cNvCxnSpPr>
            <a:cxnSpLocks/>
          </p:cNvCxnSpPr>
          <p:nvPr/>
        </p:nvCxnSpPr>
        <p:spPr>
          <a:xfrm>
            <a:off x="1355807" y="2346917"/>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73D0B3CC-6A20-EC4A-B52B-5505F0D7FB5F}"/>
              </a:ext>
            </a:extLst>
          </p:cNvPr>
          <p:cNvSpPr/>
          <p:nvPr/>
        </p:nvSpPr>
        <p:spPr>
          <a:xfrm>
            <a:off x="1929201" y="2211917"/>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A041C19B-641B-0940-AFCD-F0CC0593A900}"/>
                  </a:ext>
                </a:extLst>
              </p:cNvPr>
              <p:cNvSpPr txBox="1"/>
              <p:nvPr/>
            </p:nvSpPr>
            <p:spPr>
              <a:xfrm>
                <a:off x="3103257" y="2580522"/>
                <a:ext cx="139890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𝑈</m:t>
                      </m:r>
                      <m:r>
                        <a:rPr lang="sr-Latn-RS" sz="2800" b="0" i="1" smtClean="0">
                          <a:latin typeface="Cambria Math" panose="02040503050406030204" pitchFamily="18" charset="0"/>
                        </a:rPr>
                        <m:t>=</m:t>
                      </m:r>
                      <m:sSup>
                        <m:sSupPr>
                          <m:ctrlPr>
                            <a:rPr lang="sr-Latn-RS" sz="2800" b="0" i="1" smtClean="0">
                              <a:latin typeface="Cambria Math" panose="02040503050406030204" pitchFamily="18" charset="0"/>
                            </a:rPr>
                          </m:ctrlPr>
                        </m:sSupPr>
                        <m:e>
                          <m:r>
                            <a:rPr lang="sr-Latn-RS" sz="2800" b="0" i="1" smtClean="0">
                              <a:latin typeface="Cambria Math" panose="02040503050406030204" pitchFamily="18" charset="0"/>
                            </a:rPr>
                            <m:t>𝑉</m:t>
                          </m:r>
                        </m:e>
                        <m:sup>
                          <m:r>
                            <a:rPr lang="sr-Latn-RS" sz="2800" b="0" i="1" smtClean="0">
                              <a:latin typeface="Cambria Math" panose="02040503050406030204" pitchFamily="18" charset="0"/>
                            </a:rPr>
                            <m:t>2</m:t>
                          </m:r>
                        </m:sup>
                      </m:sSup>
                    </m:oMath>
                  </m:oMathPara>
                </a14:m>
                <a:endParaRPr lang="en-US" sz="2800" dirty="0"/>
              </a:p>
            </p:txBody>
          </p:sp>
        </mc:Choice>
        <mc:Fallback xmlns="">
          <p:sp>
            <p:nvSpPr>
              <p:cNvPr id="56" name="TextBox 55">
                <a:extLst>
                  <a:ext uri="{FF2B5EF4-FFF2-40B4-BE49-F238E27FC236}">
                    <a16:creationId xmlns:a16="http://schemas.microsoft.com/office/drawing/2014/main" id="{A041C19B-641B-0940-AFCD-F0CC0593A900}"/>
                  </a:ext>
                </a:extLst>
              </p:cNvPr>
              <p:cNvSpPr txBox="1">
                <a:spLocks noRot="1" noChangeAspect="1" noMove="1" noResize="1" noEditPoints="1" noAdjustHandles="1" noChangeArrowheads="1" noChangeShapeType="1" noTextEdit="1"/>
              </p:cNvSpPr>
              <p:nvPr/>
            </p:nvSpPr>
            <p:spPr>
              <a:xfrm>
                <a:off x="3103257" y="2580522"/>
                <a:ext cx="1398909"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FB19D634-90CD-4043-8773-D0E90EAAA28E}"/>
                  </a:ext>
                </a:extLst>
              </p:cNvPr>
              <p:cNvSpPr/>
              <p:nvPr/>
            </p:nvSpPr>
            <p:spPr>
              <a:xfrm>
                <a:off x="777071" y="2076885"/>
                <a:ext cx="651653" cy="9541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sr-Latn-RS" sz="2800" b="0" i="1" smtClean="0">
                              <a:latin typeface="Cambria Math" panose="02040503050406030204" pitchFamily="18" charset="0"/>
                            </a:rPr>
                            <m:t>𝑐</m:t>
                          </m:r>
                        </m:e>
                        <m:sub>
                          <m:r>
                            <a:rPr lang="en-US" sz="2800" i="1">
                              <a:latin typeface="Cambria Math" panose="02040503050406030204" pitchFamily="18" charset="0"/>
                            </a:rPr>
                            <m:t>1</m:t>
                          </m:r>
                        </m:sub>
                      </m:sSub>
                    </m:oMath>
                  </m:oMathPara>
                </a14:m>
                <a:endParaRPr lang="en-US" sz="2800" dirty="0"/>
              </a:p>
              <a:p>
                <a:endParaRPr lang="en-US" sz="2800" dirty="0"/>
              </a:p>
            </p:txBody>
          </p:sp>
        </mc:Choice>
        <mc:Fallback xmlns="">
          <p:sp>
            <p:nvSpPr>
              <p:cNvPr id="57" name="Rectangle 56">
                <a:extLst>
                  <a:ext uri="{FF2B5EF4-FFF2-40B4-BE49-F238E27FC236}">
                    <a16:creationId xmlns:a16="http://schemas.microsoft.com/office/drawing/2014/main" id="{FB19D634-90CD-4043-8773-D0E90EAAA28E}"/>
                  </a:ext>
                </a:extLst>
              </p:cNvPr>
              <p:cNvSpPr>
                <a:spLocks noRot="1" noChangeAspect="1" noMove="1" noResize="1" noEditPoints="1" noAdjustHandles="1" noChangeArrowheads="1" noChangeShapeType="1" noTextEdit="1"/>
              </p:cNvSpPr>
              <p:nvPr/>
            </p:nvSpPr>
            <p:spPr>
              <a:xfrm>
                <a:off x="777071" y="2076885"/>
                <a:ext cx="651653" cy="95410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A4BDC52D-5BF2-C646-97FE-BD61E1890118}"/>
                  </a:ext>
                </a:extLst>
              </p:cNvPr>
              <p:cNvSpPr/>
              <p:nvPr/>
            </p:nvSpPr>
            <p:spPr>
              <a:xfrm>
                <a:off x="780630" y="2833154"/>
                <a:ext cx="58990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sr-Latn-RS" sz="2800" b="0" i="1" smtClean="0">
                              <a:latin typeface="Cambria Math" panose="02040503050406030204" pitchFamily="18" charset="0"/>
                            </a:rPr>
                            <m:t>𝑐</m:t>
                          </m:r>
                        </m:e>
                        <m:sub>
                          <m:r>
                            <a:rPr lang="sr-Latn-RS" sz="2800" b="0" i="1" smtClean="0">
                              <a:latin typeface="Cambria Math" panose="02040503050406030204" pitchFamily="18" charset="0"/>
                            </a:rPr>
                            <m:t>2</m:t>
                          </m:r>
                        </m:sub>
                      </m:sSub>
                    </m:oMath>
                  </m:oMathPara>
                </a14:m>
                <a:endParaRPr lang="en-US" sz="2800" dirty="0"/>
              </a:p>
            </p:txBody>
          </p:sp>
        </mc:Choice>
        <mc:Fallback xmlns="">
          <p:sp>
            <p:nvSpPr>
              <p:cNvPr id="58" name="Rectangle 57">
                <a:extLst>
                  <a:ext uri="{FF2B5EF4-FFF2-40B4-BE49-F238E27FC236}">
                    <a16:creationId xmlns:a16="http://schemas.microsoft.com/office/drawing/2014/main" id="{A4BDC52D-5BF2-C646-97FE-BD61E1890118}"/>
                  </a:ext>
                </a:extLst>
              </p:cNvPr>
              <p:cNvSpPr>
                <a:spLocks noRot="1" noChangeAspect="1" noMove="1" noResize="1" noEditPoints="1" noAdjustHandles="1" noChangeArrowheads="1" noChangeShapeType="1" noTextEdit="1"/>
              </p:cNvSpPr>
              <p:nvPr/>
            </p:nvSpPr>
            <p:spPr>
              <a:xfrm>
                <a:off x="780630" y="2833154"/>
                <a:ext cx="589905"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C00E7D03-0491-104B-9DCD-FB7C10F03FE3}"/>
                  </a:ext>
                </a:extLst>
              </p:cNvPr>
              <p:cNvSpPr/>
              <p:nvPr/>
            </p:nvSpPr>
            <p:spPr>
              <a:xfrm>
                <a:off x="796705" y="3955077"/>
                <a:ext cx="41626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𝑡</m:t>
                      </m:r>
                    </m:oMath>
                  </m:oMathPara>
                </a14:m>
                <a:endParaRPr lang="en-US" sz="2800" dirty="0"/>
              </a:p>
            </p:txBody>
          </p:sp>
        </mc:Choice>
        <mc:Fallback xmlns="">
          <p:sp>
            <p:nvSpPr>
              <p:cNvPr id="59" name="Rectangle 58">
                <a:extLst>
                  <a:ext uri="{FF2B5EF4-FFF2-40B4-BE49-F238E27FC236}">
                    <a16:creationId xmlns:a16="http://schemas.microsoft.com/office/drawing/2014/main" id="{C00E7D03-0491-104B-9DCD-FB7C10F03FE3}"/>
                  </a:ext>
                </a:extLst>
              </p:cNvPr>
              <p:cNvSpPr>
                <a:spLocks noRot="1" noChangeAspect="1" noMove="1" noResize="1" noEditPoints="1" noAdjustHandles="1" noChangeArrowheads="1" noChangeShapeType="1" noTextEdit="1"/>
              </p:cNvSpPr>
              <p:nvPr/>
            </p:nvSpPr>
            <p:spPr>
              <a:xfrm>
                <a:off x="796705" y="3955077"/>
                <a:ext cx="416268"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Rectangle 91">
                <a:extLst>
                  <a:ext uri="{FF2B5EF4-FFF2-40B4-BE49-F238E27FC236}">
                    <a16:creationId xmlns:a16="http://schemas.microsoft.com/office/drawing/2014/main" id="{02E989F5-A59F-5D47-95B9-D3E6613926D2}"/>
                  </a:ext>
                </a:extLst>
              </p:cNvPr>
              <p:cNvSpPr/>
              <p:nvPr/>
            </p:nvSpPr>
            <p:spPr>
              <a:xfrm>
                <a:off x="4534738" y="1979363"/>
                <a:ext cx="651653" cy="9541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sr-Latn-RS" sz="2800" b="0" i="1" smtClean="0">
                              <a:latin typeface="Cambria Math" panose="02040503050406030204" pitchFamily="18" charset="0"/>
                            </a:rPr>
                            <m:t>𝑐</m:t>
                          </m:r>
                        </m:e>
                        <m:sub>
                          <m:r>
                            <a:rPr lang="en-US" sz="2800" i="1">
                              <a:latin typeface="Cambria Math" panose="02040503050406030204" pitchFamily="18" charset="0"/>
                            </a:rPr>
                            <m:t>1</m:t>
                          </m:r>
                        </m:sub>
                      </m:sSub>
                    </m:oMath>
                  </m:oMathPara>
                </a14:m>
                <a:endParaRPr lang="en-US" sz="2800" dirty="0"/>
              </a:p>
              <a:p>
                <a:endParaRPr lang="en-US" sz="2800" dirty="0"/>
              </a:p>
            </p:txBody>
          </p:sp>
        </mc:Choice>
        <mc:Fallback xmlns="">
          <p:sp>
            <p:nvSpPr>
              <p:cNvPr id="92" name="Rectangle 91">
                <a:extLst>
                  <a:ext uri="{FF2B5EF4-FFF2-40B4-BE49-F238E27FC236}">
                    <a16:creationId xmlns:a16="http://schemas.microsoft.com/office/drawing/2014/main" id="{02E989F5-A59F-5D47-95B9-D3E6613926D2}"/>
                  </a:ext>
                </a:extLst>
              </p:cNvPr>
              <p:cNvSpPr>
                <a:spLocks noRot="1" noChangeAspect="1" noMove="1" noResize="1" noEditPoints="1" noAdjustHandles="1" noChangeArrowheads="1" noChangeShapeType="1" noTextEdit="1"/>
              </p:cNvSpPr>
              <p:nvPr/>
            </p:nvSpPr>
            <p:spPr>
              <a:xfrm>
                <a:off x="4534738" y="1979363"/>
                <a:ext cx="651653" cy="95410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Rectangle 92">
                <a:extLst>
                  <a:ext uri="{FF2B5EF4-FFF2-40B4-BE49-F238E27FC236}">
                    <a16:creationId xmlns:a16="http://schemas.microsoft.com/office/drawing/2014/main" id="{F7C56ADC-7D25-CC42-B9EC-CCE8F2A03B08}"/>
                  </a:ext>
                </a:extLst>
              </p:cNvPr>
              <p:cNvSpPr/>
              <p:nvPr/>
            </p:nvSpPr>
            <p:spPr>
              <a:xfrm>
                <a:off x="4538297" y="2735632"/>
                <a:ext cx="58990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sr-Latn-RS" sz="2800" b="0" i="1" smtClean="0">
                              <a:latin typeface="Cambria Math" panose="02040503050406030204" pitchFamily="18" charset="0"/>
                            </a:rPr>
                            <m:t>𝑐</m:t>
                          </m:r>
                        </m:e>
                        <m:sub>
                          <m:r>
                            <a:rPr lang="sr-Latn-RS" sz="2800" b="0" i="1" smtClean="0">
                              <a:latin typeface="Cambria Math" panose="02040503050406030204" pitchFamily="18" charset="0"/>
                            </a:rPr>
                            <m:t>2</m:t>
                          </m:r>
                        </m:sub>
                      </m:sSub>
                    </m:oMath>
                  </m:oMathPara>
                </a14:m>
                <a:endParaRPr lang="en-US" sz="2800" dirty="0"/>
              </a:p>
            </p:txBody>
          </p:sp>
        </mc:Choice>
        <mc:Fallback xmlns="">
          <p:sp>
            <p:nvSpPr>
              <p:cNvPr id="93" name="Rectangle 92">
                <a:extLst>
                  <a:ext uri="{FF2B5EF4-FFF2-40B4-BE49-F238E27FC236}">
                    <a16:creationId xmlns:a16="http://schemas.microsoft.com/office/drawing/2014/main" id="{F7C56ADC-7D25-CC42-B9EC-CCE8F2A03B08}"/>
                  </a:ext>
                </a:extLst>
              </p:cNvPr>
              <p:cNvSpPr>
                <a:spLocks noRot="1" noChangeAspect="1" noMove="1" noResize="1" noEditPoints="1" noAdjustHandles="1" noChangeArrowheads="1" noChangeShapeType="1" noTextEdit="1"/>
              </p:cNvSpPr>
              <p:nvPr/>
            </p:nvSpPr>
            <p:spPr>
              <a:xfrm>
                <a:off x="4538297" y="2735632"/>
                <a:ext cx="589905"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Rectangle 93">
                <a:extLst>
                  <a:ext uri="{FF2B5EF4-FFF2-40B4-BE49-F238E27FC236}">
                    <a16:creationId xmlns:a16="http://schemas.microsoft.com/office/drawing/2014/main" id="{4F8D1B65-17AC-B548-B5D9-9726DAFAA67D}"/>
                  </a:ext>
                </a:extLst>
              </p:cNvPr>
              <p:cNvSpPr/>
              <p:nvPr/>
            </p:nvSpPr>
            <p:spPr>
              <a:xfrm>
                <a:off x="4608159" y="3857555"/>
                <a:ext cx="41626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𝑡</m:t>
                      </m:r>
                    </m:oMath>
                  </m:oMathPara>
                </a14:m>
                <a:endParaRPr lang="en-US" sz="2800" dirty="0"/>
              </a:p>
            </p:txBody>
          </p:sp>
        </mc:Choice>
        <mc:Fallback xmlns="">
          <p:sp>
            <p:nvSpPr>
              <p:cNvPr id="94" name="Rectangle 93">
                <a:extLst>
                  <a:ext uri="{FF2B5EF4-FFF2-40B4-BE49-F238E27FC236}">
                    <a16:creationId xmlns:a16="http://schemas.microsoft.com/office/drawing/2014/main" id="{4F8D1B65-17AC-B548-B5D9-9726DAFAA67D}"/>
                  </a:ext>
                </a:extLst>
              </p:cNvPr>
              <p:cNvSpPr>
                <a:spLocks noRot="1" noChangeAspect="1" noMove="1" noResize="1" noEditPoints="1" noAdjustHandles="1" noChangeArrowheads="1" noChangeShapeType="1" noTextEdit="1"/>
              </p:cNvSpPr>
              <p:nvPr/>
            </p:nvSpPr>
            <p:spPr>
              <a:xfrm>
                <a:off x="4608159" y="3857555"/>
                <a:ext cx="416268" cy="523220"/>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545073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47F850C8-767B-F344-A8B2-39EEED4F410C}"/>
              </a:ext>
            </a:extLst>
          </p:cNvPr>
          <p:cNvCxnSpPr>
            <a:cxnSpLocks/>
            <a:endCxn id="54" idx="4"/>
          </p:cNvCxnSpPr>
          <p:nvPr/>
        </p:nvCxnSpPr>
        <p:spPr>
          <a:xfrm flipV="1">
            <a:off x="2299270" y="3413251"/>
            <a:ext cx="0" cy="14806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8AE4806-BE9C-E840-9FE9-C3F493200026}"/>
              </a:ext>
            </a:extLst>
          </p:cNvPr>
          <p:cNvCxnSpPr>
            <a:cxnSpLocks/>
            <a:stCxn id="31" idx="0"/>
            <a:endCxn id="40" idx="4"/>
          </p:cNvCxnSpPr>
          <p:nvPr/>
        </p:nvCxnSpPr>
        <p:spPr>
          <a:xfrm flipV="1">
            <a:off x="5906443" y="4346602"/>
            <a:ext cx="0" cy="4294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C5F89EA-AF11-9945-AE5C-20BF98B265CF}"/>
              </a:ext>
            </a:extLst>
          </p:cNvPr>
          <p:cNvCxnSpPr>
            <a:cxnSpLocks/>
            <a:stCxn id="37" idx="0"/>
            <a:endCxn id="42" idx="4"/>
          </p:cNvCxnSpPr>
          <p:nvPr/>
        </p:nvCxnSpPr>
        <p:spPr>
          <a:xfrm flipH="1" flipV="1">
            <a:off x="9878890" y="3395370"/>
            <a:ext cx="0" cy="136405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D869796-E387-3446-A6E9-C753D592812E}"/>
              </a:ext>
            </a:extLst>
          </p:cNvPr>
          <p:cNvCxnSpPr>
            <a:cxnSpLocks/>
            <a:endCxn id="49" idx="4"/>
          </p:cNvCxnSpPr>
          <p:nvPr/>
        </p:nvCxnSpPr>
        <p:spPr>
          <a:xfrm flipV="1">
            <a:off x="7899664" y="4359393"/>
            <a:ext cx="0" cy="4294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E995B4E-3CD1-704D-A535-3AB4851789E2}"/>
              </a:ext>
            </a:extLst>
          </p:cNvPr>
          <p:cNvCxnSpPr>
            <a:cxnSpLocks/>
          </p:cNvCxnSpPr>
          <p:nvPr/>
        </p:nvCxnSpPr>
        <p:spPr>
          <a:xfrm>
            <a:off x="5040147" y="3275182"/>
            <a:ext cx="57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F3FBA5C-ADD8-214B-8662-F553611872E5}"/>
              </a:ext>
            </a:extLst>
          </p:cNvPr>
          <p:cNvSpPr>
            <a:spLocks noGrp="1"/>
          </p:cNvSpPr>
          <p:nvPr>
            <p:ph type="title"/>
          </p:nvPr>
        </p:nvSpPr>
        <p:spPr/>
        <p:txBody>
          <a:bodyPr/>
          <a:lstStyle/>
          <a:p>
            <a:r>
              <a:rPr lang="en-US" dirty="0"/>
              <a:t>C</a:t>
            </a:r>
            <a:r>
              <a:rPr lang="en-US" baseline="30000" dirty="0"/>
              <a:t>n-1</a:t>
            </a:r>
            <a:r>
              <a:rPr lang="en-US" dirty="0"/>
              <a:t>(U) Gate Construction</a:t>
            </a:r>
          </a:p>
        </p:txBody>
      </p:sp>
      <p:sp>
        <p:nvSpPr>
          <p:cNvPr id="3" name="Slide Number Placeholder 2">
            <a:extLst>
              <a:ext uri="{FF2B5EF4-FFF2-40B4-BE49-F238E27FC236}">
                <a16:creationId xmlns:a16="http://schemas.microsoft.com/office/drawing/2014/main" id="{D68183A9-0E67-3C4B-BC66-F86543BF37CA}"/>
              </a:ext>
            </a:extLst>
          </p:cNvPr>
          <p:cNvSpPr>
            <a:spLocks noGrp="1"/>
          </p:cNvSpPr>
          <p:nvPr>
            <p:ph type="sldNum" sz="quarter" idx="12"/>
          </p:nvPr>
        </p:nvSpPr>
        <p:spPr/>
        <p:txBody>
          <a:bodyPr/>
          <a:lstStyle/>
          <a:p>
            <a:fld id="{591A223C-FA10-BC46-A853-03BA373D023C}" type="slidenum">
              <a:rPr lang="en-US" smtClean="0"/>
              <a:t>30</a:t>
            </a:fld>
            <a:endParaRPr lang="en-US"/>
          </a:p>
        </p:txBody>
      </p:sp>
      <p:cxnSp>
        <p:nvCxnSpPr>
          <p:cNvPr id="19" name="Straight Connector 18">
            <a:extLst>
              <a:ext uri="{FF2B5EF4-FFF2-40B4-BE49-F238E27FC236}">
                <a16:creationId xmlns:a16="http://schemas.microsoft.com/office/drawing/2014/main" id="{5598724E-6E5A-5D43-BB6A-2108AB6D8D94}"/>
              </a:ext>
            </a:extLst>
          </p:cNvPr>
          <p:cNvCxnSpPr>
            <a:cxnSpLocks/>
          </p:cNvCxnSpPr>
          <p:nvPr/>
        </p:nvCxnSpPr>
        <p:spPr>
          <a:xfrm>
            <a:off x="1590877" y="5253906"/>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669934-25A5-E449-8C0F-025543B002D2}"/>
              </a:ext>
            </a:extLst>
          </p:cNvPr>
          <p:cNvCxnSpPr>
            <a:cxnSpLocks/>
          </p:cNvCxnSpPr>
          <p:nvPr/>
        </p:nvCxnSpPr>
        <p:spPr>
          <a:xfrm>
            <a:off x="1590877" y="4169535"/>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2791F254-EE40-EA4B-9D50-2EEF32576659}"/>
              </a:ext>
            </a:extLst>
          </p:cNvPr>
          <p:cNvSpPr/>
          <p:nvPr/>
        </p:nvSpPr>
        <p:spPr>
          <a:xfrm>
            <a:off x="2164270" y="402748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23" name="Rectangle 22">
            <a:extLst>
              <a:ext uri="{FF2B5EF4-FFF2-40B4-BE49-F238E27FC236}">
                <a16:creationId xmlns:a16="http://schemas.microsoft.com/office/drawing/2014/main" id="{1EDCAF18-F7A8-7B41-8ABD-8FE8B1FC66C0}"/>
              </a:ext>
            </a:extLst>
          </p:cNvPr>
          <p:cNvSpPr/>
          <p:nvPr/>
        </p:nvSpPr>
        <p:spPr>
          <a:xfrm>
            <a:off x="1939270" y="4893906"/>
            <a:ext cx="720000" cy="720000"/>
          </a:xfrm>
          <a:prstGeom prst="rect">
            <a:avLst/>
          </a:prstGeom>
          <a:solidFill>
            <a:srgbClr val="9B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U</a:t>
            </a: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93972E7A-1CFB-9046-B7E0-29436250D6EB}"/>
                  </a:ext>
                </a:extLst>
              </p:cNvPr>
              <p:cNvSpPr/>
              <p:nvPr/>
            </p:nvSpPr>
            <p:spPr>
              <a:xfrm>
                <a:off x="3659037" y="2962552"/>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24" name="Rectangle 23">
                <a:extLst>
                  <a:ext uri="{FF2B5EF4-FFF2-40B4-BE49-F238E27FC236}">
                    <a16:creationId xmlns:a16="http://schemas.microsoft.com/office/drawing/2014/main" id="{93972E7A-1CFB-9046-B7E0-29436250D6EB}"/>
                  </a:ext>
                </a:extLst>
              </p:cNvPr>
              <p:cNvSpPr>
                <a:spLocks noRot="1" noChangeAspect="1" noMove="1" noResize="1" noEditPoints="1" noAdjustHandles="1" noChangeArrowheads="1" noChangeShapeType="1" noTextEdit="1"/>
              </p:cNvSpPr>
              <p:nvPr/>
            </p:nvSpPr>
            <p:spPr>
              <a:xfrm>
                <a:off x="3659037" y="2962552"/>
                <a:ext cx="633507" cy="646331"/>
              </a:xfrm>
              <a:prstGeom prst="rect">
                <a:avLst/>
              </a:prstGeom>
              <a:blipFill>
                <a:blip r:embed="rId3"/>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93C22313-6985-1445-ACE3-E19C785B5F25}"/>
              </a:ext>
            </a:extLst>
          </p:cNvPr>
          <p:cNvCxnSpPr>
            <a:cxnSpLocks/>
          </p:cNvCxnSpPr>
          <p:nvPr/>
        </p:nvCxnSpPr>
        <p:spPr>
          <a:xfrm>
            <a:off x="5156552" y="5148021"/>
            <a:ext cx="57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311D70F-17EA-244A-AFCF-80AD5CA12663}"/>
              </a:ext>
            </a:extLst>
          </p:cNvPr>
          <p:cNvCxnSpPr>
            <a:cxnSpLocks/>
          </p:cNvCxnSpPr>
          <p:nvPr/>
        </p:nvCxnSpPr>
        <p:spPr>
          <a:xfrm>
            <a:off x="5040147" y="4219463"/>
            <a:ext cx="57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70F5E1C0-1C69-B446-BC5E-24D8C16BC18D}"/>
              </a:ext>
            </a:extLst>
          </p:cNvPr>
          <p:cNvGrpSpPr/>
          <p:nvPr/>
        </p:nvGrpSpPr>
        <p:grpSpPr>
          <a:xfrm rot="10800000">
            <a:off x="6448396" y="3140183"/>
            <a:ext cx="720000" cy="1396107"/>
            <a:chOff x="2596286" y="1207649"/>
            <a:chExt cx="720000" cy="1396107"/>
          </a:xfrm>
        </p:grpSpPr>
        <p:sp>
          <p:nvSpPr>
            <p:cNvPr id="28" name="Oval 27">
              <a:extLst>
                <a:ext uri="{FF2B5EF4-FFF2-40B4-BE49-F238E27FC236}">
                  <a16:creationId xmlns:a16="http://schemas.microsoft.com/office/drawing/2014/main" id="{266A6014-CACB-8542-8F4A-4DD544861AB0}"/>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9" name="Oval 28">
              <a:extLst>
                <a:ext uri="{FF2B5EF4-FFF2-40B4-BE49-F238E27FC236}">
                  <a16:creationId xmlns:a16="http://schemas.microsoft.com/office/drawing/2014/main" id="{230A43DE-3DFB-4C4E-8355-AF7DC553B10E}"/>
                </a:ext>
              </a:extLst>
            </p:cNvPr>
            <p:cNvSpPr/>
            <p:nvPr/>
          </p:nvSpPr>
          <p:spPr>
            <a:xfrm flipV="1">
              <a:off x="2821286" y="233375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0" name="Straight Connector 29">
              <a:extLst>
                <a:ext uri="{FF2B5EF4-FFF2-40B4-BE49-F238E27FC236}">
                  <a16:creationId xmlns:a16="http://schemas.microsoft.com/office/drawing/2014/main" id="{92F67E9D-1E8B-F74E-89E8-90B69AA4BF7B}"/>
                </a:ext>
              </a:extLst>
            </p:cNvPr>
            <p:cNvCxnSpPr>
              <a:cxnSpLocks/>
              <a:stCxn id="29" idx="4"/>
              <a:endCxn id="28" idx="0"/>
            </p:cNvCxnSpPr>
            <p:nvPr/>
          </p:nvCxnSpPr>
          <p:spPr>
            <a:xfrm>
              <a:off x="2956286" y="1927649"/>
              <a:ext cx="0" cy="4061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Rectangle 30">
            <a:extLst>
              <a:ext uri="{FF2B5EF4-FFF2-40B4-BE49-F238E27FC236}">
                <a16:creationId xmlns:a16="http://schemas.microsoft.com/office/drawing/2014/main" id="{8A6DF0D7-BAB6-FB4D-85AD-F0D0F27E61DF}"/>
              </a:ext>
            </a:extLst>
          </p:cNvPr>
          <p:cNvSpPr>
            <a:spLocks noChangeAspect="1"/>
          </p:cNvSpPr>
          <p:nvPr/>
        </p:nvSpPr>
        <p:spPr>
          <a:xfrm>
            <a:off x="5546443" y="4776098"/>
            <a:ext cx="720000" cy="7200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V</a:t>
            </a:r>
          </a:p>
        </p:txBody>
      </p:sp>
      <p:sp>
        <p:nvSpPr>
          <p:cNvPr id="32" name="Rectangle 31">
            <a:extLst>
              <a:ext uri="{FF2B5EF4-FFF2-40B4-BE49-F238E27FC236}">
                <a16:creationId xmlns:a16="http://schemas.microsoft.com/office/drawing/2014/main" id="{5528B53F-0E64-D446-B800-6305D14C9FAB}"/>
              </a:ext>
            </a:extLst>
          </p:cNvPr>
          <p:cNvSpPr>
            <a:spLocks noChangeAspect="1"/>
          </p:cNvSpPr>
          <p:nvPr/>
        </p:nvSpPr>
        <p:spPr>
          <a:xfrm>
            <a:off x="7546056" y="4759425"/>
            <a:ext cx="720000" cy="7200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V</a:t>
            </a:r>
            <a:r>
              <a:rPr lang="en-US" sz="4000" baseline="30000" dirty="0">
                <a:solidFill>
                  <a:schemeClr val="tx1"/>
                </a:solidFill>
                <a:latin typeface="Times" pitchFamily="2" charset="0"/>
              </a:rPr>
              <a:t>†</a:t>
            </a:r>
          </a:p>
        </p:txBody>
      </p:sp>
      <p:grpSp>
        <p:nvGrpSpPr>
          <p:cNvPr id="33" name="Group 32">
            <a:extLst>
              <a:ext uri="{FF2B5EF4-FFF2-40B4-BE49-F238E27FC236}">
                <a16:creationId xmlns:a16="http://schemas.microsoft.com/office/drawing/2014/main" id="{F39CACB3-2CF0-9D4C-B128-3573DEF99657}"/>
              </a:ext>
            </a:extLst>
          </p:cNvPr>
          <p:cNvGrpSpPr/>
          <p:nvPr/>
        </p:nvGrpSpPr>
        <p:grpSpPr>
          <a:xfrm rot="10800000">
            <a:off x="8463375" y="3135830"/>
            <a:ext cx="720000" cy="1396107"/>
            <a:chOff x="2596286" y="1207649"/>
            <a:chExt cx="720000" cy="1396107"/>
          </a:xfrm>
        </p:grpSpPr>
        <p:sp>
          <p:nvSpPr>
            <p:cNvPr id="34" name="Oval 33">
              <a:extLst>
                <a:ext uri="{FF2B5EF4-FFF2-40B4-BE49-F238E27FC236}">
                  <a16:creationId xmlns:a16="http://schemas.microsoft.com/office/drawing/2014/main" id="{5F7CA87D-E232-6849-BDFF-3F01C8862BA9}"/>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5" name="Oval 34">
              <a:extLst>
                <a:ext uri="{FF2B5EF4-FFF2-40B4-BE49-F238E27FC236}">
                  <a16:creationId xmlns:a16="http://schemas.microsoft.com/office/drawing/2014/main" id="{E3DD31FF-08BB-594B-A66E-E054414E0CEF}"/>
                </a:ext>
              </a:extLst>
            </p:cNvPr>
            <p:cNvSpPr/>
            <p:nvPr/>
          </p:nvSpPr>
          <p:spPr>
            <a:xfrm flipV="1">
              <a:off x="2821286" y="233375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6" name="Straight Connector 35">
              <a:extLst>
                <a:ext uri="{FF2B5EF4-FFF2-40B4-BE49-F238E27FC236}">
                  <a16:creationId xmlns:a16="http://schemas.microsoft.com/office/drawing/2014/main" id="{5A4A726A-D4A1-594F-B571-E8DA0433C844}"/>
                </a:ext>
              </a:extLst>
            </p:cNvPr>
            <p:cNvCxnSpPr>
              <a:cxnSpLocks/>
              <a:stCxn id="35" idx="4"/>
              <a:endCxn id="34" idx="0"/>
            </p:cNvCxnSpPr>
            <p:nvPr/>
          </p:nvCxnSpPr>
          <p:spPr>
            <a:xfrm>
              <a:off x="2956286" y="1927649"/>
              <a:ext cx="0" cy="4061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Rectangle 36">
            <a:extLst>
              <a:ext uri="{FF2B5EF4-FFF2-40B4-BE49-F238E27FC236}">
                <a16:creationId xmlns:a16="http://schemas.microsoft.com/office/drawing/2014/main" id="{F3A6E179-11B6-144B-A92B-0803C17DEFE5}"/>
              </a:ext>
            </a:extLst>
          </p:cNvPr>
          <p:cNvSpPr>
            <a:spLocks noChangeAspect="1"/>
          </p:cNvSpPr>
          <p:nvPr/>
        </p:nvSpPr>
        <p:spPr>
          <a:xfrm>
            <a:off x="9545669" y="4759425"/>
            <a:ext cx="720000" cy="7200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V</a:t>
            </a:r>
          </a:p>
        </p:txBody>
      </p:sp>
      <p:sp>
        <p:nvSpPr>
          <p:cNvPr id="40" name="Oval 39">
            <a:extLst>
              <a:ext uri="{FF2B5EF4-FFF2-40B4-BE49-F238E27FC236}">
                <a16:creationId xmlns:a16="http://schemas.microsoft.com/office/drawing/2014/main" id="{526773E2-596D-3249-BFCA-05D010A011D1}"/>
              </a:ext>
            </a:extLst>
          </p:cNvPr>
          <p:cNvSpPr/>
          <p:nvPr/>
        </p:nvSpPr>
        <p:spPr>
          <a:xfrm>
            <a:off x="5774639" y="4076602"/>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42" name="Oval 41">
            <a:extLst>
              <a:ext uri="{FF2B5EF4-FFF2-40B4-BE49-F238E27FC236}">
                <a16:creationId xmlns:a16="http://schemas.microsoft.com/office/drawing/2014/main" id="{A99CEEC9-773B-9A46-B7B2-2BC661ABA9CE}"/>
              </a:ext>
            </a:extLst>
          </p:cNvPr>
          <p:cNvSpPr/>
          <p:nvPr/>
        </p:nvSpPr>
        <p:spPr>
          <a:xfrm>
            <a:off x="9743890" y="3125370"/>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49" name="Oval 48">
            <a:extLst>
              <a:ext uri="{FF2B5EF4-FFF2-40B4-BE49-F238E27FC236}">
                <a16:creationId xmlns:a16="http://schemas.microsoft.com/office/drawing/2014/main" id="{79BDA864-7FCA-EB46-BDA3-9509DD3F5A49}"/>
              </a:ext>
            </a:extLst>
          </p:cNvPr>
          <p:cNvSpPr/>
          <p:nvPr/>
        </p:nvSpPr>
        <p:spPr>
          <a:xfrm>
            <a:off x="7767860" y="4089393"/>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53" name="Straight Connector 52">
            <a:extLst>
              <a:ext uri="{FF2B5EF4-FFF2-40B4-BE49-F238E27FC236}">
                <a16:creationId xmlns:a16="http://schemas.microsoft.com/office/drawing/2014/main" id="{AB05EA7F-95CD-F147-BBA7-D9003BF7083D}"/>
              </a:ext>
            </a:extLst>
          </p:cNvPr>
          <p:cNvCxnSpPr>
            <a:cxnSpLocks/>
          </p:cNvCxnSpPr>
          <p:nvPr/>
        </p:nvCxnSpPr>
        <p:spPr>
          <a:xfrm>
            <a:off x="1590876" y="3278251"/>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73D0B3CC-6A20-EC4A-B52B-5505F0D7FB5F}"/>
              </a:ext>
            </a:extLst>
          </p:cNvPr>
          <p:cNvSpPr/>
          <p:nvPr/>
        </p:nvSpPr>
        <p:spPr>
          <a:xfrm>
            <a:off x="2164270" y="3143251"/>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8" name="Straight Connector 37">
            <a:extLst>
              <a:ext uri="{FF2B5EF4-FFF2-40B4-BE49-F238E27FC236}">
                <a16:creationId xmlns:a16="http://schemas.microsoft.com/office/drawing/2014/main" id="{D09B0AB7-7179-5E49-BC5B-0D7EFD6E0299}"/>
              </a:ext>
            </a:extLst>
          </p:cNvPr>
          <p:cNvCxnSpPr>
            <a:cxnSpLocks/>
          </p:cNvCxnSpPr>
          <p:nvPr/>
        </p:nvCxnSpPr>
        <p:spPr>
          <a:xfrm>
            <a:off x="4966276" y="1648887"/>
            <a:ext cx="57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6F0B3E6-4034-4A4D-AA6E-926BE574B76C}"/>
              </a:ext>
            </a:extLst>
          </p:cNvPr>
          <p:cNvCxnSpPr>
            <a:cxnSpLocks/>
          </p:cNvCxnSpPr>
          <p:nvPr/>
        </p:nvCxnSpPr>
        <p:spPr>
          <a:xfrm>
            <a:off x="1578880" y="1651956"/>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0B8944D5-10A2-504E-8226-FFF3F529B8CA}"/>
              </a:ext>
            </a:extLst>
          </p:cNvPr>
          <p:cNvGrpSpPr/>
          <p:nvPr/>
        </p:nvGrpSpPr>
        <p:grpSpPr>
          <a:xfrm>
            <a:off x="1982516" y="1516956"/>
            <a:ext cx="633507" cy="1613874"/>
            <a:chOff x="1982516" y="1516956"/>
            <a:chExt cx="633507" cy="1613874"/>
          </a:xfrm>
        </p:grpSpPr>
        <p:cxnSp>
          <p:nvCxnSpPr>
            <p:cNvPr id="48" name="Straight Connector 47">
              <a:extLst>
                <a:ext uri="{FF2B5EF4-FFF2-40B4-BE49-F238E27FC236}">
                  <a16:creationId xmlns:a16="http://schemas.microsoft.com/office/drawing/2014/main" id="{85381EAA-6D21-5E4B-963C-52582C5B78E2}"/>
                </a:ext>
              </a:extLst>
            </p:cNvPr>
            <p:cNvCxnSpPr>
              <a:cxnSpLocks/>
            </p:cNvCxnSpPr>
            <p:nvPr/>
          </p:nvCxnSpPr>
          <p:spPr>
            <a:xfrm flipV="1">
              <a:off x="2299270" y="1648887"/>
              <a:ext cx="0" cy="637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C8738B7-D23F-8842-AF3A-1437ACB4CB38}"/>
                </a:ext>
              </a:extLst>
            </p:cNvPr>
            <p:cNvCxnSpPr>
              <a:cxnSpLocks/>
            </p:cNvCxnSpPr>
            <p:nvPr/>
          </p:nvCxnSpPr>
          <p:spPr>
            <a:xfrm flipV="1">
              <a:off x="2299270" y="2493818"/>
              <a:ext cx="0" cy="637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DC15E091-BDF0-1445-9429-CC97038E5057}"/>
                </a:ext>
              </a:extLst>
            </p:cNvPr>
            <p:cNvSpPr/>
            <p:nvPr/>
          </p:nvSpPr>
          <p:spPr>
            <a:xfrm>
              <a:off x="2152274" y="151695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894FD308-CF43-5C4D-8829-1B520A57AF9E}"/>
                    </a:ext>
                  </a:extLst>
                </p:cNvPr>
                <p:cNvSpPr/>
                <p:nvPr/>
              </p:nvSpPr>
              <p:spPr>
                <a:xfrm>
                  <a:off x="1982516" y="2074438"/>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51" name="Rectangle 50">
                  <a:extLst>
                    <a:ext uri="{FF2B5EF4-FFF2-40B4-BE49-F238E27FC236}">
                      <a16:creationId xmlns:a16="http://schemas.microsoft.com/office/drawing/2014/main" id="{894FD308-CF43-5C4D-8829-1B520A57AF9E}"/>
                    </a:ext>
                  </a:extLst>
                </p:cNvPr>
                <p:cNvSpPr>
                  <a:spLocks noRot="1" noChangeAspect="1" noMove="1" noResize="1" noEditPoints="1" noAdjustHandles="1" noChangeArrowheads="1" noChangeShapeType="1" noTextEdit="1"/>
                </p:cNvSpPr>
                <p:nvPr/>
              </p:nvSpPr>
              <p:spPr>
                <a:xfrm>
                  <a:off x="1982516" y="2074438"/>
                  <a:ext cx="633507" cy="646331"/>
                </a:xfrm>
                <a:prstGeom prst="rect">
                  <a:avLst/>
                </a:prstGeom>
                <a:blipFill>
                  <a:blip r:embed="rId4"/>
                  <a:stretch>
                    <a:fillRect/>
                  </a:stretch>
                </a:blipFill>
              </p:spPr>
              <p:txBody>
                <a:bodyPr/>
                <a:lstStyle/>
                <a:p>
                  <a:r>
                    <a:rPr lang="en-US">
                      <a:noFill/>
                    </a:rPr>
                    <a:t> </a:t>
                  </a:r>
                </a:p>
              </p:txBody>
            </p:sp>
          </mc:Fallback>
        </mc:AlternateContent>
      </p:grpSp>
      <p:grpSp>
        <p:nvGrpSpPr>
          <p:cNvPr id="52" name="Group 51">
            <a:extLst>
              <a:ext uri="{FF2B5EF4-FFF2-40B4-BE49-F238E27FC236}">
                <a16:creationId xmlns:a16="http://schemas.microsoft.com/office/drawing/2014/main" id="{F6538497-1089-BE4E-B7D4-5F840B814DB2}"/>
              </a:ext>
            </a:extLst>
          </p:cNvPr>
          <p:cNvGrpSpPr/>
          <p:nvPr/>
        </p:nvGrpSpPr>
        <p:grpSpPr>
          <a:xfrm>
            <a:off x="6491807" y="1525422"/>
            <a:ext cx="633507" cy="1613874"/>
            <a:chOff x="1982516" y="1516956"/>
            <a:chExt cx="633507" cy="1613874"/>
          </a:xfrm>
        </p:grpSpPr>
        <p:cxnSp>
          <p:nvCxnSpPr>
            <p:cNvPr id="55" name="Straight Connector 54">
              <a:extLst>
                <a:ext uri="{FF2B5EF4-FFF2-40B4-BE49-F238E27FC236}">
                  <a16:creationId xmlns:a16="http://schemas.microsoft.com/office/drawing/2014/main" id="{C98C432C-E747-084E-8D3F-CF4044F6A409}"/>
                </a:ext>
              </a:extLst>
            </p:cNvPr>
            <p:cNvCxnSpPr>
              <a:cxnSpLocks/>
            </p:cNvCxnSpPr>
            <p:nvPr/>
          </p:nvCxnSpPr>
          <p:spPr>
            <a:xfrm flipV="1">
              <a:off x="2299270" y="1648887"/>
              <a:ext cx="0" cy="637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858F99F1-2B97-3545-BF46-E3F649521D3A}"/>
                </a:ext>
              </a:extLst>
            </p:cNvPr>
            <p:cNvCxnSpPr>
              <a:cxnSpLocks/>
            </p:cNvCxnSpPr>
            <p:nvPr/>
          </p:nvCxnSpPr>
          <p:spPr>
            <a:xfrm flipV="1">
              <a:off x="2299270" y="2493818"/>
              <a:ext cx="0" cy="637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CC4D9330-B07E-6041-896C-6FB16B3A2826}"/>
                </a:ext>
              </a:extLst>
            </p:cNvPr>
            <p:cNvSpPr/>
            <p:nvPr/>
          </p:nvSpPr>
          <p:spPr>
            <a:xfrm>
              <a:off x="2152274" y="151695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48DCF443-AF03-014B-B336-FCAD96F21A84}"/>
                    </a:ext>
                  </a:extLst>
                </p:cNvPr>
                <p:cNvSpPr/>
                <p:nvPr/>
              </p:nvSpPr>
              <p:spPr>
                <a:xfrm>
                  <a:off x="1982516" y="2074438"/>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62" name="Rectangle 61">
                  <a:extLst>
                    <a:ext uri="{FF2B5EF4-FFF2-40B4-BE49-F238E27FC236}">
                      <a16:creationId xmlns:a16="http://schemas.microsoft.com/office/drawing/2014/main" id="{48DCF443-AF03-014B-B336-FCAD96F21A84}"/>
                    </a:ext>
                  </a:extLst>
                </p:cNvPr>
                <p:cNvSpPr>
                  <a:spLocks noRot="1" noChangeAspect="1" noMove="1" noResize="1" noEditPoints="1" noAdjustHandles="1" noChangeArrowheads="1" noChangeShapeType="1" noTextEdit="1"/>
                </p:cNvSpPr>
                <p:nvPr/>
              </p:nvSpPr>
              <p:spPr>
                <a:xfrm>
                  <a:off x="1982516" y="2074438"/>
                  <a:ext cx="633507" cy="646331"/>
                </a:xfrm>
                <a:prstGeom prst="rect">
                  <a:avLst/>
                </a:prstGeom>
                <a:blipFill>
                  <a:blip r:embed="rId5"/>
                  <a:stretch>
                    <a:fillRect/>
                  </a:stretch>
                </a:blipFill>
              </p:spPr>
              <p:txBody>
                <a:bodyPr/>
                <a:lstStyle/>
                <a:p>
                  <a:r>
                    <a:rPr lang="en-US">
                      <a:noFill/>
                    </a:rPr>
                    <a:t> </a:t>
                  </a:r>
                </a:p>
              </p:txBody>
            </p:sp>
          </mc:Fallback>
        </mc:AlternateContent>
      </p:grpSp>
      <p:grpSp>
        <p:nvGrpSpPr>
          <p:cNvPr id="63" name="Group 62">
            <a:extLst>
              <a:ext uri="{FF2B5EF4-FFF2-40B4-BE49-F238E27FC236}">
                <a16:creationId xmlns:a16="http://schemas.microsoft.com/office/drawing/2014/main" id="{D1D0BC34-C25B-E14B-B2B8-131F00415571}"/>
              </a:ext>
            </a:extLst>
          </p:cNvPr>
          <p:cNvGrpSpPr/>
          <p:nvPr/>
        </p:nvGrpSpPr>
        <p:grpSpPr>
          <a:xfrm>
            <a:off x="8497218" y="1522372"/>
            <a:ext cx="633507" cy="1613874"/>
            <a:chOff x="1982516" y="1516956"/>
            <a:chExt cx="633507" cy="1613874"/>
          </a:xfrm>
        </p:grpSpPr>
        <p:cxnSp>
          <p:nvCxnSpPr>
            <p:cNvPr id="64" name="Straight Connector 63">
              <a:extLst>
                <a:ext uri="{FF2B5EF4-FFF2-40B4-BE49-F238E27FC236}">
                  <a16:creationId xmlns:a16="http://schemas.microsoft.com/office/drawing/2014/main" id="{E4DFEB07-040B-0442-AB00-FE596E2BD525}"/>
                </a:ext>
              </a:extLst>
            </p:cNvPr>
            <p:cNvCxnSpPr>
              <a:cxnSpLocks/>
            </p:cNvCxnSpPr>
            <p:nvPr/>
          </p:nvCxnSpPr>
          <p:spPr>
            <a:xfrm flipV="1">
              <a:off x="2299270" y="1648887"/>
              <a:ext cx="0" cy="637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055BD68-F80D-CD48-A2B1-2261068ABCCF}"/>
                </a:ext>
              </a:extLst>
            </p:cNvPr>
            <p:cNvCxnSpPr>
              <a:cxnSpLocks/>
            </p:cNvCxnSpPr>
            <p:nvPr/>
          </p:nvCxnSpPr>
          <p:spPr>
            <a:xfrm flipV="1">
              <a:off x="2299270" y="2493818"/>
              <a:ext cx="0" cy="637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09C264B2-1749-5449-B07A-29B0750E789F}"/>
                </a:ext>
              </a:extLst>
            </p:cNvPr>
            <p:cNvSpPr/>
            <p:nvPr/>
          </p:nvSpPr>
          <p:spPr>
            <a:xfrm>
              <a:off x="2152274" y="151695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1E26C419-A4AB-A342-9113-4CBCA79B0B48}"/>
                    </a:ext>
                  </a:extLst>
                </p:cNvPr>
                <p:cNvSpPr/>
                <p:nvPr/>
              </p:nvSpPr>
              <p:spPr>
                <a:xfrm>
                  <a:off x="1982516" y="2074438"/>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67" name="Rectangle 66">
                  <a:extLst>
                    <a:ext uri="{FF2B5EF4-FFF2-40B4-BE49-F238E27FC236}">
                      <a16:creationId xmlns:a16="http://schemas.microsoft.com/office/drawing/2014/main" id="{1E26C419-A4AB-A342-9113-4CBCA79B0B48}"/>
                    </a:ext>
                  </a:extLst>
                </p:cNvPr>
                <p:cNvSpPr>
                  <a:spLocks noRot="1" noChangeAspect="1" noMove="1" noResize="1" noEditPoints="1" noAdjustHandles="1" noChangeArrowheads="1" noChangeShapeType="1" noTextEdit="1"/>
                </p:cNvSpPr>
                <p:nvPr/>
              </p:nvSpPr>
              <p:spPr>
                <a:xfrm>
                  <a:off x="1982516" y="2074438"/>
                  <a:ext cx="633507" cy="646331"/>
                </a:xfrm>
                <a:prstGeom prst="rect">
                  <a:avLst/>
                </a:prstGeom>
                <a:blipFill>
                  <a:blip r:embed="rId5"/>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997E490-57C1-DD43-95C9-920E2801FDA9}"/>
                  </a:ext>
                </a:extLst>
              </p:cNvPr>
              <p:cNvSpPr txBox="1"/>
              <p:nvPr/>
            </p:nvSpPr>
            <p:spPr>
              <a:xfrm>
                <a:off x="3154793" y="2544746"/>
                <a:ext cx="2030108" cy="6040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𝑈</m:t>
                      </m:r>
                      <m:r>
                        <a:rPr lang="sr-Latn-RS" sz="2800" b="0" i="1" smtClean="0">
                          <a:latin typeface="Cambria Math" panose="02040503050406030204" pitchFamily="18" charset="0"/>
                        </a:rPr>
                        <m:t>=</m:t>
                      </m:r>
                      <m:sSup>
                        <m:sSupPr>
                          <m:ctrlPr>
                            <a:rPr lang="sr-Latn-RS" sz="2800" b="0" i="1" smtClean="0">
                              <a:latin typeface="Cambria Math" panose="02040503050406030204" pitchFamily="18" charset="0"/>
                            </a:rPr>
                          </m:ctrlPr>
                        </m:sSupPr>
                        <m:e>
                          <m:r>
                            <a:rPr lang="sr-Latn-RS" sz="2800" b="0" i="1" smtClean="0">
                              <a:latin typeface="Cambria Math" panose="02040503050406030204" pitchFamily="18" charset="0"/>
                            </a:rPr>
                            <m:t>𝑉</m:t>
                          </m:r>
                        </m:e>
                        <m:sup>
                          <m:sSup>
                            <m:sSupPr>
                              <m:ctrlPr>
                                <a:rPr lang="sr-Latn-R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m:t>
                              </m:r>
                              <m:r>
                                <a:rPr lang="en-US" sz="2800" b="0" i="1" smtClean="0">
                                  <a:latin typeface="Cambria Math" panose="02040503050406030204" pitchFamily="18" charset="0"/>
                                </a:rPr>
                                <m:t>𝑛</m:t>
                              </m:r>
                              <m:r>
                                <a:rPr lang="en-US" sz="2800" b="0" i="1" smtClean="0">
                                  <a:latin typeface="Cambria Math" panose="02040503050406030204" pitchFamily="18" charset="0"/>
                                </a:rPr>
                                <m:t>−1)</m:t>
                              </m:r>
                            </m:sup>
                          </m:sSup>
                        </m:sup>
                      </m:sSup>
                    </m:oMath>
                  </m:oMathPara>
                </a14:m>
                <a:endParaRPr lang="en-US" sz="2800" dirty="0"/>
              </a:p>
            </p:txBody>
          </p:sp>
        </mc:Choice>
        <mc:Fallback xmlns="">
          <p:sp>
            <p:nvSpPr>
              <p:cNvPr id="68" name="TextBox 67">
                <a:extLst>
                  <a:ext uri="{FF2B5EF4-FFF2-40B4-BE49-F238E27FC236}">
                    <a16:creationId xmlns:a16="http://schemas.microsoft.com/office/drawing/2014/main" id="{1997E490-57C1-DD43-95C9-920E2801FDA9}"/>
                  </a:ext>
                </a:extLst>
              </p:cNvPr>
              <p:cNvSpPr txBox="1">
                <a:spLocks noRot="1" noChangeAspect="1" noMove="1" noResize="1" noEditPoints="1" noAdjustHandles="1" noChangeArrowheads="1" noChangeShapeType="1" noTextEdit="1"/>
              </p:cNvSpPr>
              <p:nvPr/>
            </p:nvSpPr>
            <p:spPr>
              <a:xfrm>
                <a:off x="3154793" y="2544746"/>
                <a:ext cx="2030108" cy="604012"/>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807999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E96D9-5A95-8B4C-98B0-827255AFC250}"/>
              </a:ext>
            </a:extLst>
          </p:cNvPr>
          <p:cNvSpPr>
            <a:spLocks noGrp="1"/>
          </p:cNvSpPr>
          <p:nvPr>
            <p:ph type="title"/>
          </p:nvPr>
        </p:nvSpPr>
        <p:spPr/>
        <p:txBody>
          <a:bodyPr/>
          <a:lstStyle/>
          <a:p>
            <a:r>
              <a:rPr lang="en-ZA" dirty="0"/>
              <a:t>Example: Doubly-Controlled Z Gate</a:t>
            </a:r>
            <a:endParaRPr lang="en-US" dirty="0"/>
          </a:p>
        </p:txBody>
      </p:sp>
      <p:sp>
        <p:nvSpPr>
          <p:cNvPr id="3" name="Slide Number Placeholder 2">
            <a:extLst>
              <a:ext uri="{FF2B5EF4-FFF2-40B4-BE49-F238E27FC236}">
                <a16:creationId xmlns:a16="http://schemas.microsoft.com/office/drawing/2014/main" id="{E81E5F62-A4EA-EA43-82F8-CF1365D07363}"/>
              </a:ext>
            </a:extLst>
          </p:cNvPr>
          <p:cNvSpPr>
            <a:spLocks noGrp="1"/>
          </p:cNvSpPr>
          <p:nvPr>
            <p:ph type="sldNum" sz="quarter" idx="12"/>
          </p:nvPr>
        </p:nvSpPr>
        <p:spPr/>
        <p:txBody>
          <a:bodyPr/>
          <a:lstStyle/>
          <a:p>
            <a:fld id="{591A223C-FA10-BC46-A853-03BA373D023C}" type="slidenum">
              <a:rPr lang="en-US" smtClean="0"/>
              <a:t>31</a:t>
            </a:fld>
            <a:endParaRPr lang="en-US"/>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DDDC8FE0-B4D3-4B43-ACBD-39FCEC3D81F8}"/>
                  </a:ext>
                </a:extLst>
              </p:cNvPr>
              <p:cNvSpPr/>
              <p:nvPr/>
            </p:nvSpPr>
            <p:spPr>
              <a:xfrm>
                <a:off x="426114" y="5549740"/>
                <a:ext cx="11339771" cy="810799"/>
              </a:xfrm>
              <a:prstGeom prst="rect">
                <a:avLst/>
              </a:prstGeom>
            </p:spPr>
            <p:txBody>
              <a:bodyPr wrap="none">
                <a:spAutoFit/>
              </a:bodyPr>
              <a:lstStyle/>
              <a:p>
                <a14:m>
                  <m:oMath xmlns:m="http://schemas.openxmlformats.org/officeDocument/2006/math">
                    <m:m>
                      <m:mPr>
                        <m:plcHide m:val="on"/>
                        <m:mcs>
                          <m:mc>
                            <m:mcPr>
                              <m:count m:val="2"/>
                              <m:mcJc m:val="center"/>
                            </m:mcPr>
                          </m:mc>
                        </m:mcs>
                        <m:ctrlPr>
                          <a:rPr lang="en-US" sz="2800" i="1" smtClean="0">
                            <a:latin typeface="Cambria Math" panose="02040503050406030204" pitchFamily="18" charset="0"/>
                          </a:rPr>
                        </m:ctrlPr>
                      </m:mPr>
                      <m:mr>
                        <m:e>
                          <m:r>
                            <a:rPr lang="en-US" sz="2800" i="1">
                              <a:latin typeface="Cambria Math" panose="02040503050406030204" pitchFamily="18" charset="0"/>
                            </a:rPr>
                            <m:t>𝑉</m:t>
                          </m:r>
                          <m:r>
                            <a:rPr lang="en-US" sz="2800" b="0" i="1" smtClean="0">
                              <a:latin typeface="Cambria Math" panose="02040503050406030204" pitchFamily="18" charset="0"/>
                            </a:rPr>
                            <m:t>=</m:t>
                          </m:r>
                          <m:r>
                            <a:rPr lang="en-US" sz="2800" b="0" i="1" smtClean="0">
                              <a:latin typeface="Cambria Math" panose="02040503050406030204" pitchFamily="18" charset="0"/>
                            </a:rPr>
                            <m:t>𝑆</m:t>
                          </m:r>
                          <m:r>
                            <a:rPr lang="en-US" sz="2800" i="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i="0">
                                        <a:latin typeface="Cambria Math" panose="02040503050406030204" pitchFamily="18" charset="0"/>
                                      </a:rPr>
                                      <m:t>1</m:t>
                                    </m:r>
                                  </m:e>
                                  <m:e>
                                    <m:r>
                                      <a:rPr lang="en-US" sz="2800" i="0">
                                        <a:latin typeface="Cambria Math" panose="02040503050406030204" pitchFamily="18" charset="0"/>
                                      </a:rPr>
                                      <m:t>0</m:t>
                                    </m:r>
                                  </m:e>
                                </m:mr>
                                <m:mr>
                                  <m:e>
                                    <m:r>
                                      <a:rPr lang="en-US" sz="2800" i="0">
                                        <a:latin typeface="Cambria Math" panose="02040503050406030204" pitchFamily="18" charset="0"/>
                                      </a:rPr>
                                      <m:t>0</m:t>
                                    </m:r>
                                  </m:e>
                                  <m:e>
                                    <m:r>
                                      <a:rPr lang="en-US" sz="2800" i="1">
                                        <a:latin typeface="Cambria Math" panose="02040503050406030204" pitchFamily="18" charset="0"/>
                                      </a:rPr>
                                      <m:t>𝑖</m:t>
                                    </m:r>
                                  </m:e>
                                </m:mr>
                              </m:m>
                            </m:e>
                          </m:d>
                          <m:r>
                            <a:rPr lang="en-US" sz="2800" i="0">
                              <a:latin typeface="Cambria Math" panose="02040503050406030204" pitchFamily="18" charset="0"/>
                            </a:rPr>
                            <m:t>,</m:t>
                          </m:r>
                        </m:e>
                        <m:e>
                          <m:sSup>
                            <m:sSupPr>
                              <m:ctrlPr>
                                <a:rPr lang="en-US" sz="2800" i="1">
                                  <a:latin typeface="Cambria Math" panose="02040503050406030204" pitchFamily="18" charset="0"/>
                                </a:rPr>
                              </m:ctrlPr>
                            </m:sSupPr>
                            <m:e>
                              <m:r>
                                <a:rPr lang="en-US" sz="2800" i="1">
                                  <a:latin typeface="Cambria Math" panose="02040503050406030204" pitchFamily="18" charset="0"/>
                                </a:rPr>
                                <m:t>𝑉</m:t>
                              </m:r>
                            </m:e>
                            <m:sup>
                              <m:r>
                                <a:rPr lang="en-US" sz="2800" i="0">
                                  <a:latin typeface="Cambria Math" panose="02040503050406030204" pitchFamily="18" charset="0"/>
                                </a:rPr>
                                <m:t>†</m:t>
                              </m:r>
                            </m:sup>
                          </m:sSup>
                          <m:r>
                            <a:rPr lang="en-US" sz="2800" i="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i="0">
                                        <a:latin typeface="Cambria Math" panose="02040503050406030204" pitchFamily="18" charset="0"/>
                                      </a:rPr>
                                      <m:t>1</m:t>
                                    </m:r>
                                  </m:e>
                                  <m:e>
                                    <m:r>
                                      <a:rPr lang="en-US" sz="2800" i="0">
                                        <a:latin typeface="Cambria Math" panose="02040503050406030204" pitchFamily="18" charset="0"/>
                                      </a:rPr>
                                      <m:t>0</m:t>
                                    </m:r>
                                  </m:e>
                                </m:mr>
                                <m:mr>
                                  <m:e>
                                    <m:r>
                                      <a:rPr lang="en-US" sz="2800" i="0">
                                        <a:latin typeface="Cambria Math" panose="02040503050406030204" pitchFamily="18" charset="0"/>
                                      </a:rPr>
                                      <m:t>0</m:t>
                                    </m:r>
                                  </m:e>
                                  <m:e>
                                    <m:r>
                                      <a:rPr lang="en-US" sz="2800" b="0" i="1" smtClean="0">
                                        <a:latin typeface="Cambria Math" panose="02040503050406030204" pitchFamily="18" charset="0"/>
                                      </a:rPr>
                                      <m:t>−</m:t>
                                    </m:r>
                                    <m:r>
                                      <a:rPr lang="en-US" sz="2800" b="0" i="1" smtClean="0">
                                        <a:latin typeface="Cambria Math" panose="02040503050406030204" pitchFamily="18" charset="0"/>
                                      </a:rPr>
                                      <m:t>𝑖</m:t>
                                    </m:r>
                                  </m:e>
                                </m:mr>
                              </m:m>
                            </m:e>
                          </m:d>
                          <m:r>
                            <a:rPr lang="en-US" sz="2800" b="0" i="1" smtClean="0">
                              <a:latin typeface="Cambria Math" panose="02040503050406030204" pitchFamily="18" charset="0"/>
                            </a:rPr>
                            <m:t>, </m:t>
                          </m:r>
                        </m:e>
                      </m:mr>
                    </m:m>
                  </m:oMath>
                </a14:m>
                <a:r>
                  <a:rPr lang="en-US" sz="2800" dirty="0"/>
                  <a:t> </a:t>
                </a:r>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𝑉</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a:latin typeface="Cambria Math" panose="02040503050406030204" pitchFamily="18" charset="0"/>
                                </a:rPr>
                                <m:t>1</m:t>
                              </m:r>
                            </m:e>
                            <m:e>
                              <m:r>
                                <a:rPr lang="en-US" sz="2800">
                                  <a:latin typeface="Cambria Math" panose="02040503050406030204" pitchFamily="18" charset="0"/>
                                </a:rPr>
                                <m:t>0</m:t>
                              </m:r>
                            </m:e>
                          </m:mr>
                          <m:mr>
                            <m:e>
                              <m:r>
                                <a:rPr lang="en-US" sz="2800">
                                  <a:latin typeface="Cambria Math" panose="02040503050406030204" pitchFamily="18" charset="0"/>
                                </a:rPr>
                                <m:t>0</m:t>
                              </m:r>
                            </m:e>
                            <m:e>
                              <m:r>
                                <a:rPr lang="en-US" sz="2800" i="1">
                                  <a:latin typeface="Cambria Math" panose="02040503050406030204" pitchFamily="18" charset="0"/>
                                </a:rPr>
                                <m:t>𝑖</m:t>
                              </m:r>
                            </m:e>
                          </m:mr>
                        </m:m>
                      </m:e>
                    </m:d>
                  </m:oMath>
                </a14:m>
                <a:r>
                  <a:rPr lang="en-US" sz="2800" dirty="0"/>
                  <a:t> </a:t>
                </a:r>
                <a14:m>
                  <m:oMath xmlns:m="http://schemas.openxmlformats.org/officeDocument/2006/math">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a:latin typeface="Cambria Math" panose="02040503050406030204" pitchFamily="18" charset="0"/>
                                </a:rPr>
                                <m:t>1</m:t>
                              </m:r>
                            </m:e>
                            <m:e>
                              <m:r>
                                <a:rPr lang="en-US" sz="2800">
                                  <a:latin typeface="Cambria Math" panose="02040503050406030204" pitchFamily="18" charset="0"/>
                                </a:rPr>
                                <m:t>0</m:t>
                              </m:r>
                            </m:e>
                          </m:mr>
                          <m:mr>
                            <m:e>
                              <m:r>
                                <a:rPr lang="en-US" sz="2800">
                                  <a:latin typeface="Cambria Math" panose="02040503050406030204" pitchFamily="18" charset="0"/>
                                </a:rPr>
                                <m:t>0</m:t>
                              </m:r>
                            </m:e>
                            <m:e>
                              <m:r>
                                <a:rPr lang="en-US" sz="2800" i="1">
                                  <a:latin typeface="Cambria Math" panose="02040503050406030204" pitchFamily="18" charset="0"/>
                                </a:rPr>
                                <m:t>𝑖</m:t>
                              </m:r>
                            </m:e>
                          </m:mr>
                        </m:m>
                      </m:e>
                    </m:d>
                    <m:r>
                      <a:rPr lang="en-US" sz="2800" b="0" i="0" smtClean="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a:latin typeface="Cambria Math" panose="02040503050406030204" pitchFamily="18" charset="0"/>
                                </a:rPr>
                                <m:t>1</m:t>
                              </m:r>
                            </m:e>
                            <m:e>
                              <m:r>
                                <a:rPr lang="en-US" sz="2800">
                                  <a:latin typeface="Cambria Math" panose="02040503050406030204" pitchFamily="18" charset="0"/>
                                </a:rPr>
                                <m:t>0</m:t>
                              </m:r>
                            </m:e>
                          </m:mr>
                          <m:mr>
                            <m:e>
                              <m:r>
                                <a:rPr lang="en-US" sz="2800">
                                  <a:latin typeface="Cambria Math" panose="02040503050406030204" pitchFamily="18" charset="0"/>
                                </a:rPr>
                                <m:t>0</m:t>
                              </m:r>
                            </m:e>
                            <m:e>
                              <m:r>
                                <a:rPr lang="en-US" sz="2800" b="0" i="1" smtClean="0">
                                  <a:latin typeface="Cambria Math" panose="02040503050406030204" pitchFamily="18" charset="0"/>
                                </a:rPr>
                                <m:t>−1</m:t>
                              </m:r>
                            </m:e>
                          </m:mr>
                        </m:m>
                      </m:e>
                    </m:d>
                    <m:r>
                      <a:rPr lang="en-US" sz="2800" b="0" i="1" smtClean="0">
                        <a:latin typeface="Cambria Math" panose="02040503050406030204" pitchFamily="18" charset="0"/>
                      </a:rPr>
                      <m:t>=</m:t>
                    </m:r>
                    <m:r>
                      <a:rPr lang="en-US" sz="2800" b="0" i="1" smtClean="0">
                        <a:latin typeface="Cambria Math" panose="02040503050406030204" pitchFamily="18" charset="0"/>
                      </a:rPr>
                      <m:t>𝑍</m:t>
                    </m:r>
                  </m:oMath>
                </a14:m>
                <a:endParaRPr lang="en-US" sz="2800" dirty="0"/>
              </a:p>
            </p:txBody>
          </p:sp>
        </mc:Choice>
        <mc:Fallback xmlns="">
          <p:sp>
            <p:nvSpPr>
              <p:cNvPr id="6" name="Rectangle 5">
                <a:extLst>
                  <a:ext uri="{FF2B5EF4-FFF2-40B4-BE49-F238E27FC236}">
                    <a16:creationId xmlns:a16="http://schemas.microsoft.com/office/drawing/2014/main" id="{DDDC8FE0-B4D3-4B43-ACBD-39FCEC3D81F8}"/>
                  </a:ext>
                </a:extLst>
              </p:cNvPr>
              <p:cNvSpPr>
                <a:spLocks noRot="1" noChangeAspect="1" noMove="1" noResize="1" noEditPoints="1" noAdjustHandles="1" noChangeArrowheads="1" noChangeShapeType="1" noTextEdit="1"/>
              </p:cNvSpPr>
              <p:nvPr/>
            </p:nvSpPr>
            <p:spPr>
              <a:xfrm>
                <a:off x="426114" y="5549740"/>
                <a:ext cx="11339771" cy="810799"/>
              </a:xfrm>
              <a:prstGeom prst="rect">
                <a:avLst/>
              </a:prstGeom>
              <a:blipFill>
                <a:blip r:embed="rId3"/>
                <a:stretch>
                  <a:fillRect l="-224" b="-6154"/>
                </a:stretch>
              </a:blipFill>
            </p:spPr>
            <p:txBody>
              <a:bodyPr/>
              <a:lstStyle/>
              <a:p>
                <a:r>
                  <a:rPr lang="en-US">
                    <a:noFill/>
                  </a:rPr>
                  <a:t> </a:t>
                </a:r>
              </a:p>
            </p:txBody>
          </p:sp>
        </mc:Fallback>
      </mc:AlternateContent>
      <p:cxnSp>
        <p:nvCxnSpPr>
          <p:cNvPr id="8" name="Straight Connector 7">
            <a:extLst>
              <a:ext uri="{FF2B5EF4-FFF2-40B4-BE49-F238E27FC236}">
                <a16:creationId xmlns:a16="http://schemas.microsoft.com/office/drawing/2014/main" id="{39A0C750-BE98-1742-892A-7DA66CACEE82}"/>
              </a:ext>
            </a:extLst>
          </p:cNvPr>
          <p:cNvCxnSpPr>
            <a:cxnSpLocks/>
            <a:endCxn id="35" idx="4"/>
          </p:cNvCxnSpPr>
          <p:nvPr/>
        </p:nvCxnSpPr>
        <p:spPr>
          <a:xfrm flipV="1">
            <a:off x="2064201" y="2481917"/>
            <a:ext cx="0" cy="14806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BF277DF-3DF8-644A-8A63-0F5AA6D5848F}"/>
              </a:ext>
            </a:extLst>
          </p:cNvPr>
          <p:cNvCxnSpPr>
            <a:cxnSpLocks/>
            <a:endCxn id="31" idx="4"/>
          </p:cNvCxnSpPr>
          <p:nvPr/>
        </p:nvCxnSpPr>
        <p:spPr>
          <a:xfrm flipV="1">
            <a:off x="5940309" y="3415268"/>
            <a:ext cx="0" cy="4294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FF33A08-65C2-E546-9F52-128EFF12942E}"/>
              </a:ext>
            </a:extLst>
          </p:cNvPr>
          <p:cNvCxnSpPr>
            <a:cxnSpLocks/>
            <a:endCxn id="32" idx="4"/>
          </p:cNvCxnSpPr>
          <p:nvPr/>
        </p:nvCxnSpPr>
        <p:spPr>
          <a:xfrm flipH="1" flipV="1">
            <a:off x="9912756" y="2464036"/>
            <a:ext cx="0" cy="136405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F1CD8F1-0923-FC45-A088-26D8A13DB230}"/>
              </a:ext>
            </a:extLst>
          </p:cNvPr>
          <p:cNvCxnSpPr>
            <a:cxnSpLocks/>
            <a:endCxn id="33" idx="4"/>
          </p:cNvCxnSpPr>
          <p:nvPr/>
        </p:nvCxnSpPr>
        <p:spPr>
          <a:xfrm flipV="1">
            <a:off x="7933530" y="3428059"/>
            <a:ext cx="0" cy="4294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EA83766-BD2B-4740-B9B6-673BAE8C354B}"/>
              </a:ext>
            </a:extLst>
          </p:cNvPr>
          <p:cNvCxnSpPr>
            <a:cxnSpLocks/>
          </p:cNvCxnSpPr>
          <p:nvPr/>
        </p:nvCxnSpPr>
        <p:spPr>
          <a:xfrm>
            <a:off x="5074013" y="2343848"/>
            <a:ext cx="57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1BF0E73-DCD4-7946-8DF7-9E4C14415083}"/>
              </a:ext>
            </a:extLst>
          </p:cNvPr>
          <p:cNvCxnSpPr>
            <a:cxnSpLocks/>
          </p:cNvCxnSpPr>
          <p:nvPr/>
        </p:nvCxnSpPr>
        <p:spPr>
          <a:xfrm>
            <a:off x="1355808" y="4322572"/>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D071C79-9A71-8A4E-BE7D-8180EE1E2F4C}"/>
              </a:ext>
            </a:extLst>
          </p:cNvPr>
          <p:cNvCxnSpPr>
            <a:cxnSpLocks/>
          </p:cNvCxnSpPr>
          <p:nvPr/>
        </p:nvCxnSpPr>
        <p:spPr>
          <a:xfrm>
            <a:off x="1355808" y="3238201"/>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7094B90C-949D-ED4A-958A-1ABA4C3040ED}"/>
              </a:ext>
            </a:extLst>
          </p:cNvPr>
          <p:cNvSpPr/>
          <p:nvPr/>
        </p:nvSpPr>
        <p:spPr>
          <a:xfrm>
            <a:off x="1929201" y="3096152"/>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16" name="Rectangle 15">
            <a:extLst>
              <a:ext uri="{FF2B5EF4-FFF2-40B4-BE49-F238E27FC236}">
                <a16:creationId xmlns:a16="http://schemas.microsoft.com/office/drawing/2014/main" id="{28290164-9C05-0641-941F-8A738FC60007}"/>
              </a:ext>
            </a:extLst>
          </p:cNvPr>
          <p:cNvSpPr/>
          <p:nvPr/>
        </p:nvSpPr>
        <p:spPr>
          <a:xfrm>
            <a:off x="1704201" y="3962572"/>
            <a:ext cx="720000" cy="720000"/>
          </a:xfrm>
          <a:prstGeom prst="rect">
            <a:avLst/>
          </a:prstGeom>
          <a:solidFill>
            <a:srgbClr val="9B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Z</a:t>
            </a:r>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6FD3436-09E2-5749-A5E5-10B5DE2ED9D8}"/>
                  </a:ext>
                </a:extLst>
              </p:cNvPr>
              <p:cNvSpPr/>
              <p:nvPr/>
            </p:nvSpPr>
            <p:spPr>
              <a:xfrm>
                <a:off x="3404339" y="2915035"/>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17" name="Rectangle 16">
                <a:extLst>
                  <a:ext uri="{FF2B5EF4-FFF2-40B4-BE49-F238E27FC236}">
                    <a16:creationId xmlns:a16="http://schemas.microsoft.com/office/drawing/2014/main" id="{06FD3436-09E2-5749-A5E5-10B5DE2ED9D8}"/>
                  </a:ext>
                </a:extLst>
              </p:cNvPr>
              <p:cNvSpPr>
                <a:spLocks noRot="1" noChangeAspect="1" noMove="1" noResize="1" noEditPoints="1" noAdjustHandles="1" noChangeArrowheads="1" noChangeShapeType="1" noTextEdit="1"/>
              </p:cNvSpPr>
              <p:nvPr/>
            </p:nvSpPr>
            <p:spPr>
              <a:xfrm>
                <a:off x="3404339" y="2915035"/>
                <a:ext cx="633507" cy="646331"/>
              </a:xfrm>
              <a:prstGeom prst="rect">
                <a:avLst/>
              </a:prstGeom>
              <a:blipFill>
                <a:blip r:embed="rId4"/>
                <a:stretch>
                  <a:fillRect/>
                </a:stretch>
              </a:blipFill>
            </p:spPr>
            <p:txBody>
              <a:bodyPr/>
              <a:lstStyle/>
              <a:p>
                <a:r>
                  <a:rPr lang="en-US">
                    <a:noFill/>
                  </a:rPr>
                  <a:t> </a:t>
                </a:r>
              </a:p>
            </p:txBody>
          </p:sp>
        </mc:Fallback>
      </mc:AlternateContent>
      <p:cxnSp>
        <p:nvCxnSpPr>
          <p:cNvPr id="18" name="Straight Connector 17">
            <a:extLst>
              <a:ext uri="{FF2B5EF4-FFF2-40B4-BE49-F238E27FC236}">
                <a16:creationId xmlns:a16="http://schemas.microsoft.com/office/drawing/2014/main" id="{87FDB464-8703-4A41-A4F5-3F4088C0399F}"/>
              </a:ext>
            </a:extLst>
          </p:cNvPr>
          <p:cNvCxnSpPr>
            <a:cxnSpLocks/>
          </p:cNvCxnSpPr>
          <p:nvPr/>
        </p:nvCxnSpPr>
        <p:spPr>
          <a:xfrm>
            <a:off x="5190418" y="4216687"/>
            <a:ext cx="57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AD3EDD2-FEE7-CC42-BBC0-9AA3F127465C}"/>
              </a:ext>
            </a:extLst>
          </p:cNvPr>
          <p:cNvCxnSpPr>
            <a:cxnSpLocks/>
          </p:cNvCxnSpPr>
          <p:nvPr/>
        </p:nvCxnSpPr>
        <p:spPr>
          <a:xfrm>
            <a:off x="5074013" y="3288129"/>
            <a:ext cx="57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7E91E0F8-BF1A-D645-B788-6A36EF92BC5C}"/>
              </a:ext>
            </a:extLst>
          </p:cNvPr>
          <p:cNvGrpSpPr/>
          <p:nvPr/>
        </p:nvGrpSpPr>
        <p:grpSpPr>
          <a:xfrm rot="10800000">
            <a:off x="6482262" y="2208849"/>
            <a:ext cx="720000" cy="1396107"/>
            <a:chOff x="2596286" y="1207649"/>
            <a:chExt cx="720000" cy="1396107"/>
          </a:xfrm>
        </p:grpSpPr>
        <p:sp>
          <p:nvSpPr>
            <p:cNvPr id="21" name="Oval 20">
              <a:extLst>
                <a:ext uri="{FF2B5EF4-FFF2-40B4-BE49-F238E27FC236}">
                  <a16:creationId xmlns:a16="http://schemas.microsoft.com/office/drawing/2014/main" id="{51B73278-30FD-5046-8053-EB8E7CBA5985}"/>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2" name="Oval 21">
              <a:extLst>
                <a:ext uri="{FF2B5EF4-FFF2-40B4-BE49-F238E27FC236}">
                  <a16:creationId xmlns:a16="http://schemas.microsoft.com/office/drawing/2014/main" id="{E8B0804E-ED43-CA41-B488-9FE08256CBC7}"/>
                </a:ext>
              </a:extLst>
            </p:cNvPr>
            <p:cNvSpPr/>
            <p:nvPr/>
          </p:nvSpPr>
          <p:spPr>
            <a:xfrm flipV="1">
              <a:off x="2821286" y="233375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3" name="Straight Connector 22">
              <a:extLst>
                <a:ext uri="{FF2B5EF4-FFF2-40B4-BE49-F238E27FC236}">
                  <a16:creationId xmlns:a16="http://schemas.microsoft.com/office/drawing/2014/main" id="{B2421941-6DB1-7445-90FC-6DEC4E92EC55}"/>
                </a:ext>
              </a:extLst>
            </p:cNvPr>
            <p:cNvCxnSpPr>
              <a:cxnSpLocks/>
              <a:stCxn id="22" idx="4"/>
              <a:endCxn id="21" idx="0"/>
            </p:cNvCxnSpPr>
            <p:nvPr/>
          </p:nvCxnSpPr>
          <p:spPr>
            <a:xfrm>
              <a:off x="2956286" y="1927649"/>
              <a:ext cx="0" cy="4061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4E112EC1-93F3-C24D-8412-5AD69296D5D2}"/>
              </a:ext>
            </a:extLst>
          </p:cNvPr>
          <p:cNvGrpSpPr/>
          <p:nvPr/>
        </p:nvGrpSpPr>
        <p:grpSpPr>
          <a:xfrm rot="10800000">
            <a:off x="8497241" y="2204496"/>
            <a:ext cx="720000" cy="1396107"/>
            <a:chOff x="2596286" y="1207649"/>
            <a:chExt cx="720000" cy="1396107"/>
          </a:xfrm>
        </p:grpSpPr>
        <p:sp>
          <p:nvSpPr>
            <p:cNvPr id="27" name="Oval 26">
              <a:extLst>
                <a:ext uri="{FF2B5EF4-FFF2-40B4-BE49-F238E27FC236}">
                  <a16:creationId xmlns:a16="http://schemas.microsoft.com/office/drawing/2014/main" id="{A043C9A8-569A-6347-95DD-B10A866EA3FA}"/>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8" name="Oval 27">
              <a:extLst>
                <a:ext uri="{FF2B5EF4-FFF2-40B4-BE49-F238E27FC236}">
                  <a16:creationId xmlns:a16="http://schemas.microsoft.com/office/drawing/2014/main" id="{C8B8C023-059A-0A4F-87A9-18EC55EA578A}"/>
                </a:ext>
              </a:extLst>
            </p:cNvPr>
            <p:cNvSpPr/>
            <p:nvPr/>
          </p:nvSpPr>
          <p:spPr>
            <a:xfrm flipV="1">
              <a:off x="2821286" y="233375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9" name="Straight Connector 28">
              <a:extLst>
                <a:ext uri="{FF2B5EF4-FFF2-40B4-BE49-F238E27FC236}">
                  <a16:creationId xmlns:a16="http://schemas.microsoft.com/office/drawing/2014/main" id="{8B542B88-65D7-034A-9CF1-CF7B995B360C}"/>
                </a:ext>
              </a:extLst>
            </p:cNvPr>
            <p:cNvCxnSpPr>
              <a:cxnSpLocks/>
              <a:stCxn id="28" idx="4"/>
              <a:endCxn id="27" idx="0"/>
            </p:cNvCxnSpPr>
            <p:nvPr/>
          </p:nvCxnSpPr>
          <p:spPr>
            <a:xfrm>
              <a:off x="2956286" y="1927649"/>
              <a:ext cx="0" cy="4061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02DD00D2-8327-BE47-857E-49DBD5074B5C}"/>
              </a:ext>
            </a:extLst>
          </p:cNvPr>
          <p:cNvSpPr/>
          <p:nvPr/>
        </p:nvSpPr>
        <p:spPr>
          <a:xfrm>
            <a:off x="5808505" y="3145268"/>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32" name="Oval 31">
            <a:extLst>
              <a:ext uri="{FF2B5EF4-FFF2-40B4-BE49-F238E27FC236}">
                <a16:creationId xmlns:a16="http://schemas.microsoft.com/office/drawing/2014/main" id="{879EDF7D-02D5-3646-9D42-4FE59A1C4148}"/>
              </a:ext>
            </a:extLst>
          </p:cNvPr>
          <p:cNvSpPr/>
          <p:nvPr/>
        </p:nvSpPr>
        <p:spPr>
          <a:xfrm>
            <a:off x="9777756" y="219403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33" name="Oval 32">
            <a:extLst>
              <a:ext uri="{FF2B5EF4-FFF2-40B4-BE49-F238E27FC236}">
                <a16:creationId xmlns:a16="http://schemas.microsoft.com/office/drawing/2014/main" id="{EFAB07E3-0C36-DE4F-AB57-26ADB0D4C7E3}"/>
              </a:ext>
            </a:extLst>
          </p:cNvPr>
          <p:cNvSpPr/>
          <p:nvPr/>
        </p:nvSpPr>
        <p:spPr>
          <a:xfrm>
            <a:off x="7801726" y="3158059"/>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4" name="Straight Connector 33">
            <a:extLst>
              <a:ext uri="{FF2B5EF4-FFF2-40B4-BE49-F238E27FC236}">
                <a16:creationId xmlns:a16="http://schemas.microsoft.com/office/drawing/2014/main" id="{D06C5AE2-1960-0A4B-AB29-C298681C4087}"/>
              </a:ext>
            </a:extLst>
          </p:cNvPr>
          <p:cNvCxnSpPr>
            <a:cxnSpLocks/>
          </p:cNvCxnSpPr>
          <p:nvPr/>
        </p:nvCxnSpPr>
        <p:spPr>
          <a:xfrm>
            <a:off x="1355807" y="2346917"/>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2845070C-0CC7-BE4C-A073-BE9412EB34BA}"/>
              </a:ext>
            </a:extLst>
          </p:cNvPr>
          <p:cNvSpPr/>
          <p:nvPr/>
        </p:nvSpPr>
        <p:spPr>
          <a:xfrm>
            <a:off x="1929201" y="2211917"/>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9E7E850-7FE1-3340-8BB3-057A3802E030}"/>
                  </a:ext>
                </a:extLst>
              </p:cNvPr>
              <p:cNvSpPr txBox="1"/>
              <p:nvPr/>
            </p:nvSpPr>
            <p:spPr>
              <a:xfrm>
                <a:off x="2782784" y="2601129"/>
                <a:ext cx="205306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𝑈</m:t>
                      </m:r>
                      <m:r>
                        <a:rPr lang="en-US" sz="2800" b="0" i="1" smtClean="0">
                          <a:latin typeface="Cambria Math" panose="02040503050406030204" pitchFamily="18" charset="0"/>
                        </a:rPr>
                        <m:t>=</m:t>
                      </m:r>
                      <m:r>
                        <a:rPr lang="en-US" sz="2800" b="0" i="1" smtClean="0">
                          <a:latin typeface="Cambria Math" panose="02040503050406030204" pitchFamily="18" charset="0"/>
                        </a:rPr>
                        <m:t>𝑍</m:t>
                      </m:r>
                      <m:r>
                        <a:rPr lang="sr-Latn-RS" sz="2800" b="0" i="1" smtClean="0">
                          <a:latin typeface="Cambria Math" panose="02040503050406030204" pitchFamily="18" charset="0"/>
                        </a:rPr>
                        <m:t>=</m:t>
                      </m:r>
                      <m:sSup>
                        <m:sSupPr>
                          <m:ctrlPr>
                            <a:rPr lang="sr-Latn-RS" sz="2800" b="0" i="1" smtClean="0">
                              <a:latin typeface="Cambria Math" panose="02040503050406030204" pitchFamily="18" charset="0"/>
                            </a:rPr>
                          </m:ctrlPr>
                        </m:sSupPr>
                        <m:e>
                          <m:r>
                            <a:rPr lang="en-US" sz="2800" b="0" i="1" smtClean="0">
                              <a:latin typeface="Cambria Math" panose="02040503050406030204" pitchFamily="18" charset="0"/>
                            </a:rPr>
                            <m:t>𝑆</m:t>
                          </m:r>
                        </m:e>
                        <m:sup>
                          <m:r>
                            <a:rPr lang="sr-Latn-RS" sz="2800" b="0" i="1" smtClean="0">
                              <a:latin typeface="Cambria Math" panose="02040503050406030204" pitchFamily="18" charset="0"/>
                            </a:rPr>
                            <m:t>2</m:t>
                          </m:r>
                        </m:sup>
                      </m:sSup>
                    </m:oMath>
                  </m:oMathPara>
                </a14:m>
                <a:endParaRPr lang="en-US" sz="2800" dirty="0"/>
              </a:p>
            </p:txBody>
          </p:sp>
        </mc:Choice>
        <mc:Fallback xmlns="">
          <p:sp>
            <p:nvSpPr>
              <p:cNvPr id="36" name="TextBox 35">
                <a:extLst>
                  <a:ext uri="{FF2B5EF4-FFF2-40B4-BE49-F238E27FC236}">
                    <a16:creationId xmlns:a16="http://schemas.microsoft.com/office/drawing/2014/main" id="{19E7E850-7FE1-3340-8BB3-057A3802E030}"/>
                  </a:ext>
                </a:extLst>
              </p:cNvPr>
              <p:cNvSpPr txBox="1">
                <a:spLocks noRot="1" noChangeAspect="1" noMove="1" noResize="1" noEditPoints="1" noAdjustHandles="1" noChangeArrowheads="1" noChangeShapeType="1" noTextEdit="1"/>
              </p:cNvSpPr>
              <p:nvPr/>
            </p:nvSpPr>
            <p:spPr>
              <a:xfrm>
                <a:off x="2782784" y="2601129"/>
                <a:ext cx="2053063"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3D9D2E97-EE54-F546-9BF4-DA1A6B52FF76}"/>
                  </a:ext>
                </a:extLst>
              </p:cNvPr>
              <p:cNvSpPr/>
              <p:nvPr/>
            </p:nvSpPr>
            <p:spPr>
              <a:xfrm>
                <a:off x="777071" y="2076885"/>
                <a:ext cx="651653" cy="9541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sr-Latn-RS" sz="2800" b="0" i="1" smtClean="0">
                              <a:latin typeface="Cambria Math" panose="02040503050406030204" pitchFamily="18" charset="0"/>
                            </a:rPr>
                            <m:t>𝑐</m:t>
                          </m:r>
                        </m:e>
                        <m:sub>
                          <m:r>
                            <a:rPr lang="en-US" sz="2800" i="1">
                              <a:latin typeface="Cambria Math" panose="02040503050406030204" pitchFamily="18" charset="0"/>
                            </a:rPr>
                            <m:t>1</m:t>
                          </m:r>
                        </m:sub>
                      </m:sSub>
                    </m:oMath>
                  </m:oMathPara>
                </a14:m>
                <a:endParaRPr lang="en-US" sz="2800" dirty="0"/>
              </a:p>
              <a:p>
                <a:endParaRPr lang="en-US" sz="2800" dirty="0"/>
              </a:p>
            </p:txBody>
          </p:sp>
        </mc:Choice>
        <mc:Fallback xmlns="">
          <p:sp>
            <p:nvSpPr>
              <p:cNvPr id="37" name="Rectangle 36">
                <a:extLst>
                  <a:ext uri="{FF2B5EF4-FFF2-40B4-BE49-F238E27FC236}">
                    <a16:creationId xmlns:a16="http://schemas.microsoft.com/office/drawing/2014/main" id="{3D9D2E97-EE54-F546-9BF4-DA1A6B52FF76}"/>
                  </a:ext>
                </a:extLst>
              </p:cNvPr>
              <p:cNvSpPr>
                <a:spLocks noRot="1" noChangeAspect="1" noMove="1" noResize="1" noEditPoints="1" noAdjustHandles="1" noChangeArrowheads="1" noChangeShapeType="1" noTextEdit="1"/>
              </p:cNvSpPr>
              <p:nvPr/>
            </p:nvSpPr>
            <p:spPr>
              <a:xfrm>
                <a:off x="777071" y="2076885"/>
                <a:ext cx="651653" cy="95410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E5E71D84-E822-794F-AE7C-0772854C04A0}"/>
                  </a:ext>
                </a:extLst>
              </p:cNvPr>
              <p:cNvSpPr/>
              <p:nvPr/>
            </p:nvSpPr>
            <p:spPr>
              <a:xfrm>
                <a:off x="780630" y="2833154"/>
                <a:ext cx="58990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sr-Latn-RS" sz="2800" b="0" i="1" smtClean="0">
                              <a:latin typeface="Cambria Math" panose="02040503050406030204" pitchFamily="18" charset="0"/>
                            </a:rPr>
                            <m:t>𝑐</m:t>
                          </m:r>
                        </m:e>
                        <m:sub>
                          <m:r>
                            <a:rPr lang="sr-Latn-RS" sz="2800" b="0" i="1" smtClean="0">
                              <a:latin typeface="Cambria Math" panose="02040503050406030204" pitchFamily="18" charset="0"/>
                            </a:rPr>
                            <m:t>2</m:t>
                          </m:r>
                        </m:sub>
                      </m:sSub>
                    </m:oMath>
                  </m:oMathPara>
                </a14:m>
                <a:endParaRPr lang="en-US" sz="2800" dirty="0"/>
              </a:p>
            </p:txBody>
          </p:sp>
        </mc:Choice>
        <mc:Fallback xmlns="">
          <p:sp>
            <p:nvSpPr>
              <p:cNvPr id="38" name="Rectangle 37">
                <a:extLst>
                  <a:ext uri="{FF2B5EF4-FFF2-40B4-BE49-F238E27FC236}">
                    <a16:creationId xmlns:a16="http://schemas.microsoft.com/office/drawing/2014/main" id="{E5E71D84-E822-794F-AE7C-0772854C04A0}"/>
                  </a:ext>
                </a:extLst>
              </p:cNvPr>
              <p:cNvSpPr>
                <a:spLocks noRot="1" noChangeAspect="1" noMove="1" noResize="1" noEditPoints="1" noAdjustHandles="1" noChangeArrowheads="1" noChangeShapeType="1" noTextEdit="1"/>
              </p:cNvSpPr>
              <p:nvPr/>
            </p:nvSpPr>
            <p:spPr>
              <a:xfrm>
                <a:off x="780630" y="2833154"/>
                <a:ext cx="589905"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7FE58203-907D-0440-8AA9-2E0AB15A72F5}"/>
                  </a:ext>
                </a:extLst>
              </p:cNvPr>
              <p:cNvSpPr/>
              <p:nvPr/>
            </p:nvSpPr>
            <p:spPr>
              <a:xfrm>
                <a:off x="796705" y="3955077"/>
                <a:ext cx="41626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𝑡</m:t>
                      </m:r>
                    </m:oMath>
                  </m:oMathPara>
                </a14:m>
                <a:endParaRPr lang="en-US" sz="2800" dirty="0"/>
              </a:p>
            </p:txBody>
          </p:sp>
        </mc:Choice>
        <mc:Fallback xmlns="">
          <p:sp>
            <p:nvSpPr>
              <p:cNvPr id="39" name="Rectangle 38">
                <a:extLst>
                  <a:ext uri="{FF2B5EF4-FFF2-40B4-BE49-F238E27FC236}">
                    <a16:creationId xmlns:a16="http://schemas.microsoft.com/office/drawing/2014/main" id="{7FE58203-907D-0440-8AA9-2E0AB15A72F5}"/>
                  </a:ext>
                </a:extLst>
              </p:cNvPr>
              <p:cNvSpPr>
                <a:spLocks noRot="1" noChangeAspect="1" noMove="1" noResize="1" noEditPoints="1" noAdjustHandles="1" noChangeArrowheads="1" noChangeShapeType="1" noTextEdit="1"/>
              </p:cNvSpPr>
              <p:nvPr/>
            </p:nvSpPr>
            <p:spPr>
              <a:xfrm>
                <a:off x="796705" y="3955077"/>
                <a:ext cx="416268"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C45F75FE-3505-F54A-81B7-567F33616589}"/>
                  </a:ext>
                </a:extLst>
              </p:cNvPr>
              <p:cNvSpPr/>
              <p:nvPr/>
            </p:nvSpPr>
            <p:spPr>
              <a:xfrm>
                <a:off x="4534738" y="1979363"/>
                <a:ext cx="651653" cy="9541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sr-Latn-RS" sz="2800" b="0" i="1" smtClean="0">
                              <a:latin typeface="Cambria Math" panose="02040503050406030204" pitchFamily="18" charset="0"/>
                            </a:rPr>
                            <m:t>𝑐</m:t>
                          </m:r>
                        </m:e>
                        <m:sub>
                          <m:r>
                            <a:rPr lang="en-US" sz="2800" i="1">
                              <a:latin typeface="Cambria Math" panose="02040503050406030204" pitchFamily="18" charset="0"/>
                            </a:rPr>
                            <m:t>1</m:t>
                          </m:r>
                        </m:sub>
                      </m:sSub>
                    </m:oMath>
                  </m:oMathPara>
                </a14:m>
                <a:endParaRPr lang="en-US" sz="2800" dirty="0"/>
              </a:p>
              <a:p>
                <a:endParaRPr lang="en-US" sz="2800" dirty="0"/>
              </a:p>
            </p:txBody>
          </p:sp>
        </mc:Choice>
        <mc:Fallback xmlns="">
          <p:sp>
            <p:nvSpPr>
              <p:cNvPr id="40" name="Rectangle 39">
                <a:extLst>
                  <a:ext uri="{FF2B5EF4-FFF2-40B4-BE49-F238E27FC236}">
                    <a16:creationId xmlns:a16="http://schemas.microsoft.com/office/drawing/2014/main" id="{C45F75FE-3505-F54A-81B7-567F33616589}"/>
                  </a:ext>
                </a:extLst>
              </p:cNvPr>
              <p:cNvSpPr>
                <a:spLocks noRot="1" noChangeAspect="1" noMove="1" noResize="1" noEditPoints="1" noAdjustHandles="1" noChangeArrowheads="1" noChangeShapeType="1" noTextEdit="1"/>
              </p:cNvSpPr>
              <p:nvPr/>
            </p:nvSpPr>
            <p:spPr>
              <a:xfrm>
                <a:off x="4534738" y="1979363"/>
                <a:ext cx="651653" cy="95410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DC194717-D3A5-6A4B-BCAD-489FC53FF945}"/>
                  </a:ext>
                </a:extLst>
              </p:cNvPr>
              <p:cNvSpPr/>
              <p:nvPr/>
            </p:nvSpPr>
            <p:spPr>
              <a:xfrm>
                <a:off x="4538297" y="2735632"/>
                <a:ext cx="58990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sr-Latn-RS" sz="2800" b="0" i="1" smtClean="0">
                              <a:latin typeface="Cambria Math" panose="02040503050406030204" pitchFamily="18" charset="0"/>
                            </a:rPr>
                            <m:t>𝑐</m:t>
                          </m:r>
                        </m:e>
                        <m:sub>
                          <m:r>
                            <a:rPr lang="sr-Latn-RS" sz="2800" b="0" i="1" smtClean="0">
                              <a:latin typeface="Cambria Math" panose="02040503050406030204" pitchFamily="18" charset="0"/>
                            </a:rPr>
                            <m:t>2</m:t>
                          </m:r>
                        </m:sub>
                      </m:sSub>
                    </m:oMath>
                  </m:oMathPara>
                </a14:m>
                <a:endParaRPr lang="en-US" sz="2800" dirty="0"/>
              </a:p>
            </p:txBody>
          </p:sp>
        </mc:Choice>
        <mc:Fallback xmlns="">
          <p:sp>
            <p:nvSpPr>
              <p:cNvPr id="41" name="Rectangle 40">
                <a:extLst>
                  <a:ext uri="{FF2B5EF4-FFF2-40B4-BE49-F238E27FC236}">
                    <a16:creationId xmlns:a16="http://schemas.microsoft.com/office/drawing/2014/main" id="{DC194717-D3A5-6A4B-BCAD-489FC53FF945}"/>
                  </a:ext>
                </a:extLst>
              </p:cNvPr>
              <p:cNvSpPr>
                <a:spLocks noRot="1" noChangeAspect="1" noMove="1" noResize="1" noEditPoints="1" noAdjustHandles="1" noChangeArrowheads="1" noChangeShapeType="1" noTextEdit="1"/>
              </p:cNvSpPr>
              <p:nvPr/>
            </p:nvSpPr>
            <p:spPr>
              <a:xfrm>
                <a:off x="4538297" y="2735632"/>
                <a:ext cx="589905"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412FAA15-4B90-5148-8A76-44071D5523A0}"/>
                  </a:ext>
                </a:extLst>
              </p:cNvPr>
              <p:cNvSpPr/>
              <p:nvPr/>
            </p:nvSpPr>
            <p:spPr>
              <a:xfrm>
                <a:off x="4608159" y="3857555"/>
                <a:ext cx="41626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𝑡</m:t>
                      </m:r>
                    </m:oMath>
                  </m:oMathPara>
                </a14:m>
                <a:endParaRPr lang="en-US" sz="2800" dirty="0"/>
              </a:p>
            </p:txBody>
          </p:sp>
        </mc:Choice>
        <mc:Fallback xmlns="">
          <p:sp>
            <p:nvSpPr>
              <p:cNvPr id="42" name="Rectangle 41">
                <a:extLst>
                  <a:ext uri="{FF2B5EF4-FFF2-40B4-BE49-F238E27FC236}">
                    <a16:creationId xmlns:a16="http://schemas.microsoft.com/office/drawing/2014/main" id="{412FAA15-4B90-5148-8A76-44071D5523A0}"/>
                  </a:ext>
                </a:extLst>
              </p:cNvPr>
              <p:cNvSpPr>
                <a:spLocks noRot="1" noChangeAspect="1" noMove="1" noResize="1" noEditPoints="1" noAdjustHandles="1" noChangeArrowheads="1" noChangeShapeType="1" noTextEdit="1"/>
              </p:cNvSpPr>
              <p:nvPr/>
            </p:nvSpPr>
            <p:spPr>
              <a:xfrm>
                <a:off x="4608159" y="3857555"/>
                <a:ext cx="416268" cy="523220"/>
              </a:xfrm>
              <a:prstGeom prst="rect">
                <a:avLst/>
              </a:prstGeom>
              <a:blipFill>
                <a:blip r:embed="rId11"/>
                <a:stretch>
                  <a:fillRect/>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4E16BD97-1523-0D45-A1EB-7B0F4E05A2D5}"/>
              </a:ext>
            </a:extLst>
          </p:cNvPr>
          <p:cNvSpPr/>
          <p:nvPr/>
        </p:nvSpPr>
        <p:spPr>
          <a:xfrm>
            <a:off x="5600697" y="3856687"/>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Times" pitchFamily="2" charset="0"/>
              </a:rPr>
              <a:t>S</a:t>
            </a:r>
          </a:p>
        </p:txBody>
      </p:sp>
      <p:sp>
        <p:nvSpPr>
          <p:cNvPr id="44" name="Rectangle 43">
            <a:extLst>
              <a:ext uri="{FF2B5EF4-FFF2-40B4-BE49-F238E27FC236}">
                <a16:creationId xmlns:a16="http://schemas.microsoft.com/office/drawing/2014/main" id="{4F044832-8AB1-E246-94FB-20E642C3BD41}"/>
              </a:ext>
            </a:extLst>
          </p:cNvPr>
          <p:cNvSpPr/>
          <p:nvPr/>
        </p:nvSpPr>
        <p:spPr>
          <a:xfrm>
            <a:off x="7606701" y="3856687"/>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Times" pitchFamily="2" charset="0"/>
              </a:rPr>
              <a:t>S</a:t>
            </a:r>
            <a:r>
              <a:rPr lang="en-US" sz="3600" baseline="30000" dirty="0">
                <a:solidFill>
                  <a:schemeClr val="tx1"/>
                </a:solidFill>
                <a:latin typeface="Times" pitchFamily="2" charset="0"/>
              </a:rPr>
              <a:t>†</a:t>
            </a:r>
          </a:p>
        </p:txBody>
      </p:sp>
      <p:sp>
        <p:nvSpPr>
          <p:cNvPr id="45" name="Rectangle 44">
            <a:extLst>
              <a:ext uri="{FF2B5EF4-FFF2-40B4-BE49-F238E27FC236}">
                <a16:creationId xmlns:a16="http://schemas.microsoft.com/office/drawing/2014/main" id="{9128E681-E013-E444-81B9-D0D2A5101CBE}"/>
              </a:ext>
            </a:extLst>
          </p:cNvPr>
          <p:cNvSpPr/>
          <p:nvPr/>
        </p:nvSpPr>
        <p:spPr>
          <a:xfrm>
            <a:off x="9579534" y="3828091"/>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Times" pitchFamily="2" charset="0"/>
              </a:rPr>
              <a:t>S</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671ACC08-8C7A-EE4A-91CD-956E185E1AD0}"/>
                  </a:ext>
                </a:extLst>
              </p:cNvPr>
              <p:cNvSpPr/>
              <p:nvPr/>
            </p:nvSpPr>
            <p:spPr>
              <a:xfrm>
                <a:off x="5178055" y="4457666"/>
                <a:ext cx="50225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𝑉</m:t>
                      </m:r>
                    </m:oMath>
                  </m:oMathPara>
                </a14:m>
                <a:endParaRPr lang="en-US" sz="2800" dirty="0"/>
              </a:p>
            </p:txBody>
          </p:sp>
        </mc:Choice>
        <mc:Fallback xmlns="">
          <p:sp>
            <p:nvSpPr>
              <p:cNvPr id="4" name="Rectangle 3">
                <a:extLst>
                  <a:ext uri="{FF2B5EF4-FFF2-40B4-BE49-F238E27FC236}">
                    <a16:creationId xmlns:a16="http://schemas.microsoft.com/office/drawing/2014/main" id="{671ACC08-8C7A-EE4A-91CD-956E185E1AD0}"/>
                  </a:ext>
                </a:extLst>
              </p:cNvPr>
              <p:cNvSpPr>
                <a:spLocks noRot="1" noChangeAspect="1" noMove="1" noResize="1" noEditPoints="1" noAdjustHandles="1" noChangeArrowheads="1" noChangeShapeType="1" noTextEdit="1"/>
              </p:cNvSpPr>
              <p:nvPr/>
            </p:nvSpPr>
            <p:spPr>
              <a:xfrm>
                <a:off x="5178055" y="4457666"/>
                <a:ext cx="502252"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F2E14784-D8BB-3245-A22A-733C3EBEFC05}"/>
                  </a:ext>
                </a:extLst>
              </p:cNvPr>
              <p:cNvSpPr/>
              <p:nvPr/>
            </p:nvSpPr>
            <p:spPr>
              <a:xfrm>
                <a:off x="9110453" y="4511314"/>
                <a:ext cx="50225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𝑉</m:t>
                      </m:r>
                    </m:oMath>
                  </m:oMathPara>
                </a14:m>
                <a:endParaRPr lang="en-US" sz="2800" dirty="0"/>
              </a:p>
            </p:txBody>
          </p:sp>
        </mc:Choice>
        <mc:Fallback xmlns="">
          <p:sp>
            <p:nvSpPr>
              <p:cNvPr id="46" name="Rectangle 45">
                <a:extLst>
                  <a:ext uri="{FF2B5EF4-FFF2-40B4-BE49-F238E27FC236}">
                    <a16:creationId xmlns:a16="http://schemas.microsoft.com/office/drawing/2014/main" id="{F2E14784-D8BB-3245-A22A-733C3EBEFC05}"/>
                  </a:ext>
                </a:extLst>
              </p:cNvPr>
              <p:cNvSpPr>
                <a:spLocks noRot="1" noChangeAspect="1" noMove="1" noResize="1" noEditPoints="1" noAdjustHandles="1" noChangeArrowheads="1" noChangeShapeType="1" noTextEdit="1"/>
              </p:cNvSpPr>
              <p:nvPr/>
            </p:nvSpPr>
            <p:spPr>
              <a:xfrm>
                <a:off x="9110453" y="4511314"/>
                <a:ext cx="502252" cy="52322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B7310F7F-82F3-9146-A975-548D2B1D4CF6}"/>
                  </a:ext>
                </a:extLst>
              </p:cNvPr>
              <p:cNvSpPr/>
              <p:nvPr/>
            </p:nvSpPr>
            <p:spPr>
              <a:xfrm>
                <a:off x="7009825" y="4485399"/>
                <a:ext cx="650563" cy="5343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𝑉</m:t>
                          </m:r>
                        </m:e>
                        <m:sup>
                          <m:r>
                            <a:rPr lang="en-US" sz="2800">
                              <a:latin typeface="Cambria Math" panose="02040503050406030204" pitchFamily="18" charset="0"/>
                            </a:rPr>
                            <m:t>†</m:t>
                          </m:r>
                        </m:sup>
                      </m:sSup>
                    </m:oMath>
                  </m:oMathPara>
                </a14:m>
                <a:endParaRPr lang="en-US" sz="2800" baseline="30000" dirty="0"/>
              </a:p>
            </p:txBody>
          </p:sp>
        </mc:Choice>
        <mc:Fallback xmlns="">
          <p:sp>
            <p:nvSpPr>
              <p:cNvPr id="47" name="Rectangle 46">
                <a:extLst>
                  <a:ext uri="{FF2B5EF4-FFF2-40B4-BE49-F238E27FC236}">
                    <a16:creationId xmlns:a16="http://schemas.microsoft.com/office/drawing/2014/main" id="{B7310F7F-82F3-9146-A975-548D2B1D4CF6}"/>
                  </a:ext>
                </a:extLst>
              </p:cNvPr>
              <p:cNvSpPr>
                <a:spLocks noRot="1" noChangeAspect="1" noMove="1" noResize="1" noEditPoints="1" noAdjustHandles="1" noChangeArrowheads="1" noChangeShapeType="1" noTextEdit="1"/>
              </p:cNvSpPr>
              <p:nvPr/>
            </p:nvSpPr>
            <p:spPr>
              <a:xfrm>
                <a:off x="7009825" y="4485399"/>
                <a:ext cx="650563" cy="534377"/>
              </a:xfrm>
              <a:prstGeom prst="rect">
                <a:avLst/>
              </a:prstGeom>
              <a:blipFill>
                <a:blip r:embed="rId14"/>
                <a:stretch>
                  <a:fillRect l="-1961"/>
                </a:stretch>
              </a:blipFill>
            </p:spPr>
            <p:txBody>
              <a:bodyPr/>
              <a:lstStyle/>
              <a:p>
                <a:r>
                  <a:rPr lang="en-US">
                    <a:noFill/>
                  </a:rPr>
                  <a:t> </a:t>
                </a:r>
              </a:p>
            </p:txBody>
          </p:sp>
        </mc:Fallback>
      </mc:AlternateContent>
    </p:spTree>
    <p:extLst>
      <p:ext uri="{BB962C8B-B14F-4D97-AF65-F5344CB8AC3E}">
        <p14:creationId xmlns:p14="http://schemas.microsoft.com/office/powerpoint/2010/main" val="11840831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F4CE3D8-49BE-B84E-A6ED-8813EA0E5C13}"/>
              </a:ext>
            </a:extLst>
          </p:cNvPr>
          <p:cNvSpPr txBox="1"/>
          <p:nvPr/>
        </p:nvSpPr>
        <p:spPr>
          <a:xfrm>
            <a:off x="325464" y="493447"/>
            <a:ext cx="11360258" cy="707886"/>
          </a:xfrm>
          <a:prstGeom prst="rect">
            <a:avLst/>
          </a:prstGeom>
          <a:noFill/>
        </p:spPr>
        <p:txBody>
          <a:bodyPr wrap="square" rtlCol="0">
            <a:spAutoFit/>
          </a:bodyPr>
          <a:lstStyle/>
          <a:p>
            <a:pPr algn="ctr"/>
            <a:r>
              <a:rPr lang="en-ZA" sz="4000" dirty="0">
                <a:latin typeface="Comic Sans MS" panose="030F0902030302020204" pitchFamily="66" charset="0"/>
              </a:rPr>
              <a:t>From Gates to Code</a:t>
            </a:r>
            <a:endParaRPr lang="en-US" sz="4000" dirty="0">
              <a:latin typeface="Comic Sans MS" panose="030F0902030302020204" pitchFamily="66" charset="0"/>
            </a:endParaRPr>
          </a:p>
        </p:txBody>
      </p:sp>
      <p:pic>
        <p:nvPicPr>
          <p:cNvPr id="10" name="Picture 9">
            <a:extLst>
              <a:ext uri="{FF2B5EF4-FFF2-40B4-BE49-F238E27FC236}">
                <a16:creationId xmlns:a16="http://schemas.microsoft.com/office/drawing/2014/main" id="{12CB8BF9-3D0F-DD43-A3E5-CC76D324D57E}"/>
              </a:ext>
            </a:extLst>
          </p:cNvPr>
          <p:cNvPicPr>
            <a:picLocks noChangeAspect="1"/>
          </p:cNvPicPr>
          <p:nvPr/>
        </p:nvPicPr>
        <p:blipFill>
          <a:blip r:embed="rId3"/>
          <a:stretch>
            <a:fillRect/>
          </a:stretch>
        </p:blipFill>
        <p:spPr>
          <a:xfrm>
            <a:off x="5421885" y="3010720"/>
            <a:ext cx="6325786" cy="2734663"/>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
        <p:nvSpPr>
          <p:cNvPr id="11" name="Rectangle 10">
            <a:extLst>
              <a:ext uri="{FF2B5EF4-FFF2-40B4-BE49-F238E27FC236}">
                <a16:creationId xmlns:a16="http://schemas.microsoft.com/office/drawing/2014/main" id="{D7FE1443-9FF2-7B43-96EE-6F67BEDD2175}"/>
              </a:ext>
            </a:extLst>
          </p:cNvPr>
          <p:cNvSpPr/>
          <p:nvPr/>
        </p:nvSpPr>
        <p:spPr>
          <a:xfrm>
            <a:off x="4418701" y="1874353"/>
            <a:ext cx="6096000" cy="4524315"/>
          </a:xfrm>
          <a:prstGeom prst="rect">
            <a:avLst/>
          </a:prstGeom>
        </p:spPr>
        <p:txBody>
          <a:bodyPr>
            <a:spAutoFit/>
          </a:bodyPr>
          <a:lstStyle/>
          <a:p>
            <a:r>
              <a:rPr lang="en-ZA" sz="2400" dirty="0">
                <a:solidFill>
                  <a:srgbClr val="8D8D8D"/>
                </a:solidFill>
                <a:latin typeface="IBM Plex Mono"/>
              </a:rPr>
              <a:t>OPENQASM 2.0</a:t>
            </a:r>
            <a:r>
              <a:rPr lang="en-ZA" sz="2400" dirty="0">
                <a:solidFill>
                  <a:srgbClr val="000000"/>
                </a:solidFill>
                <a:latin typeface="IBM Plex Mono"/>
              </a:rPr>
              <a:t>;</a:t>
            </a:r>
          </a:p>
          <a:p>
            <a:r>
              <a:rPr lang="en-ZA" sz="2400" dirty="0">
                <a:solidFill>
                  <a:srgbClr val="007D79"/>
                </a:solidFill>
                <a:latin typeface="IBM Plex Mono"/>
              </a:rPr>
              <a:t>include</a:t>
            </a:r>
            <a:r>
              <a:rPr lang="en-ZA" sz="2400" dirty="0">
                <a:solidFill>
                  <a:srgbClr val="000000"/>
                </a:solidFill>
                <a:latin typeface="IBM Plex Mono"/>
              </a:rPr>
              <a:t> </a:t>
            </a:r>
            <a:r>
              <a:rPr lang="en-ZA" sz="2400" dirty="0">
                <a:solidFill>
                  <a:srgbClr val="D02670"/>
                </a:solidFill>
                <a:latin typeface="IBM Plex Mono"/>
              </a:rPr>
              <a:t>"qelib1.inc"</a:t>
            </a:r>
            <a:r>
              <a:rPr lang="en-ZA" sz="2400" dirty="0">
                <a:solidFill>
                  <a:srgbClr val="000000"/>
                </a:solidFill>
                <a:latin typeface="IBM Plex Mono"/>
              </a:rPr>
              <a:t>;</a:t>
            </a:r>
          </a:p>
          <a:p>
            <a:br>
              <a:rPr lang="en-ZA" sz="2400" dirty="0">
                <a:solidFill>
                  <a:srgbClr val="000000"/>
                </a:solidFill>
                <a:latin typeface="IBM Plex Mono"/>
              </a:rPr>
            </a:br>
            <a:r>
              <a:rPr lang="en-ZA" sz="2400" dirty="0" err="1">
                <a:solidFill>
                  <a:srgbClr val="007D79"/>
                </a:solidFill>
                <a:latin typeface="IBM Plex Mono"/>
              </a:rPr>
              <a:t>qreg</a:t>
            </a:r>
            <a:r>
              <a:rPr lang="en-ZA" sz="2400" dirty="0">
                <a:solidFill>
                  <a:srgbClr val="000000"/>
                </a:solidFill>
                <a:latin typeface="IBM Plex Mono"/>
              </a:rPr>
              <a:t> </a:t>
            </a:r>
            <a:r>
              <a:rPr lang="en-ZA" sz="2400" dirty="0">
                <a:solidFill>
                  <a:srgbClr val="161616"/>
                </a:solidFill>
                <a:latin typeface="IBM Plex Mono"/>
              </a:rPr>
              <a:t>q</a:t>
            </a:r>
            <a:r>
              <a:rPr lang="en-ZA" sz="2400" dirty="0">
                <a:solidFill>
                  <a:srgbClr val="000000"/>
                </a:solidFill>
                <a:latin typeface="IBM Plex Mono"/>
              </a:rPr>
              <a:t>[</a:t>
            </a:r>
            <a:r>
              <a:rPr lang="en-ZA" sz="2400" dirty="0">
                <a:solidFill>
                  <a:srgbClr val="1192E8"/>
                </a:solidFill>
                <a:latin typeface="IBM Plex Mono"/>
              </a:rPr>
              <a:t>6</a:t>
            </a:r>
            <a:r>
              <a:rPr lang="en-ZA" sz="2400" dirty="0">
                <a:solidFill>
                  <a:srgbClr val="000000"/>
                </a:solidFill>
                <a:latin typeface="IBM Plex Mono"/>
              </a:rPr>
              <a:t>]; </a:t>
            </a:r>
          </a:p>
          <a:p>
            <a:br>
              <a:rPr lang="en-ZA" sz="2400" dirty="0">
                <a:solidFill>
                  <a:srgbClr val="000000"/>
                </a:solidFill>
                <a:latin typeface="IBM Plex Mono"/>
              </a:rPr>
            </a:br>
            <a:r>
              <a:rPr lang="en-ZA" sz="2400" dirty="0">
                <a:solidFill>
                  <a:srgbClr val="007D79"/>
                </a:solidFill>
                <a:latin typeface="IBM Plex Mono"/>
              </a:rPr>
              <a:t>reset</a:t>
            </a:r>
            <a:r>
              <a:rPr lang="en-ZA" sz="2400" dirty="0">
                <a:solidFill>
                  <a:srgbClr val="000000"/>
                </a:solidFill>
                <a:latin typeface="IBM Plex Mono"/>
              </a:rPr>
              <a:t> </a:t>
            </a:r>
            <a:r>
              <a:rPr lang="en-ZA" sz="2400" dirty="0">
                <a:solidFill>
                  <a:srgbClr val="161616"/>
                </a:solidFill>
                <a:latin typeface="IBM Plex Mono"/>
              </a:rPr>
              <a:t>q</a:t>
            </a:r>
            <a:r>
              <a:rPr lang="en-ZA" sz="2400" dirty="0">
                <a:solidFill>
                  <a:srgbClr val="000000"/>
                </a:solidFill>
                <a:latin typeface="IBM Plex Mono"/>
              </a:rPr>
              <a:t>[</a:t>
            </a:r>
            <a:r>
              <a:rPr lang="en-ZA" sz="2400" dirty="0">
                <a:solidFill>
                  <a:srgbClr val="1192E8"/>
                </a:solidFill>
                <a:latin typeface="IBM Plex Mono"/>
              </a:rPr>
              <a:t>0</a:t>
            </a:r>
            <a:r>
              <a:rPr lang="en-ZA" sz="2400" dirty="0">
                <a:solidFill>
                  <a:srgbClr val="000000"/>
                </a:solidFill>
                <a:latin typeface="IBM Plex Mono"/>
              </a:rPr>
              <a:t>]; </a:t>
            </a:r>
          </a:p>
          <a:p>
            <a:r>
              <a:rPr lang="en-ZA" sz="2400" dirty="0" err="1">
                <a:solidFill>
                  <a:srgbClr val="0043CE"/>
                </a:solidFill>
                <a:latin typeface="IBM Plex Mono"/>
              </a:rPr>
              <a:t>sxdg</a:t>
            </a:r>
            <a:r>
              <a:rPr lang="en-ZA" sz="2400" dirty="0">
                <a:solidFill>
                  <a:srgbClr val="000000"/>
                </a:solidFill>
                <a:latin typeface="IBM Plex Mono"/>
              </a:rPr>
              <a:t> </a:t>
            </a:r>
            <a:r>
              <a:rPr lang="en-ZA" sz="2400" dirty="0">
                <a:solidFill>
                  <a:srgbClr val="161616"/>
                </a:solidFill>
                <a:latin typeface="IBM Plex Mono"/>
              </a:rPr>
              <a:t>q</a:t>
            </a:r>
            <a:r>
              <a:rPr lang="en-ZA" sz="2400" dirty="0">
                <a:solidFill>
                  <a:srgbClr val="000000"/>
                </a:solidFill>
                <a:latin typeface="IBM Plex Mono"/>
              </a:rPr>
              <a:t>[</a:t>
            </a:r>
            <a:r>
              <a:rPr lang="en-ZA" sz="2400" dirty="0">
                <a:solidFill>
                  <a:srgbClr val="1192E8"/>
                </a:solidFill>
                <a:latin typeface="IBM Plex Mono"/>
              </a:rPr>
              <a:t>1</a:t>
            </a:r>
            <a:r>
              <a:rPr lang="en-ZA" sz="2400" dirty="0">
                <a:solidFill>
                  <a:srgbClr val="000000"/>
                </a:solidFill>
                <a:latin typeface="IBM Plex Mono"/>
              </a:rPr>
              <a:t>];</a:t>
            </a:r>
          </a:p>
          <a:p>
            <a:r>
              <a:rPr lang="en-ZA" sz="2400" dirty="0">
                <a:solidFill>
                  <a:srgbClr val="0043CE"/>
                </a:solidFill>
                <a:latin typeface="IBM Plex Mono"/>
              </a:rPr>
              <a:t>id</a:t>
            </a:r>
            <a:r>
              <a:rPr lang="en-ZA" sz="2400" dirty="0">
                <a:solidFill>
                  <a:srgbClr val="000000"/>
                </a:solidFill>
                <a:latin typeface="IBM Plex Mono"/>
              </a:rPr>
              <a:t> </a:t>
            </a:r>
            <a:r>
              <a:rPr lang="en-ZA" sz="2400" dirty="0">
                <a:solidFill>
                  <a:srgbClr val="161616"/>
                </a:solidFill>
                <a:latin typeface="IBM Plex Mono"/>
              </a:rPr>
              <a:t>q</a:t>
            </a:r>
            <a:r>
              <a:rPr lang="en-ZA" sz="2400" dirty="0">
                <a:solidFill>
                  <a:srgbClr val="000000"/>
                </a:solidFill>
                <a:latin typeface="IBM Plex Mono"/>
              </a:rPr>
              <a:t>[</a:t>
            </a:r>
            <a:r>
              <a:rPr lang="en-ZA" sz="2400" dirty="0">
                <a:solidFill>
                  <a:srgbClr val="1192E8"/>
                </a:solidFill>
                <a:latin typeface="IBM Plex Mono"/>
              </a:rPr>
              <a:t>0</a:t>
            </a:r>
            <a:r>
              <a:rPr lang="en-ZA" sz="2400" dirty="0">
                <a:solidFill>
                  <a:srgbClr val="000000"/>
                </a:solidFill>
                <a:latin typeface="IBM Plex Mono"/>
              </a:rPr>
              <a:t>];</a:t>
            </a:r>
          </a:p>
          <a:p>
            <a:r>
              <a:rPr lang="en-ZA" sz="2400" dirty="0">
                <a:solidFill>
                  <a:srgbClr val="0043CE"/>
                </a:solidFill>
                <a:latin typeface="IBM Plex Mono"/>
              </a:rPr>
              <a:t>ccx</a:t>
            </a:r>
            <a:r>
              <a:rPr lang="en-ZA" sz="2400" dirty="0">
                <a:solidFill>
                  <a:srgbClr val="000000"/>
                </a:solidFill>
                <a:latin typeface="IBM Plex Mono"/>
              </a:rPr>
              <a:t> </a:t>
            </a:r>
            <a:r>
              <a:rPr lang="en-ZA" sz="2400" dirty="0">
                <a:solidFill>
                  <a:srgbClr val="161616"/>
                </a:solidFill>
                <a:latin typeface="IBM Plex Mono"/>
              </a:rPr>
              <a:t>q</a:t>
            </a:r>
            <a:r>
              <a:rPr lang="en-ZA" sz="2400" dirty="0">
                <a:solidFill>
                  <a:srgbClr val="000000"/>
                </a:solidFill>
                <a:latin typeface="IBM Plex Mono"/>
              </a:rPr>
              <a:t>[</a:t>
            </a:r>
            <a:r>
              <a:rPr lang="en-ZA" sz="2400" dirty="0">
                <a:solidFill>
                  <a:srgbClr val="1192E8"/>
                </a:solidFill>
                <a:latin typeface="IBM Plex Mono"/>
              </a:rPr>
              <a:t>1</a:t>
            </a:r>
            <a:r>
              <a:rPr lang="en-ZA" sz="2400" dirty="0">
                <a:solidFill>
                  <a:srgbClr val="000000"/>
                </a:solidFill>
                <a:latin typeface="IBM Plex Mono"/>
              </a:rPr>
              <a:t>], </a:t>
            </a:r>
            <a:r>
              <a:rPr lang="en-ZA" sz="2400" dirty="0">
                <a:solidFill>
                  <a:srgbClr val="161616"/>
                </a:solidFill>
                <a:latin typeface="IBM Plex Mono"/>
              </a:rPr>
              <a:t>q</a:t>
            </a:r>
            <a:r>
              <a:rPr lang="en-ZA" sz="2400" dirty="0">
                <a:solidFill>
                  <a:srgbClr val="000000"/>
                </a:solidFill>
                <a:latin typeface="IBM Plex Mono"/>
              </a:rPr>
              <a:t>[</a:t>
            </a:r>
            <a:r>
              <a:rPr lang="en-ZA" sz="2400" dirty="0">
                <a:solidFill>
                  <a:srgbClr val="1192E8"/>
                </a:solidFill>
                <a:latin typeface="IBM Plex Mono"/>
              </a:rPr>
              <a:t>2</a:t>
            </a:r>
            <a:r>
              <a:rPr lang="en-ZA" sz="2400" dirty="0">
                <a:solidFill>
                  <a:srgbClr val="000000"/>
                </a:solidFill>
                <a:latin typeface="IBM Plex Mono"/>
              </a:rPr>
              <a:t>], </a:t>
            </a:r>
            <a:r>
              <a:rPr lang="en-ZA" sz="2400" dirty="0">
                <a:solidFill>
                  <a:srgbClr val="161616"/>
                </a:solidFill>
                <a:latin typeface="IBM Plex Mono"/>
              </a:rPr>
              <a:t>q</a:t>
            </a:r>
            <a:r>
              <a:rPr lang="en-ZA" sz="2400" dirty="0">
                <a:solidFill>
                  <a:srgbClr val="000000"/>
                </a:solidFill>
                <a:latin typeface="IBM Plex Mono"/>
              </a:rPr>
              <a:t>[</a:t>
            </a:r>
            <a:r>
              <a:rPr lang="en-ZA" sz="2400" dirty="0">
                <a:solidFill>
                  <a:srgbClr val="1192E8"/>
                </a:solidFill>
                <a:latin typeface="IBM Plex Mono"/>
              </a:rPr>
              <a:t>3</a:t>
            </a:r>
            <a:r>
              <a:rPr lang="en-ZA" sz="2400" dirty="0">
                <a:solidFill>
                  <a:srgbClr val="000000"/>
                </a:solidFill>
                <a:latin typeface="IBM Plex Mono"/>
              </a:rPr>
              <a:t>];</a:t>
            </a:r>
          </a:p>
          <a:p>
            <a:r>
              <a:rPr lang="en-ZA" sz="2400" dirty="0">
                <a:solidFill>
                  <a:srgbClr val="0043CE"/>
                </a:solidFill>
                <a:latin typeface="IBM Plex Mono"/>
              </a:rPr>
              <a:t>x</a:t>
            </a:r>
            <a:r>
              <a:rPr lang="en-ZA" sz="2400" dirty="0">
                <a:solidFill>
                  <a:srgbClr val="000000"/>
                </a:solidFill>
                <a:latin typeface="IBM Plex Mono"/>
              </a:rPr>
              <a:t> </a:t>
            </a:r>
            <a:r>
              <a:rPr lang="en-ZA" sz="2400" dirty="0">
                <a:solidFill>
                  <a:srgbClr val="161616"/>
                </a:solidFill>
                <a:latin typeface="IBM Plex Mono"/>
              </a:rPr>
              <a:t>q</a:t>
            </a:r>
            <a:r>
              <a:rPr lang="en-ZA" sz="2400" dirty="0">
                <a:solidFill>
                  <a:srgbClr val="000000"/>
                </a:solidFill>
                <a:latin typeface="IBM Plex Mono"/>
              </a:rPr>
              <a:t>[</a:t>
            </a:r>
            <a:r>
              <a:rPr lang="en-ZA" sz="2400" dirty="0">
                <a:solidFill>
                  <a:srgbClr val="1192E8"/>
                </a:solidFill>
                <a:latin typeface="IBM Plex Mono"/>
              </a:rPr>
              <a:t>0</a:t>
            </a:r>
            <a:r>
              <a:rPr lang="en-ZA" sz="2400" dirty="0">
                <a:solidFill>
                  <a:srgbClr val="000000"/>
                </a:solidFill>
                <a:latin typeface="IBM Plex Mono"/>
              </a:rPr>
              <a:t>];</a:t>
            </a:r>
          </a:p>
          <a:p>
            <a:r>
              <a:rPr lang="en-ZA" sz="2400" dirty="0" err="1">
                <a:solidFill>
                  <a:srgbClr val="0043CE"/>
                </a:solidFill>
                <a:latin typeface="IBM Plex Mono"/>
              </a:rPr>
              <a:t>sdg</a:t>
            </a:r>
            <a:r>
              <a:rPr lang="en-ZA" sz="2400" dirty="0">
                <a:solidFill>
                  <a:srgbClr val="000000"/>
                </a:solidFill>
                <a:latin typeface="IBM Plex Mono"/>
              </a:rPr>
              <a:t> </a:t>
            </a:r>
            <a:r>
              <a:rPr lang="en-ZA" sz="2400" dirty="0">
                <a:solidFill>
                  <a:srgbClr val="161616"/>
                </a:solidFill>
                <a:latin typeface="IBM Plex Mono"/>
              </a:rPr>
              <a:t>q</a:t>
            </a:r>
            <a:r>
              <a:rPr lang="en-ZA" sz="2400" dirty="0">
                <a:solidFill>
                  <a:srgbClr val="000000"/>
                </a:solidFill>
                <a:latin typeface="IBM Plex Mono"/>
              </a:rPr>
              <a:t>[</a:t>
            </a:r>
            <a:r>
              <a:rPr lang="en-ZA" sz="2400" dirty="0">
                <a:solidFill>
                  <a:srgbClr val="1192E8"/>
                </a:solidFill>
                <a:latin typeface="IBM Plex Mono"/>
              </a:rPr>
              <a:t>1</a:t>
            </a:r>
            <a:r>
              <a:rPr lang="en-ZA" sz="2400" dirty="0">
                <a:solidFill>
                  <a:srgbClr val="000000"/>
                </a:solidFill>
                <a:latin typeface="IBM Plex Mono"/>
              </a:rPr>
              <a:t>];</a:t>
            </a:r>
          </a:p>
          <a:p>
            <a:r>
              <a:rPr lang="en-ZA" sz="2400" dirty="0" err="1">
                <a:solidFill>
                  <a:srgbClr val="0043CE"/>
                </a:solidFill>
                <a:latin typeface="IBM Plex Mono"/>
              </a:rPr>
              <a:t>ry</a:t>
            </a:r>
            <a:r>
              <a:rPr lang="en-ZA" sz="2400" dirty="0">
                <a:solidFill>
                  <a:srgbClr val="000000"/>
                </a:solidFill>
                <a:latin typeface="IBM Plex Mono"/>
              </a:rPr>
              <a:t>(</a:t>
            </a:r>
            <a:r>
              <a:rPr lang="en-ZA" sz="2400" dirty="0">
                <a:solidFill>
                  <a:srgbClr val="007D79"/>
                </a:solidFill>
                <a:latin typeface="IBM Plex Mono"/>
              </a:rPr>
              <a:t>pi</a:t>
            </a:r>
            <a:r>
              <a:rPr lang="en-ZA" sz="2400" dirty="0">
                <a:solidFill>
                  <a:srgbClr val="8A3FFC"/>
                </a:solidFill>
                <a:latin typeface="IBM Plex Mono"/>
              </a:rPr>
              <a:t>/</a:t>
            </a:r>
            <a:r>
              <a:rPr lang="en-ZA" sz="2400" dirty="0">
                <a:solidFill>
                  <a:srgbClr val="1192E8"/>
                </a:solidFill>
                <a:latin typeface="IBM Plex Mono"/>
              </a:rPr>
              <a:t>2</a:t>
            </a:r>
            <a:r>
              <a:rPr lang="en-ZA" sz="2400" dirty="0">
                <a:solidFill>
                  <a:srgbClr val="000000"/>
                </a:solidFill>
                <a:latin typeface="IBM Plex Mono"/>
              </a:rPr>
              <a:t>) </a:t>
            </a:r>
            <a:r>
              <a:rPr lang="en-ZA" sz="2400" dirty="0">
                <a:solidFill>
                  <a:srgbClr val="161616"/>
                </a:solidFill>
                <a:latin typeface="IBM Plex Mono"/>
              </a:rPr>
              <a:t>q</a:t>
            </a:r>
            <a:r>
              <a:rPr lang="en-ZA" sz="2400" dirty="0">
                <a:solidFill>
                  <a:srgbClr val="000000"/>
                </a:solidFill>
                <a:latin typeface="IBM Plex Mono"/>
              </a:rPr>
              <a:t>[</a:t>
            </a:r>
            <a:r>
              <a:rPr lang="en-ZA" sz="2400" dirty="0">
                <a:solidFill>
                  <a:srgbClr val="1192E8"/>
                </a:solidFill>
                <a:latin typeface="IBM Plex Mono"/>
              </a:rPr>
              <a:t>2</a:t>
            </a:r>
            <a:r>
              <a:rPr lang="en-ZA" sz="2400" dirty="0">
                <a:solidFill>
                  <a:srgbClr val="000000"/>
                </a:solidFill>
                <a:latin typeface="IBM Plex Mono"/>
              </a:rPr>
              <a:t>];</a:t>
            </a:r>
            <a:endParaRPr lang="en-ZA" sz="2400" b="0" dirty="0">
              <a:solidFill>
                <a:srgbClr val="000000"/>
              </a:solidFill>
              <a:effectLst/>
              <a:latin typeface="IBM Plex Mono"/>
            </a:endParaRPr>
          </a:p>
        </p:txBody>
      </p:sp>
      <p:pic>
        <p:nvPicPr>
          <p:cNvPr id="4" name="Picture 3">
            <a:extLst>
              <a:ext uri="{FF2B5EF4-FFF2-40B4-BE49-F238E27FC236}">
                <a16:creationId xmlns:a16="http://schemas.microsoft.com/office/drawing/2014/main" id="{50D20F22-F826-5346-B2CE-252EA9760F67}"/>
              </a:ext>
            </a:extLst>
          </p:cNvPr>
          <p:cNvPicPr>
            <a:picLocks noChangeAspect="1"/>
          </p:cNvPicPr>
          <p:nvPr/>
        </p:nvPicPr>
        <p:blipFill>
          <a:blip r:embed="rId4"/>
          <a:stretch>
            <a:fillRect/>
          </a:stretch>
        </p:blipFill>
        <p:spPr>
          <a:xfrm>
            <a:off x="252624" y="2947256"/>
            <a:ext cx="4166077" cy="3451412"/>
          </a:xfrm>
          <a:prstGeom prst="rect">
            <a:avLst/>
          </a:prstGeom>
        </p:spPr>
      </p:pic>
      <p:sp>
        <p:nvSpPr>
          <p:cNvPr id="7" name="Slide Number Placeholder 2">
            <a:extLst>
              <a:ext uri="{FF2B5EF4-FFF2-40B4-BE49-F238E27FC236}">
                <a16:creationId xmlns:a16="http://schemas.microsoft.com/office/drawing/2014/main" id="{4F146B86-6F92-A145-851A-4A9F269774DC}"/>
              </a:ext>
            </a:extLst>
          </p:cNvPr>
          <p:cNvSpPr>
            <a:spLocks noGrp="1"/>
          </p:cNvSpPr>
          <p:nvPr>
            <p:ph type="sldNum" sz="quarter" idx="12"/>
          </p:nvPr>
        </p:nvSpPr>
        <p:spPr>
          <a:xfrm>
            <a:off x="0" y="6469811"/>
            <a:ext cx="1397479" cy="388189"/>
          </a:xfrm>
        </p:spPr>
        <p:txBody>
          <a:bodyPr/>
          <a:lstStyle/>
          <a:p>
            <a:pPr algn="l"/>
            <a:fld id="{591A223C-FA10-BC46-A853-03BA373D023C}" type="slidenum">
              <a:rPr lang="en-US" smtClean="0"/>
              <a:pPr algn="l"/>
              <a:t>32</a:t>
            </a:fld>
            <a:endParaRPr lang="en-US"/>
          </a:p>
        </p:txBody>
      </p:sp>
    </p:spTree>
    <p:extLst>
      <p:ext uri="{BB962C8B-B14F-4D97-AF65-F5344CB8AC3E}">
        <p14:creationId xmlns:p14="http://schemas.microsoft.com/office/powerpoint/2010/main" val="16427491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187918-43B5-184E-ABB2-AB28282A583F}"/>
              </a:ext>
            </a:extLst>
          </p:cNvPr>
          <p:cNvSpPr>
            <a:spLocks noGrp="1"/>
          </p:cNvSpPr>
          <p:nvPr>
            <p:ph type="sldNum" sz="quarter" idx="12"/>
          </p:nvPr>
        </p:nvSpPr>
        <p:spPr/>
        <p:txBody>
          <a:bodyPr/>
          <a:lstStyle/>
          <a:p>
            <a:fld id="{591A223C-FA10-BC46-A853-03BA373D023C}" type="slidenum">
              <a:rPr lang="en-US" smtClean="0"/>
              <a:t>33</a:t>
            </a:fld>
            <a:endParaRPr lang="en-US"/>
          </a:p>
        </p:txBody>
      </p:sp>
      <p:sp>
        <p:nvSpPr>
          <p:cNvPr id="3" name="Title 2">
            <a:extLst>
              <a:ext uri="{FF2B5EF4-FFF2-40B4-BE49-F238E27FC236}">
                <a16:creationId xmlns:a16="http://schemas.microsoft.com/office/drawing/2014/main" id="{FAB49027-DF77-FA42-B7E6-3B54C159A771}"/>
              </a:ext>
            </a:extLst>
          </p:cNvPr>
          <p:cNvSpPr>
            <a:spLocks noGrp="1"/>
          </p:cNvSpPr>
          <p:nvPr>
            <p:ph type="title"/>
          </p:nvPr>
        </p:nvSpPr>
        <p:spPr/>
        <p:txBody>
          <a:bodyPr/>
          <a:lstStyle/>
          <a:p>
            <a:r>
              <a:rPr lang="en-US" dirty="0"/>
              <a:t>Quantum Circuit</a:t>
            </a:r>
          </a:p>
        </p:txBody>
      </p:sp>
      <p:pic>
        <p:nvPicPr>
          <p:cNvPr id="6" name="Picture 5">
            <a:extLst>
              <a:ext uri="{FF2B5EF4-FFF2-40B4-BE49-F238E27FC236}">
                <a16:creationId xmlns:a16="http://schemas.microsoft.com/office/drawing/2014/main" id="{8D6833B8-0032-0646-AAEB-204635A36AB9}"/>
              </a:ext>
            </a:extLst>
          </p:cNvPr>
          <p:cNvPicPr>
            <a:picLocks noChangeAspect="1"/>
          </p:cNvPicPr>
          <p:nvPr/>
        </p:nvPicPr>
        <p:blipFill>
          <a:blip r:embed="rId3"/>
          <a:stretch>
            <a:fillRect/>
          </a:stretch>
        </p:blipFill>
        <p:spPr>
          <a:xfrm>
            <a:off x="953818" y="1090844"/>
            <a:ext cx="9693161" cy="5402031"/>
          </a:xfrm>
          <a:prstGeom prst="rect">
            <a:avLst/>
          </a:prstGeom>
        </p:spPr>
      </p:pic>
      <p:cxnSp>
        <p:nvCxnSpPr>
          <p:cNvPr id="5" name="Straight Connector 4">
            <a:extLst>
              <a:ext uri="{FF2B5EF4-FFF2-40B4-BE49-F238E27FC236}">
                <a16:creationId xmlns:a16="http://schemas.microsoft.com/office/drawing/2014/main" id="{B00EF976-F9BD-D94D-9F64-182321FBBF11}"/>
              </a:ext>
            </a:extLst>
          </p:cNvPr>
          <p:cNvCxnSpPr>
            <a:cxnSpLocks/>
          </p:cNvCxnSpPr>
          <p:nvPr/>
        </p:nvCxnSpPr>
        <p:spPr>
          <a:xfrm>
            <a:off x="4950364" y="1513490"/>
            <a:ext cx="0" cy="4824248"/>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C10D024-7222-8B41-ACB5-0D263677D591}"/>
              </a:ext>
            </a:extLst>
          </p:cNvPr>
          <p:cNvCxnSpPr>
            <a:cxnSpLocks/>
          </p:cNvCxnSpPr>
          <p:nvPr/>
        </p:nvCxnSpPr>
        <p:spPr>
          <a:xfrm>
            <a:off x="5919192" y="1513490"/>
            <a:ext cx="0" cy="4824248"/>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FEC4B2B-FBA6-7940-B679-5C02C7C16D7C}"/>
              </a:ext>
            </a:extLst>
          </p:cNvPr>
          <p:cNvCxnSpPr>
            <a:cxnSpLocks/>
          </p:cNvCxnSpPr>
          <p:nvPr/>
        </p:nvCxnSpPr>
        <p:spPr>
          <a:xfrm>
            <a:off x="6888020" y="1513490"/>
            <a:ext cx="0" cy="4824248"/>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ED11287-6EFC-F842-A10B-72B6C86898F8}"/>
              </a:ext>
            </a:extLst>
          </p:cNvPr>
          <p:cNvSpPr txBox="1"/>
          <p:nvPr/>
        </p:nvSpPr>
        <p:spPr>
          <a:xfrm>
            <a:off x="3886201" y="6337738"/>
            <a:ext cx="810735" cy="369332"/>
          </a:xfrm>
          <a:prstGeom prst="rect">
            <a:avLst/>
          </a:prstGeom>
          <a:noFill/>
        </p:spPr>
        <p:txBody>
          <a:bodyPr wrap="none" rtlCol="0">
            <a:spAutoFit/>
          </a:bodyPr>
          <a:lstStyle/>
          <a:p>
            <a:r>
              <a:rPr lang="en-US" dirty="0"/>
              <a:t>layer 1</a:t>
            </a:r>
          </a:p>
        </p:txBody>
      </p:sp>
      <p:sp>
        <p:nvSpPr>
          <p:cNvPr id="11" name="TextBox 10">
            <a:extLst>
              <a:ext uri="{FF2B5EF4-FFF2-40B4-BE49-F238E27FC236}">
                <a16:creationId xmlns:a16="http://schemas.microsoft.com/office/drawing/2014/main" id="{883C0F0A-F725-1144-8408-CD853228D352}"/>
              </a:ext>
            </a:extLst>
          </p:cNvPr>
          <p:cNvSpPr txBox="1"/>
          <p:nvPr/>
        </p:nvSpPr>
        <p:spPr>
          <a:xfrm>
            <a:off x="5035802" y="6337738"/>
            <a:ext cx="810735" cy="369332"/>
          </a:xfrm>
          <a:prstGeom prst="rect">
            <a:avLst/>
          </a:prstGeom>
          <a:noFill/>
        </p:spPr>
        <p:txBody>
          <a:bodyPr wrap="none" rtlCol="0">
            <a:spAutoFit/>
          </a:bodyPr>
          <a:lstStyle/>
          <a:p>
            <a:r>
              <a:rPr lang="en-US" dirty="0"/>
              <a:t>layer 2</a:t>
            </a:r>
          </a:p>
        </p:txBody>
      </p:sp>
      <p:sp>
        <p:nvSpPr>
          <p:cNvPr id="12" name="TextBox 11">
            <a:extLst>
              <a:ext uri="{FF2B5EF4-FFF2-40B4-BE49-F238E27FC236}">
                <a16:creationId xmlns:a16="http://schemas.microsoft.com/office/drawing/2014/main" id="{9C17BF45-1583-5B4A-B7BD-3BCBE3C2418E}"/>
              </a:ext>
            </a:extLst>
          </p:cNvPr>
          <p:cNvSpPr txBox="1"/>
          <p:nvPr/>
        </p:nvSpPr>
        <p:spPr>
          <a:xfrm>
            <a:off x="6077285" y="6337738"/>
            <a:ext cx="810735" cy="369332"/>
          </a:xfrm>
          <a:prstGeom prst="rect">
            <a:avLst/>
          </a:prstGeom>
          <a:noFill/>
        </p:spPr>
        <p:txBody>
          <a:bodyPr wrap="none" rtlCol="0">
            <a:spAutoFit/>
          </a:bodyPr>
          <a:lstStyle/>
          <a:p>
            <a:r>
              <a:rPr lang="en-US" dirty="0"/>
              <a:t>layer 3</a:t>
            </a:r>
          </a:p>
        </p:txBody>
      </p:sp>
      <p:sp>
        <p:nvSpPr>
          <p:cNvPr id="13" name="TextBox 12">
            <a:extLst>
              <a:ext uri="{FF2B5EF4-FFF2-40B4-BE49-F238E27FC236}">
                <a16:creationId xmlns:a16="http://schemas.microsoft.com/office/drawing/2014/main" id="{EA3006A9-28EB-C54D-BEB1-1F918A73C510}"/>
              </a:ext>
            </a:extLst>
          </p:cNvPr>
          <p:cNvSpPr txBox="1"/>
          <p:nvPr/>
        </p:nvSpPr>
        <p:spPr>
          <a:xfrm>
            <a:off x="7046112" y="6306105"/>
            <a:ext cx="866840" cy="369332"/>
          </a:xfrm>
          <a:prstGeom prst="rect">
            <a:avLst/>
          </a:prstGeom>
          <a:noFill/>
        </p:spPr>
        <p:txBody>
          <a:bodyPr wrap="none" rtlCol="0">
            <a:spAutoFit/>
          </a:bodyPr>
          <a:lstStyle/>
          <a:p>
            <a:r>
              <a:rPr lang="en-US" dirty="0"/>
              <a:t>layer …</a:t>
            </a:r>
          </a:p>
        </p:txBody>
      </p:sp>
    </p:spTree>
    <p:extLst>
      <p:ext uri="{BB962C8B-B14F-4D97-AF65-F5344CB8AC3E}">
        <p14:creationId xmlns:p14="http://schemas.microsoft.com/office/powerpoint/2010/main" val="40209742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739CD5-4188-3D41-9900-B61D97CBB354}"/>
              </a:ext>
            </a:extLst>
          </p:cNvPr>
          <p:cNvSpPr>
            <a:spLocks noGrp="1"/>
          </p:cNvSpPr>
          <p:nvPr>
            <p:ph type="sldNum" sz="quarter" idx="12"/>
          </p:nvPr>
        </p:nvSpPr>
        <p:spPr/>
        <p:txBody>
          <a:bodyPr/>
          <a:lstStyle/>
          <a:p>
            <a:fld id="{591A223C-FA10-BC46-A853-03BA373D023C}" type="slidenum">
              <a:rPr lang="en-US" smtClean="0"/>
              <a:t>34</a:t>
            </a:fld>
            <a:endParaRPr lang="en-US"/>
          </a:p>
        </p:txBody>
      </p:sp>
      <p:sp>
        <p:nvSpPr>
          <p:cNvPr id="3" name="Title 2">
            <a:extLst>
              <a:ext uri="{FF2B5EF4-FFF2-40B4-BE49-F238E27FC236}">
                <a16:creationId xmlns:a16="http://schemas.microsoft.com/office/drawing/2014/main" id="{3FA0E05F-ECAD-8143-92FE-5B7485D17BAD}"/>
              </a:ext>
            </a:extLst>
          </p:cNvPr>
          <p:cNvSpPr>
            <a:spLocks noGrp="1"/>
          </p:cNvSpPr>
          <p:nvPr>
            <p:ph type="title"/>
          </p:nvPr>
        </p:nvSpPr>
        <p:spPr/>
        <p:txBody>
          <a:bodyPr/>
          <a:lstStyle/>
          <a:p>
            <a:r>
              <a:rPr lang="en-ZA" dirty="0"/>
              <a:t>Sequential Quantum Gate Configuration</a:t>
            </a:r>
            <a:endParaRPr lang="en-US" dirty="0"/>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4856D1D-A2B3-BD49-839E-2BA3130A13DB}"/>
                  </a:ext>
                </a:extLst>
              </p:cNvPr>
              <p:cNvSpPr/>
              <p:nvPr/>
            </p:nvSpPr>
            <p:spPr>
              <a:xfrm>
                <a:off x="1853881" y="4352314"/>
                <a:ext cx="6519926" cy="673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𝐴</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groupChr>
                        <m:groupChrPr>
                          <m:chr m:val="→"/>
                          <m:vertJc m:val="bot"/>
                          <m:ctrlPr>
                            <a:rPr lang="en-US" sz="2800" i="1">
                              <a:latin typeface="Cambria Math" panose="02040503050406030204" pitchFamily="18" charset="0"/>
                            </a:rPr>
                          </m:ctrlPr>
                        </m:groupChrPr>
                        <m:e>
                          <m:r>
                            <a:rPr lang="en-US" sz="2800" i="1">
                              <a:latin typeface="Cambria Math" panose="02040503050406030204" pitchFamily="18" charset="0"/>
                            </a:rPr>
                            <m:t>𝐵</m:t>
                          </m:r>
                        </m:e>
                      </m:groupChr>
                      <m:r>
                        <a:rPr lang="en-US" sz="2800" i="1">
                          <a:latin typeface="Cambria Math" panose="02040503050406030204" pitchFamily="18" charset="0"/>
                        </a:rPr>
                        <m:t>𝐵</m:t>
                      </m:r>
                      <m:d>
                        <m:dPr>
                          <m:ctrlPr>
                            <a:rPr lang="en-US" sz="2800" i="1">
                              <a:latin typeface="Cambria Math" panose="02040503050406030204" pitchFamily="18" charset="0"/>
                            </a:rPr>
                          </m:ctrlPr>
                        </m:dPr>
                        <m:e>
                          <m:r>
                            <a:rPr lang="en-US" sz="2800" i="0">
                              <a:latin typeface="Cambria Math" panose="02040503050406030204" pitchFamily="18" charset="0"/>
                            </a:rPr>
                            <m:t> </m:t>
                          </m:r>
                          <m:r>
                            <a:rPr lang="en-US" sz="2800" i="1">
                              <a:latin typeface="Cambria Math" panose="02040503050406030204" pitchFamily="18" charset="0"/>
                            </a:rPr>
                            <m:t>𝐴</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e>
                      </m:d>
                      <m:groupChr>
                        <m:groupChrPr>
                          <m:chr m:val="→"/>
                          <m:vertJc m:val="bot"/>
                          <m:ctrlPr>
                            <a:rPr lang="en-US" sz="2800" i="1">
                              <a:latin typeface="Cambria Math" panose="02040503050406030204" pitchFamily="18" charset="0"/>
                            </a:rPr>
                          </m:ctrlPr>
                        </m:groupChrPr>
                        <m:e>
                          <m:r>
                            <a:rPr lang="en-US" sz="2800" i="1">
                              <a:latin typeface="Cambria Math" panose="02040503050406030204" pitchFamily="18" charset="0"/>
                            </a:rPr>
                            <m:t>𝐶</m:t>
                          </m:r>
                        </m:e>
                      </m:groupChr>
                      <m:r>
                        <a:rPr lang="en-US" sz="2800" i="0">
                          <a:latin typeface="Cambria Math" panose="02040503050406030204" pitchFamily="18" charset="0"/>
                        </a:rPr>
                        <m:t> </m:t>
                      </m:r>
                      <m:r>
                        <a:rPr lang="en-US" sz="2800" i="1">
                          <a:latin typeface="Cambria Math" panose="02040503050406030204" pitchFamily="18" charset="0"/>
                        </a:rPr>
                        <m:t>𝐶</m:t>
                      </m:r>
                      <m:d>
                        <m:dPr>
                          <m:ctrlPr>
                            <a:rPr lang="en-US" sz="2800" i="1">
                              <a:latin typeface="Cambria Math" panose="02040503050406030204" pitchFamily="18" charset="0"/>
                            </a:rPr>
                          </m:ctrlPr>
                        </m:dPr>
                        <m:e>
                          <m:r>
                            <a:rPr lang="en-US" sz="2800" b="0" i="0" smtClean="0">
                              <a:latin typeface="Cambria Math" panose="02040503050406030204" pitchFamily="18" charset="0"/>
                            </a:rPr>
                            <m:t>(</m:t>
                          </m:r>
                          <m:r>
                            <a:rPr lang="en-US" sz="2800" i="1">
                              <a:latin typeface="Cambria Math" panose="02040503050406030204" pitchFamily="18" charset="0"/>
                            </a:rPr>
                            <m:t>𝐵𝐴</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r>
                            <a:rPr lang="en-US" sz="2800" b="0" i="1" smtClean="0">
                              <a:latin typeface="Cambria Math" panose="02040503050406030204" pitchFamily="18" charset="0"/>
                            </a:rPr>
                            <m:t>)</m:t>
                          </m:r>
                        </m:e>
                      </m:d>
                      <m:r>
                        <a:rPr lang="en-US" sz="2800" i="0">
                          <a:latin typeface="Cambria Math" panose="02040503050406030204" pitchFamily="18" charset="0"/>
                        </a:rPr>
                        <m:t>=</m:t>
                      </m:r>
                      <m:r>
                        <a:rPr lang="en-US" sz="2800" i="1">
                          <a:latin typeface="Cambria Math" panose="02040503050406030204" pitchFamily="18" charset="0"/>
                        </a:rPr>
                        <m:t>𝐶𝐵𝐴</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oMath>
                  </m:oMathPara>
                </a14:m>
                <a:endParaRPr lang="en-US" sz="2800" dirty="0"/>
              </a:p>
            </p:txBody>
          </p:sp>
        </mc:Choice>
        <mc:Fallback xmlns="">
          <p:sp>
            <p:nvSpPr>
              <p:cNvPr id="6" name="Rectangle 5">
                <a:extLst>
                  <a:ext uri="{FF2B5EF4-FFF2-40B4-BE49-F238E27FC236}">
                    <a16:creationId xmlns:a16="http://schemas.microsoft.com/office/drawing/2014/main" id="{E4856D1D-A2B3-BD49-839E-2BA3130A13DB}"/>
                  </a:ext>
                </a:extLst>
              </p:cNvPr>
              <p:cNvSpPr>
                <a:spLocks noRot="1" noChangeAspect="1" noMove="1" noResize="1" noEditPoints="1" noAdjustHandles="1" noChangeArrowheads="1" noChangeShapeType="1" noTextEdit="1"/>
              </p:cNvSpPr>
              <p:nvPr/>
            </p:nvSpPr>
            <p:spPr>
              <a:xfrm>
                <a:off x="1853881" y="4352314"/>
                <a:ext cx="6519926" cy="673646"/>
              </a:xfrm>
              <a:prstGeom prst="rect">
                <a:avLst/>
              </a:prstGeom>
              <a:blipFill>
                <a:blip r:embed="rId3"/>
                <a:stretch>
                  <a:fillRect b="-44444"/>
                </a:stretch>
              </a:blipFill>
            </p:spPr>
            <p:txBody>
              <a:bodyPr/>
              <a:lstStyle/>
              <a:p>
                <a:r>
                  <a:rPr lang="en-US">
                    <a:noFill/>
                  </a:rPr>
                  <a:t> </a:t>
                </a:r>
              </a:p>
            </p:txBody>
          </p:sp>
        </mc:Fallback>
      </mc:AlternateContent>
      <p:cxnSp>
        <p:nvCxnSpPr>
          <p:cNvPr id="8" name="Straight Connector 7">
            <a:extLst>
              <a:ext uri="{FF2B5EF4-FFF2-40B4-BE49-F238E27FC236}">
                <a16:creationId xmlns:a16="http://schemas.microsoft.com/office/drawing/2014/main" id="{B2B8E071-C877-CA41-8E31-290B32407AE1}"/>
              </a:ext>
            </a:extLst>
          </p:cNvPr>
          <p:cNvCxnSpPr>
            <a:cxnSpLocks/>
          </p:cNvCxnSpPr>
          <p:nvPr/>
        </p:nvCxnSpPr>
        <p:spPr>
          <a:xfrm flipV="1">
            <a:off x="2846544" y="2846519"/>
            <a:ext cx="6602256"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64BE965-7DC7-904B-989E-9F0240585F44}"/>
              </a:ext>
            </a:extLst>
          </p:cNvPr>
          <p:cNvSpPr/>
          <p:nvPr/>
        </p:nvSpPr>
        <p:spPr>
          <a:xfrm>
            <a:off x="3687108" y="2306519"/>
            <a:ext cx="1080000" cy="108000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Times" pitchFamily="2" charset="0"/>
              </a:rPr>
              <a:t>A</a:t>
            </a:r>
          </a:p>
        </p:txBody>
      </p:sp>
      <p:sp>
        <p:nvSpPr>
          <p:cNvPr id="10" name="Rectangle 9">
            <a:extLst>
              <a:ext uri="{FF2B5EF4-FFF2-40B4-BE49-F238E27FC236}">
                <a16:creationId xmlns:a16="http://schemas.microsoft.com/office/drawing/2014/main" id="{A6786D80-6396-0047-931A-93D620B2B561}"/>
              </a:ext>
            </a:extLst>
          </p:cNvPr>
          <p:cNvSpPr/>
          <p:nvPr/>
        </p:nvSpPr>
        <p:spPr>
          <a:xfrm>
            <a:off x="5607672" y="2306519"/>
            <a:ext cx="1080000" cy="10800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Times" pitchFamily="2" charset="0"/>
              </a:rPr>
              <a:t>B</a:t>
            </a:r>
          </a:p>
        </p:txBody>
      </p:sp>
      <p:sp>
        <p:nvSpPr>
          <p:cNvPr id="11" name="Rectangle 10">
            <a:extLst>
              <a:ext uri="{FF2B5EF4-FFF2-40B4-BE49-F238E27FC236}">
                <a16:creationId xmlns:a16="http://schemas.microsoft.com/office/drawing/2014/main" id="{469E7A8C-B884-C040-A70A-56C933479822}"/>
              </a:ext>
            </a:extLst>
          </p:cNvPr>
          <p:cNvSpPr/>
          <p:nvPr/>
        </p:nvSpPr>
        <p:spPr>
          <a:xfrm>
            <a:off x="7528236" y="2306519"/>
            <a:ext cx="1080000" cy="108000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Times" pitchFamily="2" charset="0"/>
              </a:rPr>
              <a:t>C</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5FE2FC54-5050-B744-95AB-F150FDB0C0B3}"/>
                  </a:ext>
                </a:extLst>
              </p:cNvPr>
              <p:cNvSpPr/>
              <p:nvPr/>
            </p:nvSpPr>
            <p:spPr>
              <a:xfrm>
                <a:off x="2049723" y="2584909"/>
                <a:ext cx="79682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r>
                        <a:rPr lang="en-US" sz="2800">
                          <a:latin typeface="Cambria Math" panose="02040503050406030204" pitchFamily="18" charset="0"/>
                        </a:rPr>
                        <m:t> </m:t>
                      </m:r>
                    </m:oMath>
                  </m:oMathPara>
                </a14:m>
                <a:endParaRPr lang="en-US" sz="2800" dirty="0"/>
              </a:p>
            </p:txBody>
          </p:sp>
        </mc:Choice>
        <mc:Fallback xmlns="">
          <p:sp>
            <p:nvSpPr>
              <p:cNvPr id="13" name="Rectangle 12">
                <a:extLst>
                  <a:ext uri="{FF2B5EF4-FFF2-40B4-BE49-F238E27FC236}">
                    <a16:creationId xmlns:a16="http://schemas.microsoft.com/office/drawing/2014/main" id="{5FE2FC54-5050-B744-95AB-F150FDB0C0B3}"/>
                  </a:ext>
                </a:extLst>
              </p:cNvPr>
              <p:cNvSpPr>
                <a:spLocks noRot="1" noChangeAspect="1" noMove="1" noResize="1" noEditPoints="1" noAdjustHandles="1" noChangeArrowheads="1" noChangeShapeType="1" noTextEdit="1"/>
              </p:cNvSpPr>
              <p:nvPr/>
            </p:nvSpPr>
            <p:spPr>
              <a:xfrm>
                <a:off x="2049723" y="2584909"/>
                <a:ext cx="796821" cy="523220"/>
              </a:xfrm>
              <a:prstGeom prst="rect">
                <a:avLst/>
              </a:prstGeom>
              <a:blipFill>
                <a:blip r:embed="rId4"/>
                <a:stretch>
                  <a:fillRect r="-4688" b="-19512"/>
                </a:stretch>
              </a:blipFill>
            </p:spPr>
            <p:txBody>
              <a:bodyPr/>
              <a:lstStyle/>
              <a:p>
                <a:r>
                  <a:rPr lang="en-US">
                    <a:noFill/>
                  </a:rPr>
                  <a:t> </a:t>
                </a:r>
              </a:p>
            </p:txBody>
          </p:sp>
        </mc:Fallback>
      </mc:AlternateContent>
    </p:spTree>
    <p:extLst>
      <p:ext uri="{BB962C8B-B14F-4D97-AF65-F5344CB8AC3E}">
        <p14:creationId xmlns:p14="http://schemas.microsoft.com/office/powerpoint/2010/main" val="9302866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739CD5-4188-3D41-9900-B61D97CBB354}"/>
              </a:ext>
            </a:extLst>
          </p:cNvPr>
          <p:cNvSpPr>
            <a:spLocks noGrp="1"/>
          </p:cNvSpPr>
          <p:nvPr>
            <p:ph type="sldNum" sz="quarter" idx="12"/>
          </p:nvPr>
        </p:nvSpPr>
        <p:spPr/>
        <p:txBody>
          <a:bodyPr/>
          <a:lstStyle/>
          <a:p>
            <a:fld id="{591A223C-FA10-BC46-A853-03BA373D023C}" type="slidenum">
              <a:rPr lang="en-US" smtClean="0"/>
              <a:t>35</a:t>
            </a:fld>
            <a:endParaRPr lang="en-US"/>
          </a:p>
        </p:txBody>
      </p:sp>
      <p:sp>
        <p:nvSpPr>
          <p:cNvPr id="3" name="Title 2">
            <a:extLst>
              <a:ext uri="{FF2B5EF4-FFF2-40B4-BE49-F238E27FC236}">
                <a16:creationId xmlns:a16="http://schemas.microsoft.com/office/drawing/2014/main" id="{3FA0E05F-ECAD-8143-92FE-5B7485D17BAD}"/>
              </a:ext>
            </a:extLst>
          </p:cNvPr>
          <p:cNvSpPr>
            <a:spLocks noGrp="1"/>
          </p:cNvSpPr>
          <p:nvPr>
            <p:ph type="title"/>
          </p:nvPr>
        </p:nvSpPr>
        <p:spPr/>
        <p:txBody>
          <a:bodyPr/>
          <a:lstStyle/>
          <a:p>
            <a:r>
              <a:rPr lang="en-ZA" b="1" dirty="0"/>
              <a:t>Parallel Quantum Gate Configuration</a:t>
            </a:r>
            <a:endParaRPr lang="en-US" dirty="0"/>
          </a:p>
        </p:txBody>
      </p:sp>
      <p:cxnSp>
        <p:nvCxnSpPr>
          <p:cNvPr id="8" name="Straight Connector 7">
            <a:extLst>
              <a:ext uri="{FF2B5EF4-FFF2-40B4-BE49-F238E27FC236}">
                <a16:creationId xmlns:a16="http://schemas.microsoft.com/office/drawing/2014/main" id="{B2B8E071-C877-CA41-8E31-290B32407AE1}"/>
              </a:ext>
            </a:extLst>
          </p:cNvPr>
          <p:cNvCxnSpPr>
            <a:cxnSpLocks/>
          </p:cNvCxnSpPr>
          <p:nvPr/>
        </p:nvCxnSpPr>
        <p:spPr>
          <a:xfrm flipV="1">
            <a:off x="1055866" y="2100502"/>
            <a:ext cx="2721499"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64BE965-7DC7-904B-989E-9F0240585F44}"/>
              </a:ext>
            </a:extLst>
          </p:cNvPr>
          <p:cNvSpPr/>
          <p:nvPr/>
        </p:nvSpPr>
        <p:spPr>
          <a:xfrm>
            <a:off x="1820049" y="1543718"/>
            <a:ext cx="1080000" cy="108000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Times" pitchFamily="2" charset="0"/>
              </a:rPr>
              <a:t>A</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5FE2FC54-5050-B744-95AB-F150FDB0C0B3}"/>
                  </a:ext>
                </a:extLst>
              </p:cNvPr>
              <p:cNvSpPr/>
              <p:nvPr/>
            </p:nvSpPr>
            <p:spPr>
              <a:xfrm>
                <a:off x="259045" y="1838892"/>
                <a:ext cx="79682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r>
                        <a:rPr lang="en-US" sz="2800">
                          <a:latin typeface="Cambria Math" panose="02040503050406030204" pitchFamily="18" charset="0"/>
                        </a:rPr>
                        <m:t> </m:t>
                      </m:r>
                    </m:oMath>
                  </m:oMathPara>
                </a14:m>
                <a:endParaRPr lang="en-US" sz="2800" dirty="0"/>
              </a:p>
            </p:txBody>
          </p:sp>
        </mc:Choice>
        <mc:Fallback xmlns="">
          <p:sp>
            <p:nvSpPr>
              <p:cNvPr id="13" name="Rectangle 12">
                <a:extLst>
                  <a:ext uri="{FF2B5EF4-FFF2-40B4-BE49-F238E27FC236}">
                    <a16:creationId xmlns:a16="http://schemas.microsoft.com/office/drawing/2014/main" id="{5FE2FC54-5050-B744-95AB-F150FDB0C0B3}"/>
                  </a:ext>
                </a:extLst>
              </p:cNvPr>
              <p:cNvSpPr>
                <a:spLocks noRot="1" noChangeAspect="1" noMove="1" noResize="1" noEditPoints="1" noAdjustHandles="1" noChangeArrowheads="1" noChangeShapeType="1" noTextEdit="1"/>
              </p:cNvSpPr>
              <p:nvPr/>
            </p:nvSpPr>
            <p:spPr>
              <a:xfrm>
                <a:off x="259045" y="1838892"/>
                <a:ext cx="796821" cy="523220"/>
              </a:xfrm>
              <a:prstGeom prst="rect">
                <a:avLst/>
              </a:prstGeom>
              <a:blipFill>
                <a:blip r:embed="rId3"/>
                <a:stretch>
                  <a:fillRect r="-4688" b="-19048"/>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094C5D57-0AD1-884F-8ABE-07A9306DAD9F}"/>
              </a:ext>
            </a:extLst>
          </p:cNvPr>
          <p:cNvCxnSpPr>
            <a:cxnSpLocks/>
          </p:cNvCxnSpPr>
          <p:nvPr/>
        </p:nvCxnSpPr>
        <p:spPr>
          <a:xfrm flipV="1">
            <a:off x="1055865" y="3460203"/>
            <a:ext cx="2721499"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4ADA42B-3690-5B43-9BDF-27FBBD436C58}"/>
              </a:ext>
            </a:extLst>
          </p:cNvPr>
          <p:cNvCxnSpPr>
            <a:cxnSpLocks/>
          </p:cNvCxnSpPr>
          <p:nvPr/>
        </p:nvCxnSpPr>
        <p:spPr>
          <a:xfrm flipV="1">
            <a:off x="1055864" y="4819904"/>
            <a:ext cx="2721499"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6786D80-6396-0047-931A-93D620B2B561}"/>
              </a:ext>
            </a:extLst>
          </p:cNvPr>
          <p:cNvSpPr/>
          <p:nvPr/>
        </p:nvSpPr>
        <p:spPr>
          <a:xfrm>
            <a:off x="1820049" y="2885328"/>
            <a:ext cx="1080000" cy="10800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Times" pitchFamily="2" charset="0"/>
              </a:rPr>
              <a:t>B</a:t>
            </a:r>
          </a:p>
        </p:txBody>
      </p:sp>
      <p:sp>
        <p:nvSpPr>
          <p:cNvPr id="11" name="Rectangle 10">
            <a:extLst>
              <a:ext uri="{FF2B5EF4-FFF2-40B4-BE49-F238E27FC236}">
                <a16:creationId xmlns:a16="http://schemas.microsoft.com/office/drawing/2014/main" id="{469E7A8C-B884-C040-A70A-56C933479822}"/>
              </a:ext>
            </a:extLst>
          </p:cNvPr>
          <p:cNvSpPr/>
          <p:nvPr/>
        </p:nvSpPr>
        <p:spPr>
          <a:xfrm>
            <a:off x="1820049" y="4279904"/>
            <a:ext cx="1080000" cy="108000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Times" pitchFamily="2" charset="0"/>
              </a:rPr>
              <a:t>C</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2E240D5B-FA3D-674F-9B33-B3C1A6E5E90D}"/>
                  </a:ext>
                </a:extLst>
              </p:cNvPr>
              <p:cNvSpPr/>
              <p:nvPr/>
            </p:nvSpPr>
            <p:spPr>
              <a:xfrm>
                <a:off x="259044" y="3180502"/>
                <a:ext cx="78951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sr-Latn-RS" sz="2800" b="0" i="1" smtClean="0">
                              <a:latin typeface="Cambria Math" panose="02040503050406030204" pitchFamily="18" charset="0"/>
                            </a:rPr>
                            <m:t>𝑏</m:t>
                          </m:r>
                        </m:e>
                      </m:d>
                      <m:r>
                        <a:rPr lang="en-US" sz="2800">
                          <a:latin typeface="Cambria Math" panose="02040503050406030204" pitchFamily="18" charset="0"/>
                        </a:rPr>
                        <m:t> </m:t>
                      </m:r>
                    </m:oMath>
                  </m:oMathPara>
                </a14:m>
                <a:endParaRPr lang="en-US" sz="2800" dirty="0"/>
              </a:p>
            </p:txBody>
          </p:sp>
        </mc:Choice>
        <mc:Fallback xmlns="">
          <p:sp>
            <p:nvSpPr>
              <p:cNvPr id="15" name="Rectangle 14">
                <a:extLst>
                  <a:ext uri="{FF2B5EF4-FFF2-40B4-BE49-F238E27FC236}">
                    <a16:creationId xmlns:a16="http://schemas.microsoft.com/office/drawing/2014/main" id="{2E240D5B-FA3D-674F-9B33-B3C1A6E5E90D}"/>
                  </a:ext>
                </a:extLst>
              </p:cNvPr>
              <p:cNvSpPr>
                <a:spLocks noRot="1" noChangeAspect="1" noMove="1" noResize="1" noEditPoints="1" noAdjustHandles="1" noChangeArrowheads="1" noChangeShapeType="1" noTextEdit="1"/>
              </p:cNvSpPr>
              <p:nvPr/>
            </p:nvSpPr>
            <p:spPr>
              <a:xfrm>
                <a:off x="259044" y="3180502"/>
                <a:ext cx="789512" cy="523220"/>
              </a:xfrm>
              <a:prstGeom prst="rect">
                <a:avLst/>
              </a:prstGeom>
              <a:blipFill>
                <a:blip r:embed="rId4"/>
                <a:stretch>
                  <a:fillRect r="-3125" b="-186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E379CCFF-F2BC-C44A-A8B0-09F125D8151C}"/>
                  </a:ext>
                </a:extLst>
              </p:cNvPr>
              <p:cNvSpPr/>
              <p:nvPr/>
            </p:nvSpPr>
            <p:spPr>
              <a:xfrm>
                <a:off x="259044" y="4522112"/>
                <a:ext cx="76418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sr-Latn-RS" sz="2800" b="0" i="1" smtClean="0">
                              <a:latin typeface="Cambria Math" panose="02040503050406030204" pitchFamily="18" charset="0"/>
                            </a:rPr>
                            <m:t>𝑐</m:t>
                          </m:r>
                        </m:e>
                      </m:d>
                      <m:r>
                        <a:rPr lang="en-US" sz="2800">
                          <a:latin typeface="Cambria Math" panose="02040503050406030204" pitchFamily="18" charset="0"/>
                        </a:rPr>
                        <m:t> </m:t>
                      </m:r>
                    </m:oMath>
                  </m:oMathPara>
                </a14:m>
                <a:endParaRPr lang="en-US" sz="2800" dirty="0"/>
              </a:p>
            </p:txBody>
          </p:sp>
        </mc:Choice>
        <mc:Fallback xmlns="">
          <p:sp>
            <p:nvSpPr>
              <p:cNvPr id="16" name="Rectangle 15">
                <a:extLst>
                  <a:ext uri="{FF2B5EF4-FFF2-40B4-BE49-F238E27FC236}">
                    <a16:creationId xmlns:a16="http://schemas.microsoft.com/office/drawing/2014/main" id="{E379CCFF-F2BC-C44A-A8B0-09F125D8151C}"/>
                  </a:ext>
                </a:extLst>
              </p:cNvPr>
              <p:cNvSpPr>
                <a:spLocks noRot="1" noChangeAspect="1" noMove="1" noResize="1" noEditPoints="1" noAdjustHandles="1" noChangeArrowheads="1" noChangeShapeType="1" noTextEdit="1"/>
              </p:cNvSpPr>
              <p:nvPr/>
            </p:nvSpPr>
            <p:spPr>
              <a:xfrm>
                <a:off x="259044" y="4522112"/>
                <a:ext cx="764184" cy="523220"/>
              </a:xfrm>
              <a:prstGeom prst="rect">
                <a:avLst/>
              </a:prstGeom>
              <a:blipFill>
                <a:blip r:embed="rId5"/>
                <a:stretch>
                  <a:fillRect r="-4839"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75B506D2-1736-CB4E-AB0C-BA347AA66505}"/>
                  </a:ext>
                </a:extLst>
              </p:cNvPr>
              <p:cNvSpPr/>
              <p:nvPr/>
            </p:nvSpPr>
            <p:spPr>
              <a:xfrm>
                <a:off x="3760686" y="1838892"/>
                <a:ext cx="102797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𝐴</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r>
                        <a:rPr lang="en-US" sz="2800">
                          <a:latin typeface="Cambria Math" panose="02040503050406030204" pitchFamily="18" charset="0"/>
                        </a:rPr>
                        <m:t> </m:t>
                      </m:r>
                    </m:oMath>
                  </m:oMathPara>
                </a14:m>
                <a:endParaRPr lang="en-US" sz="2800" dirty="0"/>
              </a:p>
            </p:txBody>
          </p:sp>
        </mc:Choice>
        <mc:Fallback xmlns="">
          <p:sp>
            <p:nvSpPr>
              <p:cNvPr id="17" name="Rectangle 16">
                <a:extLst>
                  <a:ext uri="{FF2B5EF4-FFF2-40B4-BE49-F238E27FC236}">
                    <a16:creationId xmlns:a16="http://schemas.microsoft.com/office/drawing/2014/main" id="{75B506D2-1736-CB4E-AB0C-BA347AA66505}"/>
                  </a:ext>
                </a:extLst>
              </p:cNvPr>
              <p:cNvSpPr>
                <a:spLocks noRot="1" noChangeAspect="1" noMove="1" noResize="1" noEditPoints="1" noAdjustHandles="1" noChangeArrowheads="1" noChangeShapeType="1" noTextEdit="1"/>
              </p:cNvSpPr>
              <p:nvPr/>
            </p:nvSpPr>
            <p:spPr>
              <a:xfrm>
                <a:off x="3760686" y="1838892"/>
                <a:ext cx="1027974" cy="523220"/>
              </a:xfrm>
              <a:prstGeom prst="rect">
                <a:avLst/>
              </a:prstGeom>
              <a:blipFill>
                <a:blip r:embed="rId6"/>
                <a:stretch>
                  <a:fillRect r="-3659"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67EBF1A2-8751-9243-A4E7-4997ACF9DC73}"/>
                  </a:ext>
                </a:extLst>
              </p:cNvPr>
              <p:cNvSpPr/>
              <p:nvPr/>
            </p:nvSpPr>
            <p:spPr>
              <a:xfrm>
                <a:off x="3760685" y="3180502"/>
                <a:ext cx="103477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𝐵</m:t>
                      </m:r>
                      <m:d>
                        <m:dPr>
                          <m:begChr m:val="|"/>
                          <m:endChr m:val="⟩"/>
                          <m:ctrlPr>
                            <a:rPr lang="en-US" sz="2800" i="1" smtClean="0">
                              <a:latin typeface="Cambria Math" panose="02040503050406030204" pitchFamily="18" charset="0"/>
                            </a:rPr>
                          </m:ctrlPr>
                        </m:dPr>
                        <m:e>
                          <m:r>
                            <a:rPr lang="sr-Latn-RS" sz="2800" b="0" i="1" smtClean="0">
                              <a:latin typeface="Cambria Math" panose="02040503050406030204" pitchFamily="18" charset="0"/>
                            </a:rPr>
                            <m:t>𝑏</m:t>
                          </m:r>
                        </m:e>
                      </m:d>
                      <m:r>
                        <a:rPr lang="en-US" sz="2800">
                          <a:latin typeface="Cambria Math" panose="02040503050406030204" pitchFamily="18" charset="0"/>
                        </a:rPr>
                        <m:t> </m:t>
                      </m:r>
                    </m:oMath>
                  </m:oMathPara>
                </a14:m>
                <a:endParaRPr lang="en-US" sz="2800" dirty="0"/>
              </a:p>
            </p:txBody>
          </p:sp>
        </mc:Choice>
        <mc:Fallback xmlns="">
          <p:sp>
            <p:nvSpPr>
              <p:cNvPr id="18" name="Rectangle 17">
                <a:extLst>
                  <a:ext uri="{FF2B5EF4-FFF2-40B4-BE49-F238E27FC236}">
                    <a16:creationId xmlns:a16="http://schemas.microsoft.com/office/drawing/2014/main" id="{67EBF1A2-8751-9243-A4E7-4997ACF9DC73}"/>
                  </a:ext>
                </a:extLst>
              </p:cNvPr>
              <p:cNvSpPr>
                <a:spLocks noRot="1" noChangeAspect="1" noMove="1" noResize="1" noEditPoints="1" noAdjustHandles="1" noChangeArrowheads="1" noChangeShapeType="1" noTextEdit="1"/>
              </p:cNvSpPr>
              <p:nvPr/>
            </p:nvSpPr>
            <p:spPr>
              <a:xfrm>
                <a:off x="3760685" y="3180502"/>
                <a:ext cx="1034770" cy="523220"/>
              </a:xfrm>
              <a:prstGeom prst="rect">
                <a:avLst/>
              </a:prstGeom>
              <a:blipFill>
                <a:blip r:embed="rId7"/>
                <a:stretch>
                  <a:fillRect r="-3614" b="-186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C9E6BCD6-82EB-B44D-8BDD-A120B3AC5A7C}"/>
                  </a:ext>
                </a:extLst>
              </p:cNvPr>
              <p:cNvSpPr/>
              <p:nvPr/>
            </p:nvSpPr>
            <p:spPr>
              <a:xfrm>
                <a:off x="3760685" y="4522112"/>
                <a:ext cx="99475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𝐶</m:t>
                      </m:r>
                      <m:d>
                        <m:dPr>
                          <m:begChr m:val="|"/>
                          <m:endChr m:val="⟩"/>
                          <m:ctrlPr>
                            <a:rPr lang="en-US" sz="2800" i="1" smtClean="0">
                              <a:latin typeface="Cambria Math" panose="02040503050406030204" pitchFamily="18" charset="0"/>
                            </a:rPr>
                          </m:ctrlPr>
                        </m:dPr>
                        <m:e>
                          <m:r>
                            <a:rPr lang="sr-Latn-RS" sz="2800" b="0" i="1" smtClean="0">
                              <a:latin typeface="Cambria Math" panose="02040503050406030204" pitchFamily="18" charset="0"/>
                            </a:rPr>
                            <m:t>𝑐</m:t>
                          </m:r>
                        </m:e>
                      </m:d>
                      <m:r>
                        <a:rPr lang="en-US" sz="2800">
                          <a:latin typeface="Cambria Math" panose="02040503050406030204" pitchFamily="18" charset="0"/>
                        </a:rPr>
                        <m:t> </m:t>
                      </m:r>
                    </m:oMath>
                  </m:oMathPara>
                </a14:m>
                <a:endParaRPr lang="en-US" sz="2800" dirty="0"/>
              </a:p>
            </p:txBody>
          </p:sp>
        </mc:Choice>
        <mc:Fallback xmlns="">
          <p:sp>
            <p:nvSpPr>
              <p:cNvPr id="19" name="Rectangle 18">
                <a:extLst>
                  <a:ext uri="{FF2B5EF4-FFF2-40B4-BE49-F238E27FC236}">
                    <a16:creationId xmlns:a16="http://schemas.microsoft.com/office/drawing/2014/main" id="{C9E6BCD6-82EB-B44D-8BDD-A120B3AC5A7C}"/>
                  </a:ext>
                </a:extLst>
              </p:cNvPr>
              <p:cNvSpPr>
                <a:spLocks noRot="1" noChangeAspect="1" noMove="1" noResize="1" noEditPoints="1" noAdjustHandles="1" noChangeArrowheads="1" noChangeShapeType="1" noTextEdit="1"/>
              </p:cNvSpPr>
              <p:nvPr/>
            </p:nvSpPr>
            <p:spPr>
              <a:xfrm>
                <a:off x="3760685" y="4522112"/>
                <a:ext cx="994759" cy="523220"/>
              </a:xfrm>
              <a:prstGeom prst="rect">
                <a:avLst/>
              </a:prstGeom>
              <a:blipFill>
                <a:blip r:embed="rId8"/>
                <a:stretch>
                  <a:fillRect r="-3797" b="-21429"/>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4386E5DF-34FC-8643-A449-38080E7FD30C}"/>
              </a:ext>
            </a:extLst>
          </p:cNvPr>
          <p:cNvGrpSpPr/>
          <p:nvPr/>
        </p:nvGrpSpPr>
        <p:grpSpPr>
          <a:xfrm>
            <a:off x="4962936" y="2107000"/>
            <a:ext cx="4557008" cy="2719402"/>
            <a:chOff x="4962936" y="2107000"/>
            <a:chExt cx="4557008" cy="2719402"/>
          </a:xfrm>
        </p:grpSpPr>
        <p:sp>
          <p:nvSpPr>
            <p:cNvPr id="5" name="Right Brace 4">
              <a:extLst>
                <a:ext uri="{FF2B5EF4-FFF2-40B4-BE49-F238E27FC236}">
                  <a16:creationId xmlns:a16="http://schemas.microsoft.com/office/drawing/2014/main" id="{8F1A715B-5515-2E44-8147-018471617538}"/>
                </a:ext>
              </a:extLst>
            </p:cNvPr>
            <p:cNvSpPr/>
            <p:nvPr/>
          </p:nvSpPr>
          <p:spPr>
            <a:xfrm>
              <a:off x="4962936" y="2107000"/>
              <a:ext cx="653144" cy="2719402"/>
            </a:xfrm>
            <a:prstGeom prst="rightBrace">
              <a:avLst>
                <a:gd name="adj1" fmla="val 308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09331C1C-235F-E348-9D2D-DD4F316E2A9D}"/>
                    </a:ext>
                  </a:extLst>
                </p:cNvPr>
                <p:cNvSpPr/>
                <p:nvPr/>
              </p:nvSpPr>
              <p:spPr>
                <a:xfrm>
                  <a:off x="6039824" y="3205091"/>
                  <a:ext cx="348012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𝐴</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r>
                          <a:rPr lang="en-US" sz="2800" i="0">
                            <a:latin typeface="Cambria Math" panose="02040503050406030204" pitchFamily="18" charset="0"/>
                          </a:rPr>
                          <m:t>⊗ </m:t>
                        </m:r>
                        <m:r>
                          <a:rPr lang="en-US" sz="2800" i="1">
                            <a:latin typeface="Cambria Math" panose="02040503050406030204" pitchFamily="18" charset="0"/>
                          </a:rPr>
                          <m:t>𝐵</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𝑏</m:t>
                            </m:r>
                          </m:e>
                        </m:d>
                        <m:r>
                          <a:rPr lang="en-US" sz="2800" i="0">
                            <a:latin typeface="Cambria Math" panose="02040503050406030204" pitchFamily="18" charset="0"/>
                          </a:rPr>
                          <m:t>⊗ </m:t>
                        </m:r>
                        <m:r>
                          <a:rPr lang="en-US" sz="2800" i="1">
                            <a:latin typeface="Cambria Math" panose="02040503050406030204" pitchFamily="18" charset="0"/>
                          </a:rPr>
                          <m:t>𝐶</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𝑐</m:t>
                            </m:r>
                          </m:e>
                        </m:d>
                      </m:oMath>
                    </m:oMathPara>
                  </a14:m>
                  <a:endParaRPr lang="en-US" sz="2800" dirty="0"/>
                </a:p>
              </p:txBody>
            </p:sp>
          </mc:Choice>
          <mc:Fallback xmlns="">
            <p:sp>
              <p:nvSpPr>
                <p:cNvPr id="7" name="Rectangle 6">
                  <a:extLst>
                    <a:ext uri="{FF2B5EF4-FFF2-40B4-BE49-F238E27FC236}">
                      <a16:creationId xmlns:a16="http://schemas.microsoft.com/office/drawing/2014/main" id="{09331C1C-235F-E348-9D2D-DD4F316E2A9D}"/>
                    </a:ext>
                  </a:extLst>
                </p:cNvPr>
                <p:cNvSpPr>
                  <a:spLocks noRot="1" noChangeAspect="1" noMove="1" noResize="1" noEditPoints="1" noAdjustHandles="1" noChangeArrowheads="1" noChangeShapeType="1" noTextEdit="1"/>
                </p:cNvSpPr>
                <p:nvPr/>
              </p:nvSpPr>
              <p:spPr>
                <a:xfrm>
                  <a:off x="6039824" y="3205091"/>
                  <a:ext cx="3480120" cy="523220"/>
                </a:xfrm>
                <a:prstGeom prst="rect">
                  <a:avLst/>
                </a:prstGeom>
                <a:blipFill>
                  <a:blip r:embed="rId9"/>
                  <a:stretch>
                    <a:fillRect b="-19048"/>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88E8A444-74C4-D948-B271-775865A33B07}"/>
                  </a:ext>
                </a:extLst>
              </p:cNvPr>
              <p:cNvSpPr/>
              <p:nvPr/>
            </p:nvSpPr>
            <p:spPr>
              <a:xfrm>
                <a:off x="1900172" y="5863722"/>
                <a:ext cx="839165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sr-Latn-RS" sz="2800" i="1" smtClean="0">
                              <a:latin typeface="Cambria Math" panose="02040503050406030204" pitchFamily="18" charset="0"/>
                            </a:rPr>
                          </m:ctrlPr>
                        </m:dPr>
                        <m:e>
                          <m:r>
                            <a:rPr lang="sr-Latn-RS" sz="2800" i="1">
                              <a:latin typeface="Cambria Math" panose="02040503050406030204" pitchFamily="18" charset="0"/>
                            </a:rPr>
                            <m:t>𝐴</m:t>
                          </m:r>
                          <m:r>
                            <a:rPr lang="sr-Latn-RS" sz="2800" i="1">
                              <a:latin typeface="Cambria Math" panose="02040503050406030204" pitchFamily="18" charset="0"/>
                            </a:rPr>
                            <m:t>⊗</m:t>
                          </m:r>
                          <m:r>
                            <a:rPr lang="sr-Latn-RS" sz="2800" i="1">
                              <a:latin typeface="Cambria Math" panose="02040503050406030204" pitchFamily="18" charset="0"/>
                            </a:rPr>
                            <m:t>𝐵</m:t>
                          </m:r>
                          <m:r>
                            <a:rPr lang="sr-Latn-RS" sz="2800" i="1">
                              <a:latin typeface="Cambria Math" panose="02040503050406030204" pitchFamily="18" charset="0"/>
                            </a:rPr>
                            <m:t>⊗</m:t>
                          </m:r>
                          <m:r>
                            <a:rPr lang="sr-Latn-RS" sz="2800" i="1">
                              <a:latin typeface="Cambria Math" panose="02040503050406030204" pitchFamily="18" charset="0"/>
                            </a:rPr>
                            <m:t>𝐶</m:t>
                          </m:r>
                        </m:e>
                      </m:d>
                      <m:r>
                        <a:rPr lang="sr-Latn-RS" sz="2800" b="0" i="1" smtClean="0">
                          <a:latin typeface="Cambria Math" panose="02040503050406030204" pitchFamily="18" charset="0"/>
                        </a:rPr>
                        <m:t>(</m:t>
                      </m:r>
                      <m:d>
                        <m:dPr>
                          <m:begChr m:val="|"/>
                          <m:endChr m:val="⟩"/>
                          <m:ctrlPr>
                            <a:rPr lang="en-ZA" sz="2800" i="1" smtClean="0">
                              <a:solidFill>
                                <a:srgbClr val="0000FF"/>
                              </a:solidFill>
                              <a:latin typeface="Cambria Math" panose="02040503050406030204" pitchFamily="18" charset="0"/>
                            </a:rPr>
                          </m:ctrlPr>
                        </m:dPr>
                        <m:e>
                          <m:r>
                            <a:rPr lang="sr-Latn-RS" sz="2800" i="1">
                              <a:solidFill>
                                <a:srgbClr val="0000FF"/>
                              </a:solidFill>
                              <a:latin typeface="Cambria Math" panose="02040503050406030204" pitchFamily="18" charset="0"/>
                            </a:rPr>
                            <m:t>𝑎</m:t>
                          </m:r>
                        </m:e>
                      </m:d>
                      <m:r>
                        <a:rPr lang="sr-Latn-RS" sz="2800" i="1">
                          <a:solidFill>
                            <a:srgbClr val="0000FF"/>
                          </a:solidFill>
                          <a:latin typeface="Cambria Math" panose="02040503050406030204" pitchFamily="18" charset="0"/>
                        </a:rPr>
                        <m:t>⊗</m:t>
                      </m:r>
                      <m:d>
                        <m:dPr>
                          <m:begChr m:val="|"/>
                          <m:endChr m:val="⟩"/>
                          <m:ctrlPr>
                            <a:rPr lang="en-ZA" sz="2800" i="1">
                              <a:solidFill>
                                <a:srgbClr val="0000FF"/>
                              </a:solidFill>
                              <a:latin typeface="Cambria Math" panose="02040503050406030204" pitchFamily="18" charset="0"/>
                            </a:rPr>
                          </m:ctrlPr>
                        </m:dPr>
                        <m:e>
                          <m:r>
                            <a:rPr lang="sr-Latn-RS" sz="2800" i="1">
                              <a:solidFill>
                                <a:srgbClr val="0000FF"/>
                              </a:solidFill>
                              <a:latin typeface="Cambria Math" panose="02040503050406030204" pitchFamily="18" charset="0"/>
                            </a:rPr>
                            <m:t>𝑏</m:t>
                          </m:r>
                        </m:e>
                      </m:d>
                      <m:r>
                        <a:rPr lang="sr-Latn-RS" sz="2800" i="1">
                          <a:solidFill>
                            <a:srgbClr val="0000FF"/>
                          </a:solidFill>
                          <a:latin typeface="Cambria Math" panose="02040503050406030204" pitchFamily="18" charset="0"/>
                        </a:rPr>
                        <m:t>⊗</m:t>
                      </m:r>
                      <m:d>
                        <m:dPr>
                          <m:begChr m:val="|"/>
                          <m:endChr m:val="⟩"/>
                          <m:ctrlPr>
                            <a:rPr lang="en-ZA" sz="2800" i="1">
                              <a:solidFill>
                                <a:srgbClr val="0000FF"/>
                              </a:solidFill>
                              <a:latin typeface="Cambria Math" panose="02040503050406030204" pitchFamily="18" charset="0"/>
                            </a:rPr>
                          </m:ctrlPr>
                        </m:dPr>
                        <m:e>
                          <m:r>
                            <a:rPr lang="sr-Latn-RS" sz="2800" i="1">
                              <a:solidFill>
                                <a:srgbClr val="0000FF"/>
                              </a:solidFill>
                              <a:latin typeface="Cambria Math" panose="02040503050406030204" pitchFamily="18" charset="0"/>
                            </a:rPr>
                            <m:t>𝑐</m:t>
                          </m:r>
                        </m:e>
                      </m:d>
                      <m:r>
                        <a:rPr lang="sr-Latn-RS" sz="2800" b="0" i="1" smtClean="0">
                          <a:latin typeface="Cambria Math" panose="02040503050406030204" pitchFamily="18" charset="0"/>
                        </a:rPr>
                        <m:t>)=</m:t>
                      </m:r>
                      <m:d>
                        <m:dPr>
                          <m:ctrlPr>
                            <a:rPr lang="sr-Latn-RS" sz="2800" i="1">
                              <a:latin typeface="Cambria Math" panose="02040503050406030204" pitchFamily="18" charset="0"/>
                            </a:rPr>
                          </m:ctrlPr>
                        </m:dPr>
                        <m:e>
                          <m:r>
                            <a:rPr lang="sr-Latn-RS" sz="2800" i="1">
                              <a:latin typeface="Cambria Math" panose="02040503050406030204" pitchFamily="18" charset="0"/>
                            </a:rPr>
                            <m:t>𝐴</m:t>
                          </m:r>
                          <m:r>
                            <a:rPr lang="sr-Latn-RS" sz="2800" i="1">
                              <a:latin typeface="Cambria Math" panose="02040503050406030204" pitchFamily="18" charset="0"/>
                            </a:rPr>
                            <m:t>⊗</m:t>
                          </m:r>
                          <m:r>
                            <a:rPr lang="sr-Latn-RS" sz="2800" i="1">
                              <a:latin typeface="Cambria Math" panose="02040503050406030204" pitchFamily="18" charset="0"/>
                            </a:rPr>
                            <m:t>𝐵</m:t>
                          </m:r>
                          <m:r>
                            <a:rPr lang="sr-Latn-RS" sz="2800" i="1">
                              <a:latin typeface="Cambria Math" panose="02040503050406030204" pitchFamily="18" charset="0"/>
                            </a:rPr>
                            <m:t>⊗</m:t>
                          </m:r>
                          <m:r>
                            <a:rPr lang="sr-Latn-RS" sz="2800" i="1">
                              <a:latin typeface="Cambria Math" panose="02040503050406030204" pitchFamily="18" charset="0"/>
                            </a:rPr>
                            <m:t>𝐶</m:t>
                          </m:r>
                        </m:e>
                      </m:d>
                      <m:d>
                        <m:dPr>
                          <m:begChr m:val="|"/>
                          <m:endChr m:val="⟩"/>
                          <m:ctrlPr>
                            <a:rPr lang="en-ZA" sz="2800" i="1" smtClean="0">
                              <a:solidFill>
                                <a:srgbClr val="0000FF"/>
                              </a:solidFill>
                              <a:latin typeface="Cambria Math" panose="02040503050406030204" pitchFamily="18" charset="0"/>
                            </a:rPr>
                          </m:ctrlPr>
                        </m:dPr>
                        <m:e>
                          <m:r>
                            <a:rPr lang="sr-Latn-RS" sz="2800" i="1">
                              <a:solidFill>
                                <a:srgbClr val="0000FF"/>
                              </a:solidFill>
                              <a:latin typeface="Cambria Math" panose="02040503050406030204" pitchFamily="18" charset="0"/>
                            </a:rPr>
                            <m:t>𝑎𝑏𝑐</m:t>
                          </m:r>
                        </m:e>
                      </m:d>
                    </m:oMath>
                  </m:oMathPara>
                </a14:m>
                <a:endParaRPr lang="en-US" sz="2800" dirty="0"/>
              </a:p>
            </p:txBody>
          </p:sp>
        </mc:Choice>
        <mc:Fallback xmlns="">
          <p:sp>
            <p:nvSpPr>
              <p:cNvPr id="20" name="Rectangle 19">
                <a:extLst>
                  <a:ext uri="{FF2B5EF4-FFF2-40B4-BE49-F238E27FC236}">
                    <a16:creationId xmlns:a16="http://schemas.microsoft.com/office/drawing/2014/main" id="{88E8A444-74C4-D948-B271-775865A33B07}"/>
                  </a:ext>
                </a:extLst>
              </p:cNvPr>
              <p:cNvSpPr>
                <a:spLocks noRot="1" noChangeAspect="1" noMove="1" noResize="1" noEditPoints="1" noAdjustHandles="1" noChangeArrowheads="1" noChangeShapeType="1" noTextEdit="1"/>
              </p:cNvSpPr>
              <p:nvPr/>
            </p:nvSpPr>
            <p:spPr>
              <a:xfrm>
                <a:off x="1900172" y="5863722"/>
                <a:ext cx="8391656" cy="523220"/>
              </a:xfrm>
              <a:prstGeom prst="rect">
                <a:avLst/>
              </a:prstGeom>
              <a:blipFill>
                <a:blip r:embed="rId10"/>
                <a:stretch>
                  <a:fillRect b="-16667"/>
                </a:stretch>
              </a:blipFill>
            </p:spPr>
            <p:txBody>
              <a:bodyPr/>
              <a:lstStyle/>
              <a:p>
                <a:r>
                  <a:rPr lang="en-US">
                    <a:noFill/>
                  </a:rPr>
                  <a:t> </a:t>
                </a:r>
              </a:p>
            </p:txBody>
          </p:sp>
        </mc:Fallback>
      </mc:AlternateContent>
    </p:spTree>
    <p:extLst>
      <p:ext uri="{BB962C8B-B14F-4D97-AF65-F5344CB8AC3E}">
        <p14:creationId xmlns:p14="http://schemas.microsoft.com/office/powerpoint/2010/main" val="2486856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739CD5-4188-3D41-9900-B61D97CBB354}"/>
              </a:ext>
            </a:extLst>
          </p:cNvPr>
          <p:cNvSpPr>
            <a:spLocks noGrp="1"/>
          </p:cNvSpPr>
          <p:nvPr>
            <p:ph type="sldNum" sz="quarter" idx="12"/>
          </p:nvPr>
        </p:nvSpPr>
        <p:spPr/>
        <p:txBody>
          <a:bodyPr/>
          <a:lstStyle/>
          <a:p>
            <a:fld id="{591A223C-FA10-BC46-A853-03BA373D023C}" type="slidenum">
              <a:rPr lang="en-US" smtClean="0"/>
              <a:t>36</a:t>
            </a:fld>
            <a:endParaRPr lang="en-US"/>
          </a:p>
        </p:txBody>
      </p:sp>
      <p:sp>
        <p:nvSpPr>
          <p:cNvPr id="3" name="Title 2">
            <a:extLst>
              <a:ext uri="{FF2B5EF4-FFF2-40B4-BE49-F238E27FC236}">
                <a16:creationId xmlns:a16="http://schemas.microsoft.com/office/drawing/2014/main" id="{3FA0E05F-ECAD-8143-92FE-5B7485D17BAD}"/>
              </a:ext>
            </a:extLst>
          </p:cNvPr>
          <p:cNvSpPr>
            <a:spLocks noGrp="1"/>
          </p:cNvSpPr>
          <p:nvPr>
            <p:ph type="title"/>
          </p:nvPr>
        </p:nvSpPr>
        <p:spPr/>
        <p:txBody>
          <a:bodyPr/>
          <a:lstStyle/>
          <a:p>
            <a:r>
              <a:rPr lang="en-ZA" dirty="0"/>
              <a:t>Quantum Gate Configuration with Identity</a:t>
            </a:r>
            <a:endParaRPr lang="en-US" dirty="0"/>
          </a:p>
        </p:txBody>
      </p:sp>
      <p:cxnSp>
        <p:nvCxnSpPr>
          <p:cNvPr id="8" name="Straight Connector 7">
            <a:extLst>
              <a:ext uri="{FF2B5EF4-FFF2-40B4-BE49-F238E27FC236}">
                <a16:creationId xmlns:a16="http://schemas.microsoft.com/office/drawing/2014/main" id="{B2B8E071-C877-CA41-8E31-290B32407AE1}"/>
              </a:ext>
            </a:extLst>
          </p:cNvPr>
          <p:cNvCxnSpPr>
            <a:cxnSpLocks/>
          </p:cNvCxnSpPr>
          <p:nvPr/>
        </p:nvCxnSpPr>
        <p:spPr>
          <a:xfrm flipV="1">
            <a:off x="2188930" y="2606687"/>
            <a:ext cx="2721499"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64BE965-7DC7-904B-989E-9F0240585F44}"/>
              </a:ext>
            </a:extLst>
          </p:cNvPr>
          <p:cNvSpPr/>
          <p:nvPr/>
        </p:nvSpPr>
        <p:spPr>
          <a:xfrm>
            <a:off x="2953113" y="2049903"/>
            <a:ext cx="1080000" cy="108000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Times" pitchFamily="2" charset="0"/>
              </a:rPr>
              <a:t>A</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5FE2FC54-5050-B744-95AB-F150FDB0C0B3}"/>
                  </a:ext>
                </a:extLst>
              </p:cNvPr>
              <p:cNvSpPr/>
              <p:nvPr/>
            </p:nvSpPr>
            <p:spPr>
              <a:xfrm>
                <a:off x="1392109" y="2345077"/>
                <a:ext cx="79682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r>
                        <a:rPr lang="en-US" sz="2800">
                          <a:latin typeface="Cambria Math" panose="02040503050406030204" pitchFamily="18" charset="0"/>
                        </a:rPr>
                        <m:t> </m:t>
                      </m:r>
                    </m:oMath>
                  </m:oMathPara>
                </a14:m>
                <a:endParaRPr lang="en-US" sz="2800" dirty="0"/>
              </a:p>
            </p:txBody>
          </p:sp>
        </mc:Choice>
        <mc:Fallback xmlns="">
          <p:sp>
            <p:nvSpPr>
              <p:cNvPr id="13" name="Rectangle 12">
                <a:extLst>
                  <a:ext uri="{FF2B5EF4-FFF2-40B4-BE49-F238E27FC236}">
                    <a16:creationId xmlns:a16="http://schemas.microsoft.com/office/drawing/2014/main" id="{5FE2FC54-5050-B744-95AB-F150FDB0C0B3}"/>
                  </a:ext>
                </a:extLst>
              </p:cNvPr>
              <p:cNvSpPr>
                <a:spLocks noRot="1" noChangeAspect="1" noMove="1" noResize="1" noEditPoints="1" noAdjustHandles="1" noChangeArrowheads="1" noChangeShapeType="1" noTextEdit="1"/>
              </p:cNvSpPr>
              <p:nvPr/>
            </p:nvSpPr>
            <p:spPr>
              <a:xfrm>
                <a:off x="1392109" y="2345077"/>
                <a:ext cx="796821" cy="523220"/>
              </a:xfrm>
              <a:prstGeom prst="rect">
                <a:avLst/>
              </a:prstGeom>
              <a:blipFill>
                <a:blip r:embed="rId3"/>
                <a:stretch>
                  <a:fillRect r="-4762" b="-19048"/>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094C5D57-0AD1-884F-8ABE-07A9306DAD9F}"/>
              </a:ext>
            </a:extLst>
          </p:cNvPr>
          <p:cNvCxnSpPr>
            <a:cxnSpLocks/>
          </p:cNvCxnSpPr>
          <p:nvPr/>
        </p:nvCxnSpPr>
        <p:spPr>
          <a:xfrm flipV="1">
            <a:off x="2188929" y="3966388"/>
            <a:ext cx="2721499"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6786D80-6396-0047-931A-93D620B2B561}"/>
              </a:ext>
            </a:extLst>
          </p:cNvPr>
          <p:cNvSpPr/>
          <p:nvPr/>
        </p:nvSpPr>
        <p:spPr>
          <a:xfrm>
            <a:off x="2953113" y="3391513"/>
            <a:ext cx="1080000" cy="1080000"/>
          </a:xfrm>
          <a:prstGeom prst="rect">
            <a:avLst/>
          </a:prstGeom>
          <a:solidFill>
            <a:schemeClr val="bg2">
              <a:alpha val="59000"/>
            </a:schemeClr>
          </a:solid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Times" pitchFamily="2" charset="0"/>
              </a:rPr>
              <a:t>I</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2E240D5B-FA3D-674F-9B33-B3C1A6E5E90D}"/>
                  </a:ext>
                </a:extLst>
              </p:cNvPr>
              <p:cNvSpPr/>
              <p:nvPr/>
            </p:nvSpPr>
            <p:spPr>
              <a:xfrm>
                <a:off x="1392108" y="3686687"/>
                <a:ext cx="78951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sr-Latn-RS" sz="2800" b="0" i="1" smtClean="0">
                              <a:latin typeface="Cambria Math" panose="02040503050406030204" pitchFamily="18" charset="0"/>
                            </a:rPr>
                            <m:t>𝑏</m:t>
                          </m:r>
                        </m:e>
                      </m:d>
                      <m:r>
                        <a:rPr lang="en-US" sz="2800">
                          <a:latin typeface="Cambria Math" panose="02040503050406030204" pitchFamily="18" charset="0"/>
                        </a:rPr>
                        <m:t> </m:t>
                      </m:r>
                    </m:oMath>
                  </m:oMathPara>
                </a14:m>
                <a:endParaRPr lang="en-US" sz="2800" dirty="0"/>
              </a:p>
            </p:txBody>
          </p:sp>
        </mc:Choice>
        <mc:Fallback xmlns="">
          <p:sp>
            <p:nvSpPr>
              <p:cNvPr id="15" name="Rectangle 14">
                <a:extLst>
                  <a:ext uri="{FF2B5EF4-FFF2-40B4-BE49-F238E27FC236}">
                    <a16:creationId xmlns:a16="http://schemas.microsoft.com/office/drawing/2014/main" id="{2E240D5B-FA3D-674F-9B33-B3C1A6E5E90D}"/>
                  </a:ext>
                </a:extLst>
              </p:cNvPr>
              <p:cNvSpPr>
                <a:spLocks noRot="1" noChangeAspect="1" noMove="1" noResize="1" noEditPoints="1" noAdjustHandles="1" noChangeArrowheads="1" noChangeShapeType="1" noTextEdit="1"/>
              </p:cNvSpPr>
              <p:nvPr/>
            </p:nvSpPr>
            <p:spPr>
              <a:xfrm>
                <a:off x="1392108" y="3686687"/>
                <a:ext cx="789512" cy="523220"/>
              </a:xfrm>
              <a:prstGeom prst="rect">
                <a:avLst/>
              </a:prstGeom>
              <a:blipFill>
                <a:blip r:embed="rId4"/>
                <a:stretch>
                  <a:fillRect r="-4762" b="-21429"/>
                </a:stretch>
              </a:blipFill>
            </p:spPr>
            <p:txBody>
              <a:bodyPr/>
              <a:lstStyle/>
              <a:p>
                <a:r>
                  <a:rPr lang="en-US">
                    <a:noFill/>
                  </a:rPr>
                  <a:t> </a:t>
                </a:r>
              </a:p>
            </p:txBody>
          </p:sp>
        </mc:Fallback>
      </mc:AlternateContent>
      <p:sp>
        <p:nvSpPr>
          <p:cNvPr id="5" name="Right Brace 4">
            <a:extLst>
              <a:ext uri="{FF2B5EF4-FFF2-40B4-BE49-F238E27FC236}">
                <a16:creationId xmlns:a16="http://schemas.microsoft.com/office/drawing/2014/main" id="{8F1A715B-5515-2E44-8147-018471617538}"/>
              </a:ext>
            </a:extLst>
          </p:cNvPr>
          <p:cNvSpPr/>
          <p:nvPr/>
        </p:nvSpPr>
        <p:spPr>
          <a:xfrm>
            <a:off x="6096000" y="2049903"/>
            <a:ext cx="653144" cy="2421610"/>
          </a:xfrm>
          <a:prstGeom prst="rightBrace">
            <a:avLst>
              <a:gd name="adj1" fmla="val 308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75B506D2-1736-CB4E-AB0C-BA347AA66505}"/>
                  </a:ext>
                </a:extLst>
              </p:cNvPr>
              <p:cNvSpPr/>
              <p:nvPr/>
            </p:nvSpPr>
            <p:spPr>
              <a:xfrm>
                <a:off x="4893750" y="2345077"/>
                <a:ext cx="102797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𝐴</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r>
                        <a:rPr lang="en-US" sz="2800">
                          <a:latin typeface="Cambria Math" panose="02040503050406030204" pitchFamily="18" charset="0"/>
                        </a:rPr>
                        <m:t> </m:t>
                      </m:r>
                    </m:oMath>
                  </m:oMathPara>
                </a14:m>
                <a:endParaRPr lang="en-US" sz="2800" dirty="0"/>
              </a:p>
            </p:txBody>
          </p:sp>
        </mc:Choice>
        <mc:Fallback xmlns="">
          <p:sp>
            <p:nvSpPr>
              <p:cNvPr id="17" name="Rectangle 16">
                <a:extLst>
                  <a:ext uri="{FF2B5EF4-FFF2-40B4-BE49-F238E27FC236}">
                    <a16:creationId xmlns:a16="http://schemas.microsoft.com/office/drawing/2014/main" id="{75B506D2-1736-CB4E-AB0C-BA347AA66505}"/>
                  </a:ext>
                </a:extLst>
              </p:cNvPr>
              <p:cNvSpPr>
                <a:spLocks noRot="1" noChangeAspect="1" noMove="1" noResize="1" noEditPoints="1" noAdjustHandles="1" noChangeArrowheads="1" noChangeShapeType="1" noTextEdit="1"/>
              </p:cNvSpPr>
              <p:nvPr/>
            </p:nvSpPr>
            <p:spPr>
              <a:xfrm>
                <a:off x="4893750" y="2345077"/>
                <a:ext cx="1027974" cy="523220"/>
              </a:xfrm>
              <a:prstGeom prst="rect">
                <a:avLst/>
              </a:prstGeom>
              <a:blipFill>
                <a:blip r:embed="rId5"/>
                <a:stretch>
                  <a:fillRect r="-3659"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67EBF1A2-8751-9243-A4E7-4997ACF9DC73}"/>
                  </a:ext>
                </a:extLst>
              </p:cNvPr>
              <p:cNvSpPr/>
              <p:nvPr/>
            </p:nvSpPr>
            <p:spPr>
              <a:xfrm>
                <a:off x="4893749" y="3686687"/>
                <a:ext cx="93718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𝐼</m:t>
                      </m:r>
                      <m:d>
                        <m:dPr>
                          <m:begChr m:val="|"/>
                          <m:endChr m:val="⟩"/>
                          <m:ctrlPr>
                            <a:rPr lang="en-US" sz="2800" i="1" smtClean="0">
                              <a:latin typeface="Cambria Math" panose="02040503050406030204" pitchFamily="18" charset="0"/>
                            </a:rPr>
                          </m:ctrlPr>
                        </m:dPr>
                        <m:e>
                          <m:r>
                            <a:rPr lang="sr-Latn-RS" sz="2800" b="0" i="1" smtClean="0">
                              <a:latin typeface="Cambria Math" panose="02040503050406030204" pitchFamily="18" charset="0"/>
                            </a:rPr>
                            <m:t>𝑏</m:t>
                          </m:r>
                        </m:e>
                      </m:d>
                      <m:r>
                        <a:rPr lang="en-US" sz="2800">
                          <a:latin typeface="Cambria Math" panose="02040503050406030204" pitchFamily="18" charset="0"/>
                        </a:rPr>
                        <m:t> </m:t>
                      </m:r>
                    </m:oMath>
                  </m:oMathPara>
                </a14:m>
                <a:endParaRPr lang="en-US" sz="2800" dirty="0"/>
              </a:p>
            </p:txBody>
          </p:sp>
        </mc:Choice>
        <mc:Fallback xmlns="">
          <p:sp>
            <p:nvSpPr>
              <p:cNvPr id="18" name="Rectangle 17">
                <a:extLst>
                  <a:ext uri="{FF2B5EF4-FFF2-40B4-BE49-F238E27FC236}">
                    <a16:creationId xmlns:a16="http://schemas.microsoft.com/office/drawing/2014/main" id="{67EBF1A2-8751-9243-A4E7-4997ACF9DC73}"/>
                  </a:ext>
                </a:extLst>
              </p:cNvPr>
              <p:cNvSpPr>
                <a:spLocks noRot="1" noChangeAspect="1" noMove="1" noResize="1" noEditPoints="1" noAdjustHandles="1" noChangeArrowheads="1" noChangeShapeType="1" noTextEdit="1"/>
              </p:cNvSpPr>
              <p:nvPr/>
            </p:nvSpPr>
            <p:spPr>
              <a:xfrm>
                <a:off x="4893749" y="3686687"/>
                <a:ext cx="937180" cy="523220"/>
              </a:xfrm>
              <a:prstGeom prst="rect">
                <a:avLst/>
              </a:prstGeom>
              <a:blipFill>
                <a:blip r:embed="rId6"/>
                <a:stretch>
                  <a:fillRect r="-4000"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09331C1C-235F-E348-9D2D-DD4F316E2A9D}"/>
                  </a:ext>
                </a:extLst>
              </p:cNvPr>
              <p:cNvSpPr/>
              <p:nvPr/>
            </p:nvSpPr>
            <p:spPr>
              <a:xfrm>
                <a:off x="6923420" y="2999098"/>
                <a:ext cx="452175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𝐴</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r>
                        <a:rPr lang="en-US" sz="2800" i="0">
                          <a:latin typeface="Cambria Math" panose="02040503050406030204" pitchFamily="18" charset="0"/>
                        </a:rPr>
                        <m:t>⊗ </m:t>
                      </m:r>
                      <m:r>
                        <a:rPr lang="sr-Latn-RS" sz="2800" b="0" i="1" smtClean="0">
                          <a:latin typeface="Cambria Math" panose="02040503050406030204" pitchFamily="18" charset="0"/>
                        </a:rPr>
                        <m:t>𝐼</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𝑏</m:t>
                          </m:r>
                        </m:e>
                      </m:d>
                      <m:r>
                        <a:rPr lang="sr-Latn-RS" sz="2800" b="0" i="0" smtClean="0">
                          <a:latin typeface="Cambria Math" panose="02040503050406030204" pitchFamily="18" charset="0"/>
                        </a:rPr>
                        <m:t>=</m:t>
                      </m:r>
                      <m:d>
                        <m:dPr>
                          <m:ctrlPr>
                            <a:rPr lang="sr-Latn-RS" sz="2800" b="0" i="1" smtClean="0">
                              <a:latin typeface="Cambria Math" panose="02040503050406030204" pitchFamily="18" charset="0"/>
                            </a:rPr>
                          </m:ctrlPr>
                        </m:dPr>
                        <m:e>
                          <m:r>
                            <a:rPr lang="sr-Latn-RS" sz="2800" b="0" i="1" smtClean="0">
                              <a:latin typeface="Cambria Math" panose="02040503050406030204" pitchFamily="18" charset="0"/>
                            </a:rPr>
                            <m:t>𝐴</m:t>
                          </m:r>
                          <m:r>
                            <a:rPr lang="en-US" sz="2800">
                              <a:latin typeface="Cambria Math" panose="02040503050406030204" pitchFamily="18" charset="0"/>
                            </a:rPr>
                            <m:t>⊗</m:t>
                          </m:r>
                          <m:r>
                            <a:rPr lang="sr-Latn-RS" sz="2800" b="0" i="1" smtClean="0">
                              <a:latin typeface="Cambria Math" panose="02040503050406030204" pitchFamily="18" charset="0"/>
                            </a:rPr>
                            <m:t>𝐼</m:t>
                          </m:r>
                        </m:e>
                      </m:d>
                      <m:r>
                        <a:rPr lang="sr-Latn-RS" sz="2800" b="0" i="0" smtClean="0">
                          <a:latin typeface="Cambria Math" panose="02040503050406030204" pitchFamily="18" charset="0"/>
                        </a:rPr>
                        <m:t> </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r>
                            <a:rPr lang="sr-Latn-RS" sz="2800" b="0" i="1" smtClean="0">
                              <a:latin typeface="Cambria Math" panose="02040503050406030204" pitchFamily="18" charset="0"/>
                            </a:rPr>
                            <m:t>𝑏</m:t>
                          </m:r>
                        </m:e>
                      </m:d>
                    </m:oMath>
                  </m:oMathPara>
                </a14:m>
                <a:endParaRPr lang="en-US" sz="2800" dirty="0"/>
              </a:p>
            </p:txBody>
          </p:sp>
        </mc:Choice>
        <mc:Fallback xmlns="">
          <p:sp>
            <p:nvSpPr>
              <p:cNvPr id="7" name="Rectangle 6">
                <a:extLst>
                  <a:ext uri="{FF2B5EF4-FFF2-40B4-BE49-F238E27FC236}">
                    <a16:creationId xmlns:a16="http://schemas.microsoft.com/office/drawing/2014/main" id="{09331C1C-235F-E348-9D2D-DD4F316E2A9D}"/>
                  </a:ext>
                </a:extLst>
              </p:cNvPr>
              <p:cNvSpPr>
                <a:spLocks noRot="1" noChangeAspect="1" noMove="1" noResize="1" noEditPoints="1" noAdjustHandles="1" noChangeArrowheads="1" noChangeShapeType="1" noTextEdit="1"/>
              </p:cNvSpPr>
              <p:nvPr/>
            </p:nvSpPr>
            <p:spPr>
              <a:xfrm>
                <a:off x="6923420" y="2999098"/>
                <a:ext cx="4521751" cy="523220"/>
              </a:xfrm>
              <a:prstGeom prst="rect">
                <a:avLst/>
              </a:prstGeom>
              <a:blipFill>
                <a:blip r:embed="rId7"/>
                <a:stretch>
                  <a:fillRect b="-21429"/>
                </a:stretch>
              </a:blipFill>
            </p:spPr>
            <p:txBody>
              <a:bodyPr/>
              <a:lstStyle/>
              <a:p>
                <a:r>
                  <a:rPr lang="en-US">
                    <a:noFill/>
                  </a:rPr>
                  <a:t> </a:t>
                </a:r>
              </a:p>
            </p:txBody>
          </p:sp>
        </mc:Fallback>
      </mc:AlternateContent>
    </p:spTree>
    <p:extLst>
      <p:ext uri="{BB962C8B-B14F-4D97-AF65-F5344CB8AC3E}">
        <p14:creationId xmlns:p14="http://schemas.microsoft.com/office/powerpoint/2010/main" val="38409651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739CD5-4188-3D41-9900-B61D97CBB354}"/>
              </a:ext>
            </a:extLst>
          </p:cNvPr>
          <p:cNvSpPr>
            <a:spLocks noGrp="1"/>
          </p:cNvSpPr>
          <p:nvPr>
            <p:ph type="sldNum" sz="quarter" idx="12"/>
          </p:nvPr>
        </p:nvSpPr>
        <p:spPr/>
        <p:txBody>
          <a:bodyPr/>
          <a:lstStyle/>
          <a:p>
            <a:fld id="{591A223C-FA10-BC46-A853-03BA373D023C}" type="slidenum">
              <a:rPr lang="en-US" smtClean="0"/>
              <a:t>37</a:t>
            </a:fld>
            <a:endParaRPr lang="en-US"/>
          </a:p>
        </p:txBody>
      </p:sp>
      <p:sp>
        <p:nvSpPr>
          <p:cNvPr id="3" name="Title 2">
            <a:extLst>
              <a:ext uri="{FF2B5EF4-FFF2-40B4-BE49-F238E27FC236}">
                <a16:creationId xmlns:a16="http://schemas.microsoft.com/office/drawing/2014/main" id="{3FA0E05F-ECAD-8143-92FE-5B7485D17BAD}"/>
              </a:ext>
            </a:extLst>
          </p:cNvPr>
          <p:cNvSpPr>
            <a:spLocks noGrp="1"/>
          </p:cNvSpPr>
          <p:nvPr>
            <p:ph type="title"/>
          </p:nvPr>
        </p:nvSpPr>
        <p:spPr/>
        <p:txBody>
          <a:bodyPr/>
          <a:lstStyle/>
          <a:p>
            <a:r>
              <a:rPr lang="en-ZA" dirty="0"/>
              <a:t>Combined Quantum Gate Configuration</a:t>
            </a:r>
            <a:endParaRPr lang="en-US" dirty="0"/>
          </a:p>
        </p:txBody>
      </p:sp>
      <p:cxnSp>
        <p:nvCxnSpPr>
          <p:cNvPr id="8" name="Straight Connector 7">
            <a:extLst>
              <a:ext uri="{FF2B5EF4-FFF2-40B4-BE49-F238E27FC236}">
                <a16:creationId xmlns:a16="http://schemas.microsoft.com/office/drawing/2014/main" id="{B2B8E071-C877-CA41-8E31-290B32407AE1}"/>
              </a:ext>
            </a:extLst>
          </p:cNvPr>
          <p:cNvCxnSpPr>
            <a:cxnSpLocks/>
          </p:cNvCxnSpPr>
          <p:nvPr/>
        </p:nvCxnSpPr>
        <p:spPr>
          <a:xfrm>
            <a:off x="1410911" y="2847236"/>
            <a:ext cx="4324037" cy="1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64BE965-7DC7-904B-989E-9F0240585F44}"/>
              </a:ext>
            </a:extLst>
          </p:cNvPr>
          <p:cNvSpPr/>
          <p:nvPr/>
        </p:nvSpPr>
        <p:spPr>
          <a:xfrm>
            <a:off x="2175094" y="2290450"/>
            <a:ext cx="1080000" cy="108000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Times" pitchFamily="2" charset="0"/>
              </a:rPr>
              <a:t>A</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5FE2FC54-5050-B744-95AB-F150FDB0C0B3}"/>
                  </a:ext>
                </a:extLst>
              </p:cNvPr>
              <p:cNvSpPr/>
              <p:nvPr/>
            </p:nvSpPr>
            <p:spPr>
              <a:xfrm>
                <a:off x="614090" y="2585624"/>
                <a:ext cx="79682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r>
                        <a:rPr lang="en-US" sz="2800">
                          <a:latin typeface="Cambria Math" panose="02040503050406030204" pitchFamily="18" charset="0"/>
                        </a:rPr>
                        <m:t> </m:t>
                      </m:r>
                    </m:oMath>
                  </m:oMathPara>
                </a14:m>
                <a:endParaRPr lang="en-US" sz="2800" dirty="0"/>
              </a:p>
            </p:txBody>
          </p:sp>
        </mc:Choice>
        <mc:Fallback xmlns="">
          <p:sp>
            <p:nvSpPr>
              <p:cNvPr id="13" name="Rectangle 12">
                <a:extLst>
                  <a:ext uri="{FF2B5EF4-FFF2-40B4-BE49-F238E27FC236}">
                    <a16:creationId xmlns:a16="http://schemas.microsoft.com/office/drawing/2014/main" id="{5FE2FC54-5050-B744-95AB-F150FDB0C0B3}"/>
                  </a:ext>
                </a:extLst>
              </p:cNvPr>
              <p:cNvSpPr>
                <a:spLocks noRot="1" noChangeAspect="1" noMove="1" noResize="1" noEditPoints="1" noAdjustHandles="1" noChangeArrowheads="1" noChangeShapeType="1" noTextEdit="1"/>
              </p:cNvSpPr>
              <p:nvPr/>
            </p:nvSpPr>
            <p:spPr>
              <a:xfrm>
                <a:off x="614090" y="2585624"/>
                <a:ext cx="796821" cy="523220"/>
              </a:xfrm>
              <a:prstGeom prst="rect">
                <a:avLst/>
              </a:prstGeom>
              <a:blipFill>
                <a:blip r:embed="rId3"/>
                <a:stretch>
                  <a:fillRect r="-4762" b="-19512"/>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A6786D80-6396-0047-931A-93D620B2B561}"/>
              </a:ext>
            </a:extLst>
          </p:cNvPr>
          <p:cNvSpPr/>
          <p:nvPr/>
        </p:nvSpPr>
        <p:spPr>
          <a:xfrm>
            <a:off x="3924132" y="2325327"/>
            <a:ext cx="1080000" cy="10800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Times" pitchFamily="2" charset="0"/>
              </a:rPr>
              <a:t>B</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2E240D5B-FA3D-674F-9B33-B3C1A6E5E90D}"/>
                  </a:ext>
                </a:extLst>
              </p:cNvPr>
              <p:cNvSpPr/>
              <p:nvPr/>
            </p:nvSpPr>
            <p:spPr>
              <a:xfrm>
                <a:off x="614089" y="3927234"/>
                <a:ext cx="78951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𝑏</m:t>
                          </m:r>
                        </m:e>
                      </m:d>
                      <m:r>
                        <a:rPr lang="en-US" sz="2800">
                          <a:latin typeface="Cambria Math" panose="02040503050406030204" pitchFamily="18" charset="0"/>
                        </a:rPr>
                        <m:t> </m:t>
                      </m:r>
                    </m:oMath>
                  </m:oMathPara>
                </a14:m>
                <a:endParaRPr lang="en-US" sz="2800" dirty="0"/>
              </a:p>
            </p:txBody>
          </p:sp>
        </mc:Choice>
        <mc:Fallback xmlns="">
          <p:sp>
            <p:nvSpPr>
              <p:cNvPr id="15" name="Rectangle 14">
                <a:extLst>
                  <a:ext uri="{FF2B5EF4-FFF2-40B4-BE49-F238E27FC236}">
                    <a16:creationId xmlns:a16="http://schemas.microsoft.com/office/drawing/2014/main" id="{2E240D5B-FA3D-674F-9B33-B3C1A6E5E90D}"/>
                  </a:ext>
                </a:extLst>
              </p:cNvPr>
              <p:cNvSpPr>
                <a:spLocks noRot="1" noChangeAspect="1" noMove="1" noResize="1" noEditPoints="1" noAdjustHandles="1" noChangeArrowheads="1" noChangeShapeType="1" noTextEdit="1"/>
              </p:cNvSpPr>
              <p:nvPr/>
            </p:nvSpPr>
            <p:spPr>
              <a:xfrm>
                <a:off x="614089" y="3927234"/>
                <a:ext cx="789512" cy="523220"/>
              </a:xfrm>
              <a:prstGeom prst="rect">
                <a:avLst/>
              </a:prstGeom>
              <a:blipFill>
                <a:blip r:embed="rId4"/>
                <a:stretch>
                  <a:fillRect r="-4762" b="-21429"/>
                </a:stretch>
              </a:blipFill>
            </p:spPr>
            <p:txBody>
              <a:bodyPr/>
              <a:lstStyle/>
              <a:p>
                <a:r>
                  <a:rPr lang="en-US">
                    <a:noFill/>
                  </a:rPr>
                  <a:t> </a:t>
                </a:r>
              </a:p>
            </p:txBody>
          </p:sp>
        </mc:Fallback>
      </mc:AlternateContent>
      <p:sp>
        <p:nvSpPr>
          <p:cNvPr id="5" name="Right Brace 4">
            <a:extLst>
              <a:ext uri="{FF2B5EF4-FFF2-40B4-BE49-F238E27FC236}">
                <a16:creationId xmlns:a16="http://schemas.microsoft.com/office/drawing/2014/main" id="{8F1A715B-5515-2E44-8147-018471617538}"/>
              </a:ext>
            </a:extLst>
          </p:cNvPr>
          <p:cNvSpPr/>
          <p:nvPr/>
        </p:nvSpPr>
        <p:spPr>
          <a:xfrm>
            <a:off x="7249342" y="2577020"/>
            <a:ext cx="653144" cy="2088569"/>
          </a:xfrm>
          <a:prstGeom prst="rightBrace">
            <a:avLst>
              <a:gd name="adj1" fmla="val 308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75B506D2-1736-CB4E-AB0C-BA347AA66505}"/>
                  </a:ext>
                </a:extLst>
              </p:cNvPr>
              <p:cNvSpPr/>
              <p:nvPr/>
            </p:nvSpPr>
            <p:spPr>
              <a:xfrm>
                <a:off x="5861310" y="2577020"/>
                <a:ext cx="126361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𝐵𝐴</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r>
                        <a:rPr lang="en-US" sz="2800">
                          <a:latin typeface="Cambria Math" panose="02040503050406030204" pitchFamily="18" charset="0"/>
                        </a:rPr>
                        <m:t> </m:t>
                      </m:r>
                    </m:oMath>
                  </m:oMathPara>
                </a14:m>
                <a:endParaRPr lang="en-US" sz="2800" dirty="0"/>
              </a:p>
            </p:txBody>
          </p:sp>
        </mc:Choice>
        <mc:Fallback xmlns="">
          <p:sp>
            <p:nvSpPr>
              <p:cNvPr id="17" name="Rectangle 16">
                <a:extLst>
                  <a:ext uri="{FF2B5EF4-FFF2-40B4-BE49-F238E27FC236}">
                    <a16:creationId xmlns:a16="http://schemas.microsoft.com/office/drawing/2014/main" id="{75B506D2-1736-CB4E-AB0C-BA347AA66505}"/>
                  </a:ext>
                </a:extLst>
              </p:cNvPr>
              <p:cNvSpPr>
                <a:spLocks noRot="1" noChangeAspect="1" noMove="1" noResize="1" noEditPoints="1" noAdjustHandles="1" noChangeArrowheads="1" noChangeShapeType="1" noTextEdit="1"/>
              </p:cNvSpPr>
              <p:nvPr/>
            </p:nvSpPr>
            <p:spPr>
              <a:xfrm>
                <a:off x="5861310" y="2577020"/>
                <a:ext cx="1263616" cy="523220"/>
              </a:xfrm>
              <a:prstGeom prst="rect">
                <a:avLst/>
              </a:prstGeom>
              <a:blipFill>
                <a:blip r:embed="rId5"/>
                <a:stretch>
                  <a:fillRect r="-3000"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67EBF1A2-8751-9243-A4E7-4997ACF9DC73}"/>
                  </a:ext>
                </a:extLst>
              </p:cNvPr>
              <p:cNvSpPr/>
              <p:nvPr/>
            </p:nvSpPr>
            <p:spPr>
              <a:xfrm>
                <a:off x="5861310" y="3927234"/>
                <a:ext cx="893706" cy="523220"/>
              </a:xfrm>
              <a:prstGeom prst="rect">
                <a:avLst/>
              </a:prstGeom>
            </p:spPr>
            <p:txBody>
              <a:bodyPr wrap="none">
                <a:spAutoFit/>
              </a:bodyPr>
              <a:lstStyle/>
              <a:p>
                <a:r>
                  <a:rPr lang="en-US" sz="2800" i="1" dirty="0"/>
                  <a:t>X</a:t>
                </a:r>
                <a14:m>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𝑏</m:t>
                        </m:r>
                      </m:e>
                    </m:d>
                    <m:r>
                      <a:rPr lang="en-US" sz="2800">
                        <a:latin typeface="Cambria Math" panose="02040503050406030204" pitchFamily="18" charset="0"/>
                      </a:rPr>
                      <m:t> </m:t>
                    </m:r>
                  </m:oMath>
                </a14:m>
                <a:endParaRPr lang="en-US" sz="2800" dirty="0"/>
              </a:p>
            </p:txBody>
          </p:sp>
        </mc:Choice>
        <mc:Fallback xmlns="">
          <p:sp>
            <p:nvSpPr>
              <p:cNvPr id="18" name="Rectangle 17">
                <a:extLst>
                  <a:ext uri="{FF2B5EF4-FFF2-40B4-BE49-F238E27FC236}">
                    <a16:creationId xmlns:a16="http://schemas.microsoft.com/office/drawing/2014/main" id="{67EBF1A2-8751-9243-A4E7-4997ACF9DC73}"/>
                  </a:ext>
                </a:extLst>
              </p:cNvPr>
              <p:cNvSpPr>
                <a:spLocks noRot="1" noChangeAspect="1" noMove="1" noResize="1" noEditPoints="1" noAdjustHandles="1" noChangeArrowheads="1" noChangeShapeType="1" noTextEdit="1"/>
              </p:cNvSpPr>
              <p:nvPr/>
            </p:nvSpPr>
            <p:spPr>
              <a:xfrm>
                <a:off x="5861310" y="3927234"/>
                <a:ext cx="893706" cy="523220"/>
              </a:xfrm>
              <a:prstGeom prst="rect">
                <a:avLst/>
              </a:prstGeom>
              <a:blipFill>
                <a:blip r:embed="rId6"/>
                <a:stretch>
                  <a:fillRect l="-14085" t="-9524" r="-8451" b="-28571"/>
                </a:stretch>
              </a:blipFill>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7DE4BCAA-ACA1-6842-A081-71EA0A841055}"/>
              </a:ext>
            </a:extLst>
          </p:cNvPr>
          <p:cNvCxnSpPr>
            <a:cxnSpLocks/>
          </p:cNvCxnSpPr>
          <p:nvPr/>
        </p:nvCxnSpPr>
        <p:spPr>
          <a:xfrm>
            <a:off x="1378273" y="4305683"/>
            <a:ext cx="4324037" cy="1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69E7A8C-B884-C040-A70A-56C933479822}"/>
              </a:ext>
            </a:extLst>
          </p:cNvPr>
          <p:cNvSpPr/>
          <p:nvPr/>
        </p:nvSpPr>
        <p:spPr>
          <a:xfrm>
            <a:off x="2175094" y="3797740"/>
            <a:ext cx="1080000" cy="108000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Times" pitchFamily="2" charset="0"/>
              </a:rPr>
              <a:t>X</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31B0A3BA-450D-EC4F-BBA5-2485998E7355}"/>
                  </a:ext>
                </a:extLst>
              </p:cNvPr>
              <p:cNvSpPr/>
              <p:nvPr/>
            </p:nvSpPr>
            <p:spPr>
              <a:xfrm>
                <a:off x="8676795" y="2419568"/>
                <a:ext cx="238302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𝐵𝐴</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r>
                        <a:rPr lang="en-US" sz="2800" i="0">
                          <a:latin typeface="Cambria Math" panose="02040503050406030204" pitchFamily="18" charset="0"/>
                        </a:rPr>
                        <m:t>⊗</m:t>
                      </m:r>
                      <m:r>
                        <a:rPr lang="en-US" sz="2800" b="0" i="1" smtClean="0">
                          <a:latin typeface="Cambria Math" panose="02040503050406030204" pitchFamily="18" charset="0"/>
                        </a:rPr>
                        <m:t>𝑋</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𝑏</m:t>
                          </m:r>
                        </m:e>
                      </m:d>
                    </m:oMath>
                  </m:oMathPara>
                </a14:m>
                <a:endParaRPr lang="sr-Latn-RS" sz="2800" i="0" dirty="0">
                  <a:latin typeface="Cambria Math" panose="02040503050406030204" pitchFamily="18" charset="0"/>
                </a:endParaRPr>
              </a:p>
            </p:txBody>
          </p:sp>
        </mc:Choice>
        <mc:Fallback xmlns="">
          <p:sp>
            <p:nvSpPr>
              <p:cNvPr id="6" name="Rectangle 5">
                <a:extLst>
                  <a:ext uri="{FF2B5EF4-FFF2-40B4-BE49-F238E27FC236}">
                    <a16:creationId xmlns:a16="http://schemas.microsoft.com/office/drawing/2014/main" id="{31B0A3BA-450D-EC4F-BBA5-2485998E7355}"/>
                  </a:ext>
                </a:extLst>
              </p:cNvPr>
              <p:cNvSpPr>
                <a:spLocks noRot="1" noChangeAspect="1" noMove="1" noResize="1" noEditPoints="1" noAdjustHandles="1" noChangeArrowheads="1" noChangeShapeType="1" noTextEdit="1"/>
              </p:cNvSpPr>
              <p:nvPr/>
            </p:nvSpPr>
            <p:spPr>
              <a:xfrm>
                <a:off x="8676795" y="2419568"/>
                <a:ext cx="2383025" cy="523220"/>
              </a:xfrm>
              <a:prstGeom prst="rect">
                <a:avLst/>
              </a:prstGeom>
              <a:blipFill>
                <a:blip r:embed="rId7"/>
                <a:stretch>
                  <a:fillRect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429EB548-7997-874B-943B-36254CF4DBA6}"/>
                  </a:ext>
                </a:extLst>
              </p:cNvPr>
              <p:cNvSpPr/>
              <p:nvPr/>
            </p:nvSpPr>
            <p:spPr>
              <a:xfrm>
                <a:off x="8267612" y="3240866"/>
                <a:ext cx="316695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smtClean="0">
                          <a:latin typeface="Cambria Math" panose="02040503050406030204" pitchFamily="18" charset="0"/>
                        </a:rPr>
                        <m:t>(</m:t>
                      </m:r>
                      <m:r>
                        <a:rPr lang="en-US" sz="2800" i="1">
                          <a:latin typeface="Cambria Math" panose="02040503050406030204" pitchFamily="18" charset="0"/>
                        </a:rPr>
                        <m:t>𝐵𝐴</m:t>
                      </m:r>
                      <m:r>
                        <a:rPr lang="en-US" sz="2800">
                          <a:latin typeface="Cambria Math" panose="02040503050406030204" pitchFamily="18" charset="0"/>
                        </a:rPr>
                        <m:t>⊗</m:t>
                      </m:r>
                      <m:r>
                        <m:rPr>
                          <m:sty m:val="p"/>
                        </m:rPr>
                        <a:rPr lang="en-US" sz="2800" b="0" i="0" smtClean="0">
                          <a:latin typeface="Cambria Math" panose="02040503050406030204" pitchFamily="18" charset="0"/>
                        </a:rPr>
                        <m:t>X</m:t>
                      </m:r>
                      <m:r>
                        <a:rPr lang="en-US" sz="280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r>
                        <a:rPr lang="en-US" sz="280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𝑏</m:t>
                          </m:r>
                        </m:e>
                      </m:d>
                    </m:oMath>
                  </m:oMathPara>
                </a14:m>
                <a:endParaRPr lang="en-US" sz="2800" dirty="0"/>
              </a:p>
            </p:txBody>
          </p:sp>
        </mc:Choice>
        <mc:Fallback xmlns="">
          <p:sp>
            <p:nvSpPr>
              <p:cNvPr id="22" name="Rectangle 21">
                <a:extLst>
                  <a:ext uri="{FF2B5EF4-FFF2-40B4-BE49-F238E27FC236}">
                    <a16:creationId xmlns:a16="http://schemas.microsoft.com/office/drawing/2014/main" id="{429EB548-7997-874B-943B-36254CF4DBA6}"/>
                  </a:ext>
                </a:extLst>
              </p:cNvPr>
              <p:cNvSpPr>
                <a:spLocks noRot="1" noChangeAspect="1" noMove="1" noResize="1" noEditPoints="1" noAdjustHandles="1" noChangeArrowheads="1" noChangeShapeType="1" noTextEdit="1"/>
              </p:cNvSpPr>
              <p:nvPr/>
            </p:nvSpPr>
            <p:spPr>
              <a:xfrm>
                <a:off x="8267612" y="3240866"/>
                <a:ext cx="3166957" cy="523220"/>
              </a:xfrm>
              <a:prstGeom prst="rect">
                <a:avLst/>
              </a:prstGeom>
              <a:blipFill>
                <a:blip r:embed="rId8"/>
                <a:stretch>
                  <a:fillRect l="-400"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8F8E3642-D9D1-9D4A-9F7F-28497F86797A}"/>
                  </a:ext>
                </a:extLst>
              </p:cNvPr>
              <p:cNvSpPr/>
              <p:nvPr/>
            </p:nvSpPr>
            <p:spPr>
              <a:xfrm>
                <a:off x="8651852" y="4062164"/>
                <a:ext cx="239847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smtClean="0">
                          <a:latin typeface="Cambria Math" panose="02040503050406030204" pitchFamily="18" charset="0"/>
                        </a:rPr>
                        <m:t>(</m:t>
                      </m:r>
                      <m:r>
                        <a:rPr lang="en-US" sz="2800" i="1">
                          <a:latin typeface="Cambria Math" panose="02040503050406030204" pitchFamily="18" charset="0"/>
                        </a:rPr>
                        <m:t>𝐵𝐴</m:t>
                      </m:r>
                      <m:r>
                        <a:rPr lang="en-US" sz="2800">
                          <a:latin typeface="Cambria Math" panose="02040503050406030204" pitchFamily="18" charset="0"/>
                        </a:rPr>
                        <m:t>⊗</m:t>
                      </m:r>
                      <m:r>
                        <m:rPr>
                          <m:sty m:val="p"/>
                        </m:rPr>
                        <a:rPr lang="en-US" sz="2800" b="0" i="0" smtClean="0">
                          <a:latin typeface="Cambria Math" panose="02040503050406030204" pitchFamily="18" charset="0"/>
                        </a:rPr>
                        <m:t>X</m:t>
                      </m:r>
                      <m:r>
                        <a:rPr lang="en-US" sz="280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r>
                            <a:rPr lang="sr-Latn-RS" sz="2800" b="0" i="1" smtClean="0">
                              <a:latin typeface="Cambria Math" panose="02040503050406030204" pitchFamily="18" charset="0"/>
                            </a:rPr>
                            <m:t>𝑏</m:t>
                          </m:r>
                        </m:e>
                      </m:d>
                    </m:oMath>
                  </m:oMathPara>
                </a14:m>
                <a:endParaRPr lang="en-US" sz="2800" dirty="0"/>
              </a:p>
            </p:txBody>
          </p:sp>
        </mc:Choice>
        <mc:Fallback xmlns="">
          <p:sp>
            <p:nvSpPr>
              <p:cNvPr id="16" name="Rectangle 15">
                <a:extLst>
                  <a:ext uri="{FF2B5EF4-FFF2-40B4-BE49-F238E27FC236}">
                    <a16:creationId xmlns:a16="http://schemas.microsoft.com/office/drawing/2014/main" id="{8F8E3642-D9D1-9D4A-9F7F-28497F86797A}"/>
                  </a:ext>
                </a:extLst>
              </p:cNvPr>
              <p:cNvSpPr>
                <a:spLocks noRot="1" noChangeAspect="1" noMove="1" noResize="1" noEditPoints="1" noAdjustHandles="1" noChangeArrowheads="1" noChangeShapeType="1" noTextEdit="1"/>
              </p:cNvSpPr>
              <p:nvPr/>
            </p:nvSpPr>
            <p:spPr>
              <a:xfrm>
                <a:off x="8651852" y="4062164"/>
                <a:ext cx="2398477" cy="523220"/>
              </a:xfrm>
              <a:prstGeom prst="rect">
                <a:avLst/>
              </a:prstGeom>
              <a:blipFill>
                <a:blip r:embed="rId9"/>
                <a:stretch>
                  <a:fillRect l="-526" b="-16667"/>
                </a:stretch>
              </a:blipFill>
            </p:spPr>
            <p:txBody>
              <a:bodyPr/>
              <a:lstStyle/>
              <a:p>
                <a:r>
                  <a:rPr lang="en-US">
                    <a:noFill/>
                  </a:rPr>
                  <a:t> </a:t>
                </a:r>
              </a:p>
            </p:txBody>
          </p:sp>
        </mc:Fallback>
      </mc:AlternateContent>
    </p:spTree>
    <p:extLst>
      <p:ext uri="{BB962C8B-B14F-4D97-AF65-F5344CB8AC3E}">
        <p14:creationId xmlns:p14="http://schemas.microsoft.com/office/powerpoint/2010/main" val="25283162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B6339E6E-F290-E74A-8F61-EB46039F49DC}"/>
              </a:ext>
            </a:extLst>
          </p:cNvPr>
          <p:cNvCxnSpPr>
            <a:cxnSpLocks/>
          </p:cNvCxnSpPr>
          <p:nvPr/>
        </p:nvCxnSpPr>
        <p:spPr>
          <a:xfrm>
            <a:off x="3357718" y="2155707"/>
            <a:ext cx="4751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7FA1DA32-EEB3-9A4D-ADA8-C2D3470F4334}"/>
              </a:ext>
            </a:extLst>
          </p:cNvPr>
          <p:cNvSpPr>
            <a:spLocks noGrp="1"/>
          </p:cNvSpPr>
          <p:nvPr>
            <p:ph type="sldNum" sz="quarter" idx="12"/>
          </p:nvPr>
        </p:nvSpPr>
        <p:spPr/>
        <p:txBody>
          <a:bodyPr/>
          <a:lstStyle/>
          <a:p>
            <a:fld id="{591A223C-FA10-BC46-A853-03BA373D023C}" type="slidenum">
              <a:rPr lang="en-US" smtClean="0"/>
              <a:t>38</a:t>
            </a:fld>
            <a:endParaRPr lang="en-US"/>
          </a:p>
        </p:txBody>
      </p:sp>
      <p:sp>
        <p:nvSpPr>
          <p:cNvPr id="3" name="Title 2">
            <a:extLst>
              <a:ext uri="{FF2B5EF4-FFF2-40B4-BE49-F238E27FC236}">
                <a16:creationId xmlns:a16="http://schemas.microsoft.com/office/drawing/2014/main" id="{3970FC52-5CF9-2F40-A327-69991129A8F9}"/>
              </a:ext>
            </a:extLst>
          </p:cNvPr>
          <p:cNvSpPr>
            <a:spLocks noGrp="1"/>
          </p:cNvSpPr>
          <p:nvPr>
            <p:ph type="title"/>
          </p:nvPr>
        </p:nvSpPr>
        <p:spPr/>
        <p:txBody>
          <a:bodyPr/>
          <a:lstStyle/>
          <a:p>
            <a:r>
              <a:rPr lang="en-ZA" dirty="0"/>
              <a:t>Example: Sequential Gate Operations</a:t>
            </a:r>
            <a:endParaRPr lang="en-US" dirty="0"/>
          </a:p>
        </p:txBody>
      </p:sp>
      <p:sp>
        <p:nvSpPr>
          <p:cNvPr id="4" name="Oval 3">
            <a:extLst>
              <a:ext uri="{FF2B5EF4-FFF2-40B4-BE49-F238E27FC236}">
                <a16:creationId xmlns:a16="http://schemas.microsoft.com/office/drawing/2014/main" id="{D068AF34-CF25-1A48-B80B-FA5F956C46C1}"/>
              </a:ext>
            </a:extLst>
          </p:cNvPr>
          <p:cNvSpPr/>
          <p:nvPr/>
        </p:nvSpPr>
        <p:spPr>
          <a:xfrm>
            <a:off x="3785359" y="1795707"/>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5" name="Rectangle 4">
            <a:extLst>
              <a:ext uri="{FF2B5EF4-FFF2-40B4-BE49-F238E27FC236}">
                <a16:creationId xmlns:a16="http://schemas.microsoft.com/office/drawing/2014/main" id="{3034294D-2C14-CD41-86FF-1D95A44AA388}"/>
              </a:ext>
            </a:extLst>
          </p:cNvPr>
          <p:cNvSpPr/>
          <p:nvPr/>
        </p:nvSpPr>
        <p:spPr>
          <a:xfrm>
            <a:off x="6735296" y="1795707"/>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Y</a:t>
            </a:r>
          </a:p>
        </p:txBody>
      </p:sp>
      <p:sp>
        <p:nvSpPr>
          <p:cNvPr id="6" name="Rectangle 5">
            <a:extLst>
              <a:ext uri="{FF2B5EF4-FFF2-40B4-BE49-F238E27FC236}">
                <a16:creationId xmlns:a16="http://schemas.microsoft.com/office/drawing/2014/main" id="{650DC469-5971-E74B-B42F-98AAF6AC3AA8}"/>
              </a:ext>
            </a:extLst>
          </p:cNvPr>
          <p:cNvSpPr/>
          <p:nvPr/>
        </p:nvSpPr>
        <p:spPr>
          <a:xfrm>
            <a:off x="5227346" y="1795707"/>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sp>
        <p:nvSpPr>
          <p:cNvPr id="10" name="Rectangle 9">
            <a:extLst>
              <a:ext uri="{FF2B5EF4-FFF2-40B4-BE49-F238E27FC236}">
                <a16:creationId xmlns:a16="http://schemas.microsoft.com/office/drawing/2014/main" id="{8F6BAA21-BAD5-6F4E-B831-9F76D8F34EB6}"/>
              </a:ext>
            </a:extLst>
          </p:cNvPr>
          <p:cNvSpPr/>
          <p:nvPr/>
        </p:nvSpPr>
        <p:spPr>
          <a:xfrm>
            <a:off x="3122998" y="2614097"/>
            <a:ext cx="662361" cy="523220"/>
          </a:xfrm>
          <a:prstGeom prst="rect">
            <a:avLst/>
          </a:prstGeom>
        </p:spPr>
        <p:txBody>
          <a:bodyPr wrap="none">
            <a:spAutoFit/>
          </a:bodyPr>
          <a:lstStyle/>
          <a:p>
            <a:r>
              <a:rPr lang="en-US" sz="2800" dirty="0"/>
              <a:t>|0⟩</a:t>
            </a:r>
          </a:p>
        </p:txBody>
      </p:sp>
      <p:sp>
        <p:nvSpPr>
          <p:cNvPr id="11" name="Rectangle 10">
            <a:extLst>
              <a:ext uri="{FF2B5EF4-FFF2-40B4-BE49-F238E27FC236}">
                <a16:creationId xmlns:a16="http://schemas.microsoft.com/office/drawing/2014/main" id="{70E3F482-EF83-BA43-A558-549F18698585}"/>
              </a:ext>
            </a:extLst>
          </p:cNvPr>
          <p:cNvSpPr/>
          <p:nvPr/>
        </p:nvSpPr>
        <p:spPr>
          <a:xfrm>
            <a:off x="4427771" y="2614097"/>
            <a:ext cx="662361" cy="523220"/>
          </a:xfrm>
          <a:prstGeom prst="rect">
            <a:avLst/>
          </a:prstGeom>
        </p:spPr>
        <p:txBody>
          <a:bodyPr wrap="none">
            <a:spAutoFit/>
          </a:bodyPr>
          <a:lstStyle/>
          <a:p>
            <a:r>
              <a:rPr lang="en-US" sz="2800" dirty="0"/>
              <a:t>|1⟩</a:t>
            </a:r>
          </a:p>
        </p:txBody>
      </p:sp>
      <p:sp>
        <p:nvSpPr>
          <p:cNvPr id="12" name="Rectangle 11">
            <a:extLst>
              <a:ext uri="{FF2B5EF4-FFF2-40B4-BE49-F238E27FC236}">
                <a16:creationId xmlns:a16="http://schemas.microsoft.com/office/drawing/2014/main" id="{C6F60374-A54C-6649-B5CD-D1CC6F19EEA2}"/>
              </a:ext>
            </a:extLst>
          </p:cNvPr>
          <p:cNvSpPr/>
          <p:nvPr/>
        </p:nvSpPr>
        <p:spPr>
          <a:xfrm>
            <a:off x="5811645" y="2614097"/>
            <a:ext cx="841897" cy="523220"/>
          </a:xfrm>
          <a:prstGeom prst="rect">
            <a:avLst/>
          </a:prstGeom>
        </p:spPr>
        <p:txBody>
          <a:bodyPr wrap="none">
            <a:spAutoFit/>
          </a:bodyPr>
          <a:lstStyle/>
          <a:p>
            <a:r>
              <a:rPr lang="en-US" sz="2800" dirty="0"/>
              <a:t>–|1⟩</a:t>
            </a:r>
          </a:p>
        </p:txBody>
      </p:sp>
      <p:sp>
        <p:nvSpPr>
          <p:cNvPr id="14" name="Rectangle 13">
            <a:extLst>
              <a:ext uri="{FF2B5EF4-FFF2-40B4-BE49-F238E27FC236}">
                <a16:creationId xmlns:a16="http://schemas.microsoft.com/office/drawing/2014/main" id="{08D314A9-C718-844C-828A-52C21D9F2D4E}"/>
              </a:ext>
            </a:extLst>
          </p:cNvPr>
          <p:cNvSpPr/>
          <p:nvPr/>
        </p:nvSpPr>
        <p:spPr>
          <a:xfrm>
            <a:off x="7455296" y="2614097"/>
            <a:ext cx="744114" cy="523220"/>
          </a:xfrm>
          <a:prstGeom prst="rect">
            <a:avLst/>
          </a:prstGeom>
        </p:spPr>
        <p:txBody>
          <a:bodyPr wrap="none">
            <a:spAutoFit/>
          </a:bodyPr>
          <a:lstStyle/>
          <a:p>
            <a:r>
              <a:rPr lang="en-US" sz="2800" i="1" dirty="0"/>
              <a:t>i</a:t>
            </a:r>
            <a:r>
              <a:rPr lang="en-US" sz="2800" dirty="0"/>
              <a:t>|0⟩</a:t>
            </a:r>
          </a:p>
        </p:txBody>
      </p:sp>
      <p:grpSp>
        <p:nvGrpSpPr>
          <p:cNvPr id="24" name="Group 23">
            <a:extLst>
              <a:ext uri="{FF2B5EF4-FFF2-40B4-BE49-F238E27FC236}">
                <a16:creationId xmlns:a16="http://schemas.microsoft.com/office/drawing/2014/main" id="{743B6F6C-DB5F-EC4C-8536-9B766708568E}"/>
              </a:ext>
            </a:extLst>
          </p:cNvPr>
          <p:cNvGrpSpPr/>
          <p:nvPr/>
        </p:nvGrpSpPr>
        <p:grpSpPr>
          <a:xfrm>
            <a:off x="2581896" y="3486089"/>
            <a:ext cx="6210996" cy="1219379"/>
            <a:chOff x="373533" y="3555100"/>
            <a:chExt cx="6210996" cy="1219379"/>
          </a:xfrm>
        </p:grpSpPr>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063345AE-C766-0A40-B8BA-57FCA9382787}"/>
                    </a:ext>
                  </a:extLst>
                </p:cNvPr>
                <p:cNvSpPr/>
                <p:nvPr/>
              </p:nvSpPr>
              <p:spPr>
                <a:xfrm>
                  <a:off x="373533" y="4066272"/>
                  <a:ext cx="6210996" cy="708207"/>
                </a:xfrm>
                <a:prstGeom prst="rect">
                  <a:avLst/>
                </a:prstGeom>
              </p:spPr>
              <p:txBody>
                <a:bodyPr wrap="none">
                  <a:spAutoFit/>
                </a:bodyPr>
                <a:lstStyle/>
                <a:p>
                  <a14:m>
                    <m:oMath xmlns:m="http://schemas.openxmlformats.org/officeDocument/2006/math">
                      <m:d>
                        <m:dPr>
                          <m:ctrlPr>
                            <a:rPr lang="en-US" sz="2400" i="1" smtClean="0">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0</m:t>
                                </m:r>
                              </m:e>
                              <m:e>
                                <m:r>
                                  <a:rPr lang="en-US" sz="2400">
                                    <a:latin typeface="Cambria Math" panose="02040503050406030204" pitchFamily="18" charset="0"/>
                                  </a:rPr>
                                  <m:t>−</m:t>
                                </m:r>
                                <m:r>
                                  <a:rPr lang="en-US" sz="2400" i="1">
                                    <a:latin typeface="Cambria Math" panose="02040503050406030204" pitchFamily="18" charset="0"/>
                                  </a:rPr>
                                  <m:t>𝑖</m:t>
                                </m:r>
                              </m:e>
                            </m:mr>
                            <m:mr>
                              <m:e>
                                <m:r>
                                  <a:rPr lang="en-US" sz="2400" i="1">
                                    <a:latin typeface="Cambria Math" panose="02040503050406030204" pitchFamily="18" charset="0"/>
                                  </a:rPr>
                                  <m:t>𝑖</m:t>
                                </m:r>
                              </m:e>
                              <m:e>
                                <m:r>
                                  <a:rPr lang="en-US" sz="2400">
                                    <a:latin typeface="Cambria Math" panose="02040503050406030204" pitchFamily="18" charset="0"/>
                                  </a:rPr>
                                  <m:t>0</m:t>
                                </m:r>
                              </m:e>
                            </m:mr>
                          </m:m>
                        </m:e>
                      </m:d>
                      <m:r>
                        <a:rPr lang="en-US" sz="2400" i="1">
                          <a:latin typeface="Cambria Math" panose="02040503050406030204" pitchFamily="18" charset="0"/>
                        </a:rPr>
                        <m:t> </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e>
                                <m:r>
                                  <a:rPr lang="en-US" sz="2400">
                                    <a:latin typeface="Cambria Math" panose="02040503050406030204" pitchFamily="18" charset="0"/>
                                  </a:rPr>
                                  <m:t>0</m:t>
                                </m:r>
                              </m:e>
                            </m:mr>
                            <m:mr>
                              <m:e>
                                <m:r>
                                  <a:rPr lang="en-US" sz="2400">
                                    <a:latin typeface="Cambria Math" panose="02040503050406030204" pitchFamily="18" charset="0"/>
                                  </a:rPr>
                                  <m:t>0</m:t>
                                </m:r>
                              </m:e>
                              <m:e>
                                <m:r>
                                  <a:rPr lang="en-US" sz="2400">
                                    <a:latin typeface="Cambria Math" panose="02040503050406030204" pitchFamily="18" charset="0"/>
                                  </a:rPr>
                                  <m:t>−1</m:t>
                                </m:r>
                              </m:e>
                            </m:mr>
                          </m:m>
                        </m:e>
                      </m:d>
                      <m:r>
                        <a:rPr lang="en-US" sz="2400" i="1">
                          <a:latin typeface="Cambria Math" panose="02040503050406030204" pitchFamily="18" charset="0"/>
                        </a:rPr>
                        <m:t> </m:t>
                      </m:r>
                      <m:d>
                        <m:dPr>
                          <m:ctrlPr>
                            <a:rPr lang="en-US" sz="2400" i="1" smtClean="0">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0</m:t>
                                </m:r>
                              </m:e>
                              <m:e>
                                <m:r>
                                  <a:rPr lang="en-US" sz="2400">
                                    <a:latin typeface="Cambria Math" panose="02040503050406030204" pitchFamily="18" charset="0"/>
                                  </a:rPr>
                                  <m:t>1</m:t>
                                </m:r>
                              </m:e>
                            </m:mr>
                            <m:mr>
                              <m:e>
                                <m:r>
                                  <a:rPr lang="en-US" sz="2400">
                                    <a:latin typeface="Cambria Math" panose="02040503050406030204" pitchFamily="18" charset="0"/>
                                  </a:rPr>
                                  <m:t>1</m:t>
                                </m:r>
                              </m:e>
                              <m:e>
                                <m:r>
                                  <a:rPr lang="en-US" sz="2400">
                                    <a:latin typeface="Cambria Math" panose="02040503050406030204" pitchFamily="18" charset="0"/>
                                  </a:rPr>
                                  <m:t>0</m:t>
                                </m:r>
                              </m:e>
                            </m:mr>
                          </m:m>
                        </m:e>
                      </m:d>
                    </m:oMath>
                  </a14:m>
                  <a:r>
                    <a:rPr lang="en-US" sz="2400" dirty="0"/>
                    <a:t> </a:t>
                  </a:r>
                  <a14:m>
                    <m:oMath xmlns:m="http://schemas.openxmlformats.org/officeDocument/2006/math">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sr-Latn-RS" sz="2400" b="0" i="0" smtClean="0">
                                    <a:latin typeface="Cambria Math" panose="02040503050406030204" pitchFamily="18" charset="0"/>
                                  </a:rPr>
                                  <m:t>1</m:t>
                                </m:r>
                              </m:e>
                            </m:mr>
                            <m:mr>
                              <m:e>
                                <m:r>
                                  <a:rPr lang="en-US" sz="2400">
                                    <a:latin typeface="Cambria Math" panose="02040503050406030204" pitchFamily="18" charset="0"/>
                                  </a:rPr>
                                  <m:t>0</m:t>
                                </m:r>
                                <m:r>
                                  <a:rPr lang="en-US" sz="2400" i="1" smtClean="0">
                                    <a:latin typeface="Cambria Math" panose="02040503050406030204" pitchFamily="18" charset="0"/>
                                  </a:rPr>
                                  <m:t> </m:t>
                                </m:r>
                              </m:e>
                            </m:mr>
                          </m:m>
                        </m:e>
                      </m:d>
                      <m:r>
                        <a:rPr lang="sr-Latn-RS" sz="2400" b="0" i="1" smtClean="0">
                          <a:latin typeface="Cambria Math" panose="02040503050406030204" pitchFamily="18" charset="0"/>
                        </a:rPr>
                        <m:t>  =</m:t>
                      </m:r>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sr-Latn-RS" sz="2400" b="0" i="1" smtClean="0">
                                    <a:latin typeface="Cambria Math" panose="02040503050406030204" pitchFamily="18" charset="0"/>
                                  </a:rPr>
                                  <m:t>𝑖</m:t>
                                </m:r>
                              </m:e>
                            </m:mr>
                            <m:mr>
                              <m:e>
                                <m:r>
                                  <a:rPr lang="en-US" sz="2400">
                                    <a:latin typeface="Cambria Math" panose="02040503050406030204" pitchFamily="18" charset="0"/>
                                  </a:rPr>
                                  <m:t>0</m:t>
                                </m:r>
                                <m:r>
                                  <a:rPr lang="en-US" sz="2400" i="1">
                                    <a:latin typeface="Cambria Math" panose="02040503050406030204" pitchFamily="18" charset="0"/>
                                  </a:rPr>
                                  <m:t> </m:t>
                                </m:r>
                              </m:e>
                            </m:mr>
                          </m:m>
                        </m:e>
                      </m:d>
                      <m:r>
                        <a:rPr lang="sr-Latn-RS" sz="2400" b="0" i="0" smtClean="0">
                          <a:latin typeface="Cambria Math" panose="02040503050406030204" pitchFamily="18" charset="0"/>
                        </a:rPr>
                        <m:t>=</m:t>
                      </m:r>
                      <m:r>
                        <a:rPr lang="sr-Latn-RS" sz="2400" b="0" i="1" smtClean="0">
                          <a:latin typeface="Cambria Math" panose="02040503050406030204" pitchFamily="18" charset="0"/>
                        </a:rPr>
                        <m:t>𝑖</m:t>
                      </m:r>
                      <m:d>
                        <m:dPr>
                          <m:begChr m:val="|"/>
                          <m:endChr m:val="⟩"/>
                          <m:ctrlPr>
                            <a:rPr lang="en-US" sz="2400" i="1">
                              <a:latin typeface="Cambria Math" panose="02040503050406030204" pitchFamily="18" charset="0"/>
                            </a:rPr>
                          </m:ctrlPr>
                        </m:dPr>
                        <m:e>
                          <m:r>
                            <a:rPr lang="sr-Latn-RS" sz="2400" b="0" i="1" smtClean="0">
                              <a:latin typeface="Cambria Math" panose="02040503050406030204" pitchFamily="18" charset="0"/>
                            </a:rPr>
                            <m:t>0</m:t>
                          </m:r>
                        </m:e>
                      </m:d>
                    </m:oMath>
                  </a14:m>
                  <a:endParaRPr lang="en-US" sz="2400" dirty="0"/>
                </a:p>
              </p:txBody>
            </p:sp>
          </mc:Choice>
          <mc:Fallback xmlns="">
            <p:sp>
              <p:nvSpPr>
                <p:cNvPr id="15" name="Rectangle 14">
                  <a:extLst>
                    <a:ext uri="{FF2B5EF4-FFF2-40B4-BE49-F238E27FC236}">
                      <a16:creationId xmlns:a16="http://schemas.microsoft.com/office/drawing/2014/main" id="{063345AE-C766-0A40-B8BA-57FCA9382787}"/>
                    </a:ext>
                  </a:extLst>
                </p:cNvPr>
                <p:cNvSpPr>
                  <a:spLocks noRot="1" noChangeAspect="1" noMove="1" noResize="1" noEditPoints="1" noAdjustHandles="1" noChangeArrowheads="1" noChangeShapeType="1" noTextEdit="1"/>
                </p:cNvSpPr>
                <p:nvPr/>
              </p:nvSpPr>
              <p:spPr>
                <a:xfrm>
                  <a:off x="373533" y="4066272"/>
                  <a:ext cx="6210996" cy="708207"/>
                </a:xfrm>
                <a:prstGeom prst="rect">
                  <a:avLst/>
                </a:prstGeom>
                <a:blipFill>
                  <a:blip r:embed="rId3"/>
                  <a:stretch>
                    <a:fillRect b="-228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9F912C3-F914-F844-8242-6D1A8A48EECC}"/>
                    </a:ext>
                  </a:extLst>
                </p:cNvPr>
                <p:cNvSpPr/>
                <p:nvPr/>
              </p:nvSpPr>
              <p:spPr>
                <a:xfrm>
                  <a:off x="2005389" y="3555100"/>
                  <a:ext cx="48840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𝑍</m:t>
                        </m:r>
                      </m:oMath>
                    </m:oMathPara>
                  </a14:m>
                  <a:endParaRPr lang="en-US" sz="2800" dirty="0"/>
                </a:p>
              </p:txBody>
            </p:sp>
          </mc:Choice>
          <mc:Fallback xmlns="">
            <p:sp>
              <p:nvSpPr>
                <p:cNvPr id="17" name="Rectangle 16">
                  <a:extLst>
                    <a:ext uri="{FF2B5EF4-FFF2-40B4-BE49-F238E27FC236}">
                      <a16:creationId xmlns:a16="http://schemas.microsoft.com/office/drawing/2014/main" id="{09F912C3-F914-F844-8242-6D1A8A48EECC}"/>
                    </a:ext>
                  </a:extLst>
                </p:cNvPr>
                <p:cNvSpPr>
                  <a:spLocks noRot="1" noChangeAspect="1" noMove="1" noResize="1" noEditPoints="1" noAdjustHandles="1" noChangeArrowheads="1" noChangeShapeType="1" noTextEdit="1"/>
                </p:cNvSpPr>
                <p:nvPr/>
              </p:nvSpPr>
              <p:spPr>
                <a:xfrm>
                  <a:off x="2005389" y="3555100"/>
                  <a:ext cx="488403"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196F1B3A-5860-024E-AA7E-7ED0D618E9CC}"/>
                    </a:ext>
                  </a:extLst>
                </p:cNvPr>
                <p:cNvSpPr/>
                <p:nvPr/>
              </p:nvSpPr>
              <p:spPr>
                <a:xfrm>
                  <a:off x="3234829" y="3555100"/>
                  <a:ext cx="50603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𝑋</m:t>
                        </m:r>
                      </m:oMath>
                    </m:oMathPara>
                  </a14:m>
                  <a:endParaRPr lang="en-US" sz="2800" dirty="0"/>
                </a:p>
              </p:txBody>
            </p:sp>
          </mc:Choice>
          <mc:Fallback xmlns="">
            <p:sp>
              <p:nvSpPr>
                <p:cNvPr id="18" name="Rectangle 17">
                  <a:extLst>
                    <a:ext uri="{FF2B5EF4-FFF2-40B4-BE49-F238E27FC236}">
                      <a16:creationId xmlns:a16="http://schemas.microsoft.com/office/drawing/2014/main" id="{196F1B3A-5860-024E-AA7E-7ED0D618E9CC}"/>
                    </a:ext>
                  </a:extLst>
                </p:cNvPr>
                <p:cNvSpPr>
                  <a:spLocks noRot="1" noChangeAspect="1" noMove="1" noResize="1" noEditPoints="1" noAdjustHandles="1" noChangeArrowheads="1" noChangeShapeType="1" noTextEdit="1"/>
                </p:cNvSpPr>
                <p:nvPr/>
              </p:nvSpPr>
              <p:spPr>
                <a:xfrm>
                  <a:off x="3234829" y="3555100"/>
                  <a:ext cx="506036"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3406B7AA-0AB9-E340-A4C5-2577CD07E0E1}"/>
                    </a:ext>
                  </a:extLst>
                </p:cNvPr>
                <p:cNvSpPr/>
                <p:nvPr/>
              </p:nvSpPr>
              <p:spPr>
                <a:xfrm>
                  <a:off x="775949" y="3555100"/>
                  <a:ext cx="49160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𝑌</m:t>
                        </m:r>
                      </m:oMath>
                    </m:oMathPara>
                  </a14:m>
                  <a:endParaRPr lang="en-US" sz="2800" dirty="0"/>
                </a:p>
              </p:txBody>
            </p:sp>
          </mc:Choice>
          <mc:Fallback xmlns="">
            <p:sp>
              <p:nvSpPr>
                <p:cNvPr id="19" name="Rectangle 18">
                  <a:extLst>
                    <a:ext uri="{FF2B5EF4-FFF2-40B4-BE49-F238E27FC236}">
                      <a16:creationId xmlns:a16="http://schemas.microsoft.com/office/drawing/2014/main" id="{3406B7AA-0AB9-E340-A4C5-2577CD07E0E1}"/>
                    </a:ext>
                  </a:extLst>
                </p:cNvPr>
                <p:cNvSpPr>
                  <a:spLocks noRot="1" noChangeAspect="1" noMove="1" noResize="1" noEditPoints="1" noAdjustHandles="1" noChangeArrowheads="1" noChangeShapeType="1" noTextEdit="1"/>
                </p:cNvSpPr>
                <p:nvPr/>
              </p:nvSpPr>
              <p:spPr>
                <a:xfrm>
                  <a:off x="775949" y="3555100"/>
                  <a:ext cx="491608" cy="523220"/>
                </a:xfrm>
                <a:prstGeom prst="rect">
                  <a:avLst/>
                </a:prstGeom>
                <a:blipFill>
                  <a:blip r:embed="rId6"/>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370353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B6339E6E-F290-E74A-8F61-EB46039F49DC}"/>
              </a:ext>
            </a:extLst>
          </p:cNvPr>
          <p:cNvCxnSpPr>
            <a:cxnSpLocks/>
          </p:cNvCxnSpPr>
          <p:nvPr/>
        </p:nvCxnSpPr>
        <p:spPr>
          <a:xfrm>
            <a:off x="5318390" y="1275622"/>
            <a:ext cx="324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7FA1DA32-EEB3-9A4D-ADA8-C2D3470F4334}"/>
              </a:ext>
            </a:extLst>
          </p:cNvPr>
          <p:cNvSpPr>
            <a:spLocks noGrp="1"/>
          </p:cNvSpPr>
          <p:nvPr>
            <p:ph type="sldNum" sz="quarter" idx="12"/>
          </p:nvPr>
        </p:nvSpPr>
        <p:spPr/>
        <p:txBody>
          <a:bodyPr/>
          <a:lstStyle/>
          <a:p>
            <a:fld id="{591A223C-FA10-BC46-A853-03BA373D023C}" type="slidenum">
              <a:rPr lang="en-US" smtClean="0"/>
              <a:t>39</a:t>
            </a:fld>
            <a:endParaRPr lang="en-US" dirty="0"/>
          </a:p>
        </p:txBody>
      </p:sp>
      <p:sp>
        <p:nvSpPr>
          <p:cNvPr id="3" name="Title 2">
            <a:extLst>
              <a:ext uri="{FF2B5EF4-FFF2-40B4-BE49-F238E27FC236}">
                <a16:creationId xmlns:a16="http://schemas.microsoft.com/office/drawing/2014/main" id="{3970FC52-5CF9-2F40-A327-69991129A8F9}"/>
              </a:ext>
            </a:extLst>
          </p:cNvPr>
          <p:cNvSpPr>
            <a:spLocks noGrp="1"/>
          </p:cNvSpPr>
          <p:nvPr>
            <p:ph type="title"/>
          </p:nvPr>
        </p:nvSpPr>
        <p:spPr/>
        <p:txBody>
          <a:bodyPr/>
          <a:lstStyle/>
          <a:p>
            <a:r>
              <a:rPr lang="en-ZA" dirty="0"/>
              <a:t>Example: Combined Gate Operations</a:t>
            </a:r>
            <a:endParaRPr lang="en-US" dirty="0"/>
          </a:p>
        </p:txBody>
      </p:sp>
      <p:sp>
        <p:nvSpPr>
          <p:cNvPr id="4" name="Oval 3">
            <a:extLst>
              <a:ext uri="{FF2B5EF4-FFF2-40B4-BE49-F238E27FC236}">
                <a16:creationId xmlns:a16="http://schemas.microsoft.com/office/drawing/2014/main" id="{D068AF34-CF25-1A48-B80B-FA5F956C46C1}"/>
              </a:ext>
            </a:extLst>
          </p:cNvPr>
          <p:cNvSpPr/>
          <p:nvPr/>
        </p:nvSpPr>
        <p:spPr>
          <a:xfrm>
            <a:off x="5746031" y="91562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0" name="Rectangle 9">
            <a:extLst>
              <a:ext uri="{FF2B5EF4-FFF2-40B4-BE49-F238E27FC236}">
                <a16:creationId xmlns:a16="http://schemas.microsoft.com/office/drawing/2014/main" id="{8F6BAA21-BAD5-6F4E-B831-9F76D8F34EB6}"/>
              </a:ext>
            </a:extLst>
          </p:cNvPr>
          <p:cNvSpPr/>
          <p:nvPr/>
        </p:nvSpPr>
        <p:spPr>
          <a:xfrm>
            <a:off x="4593235" y="1014012"/>
            <a:ext cx="662361" cy="523220"/>
          </a:xfrm>
          <a:prstGeom prst="rect">
            <a:avLst/>
          </a:prstGeom>
        </p:spPr>
        <p:txBody>
          <a:bodyPr wrap="none">
            <a:spAutoFit/>
          </a:bodyPr>
          <a:lstStyle/>
          <a:p>
            <a:r>
              <a:rPr lang="en-US" sz="2800" dirty="0"/>
              <a:t>|0⟩</a:t>
            </a:r>
          </a:p>
        </p:txBody>
      </p:sp>
      <p:cxnSp>
        <p:nvCxnSpPr>
          <p:cNvPr id="23" name="Straight Connector 22">
            <a:extLst>
              <a:ext uri="{FF2B5EF4-FFF2-40B4-BE49-F238E27FC236}">
                <a16:creationId xmlns:a16="http://schemas.microsoft.com/office/drawing/2014/main" id="{1AC95E45-4BE1-8545-9370-3FE53B8EC728}"/>
              </a:ext>
            </a:extLst>
          </p:cNvPr>
          <p:cNvCxnSpPr>
            <a:cxnSpLocks/>
          </p:cNvCxnSpPr>
          <p:nvPr/>
        </p:nvCxnSpPr>
        <p:spPr>
          <a:xfrm>
            <a:off x="5339148" y="2462429"/>
            <a:ext cx="324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C157E9A8-D9E4-944E-A673-12C7A05D23B7}"/>
              </a:ext>
            </a:extLst>
          </p:cNvPr>
          <p:cNvSpPr>
            <a:spLocks noChangeAspect="1"/>
          </p:cNvSpPr>
          <p:nvPr/>
        </p:nvSpPr>
        <p:spPr>
          <a:xfrm>
            <a:off x="5746031" y="2135137"/>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H</a:t>
            </a:r>
          </a:p>
        </p:txBody>
      </p:sp>
      <p:sp>
        <p:nvSpPr>
          <p:cNvPr id="6" name="Rectangle 5">
            <a:extLst>
              <a:ext uri="{FF2B5EF4-FFF2-40B4-BE49-F238E27FC236}">
                <a16:creationId xmlns:a16="http://schemas.microsoft.com/office/drawing/2014/main" id="{650DC469-5971-E74B-B42F-98AAF6AC3AA8}"/>
              </a:ext>
            </a:extLst>
          </p:cNvPr>
          <p:cNvSpPr/>
          <p:nvPr/>
        </p:nvSpPr>
        <p:spPr>
          <a:xfrm>
            <a:off x="7069130" y="2135137"/>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cxnSp>
        <p:nvCxnSpPr>
          <p:cNvPr id="9" name="Straight Connector 8">
            <a:extLst>
              <a:ext uri="{FF2B5EF4-FFF2-40B4-BE49-F238E27FC236}">
                <a16:creationId xmlns:a16="http://schemas.microsoft.com/office/drawing/2014/main" id="{56FF0414-85D1-7B46-8492-4E26A1B4CF47}"/>
              </a:ext>
            </a:extLst>
          </p:cNvPr>
          <p:cNvCxnSpPr>
            <a:cxnSpLocks/>
            <a:stCxn id="6" idx="0"/>
          </p:cNvCxnSpPr>
          <p:nvPr/>
        </p:nvCxnSpPr>
        <p:spPr>
          <a:xfrm flipH="1" flipV="1">
            <a:off x="7423923" y="1275622"/>
            <a:ext cx="5207" cy="85951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98B22971-0591-F54A-A96A-424EF57EE749}"/>
              </a:ext>
            </a:extLst>
          </p:cNvPr>
          <p:cNvSpPr>
            <a:spLocks noChangeAspect="1"/>
          </p:cNvSpPr>
          <p:nvPr/>
        </p:nvSpPr>
        <p:spPr>
          <a:xfrm>
            <a:off x="7333923" y="1185620"/>
            <a:ext cx="180000" cy="18000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A67ED12-39DA-E249-8EB0-BFBECC97BAC4}"/>
              </a:ext>
            </a:extLst>
          </p:cNvPr>
          <p:cNvSpPr/>
          <p:nvPr/>
        </p:nvSpPr>
        <p:spPr>
          <a:xfrm>
            <a:off x="4593235" y="2214757"/>
            <a:ext cx="662361" cy="523220"/>
          </a:xfrm>
          <a:prstGeom prst="rect">
            <a:avLst/>
          </a:prstGeom>
        </p:spPr>
        <p:txBody>
          <a:bodyPr wrap="none">
            <a:spAutoFit/>
          </a:bodyPr>
          <a:lstStyle/>
          <a:p>
            <a:r>
              <a:rPr lang="en-US" sz="2800" dirty="0"/>
              <a:t>|0⟩</a:t>
            </a:r>
          </a:p>
        </p:txBody>
      </p: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FC4F5CCB-DA8D-0C46-A3B3-9DD6F92ABC87}"/>
                  </a:ext>
                </a:extLst>
              </p:cNvPr>
              <p:cNvSpPr/>
              <p:nvPr/>
            </p:nvSpPr>
            <p:spPr>
              <a:xfrm>
                <a:off x="2838421" y="3133832"/>
                <a:ext cx="8199937" cy="10068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800" i="1">
                              <a:latin typeface="Cambria Math" panose="02040503050406030204" pitchFamily="18" charset="0"/>
                            </a:rPr>
                          </m:ctrlPr>
                        </m:dPr>
                        <m:e>
                          <m:r>
                            <a:rPr lang="en-US" sz="2800" i="1">
                              <a:latin typeface="Cambria Math" panose="02040503050406030204" pitchFamily="18" charset="0"/>
                            </a:rPr>
                            <m:t>00</m:t>
                          </m:r>
                        </m:e>
                      </m:d>
                      <m:groupChr>
                        <m:groupChrPr>
                          <m:chr m:val="→"/>
                          <m:vertJc m:val="bot"/>
                          <m:ctrlPr>
                            <a:rPr lang="en-US" sz="2800" i="1">
                              <a:latin typeface="Cambria Math" panose="02040503050406030204" pitchFamily="18" charset="0"/>
                            </a:rPr>
                          </m:ctrlPr>
                        </m:groupChrPr>
                        <m:e>
                          <m:r>
                            <m:rPr>
                              <m:brk m:alnAt="2"/>
                            </m:rPr>
                            <a:rPr lang="en-US" sz="2800" i="1">
                              <a:latin typeface="Cambria Math" panose="02040503050406030204" pitchFamily="18" charset="0"/>
                            </a:rPr>
                            <m:t>𝑋</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rPr>
                            <m:t>𝐻</m:t>
                          </m:r>
                        </m:e>
                      </m:groupChr>
                      <m:d>
                        <m:dPr>
                          <m:begChr m:val="|"/>
                          <m:endChr m:val="⟩"/>
                          <m:ctrlPr>
                            <a:rPr lang="en-ZA" sz="2800" i="1">
                              <a:latin typeface="Cambria Math" panose="02040503050406030204" pitchFamily="18" charset="0"/>
                            </a:rPr>
                          </m:ctrlPr>
                        </m:dPr>
                        <m:e>
                          <m:r>
                            <a:rPr lang="en-US" sz="2800" i="1">
                              <a:latin typeface="Cambria Math" panose="02040503050406030204" pitchFamily="18" charset="0"/>
                            </a:rPr>
                            <m:t>1</m:t>
                          </m:r>
                        </m:e>
                      </m:d>
                      <m:r>
                        <a:rPr lang="en-US" sz="2800" i="1">
                          <a:latin typeface="Cambria Math" panose="02040503050406030204" pitchFamily="18" charset="0"/>
                          <a:ea typeface="Cambria Math" panose="02040503050406030204" pitchFamily="18" charset="0"/>
                        </a:rPr>
                        <m:t>⨂</m:t>
                      </m:r>
                      <m:f>
                        <m:fPr>
                          <m:ctrlPr>
                            <a:rPr lang="en-US" sz="2800" i="1">
                              <a:latin typeface="Cambria Math" panose="02040503050406030204" pitchFamily="18" charset="0"/>
                            </a:rPr>
                          </m:ctrlPr>
                        </m:fPr>
                        <m:num>
                          <m:d>
                            <m:dPr>
                              <m:begChr m:val="|"/>
                              <m:endChr m:val="⟩"/>
                              <m:ctrlPr>
                                <a:rPr lang="en-ZA" sz="2800" i="1">
                                  <a:latin typeface="Cambria Math" panose="02040503050406030204" pitchFamily="18" charset="0"/>
                                </a:rPr>
                              </m:ctrlPr>
                            </m:dPr>
                            <m:e>
                              <m:r>
                                <a:rPr lang="en-US" sz="2800" i="1">
                                  <a:latin typeface="Cambria Math" panose="02040503050406030204" pitchFamily="18" charset="0"/>
                                </a:rPr>
                                <m:t>0</m:t>
                              </m:r>
                            </m:e>
                          </m:d>
                          <m:r>
                            <a:rPr lang="en-US" sz="2800" i="1">
                              <a:latin typeface="Cambria Math" panose="02040503050406030204" pitchFamily="18" charset="0"/>
                            </a:rPr>
                            <m:t>+</m:t>
                          </m:r>
                          <m:d>
                            <m:dPr>
                              <m:begChr m:val="|"/>
                              <m:endChr m:val="⟩"/>
                              <m:ctrlPr>
                                <a:rPr lang="en-ZA" sz="2800" i="1">
                                  <a:latin typeface="Cambria Math" panose="02040503050406030204" pitchFamily="18" charset="0"/>
                                </a:rPr>
                              </m:ctrlPr>
                            </m:dPr>
                            <m:e>
                              <m:r>
                                <a:rPr lang="en-US" sz="2800" i="1">
                                  <a:latin typeface="Cambria Math" panose="02040503050406030204" pitchFamily="18" charset="0"/>
                                </a:rPr>
                                <m:t>1</m:t>
                              </m:r>
                            </m:e>
                          </m:d>
                        </m:num>
                        <m:den>
                          <m:rad>
                            <m:radPr>
                              <m:degHide m:val="on"/>
                              <m:ctrlPr>
                                <a:rPr lang="en-US" sz="2800" i="1">
                                  <a:latin typeface="Cambria Math" panose="02040503050406030204" pitchFamily="18" charset="0"/>
                                </a:rPr>
                              </m:ctrlPr>
                            </m:radPr>
                            <m:deg/>
                            <m:e>
                              <m:r>
                                <a:rPr lang="en-US" sz="2800" i="1">
                                  <a:latin typeface="Cambria Math" panose="02040503050406030204" pitchFamily="18" charset="0"/>
                                </a:rPr>
                                <m:t>2</m:t>
                              </m:r>
                            </m:e>
                          </m:rad>
                        </m:den>
                      </m:f>
                      <m:groupChr>
                        <m:groupChrPr>
                          <m:chr m:val="→"/>
                          <m:vertJc m:val="bot"/>
                          <m:ctrlPr>
                            <a:rPr lang="en-US" sz="2800" i="1">
                              <a:latin typeface="Cambria Math" panose="02040503050406030204" pitchFamily="18" charset="0"/>
                            </a:rPr>
                          </m:ctrlPr>
                        </m:groupChrPr>
                        <m:e>
                          <m:r>
                            <m:rPr>
                              <m:brk m:alnAt="2"/>
                            </m:rPr>
                            <a:rPr lang="en-US" sz="2800" i="1">
                              <a:latin typeface="Cambria Math" panose="02040503050406030204" pitchFamily="18" charset="0"/>
                            </a:rPr>
                            <m:t>𝐶</m:t>
                          </m:r>
                          <m:r>
                            <a:rPr lang="en-US" sz="2800" i="1">
                              <a:latin typeface="Cambria Math" panose="02040503050406030204" pitchFamily="18" charset="0"/>
                            </a:rPr>
                            <m:t>𝑍</m:t>
                          </m:r>
                        </m:e>
                      </m:groupChr>
                      <m:d>
                        <m:dPr>
                          <m:begChr m:val="|"/>
                          <m:endChr m:val="⟩"/>
                          <m:ctrlPr>
                            <a:rPr lang="en-ZA" sz="2800" i="1">
                              <a:latin typeface="Cambria Math" panose="02040503050406030204" pitchFamily="18" charset="0"/>
                            </a:rPr>
                          </m:ctrlPr>
                        </m:dPr>
                        <m:e>
                          <m:r>
                            <a:rPr lang="en-US" sz="2800" i="1">
                              <a:latin typeface="Cambria Math" panose="02040503050406030204" pitchFamily="18" charset="0"/>
                            </a:rPr>
                            <m:t>1</m:t>
                          </m:r>
                        </m:e>
                      </m:d>
                      <m:f>
                        <m:fPr>
                          <m:ctrlPr>
                            <a:rPr lang="en-US" sz="2800" i="1">
                              <a:latin typeface="Cambria Math" panose="02040503050406030204" pitchFamily="18" charset="0"/>
                            </a:rPr>
                          </m:ctrlPr>
                        </m:fPr>
                        <m:num>
                          <m:d>
                            <m:dPr>
                              <m:begChr m:val="|"/>
                              <m:endChr m:val="⟩"/>
                              <m:ctrlPr>
                                <a:rPr lang="en-ZA" sz="2800" i="1">
                                  <a:latin typeface="Cambria Math" panose="02040503050406030204" pitchFamily="18" charset="0"/>
                                </a:rPr>
                              </m:ctrlPr>
                            </m:dPr>
                            <m:e>
                              <m:r>
                                <a:rPr lang="en-US" sz="2800" i="1">
                                  <a:latin typeface="Cambria Math" panose="02040503050406030204" pitchFamily="18" charset="0"/>
                                </a:rPr>
                                <m:t>0</m:t>
                              </m:r>
                            </m:e>
                          </m:d>
                          <m:r>
                            <a:rPr lang="en-US" sz="2800" i="1">
                              <a:latin typeface="Cambria Math" panose="02040503050406030204" pitchFamily="18" charset="0"/>
                            </a:rPr>
                            <m:t>−</m:t>
                          </m:r>
                          <m:d>
                            <m:dPr>
                              <m:begChr m:val="|"/>
                              <m:endChr m:val="⟩"/>
                              <m:ctrlPr>
                                <a:rPr lang="en-ZA" sz="2800" i="1">
                                  <a:latin typeface="Cambria Math" panose="02040503050406030204" pitchFamily="18" charset="0"/>
                                </a:rPr>
                              </m:ctrlPr>
                            </m:dPr>
                            <m:e>
                              <m:r>
                                <a:rPr lang="en-US" sz="2800" i="1">
                                  <a:latin typeface="Cambria Math" panose="02040503050406030204" pitchFamily="18" charset="0"/>
                                </a:rPr>
                                <m:t>1</m:t>
                              </m:r>
                            </m:e>
                          </m:d>
                        </m:num>
                        <m:den>
                          <m:rad>
                            <m:radPr>
                              <m:degHide m:val="on"/>
                              <m:ctrlPr>
                                <a:rPr lang="en-US" sz="2800" i="1">
                                  <a:latin typeface="Cambria Math" panose="02040503050406030204" pitchFamily="18" charset="0"/>
                                </a:rPr>
                              </m:ctrlPr>
                            </m:radPr>
                            <m:deg/>
                            <m:e>
                              <m:r>
                                <a:rPr lang="en-US" sz="2800" i="1">
                                  <a:latin typeface="Cambria Math" panose="02040503050406030204" pitchFamily="18" charset="0"/>
                                </a:rPr>
                                <m:t>2</m:t>
                              </m:r>
                            </m:e>
                          </m:rad>
                        </m:den>
                      </m:f>
                      <m:r>
                        <a:rPr lang="en-US" sz="2800" i="1">
                          <a:latin typeface="Cambria Math" panose="02040503050406030204" pitchFamily="18" charset="0"/>
                        </a:rPr>
                        <m:t>=</m:t>
                      </m:r>
                      <m:f>
                        <m:fPr>
                          <m:ctrlPr>
                            <a:rPr lang="en-US" sz="2800" i="1">
                              <a:latin typeface="Cambria Math" panose="02040503050406030204" pitchFamily="18" charset="0"/>
                            </a:rPr>
                          </m:ctrlPr>
                        </m:fPr>
                        <m:num>
                          <m:d>
                            <m:dPr>
                              <m:begChr m:val="|"/>
                              <m:endChr m:val="⟩"/>
                              <m:ctrlPr>
                                <a:rPr lang="en-ZA" sz="2800" i="1">
                                  <a:latin typeface="Cambria Math" panose="02040503050406030204" pitchFamily="18" charset="0"/>
                                </a:rPr>
                              </m:ctrlPr>
                            </m:dPr>
                            <m:e>
                              <m:r>
                                <a:rPr lang="en-US" sz="2800" i="1">
                                  <a:latin typeface="Cambria Math" panose="02040503050406030204" pitchFamily="18" charset="0"/>
                                </a:rPr>
                                <m:t>10</m:t>
                              </m:r>
                            </m:e>
                          </m:d>
                          <m:r>
                            <a:rPr lang="en-US" sz="2800" i="1">
                              <a:latin typeface="Cambria Math" panose="02040503050406030204" pitchFamily="18" charset="0"/>
                            </a:rPr>
                            <m:t>−</m:t>
                          </m:r>
                          <m:d>
                            <m:dPr>
                              <m:begChr m:val="|"/>
                              <m:endChr m:val="⟩"/>
                              <m:ctrlPr>
                                <a:rPr lang="en-ZA" sz="2800" i="1">
                                  <a:latin typeface="Cambria Math" panose="02040503050406030204" pitchFamily="18" charset="0"/>
                                </a:rPr>
                              </m:ctrlPr>
                            </m:dPr>
                            <m:e>
                              <m:r>
                                <a:rPr lang="en-US" sz="2800" i="1">
                                  <a:latin typeface="Cambria Math" panose="02040503050406030204" pitchFamily="18" charset="0"/>
                                </a:rPr>
                                <m:t>11</m:t>
                              </m:r>
                            </m:e>
                          </m:d>
                        </m:num>
                        <m:den>
                          <m:rad>
                            <m:radPr>
                              <m:degHide m:val="on"/>
                              <m:ctrlPr>
                                <a:rPr lang="en-US" sz="2800" i="1">
                                  <a:latin typeface="Cambria Math" panose="02040503050406030204" pitchFamily="18" charset="0"/>
                                </a:rPr>
                              </m:ctrlPr>
                            </m:radPr>
                            <m:deg/>
                            <m:e>
                              <m:r>
                                <a:rPr lang="en-US" sz="2800" i="1">
                                  <a:latin typeface="Cambria Math" panose="02040503050406030204" pitchFamily="18" charset="0"/>
                                </a:rPr>
                                <m:t>2</m:t>
                              </m:r>
                            </m:e>
                          </m:rad>
                        </m:den>
                      </m:f>
                    </m:oMath>
                  </m:oMathPara>
                </a14:m>
                <a:endParaRPr lang="en-US" sz="2800" dirty="0"/>
              </a:p>
            </p:txBody>
          </p:sp>
        </mc:Choice>
        <mc:Fallback xmlns="">
          <p:sp>
            <p:nvSpPr>
              <p:cNvPr id="33" name="Rectangle 32">
                <a:extLst>
                  <a:ext uri="{FF2B5EF4-FFF2-40B4-BE49-F238E27FC236}">
                    <a16:creationId xmlns:a16="http://schemas.microsoft.com/office/drawing/2014/main" id="{FC4F5CCB-DA8D-0C46-A3B3-9DD6F92ABC87}"/>
                  </a:ext>
                </a:extLst>
              </p:cNvPr>
              <p:cNvSpPr>
                <a:spLocks noRot="1" noChangeAspect="1" noMove="1" noResize="1" noEditPoints="1" noAdjustHandles="1" noChangeArrowheads="1" noChangeShapeType="1" noTextEdit="1"/>
              </p:cNvSpPr>
              <p:nvPr/>
            </p:nvSpPr>
            <p:spPr>
              <a:xfrm>
                <a:off x="2838421" y="3133832"/>
                <a:ext cx="8199937" cy="1006814"/>
              </a:xfrm>
              <a:prstGeom prst="rect">
                <a:avLst/>
              </a:prstGeom>
              <a:blipFill>
                <a:blip r:embed="rId3"/>
                <a:stretch>
                  <a:fillRect b="-3750"/>
                </a:stretch>
              </a:blipFill>
            </p:spPr>
            <p:txBody>
              <a:bodyPr/>
              <a:lstStyle/>
              <a:p>
                <a:r>
                  <a:rPr lang="en-US">
                    <a:noFill/>
                  </a:rPr>
                  <a:t> </a:t>
                </a:r>
              </a:p>
            </p:txBody>
          </p:sp>
        </mc:Fallback>
      </mc:AlternateContent>
      <p:grpSp>
        <p:nvGrpSpPr>
          <p:cNvPr id="38" name="Group 37">
            <a:extLst>
              <a:ext uri="{FF2B5EF4-FFF2-40B4-BE49-F238E27FC236}">
                <a16:creationId xmlns:a16="http://schemas.microsoft.com/office/drawing/2014/main" id="{58CDD71C-98C3-F448-BE6B-A42A9B554B5E}"/>
              </a:ext>
            </a:extLst>
          </p:cNvPr>
          <p:cNvGrpSpPr/>
          <p:nvPr/>
        </p:nvGrpSpPr>
        <p:grpSpPr>
          <a:xfrm>
            <a:off x="0" y="4511250"/>
            <a:ext cx="11930589" cy="1706754"/>
            <a:chOff x="0" y="4511250"/>
            <a:chExt cx="11930589" cy="1706754"/>
          </a:xfrm>
        </p:grpSpPr>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7642901C-3A19-0748-838D-5C8FCF783E26}"/>
                    </a:ext>
                  </a:extLst>
                </p:cNvPr>
                <p:cNvSpPr/>
                <p:nvPr/>
              </p:nvSpPr>
              <p:spPr>
                <a:xfrm>
                  <a:off x="725214" y="5033449"/>
                  <a:ext cx="11205375" cy="1184555"/>
                </a:xfrm>
                <a:prstGeom prst="rect">
                  <a:avLst/>
                </a:prstGeom>
              </p:spPr>
              <p:txBody>
                <a:bodyPr wrap="none">
                  <a:spAutoFit/>
                </a:bodyPr>
                <a:lstStyle/>
                <a:p>
                  <a14:m>
                    <m:oMath xmlns:m="http://schemas.openxmlformats.org/officeDocument/2006/math">
                      <m:d>
                        <m:dPr>
                          <m:ctrlPr>
                            <a:rPr lang="en-ZA" sz="1900" i="1" smtClean="0">
                              <a:latin typeface="Cambria Math" panose="02040503050406030204" pitchFamily="18" charset="0"/>
                              <a:ea typeface="Cambria Math" panose="02040503050406030204" pitchFamily="18" charset="0"/>
                            </a:rPr>
                          </m:ctrlPr>
                        </m:dPr>
                        <m:e>
                          <m:m>
                            <m:mPr>
                              <m:mcs>
                                <m:mc>
                                  <m:mcPr>
                                    <m:count m:val="4"/>
                                    <m:mcJc m:val="center"/>
                                  </m:mcPr>
                                </m:mc>
                              </m:mcs>
                              <m:ctrlPr>
                                <a:rPr lang="en-ZA" sz="1900" i="1">
                                  <a:latin typeface="Cambria Math" panose="02040503050406030204" pitchFamily="18" charset="0"/>
                                  <a:ea typeface="Cambria Math" panose="02040503050406030204" pitchFamily="18" charset="0"/>
                                </a:rPr>
                              </m:ctrlPr>
                            </m:mPr>
                            <m:mr>
                              <m:e>
                                <m:r>
                                  <a:rPr lang="sr-Latn-RS" sz="1900" i="1">
                                    <a:latin typeface="Cambria Math" panose="02040503050406030204" pitchFamily="18" charset="0"/>
                                    <a:ea typeface="Cambria Math" panose="02040503050406030204" pitchFamily="18" charset="0"/>
                                  </a:rPr>
                                  <m:t>1</m:t>
                                </m:r>
                              </m:e>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0</m:t>
                                </m:r>
                              </m:e>
                            </m:mr>
                            <m:mr>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1</m:t>
                                </m:r>
                              </m:e>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0</m:t>
                                </m:r>
                              </m:e>
                            </m:mr>
                            <m:mr>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1</m:t>
                                </m:r>
                              </m:e>
                              <m:e>
                                <m:r>
                                  <a:rPr lang="sr-Latn-RS" sz="1900" i="1">
                                    <a:latin typeface="Cambria Math" panose="02040503050406030204" pitchFamily="18" charset="0"/>
                                    <a:ea typeface="Cambria Math" panose="02040503050406030204" pitchFamily="18" charset="0"/>
                                  </a:rPr>
                                  <m:t>0</m:t>
                                </m:r>
                              </m:e>
                            </m:mr>
                            <m:mr>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−1</m:t>
                                </m:r>
                              </m:e>
                            </m:mr>
                          </m:m>
                        </m:e>
                      </m:d>
                      <m:d>
                        <m:dPr>
                          <m:begChr m:val="["/>
                          <m:endChr m:val="]"/>
                          <m:ctrlPr>
                            <a:rPr lang="sr-Latn-RS" sz="1900" i="1" smtClean="0">
                              <a:latin typeface="Cambria Math" panose="02040503050406030204" pitchFamily="18" charset="0"/>
                              <a:ea typeface="Cambria Math" panose="02040503050406030204" pitchFamily="18" charset="0"/>
                            </a:rPr>
                          </m:ctrlPr>
                        </m:dPr>
                        <m:e>
                          <m:d>
                            <m:dPr>
                              <m:ctrlPr>
                                <a:rPr lang="en-US" sz="1900" i="1">
                                  <a:latin typeface="Cambria Math" panose="02040503050406030204" pitchFamily="18" charset="0"/>
                                </a:rPr>
                              </m:ctrlPr>
                            </m:dPr>
                            <m:e>
                              <m:m>
                                <m:mPr>
                                  <m:plcHide m:val="on"/>
                                  <m:mcs>
                                    <m:mc>
                                      <m:mcPr>
                                        <m:count m:val="2"/>
                                        <m:mcJc m:val="center"/>
                                      </m:mcPr>
                                    </m:mc>
                                  </m:mcs>
                                  <m:ctrlPr>
                                    <a:rPr lang="en-US" sz="1900" i="1">
                                      <a:latin typeface="Cambria Math" panose="02040503050406030204" pitchFamily="18" charset="0"/>
                                    </a:rPr>
                                  </m:ctrlPr>
                                </m:mPr>
                                <m:mr>
                                  <m:e>
                                    <m:r>
                                      <a:rPr lang="en-US" sz="1900">
                                        <a:latin typeface="Cambria Math" panose="02040503050406030204" pitchFamily="18" charset="0"/>
                                      </a:rPr>
                                      <m:t>0</m:t>
                                    </m:r>
                                  </m:e>
                                  <m:e>
                                    <m:r>
                                      <a:rPr lang="en-US" sz="1900">
                                        <a:latin typeface="Cambria Math" panose="02040503050406030204" pitchFamily="18" charset="0"/>
                                      </a:rPr>
                                      <m:t>1</m:t>
                                    </m:r>
                                  </m:e>
                                </m:mr>
                                <m:mr>
                                  <m:e>
                                    <m:r>
                                      <a:rPr lang="en-US" sz="1900">
                                        <a:latin typeface="Cambria Math" panose="02040503050406030204" pitchFamily="18" charset="0"/>
                                      </a:rPr>
                                      <m:t>1</m:t>
                                    </m:r>
                                  </m:e>
                                  <m:e>
                                    <m:r>
                                      <a:rPr lang="en-US" sz="1900">
                                        <a:latin typeface="Cambria Math" panose="02040503050406030204" pitchFamily="18" charset="0"/>
                                      </a:rPr>
                                      <m:t>0</m:t>
                                    </m:r>
                                  </m:e>
                                </m:mr>
                              </m:m>
                            </m:e>
                          </m:d>
                          <m:r>
                            <a:rPr lang="en-US" sz="1900" i="1">
                              <a:latin typeface="Cambria Math" panose="02040503050406030204" pitchFamily="18" charset="0"/>
                              <a:ea typeface="Cambria Math" panose="02040503050406030204" pitchFamily="18" charset="0"/>
                            </a:rPr>
                            <m:t>⨂</m:t>
                          </m:r>
                          <m:f>
                            <m:fPr>
                              <m:ctrlPr>
                                <a:rPr lang="en-US" sz="1900" i="1">
                                  <a:latin typeface="Cambria Math" panose="02040503050406030204" pitchFamily="18" charset="0"/>
                                </a:rPr>
                              </m:ctrlPr>
                            </m:fPr>
                            <m:num>
                              <m:r>
                                <a:rPr lang="en-US" sz="1900">
                                  <a:latin typeface="Cambria Math" panose="02040503050406030204" pitchFamily="18" charset="0"/>
                                </a:rPr>
                                <m:t>1</m:t>
                              </m:r>
                            </m:num>
                            <m:den>
                              <m:rad>
                                <m:radPr>
                                  <m:degHide m:val="on"/>
                                  <m:ctrlPr>
                                    <a:rPr lang="en-US" sz="1900" i="1">
                                      <a:latin typeface="Cambria Math" panose="02040503050406030204" pitchFamily="18" charset="0"/>
                                    </a:rPr>
                                  </m:ctrlPr>
                                </m:radPr>
                                <m:deg/>
                                <m:e>
                                  <m:r>
                                    <a:rPr lang="en-US" sz="1900">
                                      <a:latin typeface="Cambria Math" panose="02040503050406030204" pitchFamily="18" charset="0"/>
                                    </a:rPr>
                                    <m:t>2</m:t>
                                  </m:r>
                                </m:e>
                              </m:rad>
                            </m:den>
                          </m:f>
                          <m:d>
                            <m:dPr>
                              <m:ctrlPr>
                                <a:rPr lang="en-US" sz="1900" i="1">
                                  <a:latin typeface="Cambria Math" panose="02040503050406030204" pitchFamily="18" charset="0"/>
                                </a:rPr>
                              </m:ctrlPr>
                            </m:dPr>
                            <m:e>
                              <m:m>
                                <m:mPr>
                                  <m:plcHide m:val="on"/>
                                  <m:mcs>
                                    <m:mc>
                                      <m:mcPr>
                                        <m:count m:val="2"/>
                                        <m:mcJc m:val="center"/>
                                      </m:mcPr>
                                    </m:mc>
                                  </m:mcs>
                                  <m:ctrlPr>
                                    <a:rPr lang="en-US" sz="1900" i="1">
                                      <a:latin typeface="Cambria Math" panose="02040503050406030204" pitchFamily="18" charset="0"/>
                                    </a:rPr>
                                  </m:ctrlPr>
                                </m:mPr>
                                <m:mr>
                                  <m:e>
                                    <m:r>
                                      <a:rPr lang="en-US" sz="1900">
                                        <a:latin typeface="Cambria Math" panose="02040503050406030204" pitchFamily="18" charset="0"/>
                                      </a:rPr>
                                      <m:t>1</m:t>
                                    </m:r>
                                  </m:e>
                                  <m:e>
                                    <m:r>
                                      <a:rPr lang="en-US" sz="1900">
                                        <a:latin typeface="Cambria Math" panose="02040503050406030204" pitchFamily="18" charset="0"/>
                                      </a:rPr>
                                      <m:t>1</m:t>
                                    </m:r>
                                  </m:e>
                                </m:mr>
                                <m:mr>
                                  <m:e>
                                    <m:r>
                                      <a:rPr lang="en-US" sz="1900">
                                        <a:latin typeface="Cambria Math" panose="02040503050406030204" pitchFamily="18" charset="0"/>
                                      </a:rPr>
                                      <m:t>1</m:t>
                                    </m:r>
                                  </m:e>
                                  <m:e>
                                    <m:r>
                                      <a:rPr lang="en-US" sz="1900">
                                        <a:latin typeface="Cambria Math" panose="02040503050406030204" pitchFamily="18" charset="0"/>
                                      </a:rPr>
                                      <m:t>−1</m:t>
                                    </m:r>
                                  </m:e>
                                </m:mr>
                              </m:m>
                            </m:e>
                          </m:d>
                        </m:e>
                      </m:d>
                      <m:d>
                        <m:dPr>
                          <m:ctrlPr>
                            <a:rPr lang="sr-Latn-RS" sz="1900" i="1" smtClean="0">
                              <a:latin typeface="Cambria Math" panose="02040503050406030204" pitchFamily="18" charset="0"/>
                              <a:ea typeface="Cambria Math" panose="02040503050406030204" pitchFamily="18" charset="0"/>
                            </a:rPr>
                          </m:ctrlPr>
                        </m:dPr>
                        <m:e>
                          <m:m>
                            <m:mPr>
                              <m:mcs>
                                <m:mc>
                                  <m:mcPr>
                                    <m:count m:val="1"/>
                                    <m:mcJc m:val="center"/>
                                  </m:mcPr>
                                </m:mc>
                              </m:mcs>
                              <m:ctrlPr>
                                <a:rPr lang="sr-Latn-RS" sz="1900" i="1" smtClean="0">
                                  <a:latin typeface="Cambria Math" panose="02040503050406030204" pitchFamily="18" charset="0"/>
                                  <a:ea typeface="Cambria Math" panose="02040503050406030204" pitchFamily="18" charset="0"/>
                                </a:rPr>
                              </m:ctrlPr>
                            </m:mPr>
                            <m:mr>
                              <m:e>
                                <m:r>
                                  <m:rPr>
                                    <m:brk m:alnAt="7"/>
                                  </m:rPr>
                                  <a:rPr lang="en-US" sz="1900" b="0" i="1" smtClean="0">
                                    <a:latin typeface="Cambria Math" panose="02040503050406030204" pitchFamily="18" charset="0"/>
                                    <a:ea typeface="Cambria Math" panose="02040503050406030204" pitchFamily="18" charset="0"/>
                                  </a:rPr>
                                  <m:t>1</m:t>
                                </m:r>
                              </m:e>
                            </m:mr>
                            <m:mr>
                              <m:e>
                                <m:r>
                                  <a:rPr lang="en-US" sz="1900" b="0" i="1" smtClean="0">
                                    <a:latin typeface="Cambria Math" panose="02040503050406030204" pitchFamily="18" charset="0"/>
                                    <a:ea typeface="Cambria Math" panose="02040503050406030204" pitchFamily="18" charset="0"/>
                                  </a:rPr>
                                  <m:t>0</m:t>
                                </m:r>
                              </m:e>
                            </m:mr>
                            <m:mr>
                              <m:e>
                                <m:r>
                                  <a:rPr lang="en-US" sz="1900" b="0" i="1" smtClean="0">
                                    <a:latin typeface="Cambria Math" panose="02040503050406030204" pitchFamily="18" charset="0"/>
                                    <a:ea typeface="Cambria Math" panose="02040503050406030204" pitchFamily="18" charset="0"/>
                                  </a:rPr>
                                  <m:t>0</m:t>
                                </m:r>
                              </m:e>
                            </m:mr>
                            <m:mr>
                              <m:e>
                                <m:r>
                                  <a:rPr lang="en-US" sz="1900" b="0" i="1" smtClean="0">
                                    <a:latin typeface="Cambria Math" panose="02040503050406030204" pitchFamily="18" charset="0"/>
                                    <a:ea typeface="Cambria Math" panose="02040503050406030204" pitchFamily="18" charset="0"/>
                                  </a:rPr>
                                  <m:t>0</m:t>
                                </m:r>
                              </m:e>
                            </m:mr>
                          </m:m>
                        </m:e>
                      </m:d>
                      <m:r>
                        <a:rPr lang="en-US" sz="1900" b="0" i="1" smtClean="0">
                          <a:latin typeface="Cambria Math" panose="02040503050406030204" pitchFamily="18" charset="0"/>
                          <a:ea typeface="Cambria Math" panose="02040503050406030204" pitchFamily="18" charset="0"/>
                        </a:rPr>
                        <m:t>=</m:t>
                      </m:r>
                      <m:d>
                        <m:dPr>
                          <m:ctrlPr>
                            <a:rPr lang="en-ZA" sz="1900" i="1">
                              <a:latin typeface="Cambria Math" panose="02040503050406030204" pitchFamily="18" charset="0"/>
                              <a:ea typeface="Cambria Math" panose="02040503050406030204" pitchFamily="18" charset="0"/>
                            </a:rPr>
                          </m:ctrlPr>
                        </m:dPr>
                        <m:e>
                          <m:m>
                            <m:mPr>
                              <m:mcs>
                                <m:mc>
                                  <m:mcPr>
                                    <m:count m:val="4"/>
                                    <m:mcJc m:val="center"/>
                                  </m:mcPr>
                                </m:mc>
                              </m:mcs>
                              <m:ctrlPr>
                                <a:rPr lang="en-ZA" sz="1900" i="1">
                                  <a:latin typeface="Cambria Math" panose="02040503050406030204" pitchFamily="18" charset="0"/>
                                  <a:ea typeface="Cambria Math" panose="02040503050406030204" pitchFamily="18" charset="0"/>
                                </a:rPr>
                              </m:ctrlPr>
                            </m:mPr>
                            <m:mr>
                              <m:e>
                                <m:r>
                                  <a:rPr lang="sr-Latn-RS" sz="1900" i="1">
                                    <a:latin typeface="Cambria Math" panose="02040503050406030204" pitchFamily="18" charset="0"/>
                                    <a:ea typeface="Cambria Math" panose="02040503050406030204" pitchFamily="18" charset="0"/>
                                  </a:rPr>
                                  <m:t>1</m:t>
                                </m:r>
                              </m:e>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0</m:t>
                                </m:r>
                              </m:e>
                            </m:mr>
                            <m:mr>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1</m:t>
                                </m:r>
                              </m:e>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0</m:t>
                                </m:r>
                              </m:e>
                            </m:mr>
                            <m:mr>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1</m:t>
                                </m:r>
                              </m:e>
                              <m:e>
                                <m:r>
                                  <a:rPr lang="sr-Latn-RS" sz="1900" i="1">
                                    <a:latin typeface="Cambria Math" panose="02040503050406030204" pitchFamily="18" charset="0"/>
                                    <a:ea typeface="Cambria Math" panose="02040503050406030204" pitchFamily="18" charset="0"/>
                                  </a:rPr>
                                  <m:t>0</m:t>
                                </m:r>
                              </m:e>
                            </m:mr>
                            <m:mr>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−1</m:t>
                                </m:r>
                              </m:e>
                            </m:mr>
                          </m:m>
                        </m:e>
                      </m:d>
                      <m:f>
                        <m:fPr>
                          <m:ctrlPr>
                            <a:rPr lang="en-US" sz="1900" i="1">
                              <a:latin typeface="Cambria Math" panose="02040503050406030204" pitchFamily="18" charset="0"/>
                            </a:rPr>
                          </m:ctrlPr>
                        </m:fPr>
                        <m:num>
                          <m:r>
                            <a:rPr lang="en-US" sz="1900">
                              <a:latin typeface="Cambria Math" panose="02040503050406030204" pitchFamily="18" charset="0"/>
                            </a:rPr>
                            <m:t>1</m:t>
                          </m:r>
                        </m:num>
                        <m:den>
                          <m:rad>
                            <m:radPr>
                              <m:degHide m:val="on"/>
                              <m:ctrlPr>
                                <a:rPr lang="en-US" sz="1900" i="1">
                                  <a:latin typeface="Cambria Math" panose="02040503050406030204" pitchFamily="18" charset="0"/>
                                </a:rPr>
                              </m:ctrlPr>
                            </m:radPr>
                            <m:deg/>
                            <m:e>
                              <m:r>
                                <a:rPr lang="en-US" sz="1900">
                                  <a:latin typeface="Cambria Math" panose="02040503050406030204" pitchFamily="18" charset="0"/>
                                </a:rPr>
                                <m:t>2</m:t>
                              </m:r>
                            </m:e>
                          </m:rad>
                        </m:den>
                      </m:f>
                      <m:d>
                        <m:dPr>
                          <m:ctrlPr>
                            <a:rPr lang="en-ZA" sz="1900" i="1">
                              <a:latin typeface="Cambria Math" panose="02040503050406030204" pitchFamily="18" charset="0"/>
                              <a:ea typeface="Cambria Math" panose="02040503050406030204" pitchFamily="18" charset="0"/>
                            </a:rPr>
                          </m:ctrlPr>
                        </m:dPr>
                        <m:e>
                          <m:m>
                            <m:mPr>
                              <m:mcs>
                                <m:mc>
                                  <m:mcPr>
                                    <m:count m:val="4"/>
                                    <m:mcJc m:val="center"/>
                                  </m:mcPr>
                                </m:mc>
                              </m:mcs>
                              <m:ctrlPr>
                                <a:rPr lang="en-ZA" sz="1900" i="1">
                                  <a:latin typeface="Cambria Math" panose="02040503050406030204" pitchFamily="18" charset="0"/>
                                  <a:ea typeface="Cambria Math" panose="02040503050406030204" pitchFamily="18" charset="0"/>
                                </a:rPr>
                              </m:ctrlPr>
                            </m:mPr>
                            <m:mr>
                              <m:e>
                                <m:r>
                                  <m:rPr>
                                    <m:brk m:alnAt="7"/>
                                  </m:rPr>
                                  <a:rPr lang="en-US" sz="1900" b="0" i="1" smtClean="0">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0</m:t>
                                </m:r>
                              </m:e>
                              <m:e>
                                <m:r>
                                  <a:rPr lang="en-US" sz="1900" b="0" i="1" smtClean="0">
                                    <a:latin typeface="Cambria Math" panose="02040503050406030204" pitchFamily="18" charset="0"/>
                                    <a:ea typeface="Cambria Math" panose="02040503050406030204" pitchFamily="18" charset="0"/>
                                  </a:rPr>
                                  <m:t>1</m:t>
                                </m:r>
                              </m:e>
                              <m:e>
                                <m:r>
                                  <a:rPr lang="en-US" sz="1900" b="0" i="1" smtClean="0">
                                    <a:latin typeface="Cambria Math" panose="02040503050406030204" pitchFamily="18" charset="0"/>
                                    <a:ea typeface="Cambria Math" panose="02040503050406030204" pitchFamily="18" charset="0"/>
                                  </a:rPr>
                                  <m:t>1</m:t>
                                </m:r>
                              </m:e>
                            </m:mr>
                            <m:mr>
                              <m:e>
                                <m:r>
                                  <a:rPr lang="sr-Latn-RS" sz="1900" i="1">
                                    <a:latin typeface="Cambria Math" panose="02040503050406030204" pitchFamily="18" charset="0"/>
                                    <a:ea typeface="Cambria Math" panose="02040503050406030204" pitchFamily="18" charset="0"/>
                                  </a:rPr>
                                  <m:t>0</m:t>
                                </m:r>
                              </m:e>
                              <m:e>
                                <m:r>
                                  <a:rPr lang="en-US" sz="1900" b="0" i="1" smtClean="0">
                                    <a:latin typeface="Cambria Math" panose="02040503050406030204" pitchFamily="18" charset="0"/>
                                    <a:ea typeface="Cambria Math" panose="02040503050406030204" pitchFamily="18" charset="0"/>
                                  </a:rPr>
                                  <m:t>0</m:t>
                                </m:r>
                              </m:e>
                              <m:e>
                                <m:r>
                                  <a:rPr lang="en-US" sz="1900" b="0" i="1" smtClean="0">
                                    <a:latin typeface="Cambria Math" panose="02040503050406030204" pitchFamily="18" charset="0"/>
                                    <a:ea typeface="Cambria Math" panose="02040503050406030204" pitchFamily="18" charset="0"/>
                                  </a:rPr>
                                  <m:t>1</m:t>
                                </m:r>
                              </m:e>
                              <m:e>
                                <m:r>
                                  <a:rPr lang="en-US" sz="1900" b="0" i="1" smtClean="0">
                                    <a:latin typeface="Cambria Math" panose="02040503050406030204" pitchFamily="18" charset="0"/>
                                    <a:ea typeface="Cambria Math" panose="02040503050406030204" pitchFamily="18" charset="0"/>
                                  </a:rPr>
                                  <m:t>−1</m:t>
                                </m:r>
                              </m:e>
                            </m:mr>
                            <m:mr>
                              <m:e>
                                <m:r>
                                  <a:rPr lang="en-US" sz="1900" b="0" i="1" smtClean="0">
                                    <a:latin typeface="Cambria Math" panose="02040503050406030204" pitchFamily="18" charset="0"/>
                                    <a:ea typeface="Cambria Math" panose="02040503050406030204" pitchFamily="18" charset="0"/>
                                  </a:rPr>
                                  <m:t>1</m:t>
                                </m:r>
                              </m:e>
                              <m:e>
                                <m:r>
                                  <a:rPr lang="en-US" sz="1900" b="0" i="1" smtClean="0">
                                    <a:latin typeface="Cambria Math" panose="02040503050406030204" pitchFamily="18" charset="0"/>
                                    <a:ea typeface="Cambria Math" panose="02040503050406030204" pitchFamily="18" charset="0"/>
                                  </a:rPr>
                                  <m:t>1</m:t>
                                </m:r>
                              </m:e>
                              <m:e>
                                <m:r>
                                  <a:rPr lang="en-US" sz="1900" b="0" i="1" smtClean="0">
                                    <a:latin typeface="Cambria Math" panose="02040503050406030204" pitchFamily="18" charset="0"/>
                                    <a:ea typeface="Cambria Math" panose="02040503050406030204" pitchFamily="18" charset="0"/>
                                  </a:rPr>
                                  <m:t>0</m:t>
                                </m:r>
                              </m:e>
                              <m:e>
                                <m:r>
                                  <a:rPr lang="sr-Latn-RS" sz="1900" i="1">
                                    <a:latin typeface="Cambria Math" panose="02040503050406030204" pitchFamily="18" charset="0"/>
                                    <a:ea typeface="Cambria Math" panose="02040503050406030204" pitchFamily="18" charset="0"/>
                                  </a:rPr>
                                  <m:t>0</m:t>
                                </m:r>
                              </m:e>
                            </m:mr>
                            <m:mr>
                              <m:e>
                                <m:r>
                                  <a:rPr lang="en-US" sz="1900" b="0" i="1" smtClean="0">
                                    <a:latin typeface="Cambria Math" panose="02040503050406030204" pitchFamily="18" charset="0"/>
                                    <a:ea typeface="Cambria Math" panose="02040503050406030204" pitchFamily="18" charset="0"/>
                                  </a:rPr>
                                  <m:t>1</m:t>
                                </m:r>
                              </m:e>
                              <m:e>
                                <m:r>
                                  <a:rPr lang="en-US" sz="1900" b="0" i="1" smtClean="0">
                                    <a:latin typeface="Cambria Math" panose="02040503050406030204" pitchFamily="18" charset="0"/>
                                    <a:ea typeface="Cambria Math" panose="02040503050406030204" pitchFamily="18" charset="0"/>
                                  </a:rPr>
                                  <m:t>−1</m:t>
                                </m:r>
                              </m:e>
                              <m:e>
                                <m:r>
                                  <a:rPr lang="sr-Latn-RS" sz="1900" i="1">
                                    <a:latin typeface="Cambria Math" panose="02040503050406030204" pitchFamily="18" charset="0"/>
                                    <a:ea typeface="Cambria Math" panose="02040503050406030204" pitchFamily="18" charset="0"/>
                                  </a:rPr>
                                  <m:t>0</m:t>
                                </m:r>
                              </m:e>
                              <m:e>
                                <m:r>
                                  <a:rPr lang="en-US" sz="1900" b="0" i="1" smtClean="0">
                                    <a:latin typeface="Cambria Math" panose="02040503050406030204" pitchFamily="18" charset="0"/>
                                    <a:ea typeface="Cambria Math" panose="02040503050406030204" pitchFamily="18" charset="0"/>
                                  </a:rPr>
                                  <m:t>0</m:t>
                                </m:r>
                              </m:e>
                            </m:mr>
                          </m:m>
                        </m:e>
                      </m:d>
                    </m:oMath>
                  </a14:m>
                  <a:r>
                    <a:rPr lang="sr-Latn-RS" sz="1900" dirty="0">
                      <a:ea typeface="Cambria Math" panose="02040503050406030204" pitchFamily="18" charset="0"/>
                    </a:rPr>
                    <a:t> </a:t>
                  </a:r>
                  <a14:m>
                    <m:oMath xmlns:m="http://schemas.openxmlformats.org/officeDocument/2006/math">
                      <m:d>
                        <m:dPr>
                          <m:ctrlPr>
                            <a:rPr lang="sr-Latn-RS" sz="1900" i="1">
                              <a:latin typeface="Cambria Math" panose="02040503050406030204" pitchFamily="18" charset="0"/>
                              <a:ea typeface="Cambria Math" panose="02040503050406030204" pitchFamily="18" charset="0"/>
                            </a:rPr>
                          </m:ctrlPr>
                        </m:dPr>
                        <m:e>
                          <m:m>
                            <m:mPr>
                              <m:mcs>
                                <m:mc>
                                  <m:mcPr>
                                    <m:count m:val="1"/>
                                    <m:mcJc m:val="center"/>
                                  </m:mcPr>
                                </m:mc>
                              </m:mcs>
                              <m:ctrlPr>
                                <a:rPr lang="sr-Latn-RS" sz="1900" i="1">
                                  <a:latin typeface="Cambria Math" panose="02040503050406030204" pitchFamily="18" charset="0"/>
                                  <a:ea typeface="Cambria Math" panose="02040503050406030204" pitchFamily="18" charset="0"/>
                                </a:rPr>
                              </m:ctrlPr>
                            </m:mPr>
                            <m:mr>
                              <m:e>
                                <m:r>
                                  <m:rPr>
                                    <m:brk m:alnAt="7"/>
                                  </m:rPr>
                                  <a:rPr lang="en-US" sz="1900" i="1">
                                    <a:latin typeface="Cambria Math" panose="02040503050406030204" pitchFamily="18" charset="0"/>
                                    <a:ea typeface="Cambria Math" panose="02040503050406030204" pitchFamily="18" charset="0"/>
                                  </a:rPr>
                                  <m:t>1</m:t>
                                </m:r>
                              </m:e>
                            </m:mr>
                            <m:mr>
                              <m:e>
                                <m:r>
                                  <a:rPr lang="en-US" sz="1900" i="1">
                                    <a:latin typeface="Cambria Math" panose="02040503050406030204" pitchFamily="18" charset="0"/>
                                    <a:ea typeface="Cambria Math" panose="02040503050406030204" pitchFamily="18" charset="0"/>
                                  </a:rPr>
                                  <m:t>0</m:t>
                                </m:r>
                              </m:e>
                            </m:mr>
                            <m:mr>
                              <m:e>
                                <m:r>
                                  <a:rPr lang="en-US" sz="1900" i="1">
                                    <a:latin typeface="Cambria Math" panose="02040503050406030204" pitchFamily="18" charset="0"/>
                                    <a:ea typeface="Cambria Math" panose="02040503050406030204" pitchFamily="18" charset="0"/>
                                  </a:rPr>
                                  <m:t>0</m:t>
                                </m:r>
                              </m:e>
                            </m:mr>
                            <m:mr>
                              <m:e>
                                <m:r>
                                  <a:rPr lang="en-US" sz="1900" i="1">
                                    <a:latin typeface="Cambria Math" panose="02040503050406030204" pitchFamily="18" charset="0"/>
                                    <a:ea typeface="Cambria Math" panose="02040503050406030204" pitchFamily="18" charset="0"/>
                                  </a:rPr>
                                  <m:t>0</m:t>
                                </m:r>
                              </m:e>
                            </m:mr>
                          </m:m>
                        </m:e>
                      </m:d>
                      <m:r>
                        <a:rPr lang="en-US" sz="1900" b="0" i="1" smtClean="0">
                          <a:latin typeface="Cambria Math" panose="02040503050406030204" pitchFamily="18" charset="0"/>
                          <a:ea typeface="Cambria Math" panose="02040503050406030204" pitchFamily="18" charset="0"/>
                        </a:rPr>
                        <m:t>=</m:t>
                      </m:r>
                      <m:f>
                        <m:fPr>
                          <m:ctrlPr>
                            <a:rPr lang="en-US" sz="1900" i="1">
                              <a:latin typeface="Cambria Math" panose="02040503050406030204" pitchFamily="18" charset="0"/>
                            </a:rPr>
                          </m:ctrlPr>
                        </m:fPr>
                        <m:num>
                          <m:r>
                            <a:rPr lang="en-US" sz="1900">
                              <a:latin typeface="Cambria Math" panose="02040503050406030204" pitchFamily="18" charset="0"/>
                            </a:rPr>
                            <m:t>1</m:t>
                          </m:r>
                        </m:num>
                        <m:den>
                          <m:rad>
                            <m:radPr>
                              <m:degHide m:val="on"/>
                              <m:ctrlPr>
                                <a:rPr lang="en-US" sz="1900" i="1">
                                  <a:latin typeface="Cambria Math" panose="02040503050406030204" pitchFamily="18" charset="0"/>
                                </a:rPr>
                              </m:ctrlPr>
                            </m:radPr>
                            <m:deg/>
                            <m:e>
                              <m:r>
                                <a:rPr lang="en-US" sz="1900">
                                  <a:latin typeface="Cambria Math" panose="02040503050406030204" pitchFamily="18" charset="0"/>
                                </a:rPr>
                                <m:t>2</m:t>
                              </m:r>
                            </m:e>
                          </m:rad>
                        </m:den>
                      </m:f>
                      <m:d>
                        <m:dPr>
                          <m:ctrlPr>
                            <a:rPr lang="sr-Latn-RS" sz="1900" i="1">
                              <a:latin typeface="Cambria Math" panose="02040503050406030204" pitchFamily="18" charset="0"/>
                              <a:ea typeface="Cambria Math" panose="02040503050406030204" pitchFamily="18" charset="0"/>
                            </a:rPr>
                          </m:ctrlPr>
                        </m:dPr>
                        <m:e>
                          <m:m>
                            <m:mPr>
                              <m:mcs>
                                <m:mc>
                                  <m:mcPr>
                                    <m:count m:val="1"/>
                                    <m:mcJc m:val="center"/>
                                  </m:mcPr>
                                </m:mc>
                              </m:mcs>
                              <m:ctrlPr>
                                <a:rPr lang="sr-Latn-RS" sz="1900" i="1">
                                  <a:latin typeface="Cambria Math" panose="02040503050406030204" pitchFamily="18" charset="0"/>
                                  <a:ea typeface="Cambria Math" panose="02040503050406030204" pitchFamily="18" charset="0"/>
                                </a:rPr>
                              </m:ctrlPr>
                            </m:mPr>
                            <m:mr>
                              <m:e>
                                <m:r>
                                  <m:rPr>
                                    <m:brk m:alnAt="7"/>
                                  </m:rPr>
                                  <a:rPr lang="en-US" sz="1900" b="0" i="1" smtClean="0">
                                    <a:latin typeface="Cambria Math" panose="02040503050406030204" pitchFamily="18" charset="0"/>
                                    <a:ea typeface="Cambria Math" panose="02040503050406030204" pitchFamily="18" charset="0"/>
                                  </a:rPr>
                                  <m:t>0</m:t>
                                </m:r>
                              </m:e>
                            </m:mr>
                            <m:mr>
                              <m:e>
                                <m:r>
                                  <a:rPr lang="en-US" sz="1900" i="1">
                                    <a:latin typeface="Cambria Math" panose="02040503050406030204" pitchFamily="18" charset="0"/>
                                    <a:ea typeface="Cambria Math" panose="02040503050406030204" pitchFamily="18" charset="0"/>
                                  </a:rPr>
                                  <m:t>0</m:t>
                                </m:r>
                              </m:e>
                            </m:mr>
                            <m:mr>
                              <m:e>
                                <m:r>
                                  <a:rPr lang="en-US" sz="1900" b="0" i="1" smtClean="0">
                                    <a:latin typeface="Cambria Math" panose="02040503050406030204" pitchFamily="18" charset="0"/>
                                    <a:ea typeface="Cambria Math" panose="02040503050406030204" pitchFamily="18" charset="0"/>
                                  </a:rPr>
                                  <m:t>1</m:t>
                                </m:r>
                              </m:e>
                            </m:mr>
                            <m:mr>
                              <m:e>
                                <m:r>
                                  <a:rPr lang="en-US" sz="1900" b="0" i="1" smtClean="0">
                                    <a:latin typeface="Cambria Math" panose="02040503050406030204" pitchFamily="18" charset="0"/>
                                    <a:ea typeface="Cambria Math" panose="02040503050406030204" pitchFamily="18" charset="0"/>
                                  </a:rPr>
                                  <m:t>−1</m:t>
                                </m:r>
                              </m:e>
                            </m:mr>
                          </m:m>
                        </m:e>
                      </m:d>
                    </m:oMath>
                  </a14:m>
                  <a:endParaRPr lang="en-US" sz="1900" dirty="0"/>
                </a:p>
              </p:txBody>
            </p:sp>
          </mc:Choice>
          <mc:Fallback xmlns="">
            <p:sp>
              <p:nvSpPr>
                <p:cNvPr id="36" name="Rectangle 35">
                  <a:extLst>
                    <a:ext uri="{FF2B5EF4-FFF2-40B4-BE49-F238E27FC236}">
                      <a16:creationId xmlns:a16="http://schemas.microsoft.com/office/drawing/2014/main" id="{7642901C-3A19-0748-838D-5C8FCF783E26}"/>
                    </a:ext>
                  </a:extLst>
                </p:cNvPr>
                <p:cNvSpPr>
                  <a:spLocks noRot="1" noChangeAspect="1" noMove="1" noResize="1" noEditPoints="1" noAdjustHandles="1" noChangeArrowheads="1" noChangeShapeType="1" noTextEdit="1"/>
                </p:cNvSpPr>
                <p:nvPr/>
              </p:nvSpPr>
              <p:spPr>
                <a:xfrm>
                  <a:off x="725214" y="5033449"/>
                  <a:ext cx="11205375" cy="118455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4DD53BEE-2614-0F4B-9173-57435E01C324}"/>
                    </a:ext>
                  </a:extLst>
                </p:cNvPr>
                <p:cNvSpPr/>
                <p:nvPr/>
              </p:nvSpPr>
              <p:spPr>
                <a:xfrm>
                  <a:off x="0" y="4511250"/>
                  <a:ext cx="188878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𝐶𝑍</m:t>
                        </m:r>
                        <m:d>
                          <m:dPr>
                            <m:ctrlPr>
                              <a:rPr lang="en-US" i="1">
                                <a:latin typeface="Cambria Math" panose="02040503050406030204" pitchFamily="18" charset="0"/>
                              </a:rPr>
                            </m:ctrlPr>
                          </m:dPr>
                          <m:e>
                            <m:r>
                              <m:rPr>
                                <m:brk m:alnAt="2"/>
                              </m:rPr>
                              <a:rPr lang="en-US" i="1">
                                <a:latin typeface="Cambria Math" panose="02040503050406030204" pitchFamily="18" charset="0"/>
                              </a:rPr>
                              <m:t>𝑋</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𝐻</m:t>
                            </m:r>
                          </m:e>
                        </m:d>
                        <m:d>
                          <m:dPr>
                            <m:begChr m:val="|"/>
                            <m:endChr m:val="⟩"/>
                            <m:ctrlPr>
                              <a:rPr lang="en-ZA" i="1">
                                <a:latin typeface="Cambria Math" panose="02040503050406030204" pitchFamily="18" charset="0"/>
                              </a:rPr>
                            </m:ctrlPr>
                          </m:dPr>
                          <m:e>
                            <m:r>
                              <a:rPr lang="en-US" i="1">
                                <a:latin typeface="Cambria Math" panose="02040503050406030204" pitchFamily="18" charset="0"/>
                              </a:rPr>
                              <m:t>00</m:t>
                            </m:r>
                          </m:e>
                        </m:d>
                        <m:r>
                          <a:rPr lang="en-US" i="1">
                            <a:latin typeface="Cambria Math" panose="02040503050406030204" pitchFamily="18" charset="0"/>
                          </a:rPr>
                          <m:t>=</m:t>
                        </m:r>
                      </m:oMath>
                    </m:oMathPara>
                  </a14:m>
                  <a:endParaRPr lang="en-US" dirty="0"/>
                </a:p>
              </p:txBody>
            </p:sp>
          </mc:Choice>
          <mc:Fallback xmlns="">
            <p:sp>
              <p:nvSpPr>
                <p:cNvPr id="37" name="Rectangle 36">
                  <a:extLst>
                    <a:ext uri="{FF2B5EF4-FFF2-40B4-BE49-F238E27FC236}">
                      <a16:creationId xmlns:a16="http://schemas.microsoft.com/office/drawing/2014/main" id="{4DD53BEE-2614-0F4B-9173-57435E01C324}"/>
                    </a:ext>
                  </a:extLst>
                </p:cNvPr>
                <p:cNvSpPr>
                  <a:spLocks noRot="1" noChangeAspect="1" noMove="1" noResize="1" noEditPoints="1" noAdjustHandles="1" noChangeArrowheads="1" noChangeShapeType="1" noTextEdit="1"/>
                </p:cNvSpPr>
                <p:nvPr/>
              </p:nvSpPr>
              <p:spPr>
                <a:xfrm>
                  <a:off x="0" y="4511250"/>
                  <a:ext cx="1888787" cy="369332"/>
                </a:xfrm>
                <a:prstGeom prst="rect">
                  <a:avLst/>
                </a:prstGeom>
                <a:blipFill>
                  <a:blip r:embed="rId5"/>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351722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dissolv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AB14F29D-4044-5344-A12A-2416510F1644}"/>
              </a:ext>
            </a:extLst>
          </p:cNvPr>
          <p:cNvGrpSpPr>
            <a:grpSpLocks noChangeAspect="1"/>
          </p:cNvGrpSpPr>
          <p:nvPr/>
        </p:nvGrpSpPr>
        <p:grpSpPr>
          <a:xfrm>
            <a:off x="4902919" y="2257780"/>
            <a:ext cx="2503136" cy="2520000"/>
            <a:chOff x="543818" y="1452075"/>
            <a:chExt cx="2875029" cy="2895600"/>
          </a:xfrm>
        </p:grpSpPr>
        <p:sp>
          <p:nvSpPr>
            <p:cNvPr id="54" name="Oval 53">
              <a:extLst>
                <a:ext uri="{FF2B5EF4-FFF2-40B4-BE49-F238E27FC236}">
                  <a16:creationId xmlns:a16="http://schemas.microsoft.com/office/drawing/2014/main" id="{D69C4C5E-49BD-CA4F-BEB4-55F709805B95}"/>
                </a:ext>
              </a:extLst>
            </p:cNvPr>
            <p:cNvSpPr/>
            <p:nvPr/>
          </p:nvSpPr>
          <p:spPr>
            <a:xfrm>
              <a:off x="543818" y="1452075"/>
              <a:ext cx="2875029" cy="2895600"/>
            </a:xfrm>
            <a:prstGeom prst="ellipse">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w="381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DF8E8F2F-1A11-0A4A-8FB6-DFCBE63DF582}"/>
                </a:ext>
              </a:extLst>
            </p:cNvPr>
            <p:cNvSpPr/>
            <p:nvPr/>
          </p:nvSpPr>
          <p:spPr>
            <a:xfrm>
              <a:off x="543818" y="2260528"/>
              <a:ext cx="2875029" cy="1232974"/>
            </a:xfrm>
            <a:prstGeom prst="ellipse">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16C061D7-1467-4643-A567-F78D332F09EA}"/>
                </a:ext>
              </a:extLst>
            </p:cNvPr>
            <p:cNvGrpSpPr/>
            <p:nvPr/>
          </p:nvGrpSpPr>
          <p:grpSpPr>
            <a:xfrm flipH="1">
              <a:off x="1249463" y="1853431"/>
              <a:ext cx="407643" cy="1116000"/>
              <a:chOff x="2370479" y="1914381"/>
              <a:chExt cx="407643" cy="1116000"/>
            </a:xfrm>
          </p:grpSpPr>
          <p:sp>
            <p:nvSpPr>
              <p:cNvPr id="71" name="Freeform 70">
                <a:extLst>
                  <a:ext uri="{FF2B5EF4-FFF2-40B4-BE49-F238E27FC236}">
                    <a16:creationId xmlns:a16="http://schemas.microsoft.com/office/drawing/2014/main" id="{27AED07B-12B0-9D43-9D69-B350626E93A6}"/>
                  </a:ext>
                </a:extLst>
              </p:cNvPr>
              <p:cNvSpPr/>
              <p:nvPr/>
            </p:nvSpPr>
            <p:spPr>
              <a:xfrm rot="18437658">
                <a:off x="1826879" y="2457981"/>
                <a:ext cx="1116000" cy="28800"/>
              </a:xfrm>
              <a:custGeom>
                <a:avLst/>
                <a:gdLst>
                  <a:gd name="connsiteX0" fmla="*/ 0 w 1271016"/>
                  <a:gd name="connsiteY0" fmla="*/ 9144 h 9144"/>
                  <a:gd name="connsiteX1" fmla="*/ 1271016 w 1271016"/>
                  <a:gd name="connsiteY1" fmla="*/ 0 h 9144"/>
                </a:gdLst>
                <a:ahLst/>
                <a:cxnLst>
                  <a:cxn ang="0">
                    <a:pos x="connsiteX0" y="connsiteY0"/>
                  </a:cxn>
                  <a:cxn ang="0">
                    <a:pos x="connsiteX1" y="connsiteY1"/>
                  </a:cxn>
                </a:cxnLst>
                <a:rect l="l" t="t" r="r" b="b"/>
                <a:pathLst>
                  <a:path w="1271016" h="9144">
                    <a:moveTo>
                      <a:pt x="0" y="9144"/>
                    </a:moveTo>
                    <a:lnTo>
                      <a:pt x="1271016" y="0"/>
                    </a:lnTo>
                  </a:path>
                </a:pathLst>
              </a:custGeom>
              <a:noFill/>
              <a:ln w="8572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71">
                <a:extLst>
                  <a:ext uri="{FF2B5EF4-FFF2-40B4-BE49-F238E27FC236}">
                    <a16:creationId xmlns:a16="http://schemas.microsoft.com/office/drawing/2014/main" id="{F4365B19-5CBC-A241-A57E-4F05BACBEEBA}"/>
                  </a:ext>
                </a:extLst>
              </p:cNvPr>
              <p:cNvSpPr/>
              <p:nvPr/>
            </p:nvSpPr>
            <p:spPr>
              <a:xfrm rot="16656266">
                <a:off x="2526968" y="1950306"/>
                <a:ext cx="139283" cy="224777"/>
              </a:xfrm>
              <a:custGeom>
                <a:avLst/>
                <a:gdLst>
                  <a:gd name="connsiteX0" fmla="*/ 193675 w 193675"/>
                  <a:gd name="connsiteY0" fmla="*/ 98425 h 98425"/>
                  <a:gd name="connsiteX1" fmla="*/ 0 w 193675"/>
                  <a:gd name="connsiteY1" fmla="*/ 0 h 98425"/>
                </a:gdLst>
                <a:ahLst/>
                <a:cxnLst>
                  <a:cxn ang="0">
                    <a:pos x="connsiteX0" y="connsiteY0"/>
                  </a:cxn>
                  <a:cxn ang="0">
                    <a:pos x="connsiteX1" y="connsiteY1"/>
                  </a:cxn>
                </a:cxnLst>
                <a:rect l="l" t="t" r="r" b="b"/>
                <a:pathLst>
                  <a:path w="193675" h="98425">
                    <a:moveTo>
                      <a:pt x="193675" y="98425"/>
                    </a:moveTo>
                    <a:lnTo>
                      <a:pt x="0" y="0"/>
                    </a:lnTo>
                  </a:path>
                </a:pathLst>
              </a:custGeom>
              <a:noFill/>
              <a:ln w="63500"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a:extLst>
                  <a:ext uri="{FF2B5EF4-FFF2-40B4-BE49-F238E27FC236}">
                    <a16:creationId xmlns:a16="http://schemas.microsoft.com/office/drawing/2014/main" id="{E67F27F6-2A5F-9042-93E0-3299464EFE26}"/>
                  </a:ext>
                </a:extLst>
              </p:cNvPr>
              <p:cNvSpPr/>
              <p:nvPr/>
            </p:nvSpPr>
            <p:spPr>
              <a:xfrm rot="20039594" flipV="1">
                <a:off x="2638839" y="2027750"/>
                <a:ext cx="139283" cy="224777"/>
              </a:xfrm>
              <a:custGeom>
                <a:avLst/>
                <a:gdLst>
                  <a:gd name="connsiteX0" fmla="*/ 193675 w 193675"/>
                  <a:gd name="connsiteY0" fmla="*/ 98425 h 98425"/>
                  <a:gd name="connsiteX1" fmla="*/ 0 w 193675"/>
                  <a:gd name="connsiteY1" fmla="*/ 0 h 98425"/>
                </a:gdLst>
                <a:ahLst/>
                <a:cxnLst>
                  <a:cxn ang="0">
                    <a:pos x="connsiteX0" y="connsiteY0"/>
                  </a:cxn>
                  <a:cxn ang="0">
                    <a:pos x="connsiteX1" y="connsiteY1"/>
                  </a:cxn>
                </a:cxnLst>
                <a:rect l="l" t="t" r="r" b="b"/>
                <a:pathLst>
                  <a:path w="193675" h="98425">
                    <a:moveTo>
                      <a:pt x="193675" y="98425"/>
                    </a:moveTo>
                    <a:lnTo>
                      <a:pt x="0" y="0"/>
                    </a:lnTo>
                  </a:path>
                </a:pathLst>
              </a:custGeom>
              <a:noFill/>
              <a:ln w="63500"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256CEA9D-2482-3E4B-A24F-26534E985C86}"/>
                </a:ext>
              </a:extLst>
            </p:cNvPr>
            <p:cNvGrpSpPr/>
            <p:nvPr/>
          </p:nvGrpSpPr>
          <p:grpSpPr>
            <a:xfrm>
              <a:off x="1856268" y="2079056"/>
              <a:ext cx="576000" cy="576000"/>
              <a:chOff x="2444843" y="1540121"/>
              <a:chExt cx="576000" cy="576000"/>
            </a:xfrm>
          </p:grpSpPr>
          <p:sp>
            <p:nvSpPr>
              <p:cNvPr id="67" name="Oval 66">
                <a:extLst>
                  <a:ext uri="{FF2B5EF4-FFF2-40B4-BE49-F238E27FC236}">
                    <a16:creationId xmlns:a16="http://schemas.microsoft.com/office/drawing/2014/main" id="{48989C03-F665-5448-8BDA-450D013A5D28}"/>
                  </a:ext>
                </a:extLst>
              </p:cNvPr>
              <p:cNvSpPr/>
              <p:nvPr/>
            </p:nvSpPr>
            <p:spPr>
              <a:xfrm>
                <a:off x="2444843" y="1540121"/>
                <a:ext cx="576000" cy="576000"/>
              </a:xfrm>
              <a:prstGeom prst="ellipse">
                <a:avLst/>
              </a:prstGeom>
              <a:solidFill>
                <a:schemeClr val="bg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8" name="Group 67">
                <a:extLst>
                  <a:ext uri="{FF2B5EF4-FFF2-40B4-BE49-F238E27FC236}">
                    <a16:creationId xmlns:a16="http://schemas.microsoft.com/office/drawing/2014/main" id="{DCFD4BD5-0D70-BC45-9134-240ABAE3B6F2}"/>
                  </a:ext>
                </a:extLst>
              </p:cNvPr>
              <p:cNvGrpSpPr/>
              <p:nvPr/>
            </p:nvGrpSpPr>
            <p:grpSpPr>
              <a:xfrm>
                <a:off x="2627632" y="1662732"/>
                <a:ext cx="288000" cy="288000"/>
                <a:chOff x="3046869" y="2192742"/>
                <a:chExt cx="288000" cy="288000"/>
              </a:xfrm>
            </p:grpSpPr>
            <p:sp>
              <p:nvSpPr>
                <p:cNvPr id="69" name="Oval 68">
                  <a:extLst>
                    <a:ext uri="{FF2B5EF4-FFF2-40B4-BE49-F238E27FC236}">
                      <a16:creationId xmlns:a16="http://schemas.microsoft.com/office/drawing/2014/main" id="{AB2CF460-511E-3B4A-8031-C21B1C536D1B}"/>
                    </a:ext>
                  </a:extLst>
                </p:cNvPr>
                <p:cNvSpPr>
                  <a:spLocks noChangeAspect="1"/>
                </p:cNvSpPr>
                <p:nvPr/>
              </p:nvSpPr>
              <p:spPr>
                <a:xfrm>
                  <a:off x="3046869" y="2192742"/>
                  <a:ext cx="288000" cy="288000"/>
                </a:xfrm>
                <a:prstGeom prst="ellipse">
                  <a:avLst/>
                </a:prstGeom>
                <a:solidFill>
                  <a:schemeClr val="tx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E6454600-35A8-1A4F-84CF-ECF04AEC0248}"/>
                    </a:ext>
                  </a:extLst>
                </p:cNvPr>
                <p:cNvSpPr>
                  <a:spLocks noChangeAspect="1"/>
                </p:cNvSpPr>
                <p:nvPr/>
              </p:nvSpPr>
              <p:spPr>
                <a:xfrm>
                  <a:off x="3201602" y="2260450"/>
                  <a:ext cx="84379" cy="84379"/>
                </a:xfrm>
                <a:prstGeom prst="ellipse">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9" name="Group 58">
              <a:extLst>
                <a:ext uri="{FF2B5EF4-FFF2-40B4-BE49-F238E27FC236}">
                  <a16:creationId xmlns:a16="http://schemas.microsoft.com/office/drawing/2014/main" id="{BC2725CD-C4FA-5946-BDCC-CA115F24F215}"/>
                </a:ext>
              </a:extLst>
            </p:cNvPr>
            <p:cNvGrpSpPr/>
            <p:nvPr/>
          </p:nvGrpSpPr>
          <p:grpSpPr>
            <a:xfrm>
              <a:off x="2566890" y="1643177"/>
              <a:ext cx="576000" cy="576000"/>
              <a:chOff x="2444843" y="1540121"/>
              <a:chExt cx="576000" cy="576000"/>
            </a:xfrm>
          </p:grpSpPr>
          <p:sp>
            <p:nvSpPr>
              <p:cNvPr id="63" name="Oval 62">
                <a:extLst>
                  <a:ext uri="{FF2B5EF4-FFF2-40B4-BE49-F238E27FC236}">
                    <a16:creationId xmlns:a16="http://schemas.microsoft.com/office/drawing/2014/main" id="{8BC74602-4374-4649-B673-3BDB5F16F18B}"/>
                  </a:ext>
                </a:extLst>
              </p:cNvPr>
              <p:cNvSpPr/>
              <p:nvPr/>
            </p:nvSpPr>
            <p:spPr>
              <a:xfrm>
                <a:off x="2444843" y="1540121"/>
                <a:ext cx="576000" cy="576000"/>
              </a:xfrm>
              <a:prstGeom prst="ellipse">
                <a:avLst/>
              </a:prstGeom>
              <a:solidFill>
                <a:schemeClr val="bg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4" name="Group 63">
                <a:extLst>
                  <a:ext uri="{FF2B5EF4-FFF2-40B4-BE49-F238E27FC236}">
                    <a16:creationId xmlns:a16="http://schemas.microsoft.com/office/drawing/2014/main" id="{3DCAECF0-90B7-8A45-8B3B-3639B7233717}"/>
                  </a:ext>
                </a:extLst>
              </p:cNvPr>
              <p:cNvGrpSpPr/>
              <p:nvPr/>
            </p:nvGrpSpPr>
            <p:grpSpPr>
              <a:xfrm>
                <a:off x="2627632" y="1662732"/>
                <a:ext cx="288000" cy="288000"/>
                <a:chOff x="3046869" y="2192742"/>
                <a:chExt cx="288000" cy="288000"/>
              </a:xfrm>
            </p:grpSpPr>
            <p:sp>
              <p:nvSpPr>
                <p:cNvPr id="65" name="Oval 64">
                  <a:extLst>
                    <a:ext uri="{FF2B5EF4-FFF2-40B4-BE49-F238E27FC236}">
                      <a16:creationId xmlns:a16="http://schemas.microsoft.com/office/drawing/2014/main" id="{83D8173F-5E20-5648-9853-CFDC8BF16F45}"/>
                    </a:ext>
                  </a:extLst>
                </p:cNvPr>
                <p:cNvSpPr>
                  <a:spLocks noChangeAspect="1"/>
                </p:cNvSpPr>
                <p:nvPr/>
              </p:nvSpPr>
              <p:spPr>
                <a:xfrm>
                  <a:off x="3046869" y="2192742"/>
                  <a:ext cx="288000" cy="288000"/>
                </a:xfrm>
                <a:prstGeom prst="ellipse">
                  <a:avLst/>
                </a:prstGeom>
                <a:solidFill>
                  <a:schemeClr val="tx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76634BB2-0EB7-2D48-9B54-2B419BE49DF2}"/>
                    </a:ext>
                  </a:extLst>
                </p:cNvPr>
                <p:cNvSpPr>
                  <a:spLocks noChangeAspect="1"/>
                </p:cNvSpPr>
                <p:nvPr/>
              </p:nvSpPr>
              <p:spPr>
                <a:xfrm>
                  <a:off x="3201602" y="2260450"/>
                  <a:ext cx="84379" cy="84379"/>
                </a:xfrm>
                <a:prstGeom prst="ellipse">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5" name="Oval 4">
            <a:extLst>
              <a:ext uri="{FF2B5EF4-FFF2-40B4-BE49-F238E27FC236}">
                <a16:creationId xmlns:a16="http://schemas.microsoft.com/office/drawing/2014/main" id="{D9FE315B-5B03-9549-A6B9-306682462E74}"/>
              </a:ext>
            </a:extLst>
          </p:cNvPr>
          <p:cNvSpPr/>
          <p:nvPr/>
        </p:nvSpPr>
        <p:spPr>
          <a:xfrm>
            <a:off x="665189" y="2399132"/>
            <a:ext cx="2503136" cy="2520000"/>
          </a:xfrm>
          <a:prstGeom prst="ellipse">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w="381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B385034-7D58-5641-8E5C-EEF48351A3A5}"/>
              </a:ext>
            </a:extLst>
          </p:cNvPr>
          <p:cNvSpPr/>
          <p:nvPr/>
        </p:nvSpPr>
        <p:spPr>
          <a:xfrm>
            <a:off x="665189" y="3102717"/>
            <a:ext cx="2503136" cy="1073040"/>
          </a:xfrm>
          <a:prstGeom prst="ellipse">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BF067F29-12E8-E847-9F1C-87289A834058}"/>
              </a:ext>
            </a:extLst>
          </p:cNvPr>
          <p:cNvGrpSpPr/>
          <p:nvPr/>
        </p:nvGrpSpPr>
        <p:grpSpPr>
          <a:xfrm flipH="1">
            <a:off x="1279557" y="2748426"/>
            <a:ext cx="354913" cy="971239"/>
            <a:chOff x="2370479" y="1914381"/>
            <a:chExt cx="407643" cy="1116000"/>
          </a:xfrm>
        </p:grpSpPr>
        <p:sp>
          <p:nvSpPr>
            <p:cNvPr id="8" name="Freeform 7">
              <a:extLst>
                <a:ext uri="{FF2B5EF4-FFF2-40B4-BE49-F238E27FC236}">
                  <a16:creationId xmlns:a16="http://schemas.microsoft.com/office/drawing/2014/main" id="{7C27A55B-56B8-B64B-83EF-9F526E91BEAA}"/>
                </a:ext>
              </a:extLst>
            </p:cNvPr>
            <p:cNvSpPr/>
            <p:nvPr/>
          </p:nvSpPr>
          <p:spPr>
            <a:xfrm rot="18437658">
              <a:off x="1826879" y="2457981"/>
              <a:ext cx="1116000" cy="28800"/>
            </a:xfrm>
            <a:custGeom>
              <a:avLst/>
              <a:gdLst>
                <a:gd name="connsiteX0" fmla="*/ 0 w 1271016"/>
                <a:gd name="connsiteY0" fmla="*/ 9144 h 9144"/>
                <a:gd name="connsiteX1" fmla="*/ 1271016 w 1271016"/>
                <a:gd name="connsiteY1" fmla="*/ 0 h 9144"/>
              </a:gdLst>
              <a:ahLst/>
              <a:cxnLst>
                <a:cxn ang="0">
                  <a:pos x="connsiteX0" y="connsiteY0"/>
                </a:cxn>
                <a:cxn ang="0">
                  <a:pos x="connsiteX1" y="connsiteY1"/>
                </a:cxn>
              </a:cxnLst>
              <a:rect l="l" t="t" r="r" b="b"/>
              <a:pathLst>
                <a:path w="1271016" h="9144">
                  <a:moveTo>
                    <a:pt x="0" y="9144"/>
                  </a:moveTo>
                  <a:lnTo>
                    <a:pt x="1271016" y="0"/>
                  </a:lnTo>
                </a:path>
              </a:pathLst>
            </a:custGeom>
            <a:noFill/>
            <a:ln w="8572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8A957D75-36B0-A449-A9ED-876B95A5EE59}"/>
                </a:ext>
              </a:extLst>
            </p:cNvPr>
            <p:cNvSpPr/>
            <p:nvPr/>
          </p:nvSpPr>
          <p:spPr>
            <a:xfrm rot="16656266">
              <a:off x="2526968" y="1950306"/>
              <a:ext cx="139283" cy="224777"/>
            </a:xfrm>
            <a:custGeom>
              <a:avLst/>
              <a:gdLst>
                <a:gd name="connsiteX0" fmla="*/ 193675 w 193675"/>
                <a:gd name="connsiteY0" fmla="*/ 98425 h 98425"/>
                <a:gd name="connsiteX1" fmla="*/ 0 w 193675"/>
                <a:gd name="connsiteY1" fmla="*/ 0 h 98425"/>
              </a:gdLst>
              <a:ahLst/>
              <a:cxnLst>
                <a:cxn ang="0">
                  <a:pos x="connsiteX0" y="connsiteY0"/>
                </a:cxn>
                <a:cxn ang="0">
                  <a:pos x="connsiteX1" y="connsiteY1"/>
                </a:cxn>
              </a:cxnLst>
              <a:rect l="l" t="t" r="r" b="b"/>
              <a:pathLst>
                <a:path w="193675" h="98425">
                  <a:moveTo>
                    <a:pt x="193675" y="98425"/>
                  </a:moveTo>
                  <a:lnTo>
                    <a:pt x="0" y="0"/>
                  </a:lnTo>
                </a:path>
              </a:pathLst>
            </a:custGeom>
            <a:noFill/>
            <a:ln w="63500"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63CD7057-7077-FB49-B535-FB4BAAB3E164}"/>
                </a:ext>
              </a:extLst>
            </p:cNvPr>
            <p:cNvSpPr/>
            <p:nvPr/>
          </p:nvSpPr>
          <p:spPr>
            <a:xfrm rot="20039594" flipV="1">
              <a:off x="2638839" y="2027750"/>
              <a:ext cx="139283" cy="224777"/>
            </a:xfrm>
            <a:custGeom>
              <a:avLst/>
              <a:gdLst>
                <a:gd name="connsiteX0" fmla="*/ 193675 w 193675"/>
                <a:gd name="connsiteY0" fmla="*/ 98425 h 98425"/>
                <a:gd name="connsiteX1" fmla="*/ 0 w 193675"/>
                <a:gd name="connsiteY1" fmla="*/ 0 h 98425"/>
              </a:gdLst>
              <a:ahLst/>
              <a:cxnLst>
                <a:cxn ang="0">
                  <a:pos x="connsiteX0" y="connsiteY0"/>
                </a:cxn>
                <a:cxn ang="0">
                  <a:pos x="connsiteX1" y="connsiteY1"/>
                </a:cxn>
              </a:cxnLst>
              <a:rect l="l" t="t" r="r" b="b"/>
              <a:pathLst>
                <a:path w="193675" h="98425">
                  <a:moveTo>
                    <a:pt x="193675" y="98425"/>
                  </a:moveTo>
                  <a:lnTo>
                    <a:pt x="0" y="0"/>
                  </a:lnTo>
                </a:path>
              </a:pathLst>
            </a:custGeom>
            <a:noFill/>
            <a:ln w="63500"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27CA72C0-7252-EF45-8EED-914697D61716}"/>
              </a:ext>
            </a:extLst>
          </p:cNvPr>
          <p:cNvGrpSpPr/>
          <p:nvPr/>
        </p:nvGrpSpPr>
        <p:grpSpPr>
          <a:xfrm>
            <a:off x="1807870" y="2944785"/>
            <a:ext cx="501493" cy="501285"/>
            <a:chOff x="2444843" y="1540121"/>
            <a:chExt cx="576000" cy="576000"/>
          </a:xfrm>
        </p:grpSpPr>
        <p:sp>
          <p:nvSpPr>
            <p:cNvPr id="12" name="Oval 11">
              <a:extLst>
                <a:ext uri="{FF2B5EF4-FFF2-40B4-BE49-F238E27FC236}">
                  <a16:creationId xmlns:a16="http://schemas.microsoft.com/office/drawing/2014/main" id="{CF253356-9B2F-5447-BADF-C821EE7E01FA}"/>
                </a:ext>
              </a:extLst>
            </p:cNvPr>
            <p:cNvSpPr/>
            <p:nvPr/>
          </p:nvSpPr>
          <p:spPr>
            <a:xfrm>
              <a:off x="2444843" y="1540121"/>
              <a:ext cx="576000" cy="576000"/>
            </a:xfrm>
            <a:prstGeom prst="ellipse">
              <a:avLst/>
            </a:prstGeom>
            <a:solidFill>
              <a:schemeClr val="bg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341187C-883F-9942-991A-37190A56E9E2}"/>
                </a:ext>
              </a:extLst>
            </p:cNvPr>
            <p:cNvGrpSpPr/>
            <p:nvPr/>
          </p:nvGrpSpPr>
          <p:grpSpPr>
            <a:xfrm>
              <a:off x="2627632" y="1662732"/>
              <a:ext cx="288000" cy="288000"/>
              <a:chOff x="3046869" y="2192742"/>
              <a:chExt cx="288000" cy="288000"/>
            </a:xfrm>
          </p:grpSpPr>
          <p:sp>
            <p:nvSpPr>
              <p:cNvPr id="14" name="Oval 13">
                <a:extLst>
                  <a:ext uri="{FF2B5EF4-FFF2-40B4-BE49-F238E27FC236}">
                    <a16:creationId xmlns:a16="http://schemas.microsoft.com/office/drawing/2014/main" id="{B7E972A2-116B-264E-BB22-B2566EF0892E}"/>
                  </a:ext>
                </a:extLst>
              </p:cNvPr>
              <p:cNvSpPr>
                <a:spLocks noChangeAspect="1"/>
              </p:cNvSpPr>
              <p:nvPr/>
            </p:nvSpPr>
            <p:spPr>
              <a:xfrm>
                <a:off x="3046869" y="2192742"/>
                <a:ext cx="288000" cy="288000"/>
              </a:xfrm>
              <a:prstGeom prst="ellipse">
                <a:avLst/>
              </a:prstGeom>
              <a:solidFill>
                <a:schemeClr val="tx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474C7E9-CB9F-ED4E-B95C-83323F7D1914}"/>
                  </a:ext>
                </a:extLst>
              </p:cNvPr>
              <p:cNvSpPr>
                <a:spLocks noChangeAspect="1"/>
              </p:cNvSpPr>
              <p:nvPr/>
            </p:nvSpPr>
            <p:spPr>
              <a:xfrm>
                <a:off x="3201602" y="2260450"/>
                <a:ext cx="84379" cy="84379"/>
              </a:xfrm>
              <a:prstGeom prst="ellipse">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 name="Group 15">
            <a:extLst>
              <a:ext uri="{FF2B5EF4-FFF2-40B4-BE49-F238E27FC236}">
                <a16:creationId xmlns:a16="http://schemas.microsoft.com/office/drawing/2014/main" id="{2AA4E98B-E166-8C40-9A52-7A9DA6587FFC}"/>
              </a:ext>
            </a:extLst>
          </p:cNvPr>
          <p:cNvGrpSpPr/>
          <p:nvPr/>
        </p:nvGrpSpPr>
        <p:grpSpPr>
          <a:xfrm>
            <a:off x="2426571" y="2565445"/>
            <a:ext cx="501493" cy="501285"/>
            <a:chOff x="2444843" y="1540121"/>
            <a:chExt cx="576000" cy="576000"/>
          </a:xfrm>
        </p:grpSpPr>
        <p:sp>
          <p:nvSpPr>
            <p:cNvPr id="17" name="Oval 16">
              <a:extLst>
                <a:ext uri="{FF2B5EF4-FFF2-40B4-BE49-F238E27FC236}">
                  <a16:creationId xmlns:a16="http://schemas.microsoft.com/office/drawing/2014/main" id="{4AA90C9F-88A3-C341-83D7-7E8C537611FF}"/>
                </a:ext>
              </a:extLst>
            </p:cNvPr>
            <p:cNvSpPr/>
            <p:nvPr/>
          </p:nvSpPr>
          <p:spPr>
            <a:xfrm>
              <a:off x="2444843" y="1540121"/>
              <a:ext cx="576000" cy="576000"/>
            </a:xfrm>
            <a:prstGeom prst="ellipse">
              <a:avLst/>
            </a:prstGeom>
            <a:solidFill>
              <a:schemeClr val="bg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3B1CEABC-55D9-3447-BAD6-A7153D9242CB}"/>
                </a:ext>
              </a:extLst>
            </p:cNvPr>
            <p:cNvGrpSpPr/>
            <p:nvPr/>
          </p:nvGrpSpPr>
          <p:grpSpPr>
            <a:xfrm>
              <a:off x="2627632" y="1662732"/>
              <a:ext cx="288000" cy="288000"/>
              <a:chOff x="3046869" y="2192742"/>
              <a:chExt cx="288000" cy="288000"/>
            </a:xfrm>
          </p:grpSpPr>
          <p:sp>
            <p:nvSpPr>
              <p:cNvPr id="19" name="Oval 18">
                <a:extLst>
                  <a:ext uri="{FF2B5EF4-FFF2-40B4-BE49-F238E27FC236}">
                    <a16:creationId xmlns:a16="http://schemas.microsoft.com/office/drawing/2014/main" id="{F1C6D8A4-092F-C84D-BCC2-9660E666FDE3}"/>
                  </a:ext>
                </a:extLst>
              </p:cNvPr>
              <p:cNvSpPr>
                <a:spLocks noChangeAspect="1"/>
              </p:cNvSpPr>
              <p:nvPr/>
            </p:nvSpPr>
            <p:spPr>
              <a:xfrm>
                <a:off x="3046869" y="2192742"/>
                <a:ext cx="288000" cy="288000"/>
              </a:xfrm>
              <a:prstGeom prst="ellipse">
                <a:avLst/>
              </a:prstGeom>
              <a:solidFill>
                <a:schemeClr val="tx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C830FE8-9EDD-9E4E-AED1-846812230CD8}"/>
                  </a:ext>
                </a:extLst>
              </p:cNvPr>
              <p:cNvSpPr>
                <a:spLocks noChangeAspect="1"/>
              </p:cNvSpPr>
              <p:nvPr/>
            </p:nvSpPr>
            <p:spPr>
              <a:xfrm>
                <a:off x="3201602" y="2260450"/>
                <a:ext cx="84379" cy="84379"/>
              </a:xfrm>
              <a:prstGeom prst="ellipse">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5" name="Freeform 34">
            <a:extLst>
              <a:ext uri="{FF2B5EF4-FFF2-40B4-BE49-F238E27FC236}">
                <a16:creationId xmlns:a16="http://schemas.microsoft.com/office/drawing/2014/main" id="{419DEEC1-83D7-4C45-B813-91545B3AF2DB}"/>
              </a:ext>
            </a:extLst>
          </p:cNvPr>
          <p:cNvSpPr>
            <a:spLocks noChangeAspect="1"/>
          </p:cNvSpPr>
          <p:nvPr/>
        </p:nvSpPr>
        <p:spPr>
          <a:xfrm rot="2617820">
            <a:off x="9178157" y="2192618"/>
            <a:ext cx="2509133" cy="2520000"/>
          </a:xfrm>
          <a:custGeom>
            <a:avLst/>
            <a:gdLst>
              <a:gd name="connsiteX0" fmla="*/ 225318 w 2928927"/>
              <a:gd name="connsiteY0" fmla="*/ 747882 h 2941614"/>
              <a:gd name="connsiteX1" fmla="*/ 11958 w 2928927"/>
              <a:gd name="connsiteY1" fmla="*/ 1288902 h 2941614"/>
              <a:gd name="connsiteX2" fmla="*/ 42438 w 2928927"/>
              <a:gd name="connsiteY2" fmla="*/ 1715622 h 2941614"/>
              <a:gd name="connsiteX3" fmla="*/ 171978 w 2928927"/>
              <a:gd name="connsiteY3" fmla="*/ 2149962 h 2941614"/>
              <a:gd name="connsiteX4" fmla="*/ 446298 w 2928927"/>
              <a:gd name="connsiteY4" fmla="*/ 2515722 h 2941614"/>
              <a:gd name="connsiteX5" fmla="*/ 857778 w 2928927"/>
              <a:gd name="connsiteY5" fmla="*/ 2812902 h 2941614"/>
              <a:gd name="connsiteX6" fmla="*/ 1337838 w 2928927"/>
              <a:gd name="connsiteY6" fmla="*/ 2934822 h 2941614"/>
              <a:gd name="connsiteX7" fmla="*/ 1916958 w 2928927"/>
              <a:gd name="connsiteY7" fmla="*/ 2889102 h 2941614"/>
              <a:gd name="connsiteX8" fmla="*/ 2435118 w 2928927"/>
              <a:gd name="connsiteY8" fmla="*/ 2584302 h 2941614"/>
              <a:gd name="connsiteX9" fmla="*/ 2747538 w 2928927"/>
              <a:gd name="connsiteY9" fmla="*/ 2180442 h 2941614"/>
              <a:gd name="connsiteX10" fmla="*/ 2922798 w 2928927"/>
              <a:gd name="connsiteY10" fmla="*/ 1593702 h 2941614"/>
              <a:gd name="connsiteX11" fmla="*/ 2854218 w 2928927"/>
              <a:gd name="connsiteY11" fmla="*/ 1014582 h 2941614"/>
              <a:gd name="connsiteX12" fmla="*/ 2526558 w 2928927"/>
              <a:gd name="connsiteY12" fmla="*/ 481182 h 2941614"/>
              <a:gd name="connsiteX13" fmla="*/ 2107458 w 2928927"/>
              <a:gd name="connsiteY13" fmla="*/ 168762 h 2941614"/>
              <a:gd name="connsiteX14" fmla="*/ 1566438 w 2928927"/>
              <a:gd name="connsiteY14" fmla="*/ 1122 h 2941614"/>
              <a:gd name="connsiteX15" fmla="*/ 979698 w 2928927"/>
              <a:gd name="connsiteY15" fmla="*/ 115422 h 2941614"/>
              <a:gd name="connsiteX16" fmla="*/ 446298 w 2928927"/>
              <a:gd name="connsiteY16" fmla="*/ 473562 h 2941614"/>
              <a:gd name="connsiteX17" fmla="*/ 225318 w 2928927"/>
              <a:gd name="connsiteY17" fmla="*/ 747882 h 2941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28927" h="2941614">
                <a:moveTo>
                  <a:pt x="225318" y="747882"/>
                </a:moveTo>
                <a:cubicBezTo>
                  <a:pt x="152928" y="883772"/>
                  <a:pt x="42438" y="1127612"/>
                  <a:pt x="11958" y="1288902"/>
                </a:cubicBezTo>
                <a:cubicBezTo>
                  <a:pt x="-18522" y="1450192"/>
                  <a:pt x="15768" y="1572112"/>
                  <a:pt x="42438" y="1715622"/>
                </a:cubicBezTo>
                <a:cubicBezTo>
                  <a:pt x="69108" y="1859132"/>
                  <a:pt x="104668" y="2016612"/>
                  <a:pt x="171978" y="2149962"/>
                </a:cubicBezTo>
                <a:cubicBezTo>
                  <a:pt x="239288" y="2283312"/>
                  <a:pt x="331998" y="2405232"/>
                  <a:pt x="446298" y="2515722"/>
                </a:cubicBezTo>
                <a:cubicBezTo>
                  <a:pt x="560598" y="2626212"/>
                  <a:pt x="709188" y="2743052"/>
                  <a:pt x="857778" y="2812902"/>
                </a:cubicBezTo>
                <a:cubicBezTo>
                  <a:pt x="1006368" y="2882752"/>
                  <a:pt x="1161308" y="2922122"/>
                  <a:pt x="1337838" y="2934822"/>
                </a:cubicBezTo>
                <a:cubicBezTo>
                  <a:pt x="1514368" y="2947522"/>
                  <a:pt x="1734078" y="2947522"/>
                  <a:pt x="1916958" y="2889102"/>
                </a:cubicBezTo>
                <a:cubicBezTo>
                  <a:pt x="2099838" y="2830682"/>
                  <a:pt x="2296688" y="2702412"/>
                  <a:pt x="2435118" y="2584302"/>
                </a:cubicBezTo>
                <a:cubicBezTo>
                  <a:pt x="2573548" y="2466192"/>
                  <a:pt x="2666258" y="2345542"/>
                  <a:pt x="2747538" y="2180442"/>
                </a:cubicBezTo>
                <a:cubicBezTo>
                  <a:pt x="2828818" y="2015342"/>
                  <a:pt x="2905018" y="1788012"/>
                  <a:pt x="2922798" y="1593702"/>
                </a:cubicBezTo>
                <a:cubicBezTo>
                  <a:pt x="2940578" y="1399392"/>
                  <a:pt x="2920258" y="1200002"/>
                  <a:pt x="2854218" y="1014582"/>
                </a:cubicBezTo>
                <a:cubicBezTo>
                  <a:pt x="2788178" y="829162"/>
                  <a:pt x="2651018" y="622152"/>
                  <a:pt x="2526558" y="481182"/>
                </a:cubicBezTo>
                <a:cubicBezTo>
                  <a:pt x="2402098" y="340212"/>
                  <a:pt x="2267478" y="248772"/>
                  <a:pt x="2107458" y="168762"/>
                </a:cubicBezTo>
                <a:cubicBezTo>
                  <a:pt x="1947438" y="88752"/>
                  <a:pt x="1754398" y="10012"/>
                  <a:pt x="1566438" y="1122"/>
                </a:cubicBezTo>
                <a:cubicBezTo>
                  <a:pt x="1378478" y="-7768"/>
                  <a:pt x="1166388" y="36682"/>
                  <a:pt x="979698" y="115422"/>
                </a:cubicBezTo>
                <a:cubicBezTo>
                  <a:pt x="793008" y="194162"/>
                  <a:pt x="569488" y="365612"/>
                  <a:pt x="446298" y="473562"/>
                </a:cubicBezTo>
                <a:cubicBezTo>
                  <a:pt x="323108" y="581512"/>
                  <a:pt x="297708" y="611992"/>
                  <a:pt x="225318" y="747882"/>
                </a:cubicBezTo>
                <a:close/>
              </a:path>
            </a:pathLst>
          </a:cu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508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35">
            <a:extLst>
              <a:ext uri="{FF2B5EF4-FFF2-40B4-BE49-F238E27FC236}">
                <a16:creationId xmlns:a16="http://schemas.microsoft.com/office/drawing/2014/main" id="{7B6B120B-523B-C14E-B34C-457EAB97B64C}"/>
              </a:ext>
            </a:extLst>
          </p:cNvPr>
          <p:cNvSpPr/>
          <p:nvPr/>
        </p:nvSpPr>
        <p:spPr>
          <a:xfrm rot="2617820">
            <a:off x="9147252" y="2954872"/>
            <a:ext cx="2499755" cy="1080521"/>
          </a:xfrm>
          <a:custGeom>
            <a:avLst/>
            <a:gdLst>
              <a:gd name="connsiteX0" fmla="*/ 5577 w 2917981"/>
              <a:gd name="connsiteY0" fmla="*/ 643236 h 1261300"/>
              <a:gd name="connsiteX1" fmla="*/ 150357 w 2917981"/>
              <a:gd name="connsiteY1" fmla="*/ 887076 h 1261300"/>
              <a:gd name="connsiteX2" fmla="*/ 447537 w 2917981"/>
              <a:gd name="connsiteY2" fmla="*/ 1077576 h 1261300"/>
              <a:gd name="connsiteX3" fmla="*/ 881877 w 2917981"/>
              <a:gd name="connsiteY3" fmla="*/ 1207116 h 1261300"/>
              <a:gd name="connsiteX4" fmla="*/ 1316217 w 2917981"/>
              <a:gd name="connsiteY4" fmla="*/ 1260456 h 1261300"/>
              <a:gd name="connsiteX5" fmla="*/ 1803897 w 2917981"/>
              <a:gd name="connsiteY5" fmla="*/ 1229976 h 1261300"/>
              <a:gd name="connsiteX6" fmla="*/ 2314437 w 2917981"/>
              <a:gd name="connsiteY6" fmla="*/ 1108056 h 1261300"/>
              <a:gd name="connsiteX7" fmla="*/ 2718297 w 2917981"/>
              <a:gd name="connsiteY7" fmla="*/ 917556 h 1261300"/>
              <a:gd name="connsiteX8" fmla="*/ 2893557 w 2917981"/>
              <a:gd name="connsiteY8" fmla="*/ 719436 h 1261300"/>
              <a:gd name="connsiteX9" fmla="*/ 2901177 w 2917981"/>
              <a:gd name="connsiteY9" fmla="*/ 521316 h 1261300"/>
              <a:gd name="connsiteX10" fmla="*/ 2748777 w 2917981"/>
              <a:gd name="connsiteY10" fmla="*/ 338436 h 1261300"/>
              <a:gd name="connsiteX11" fmla="*/ 2466837 w 2917981"/>
              <a:gd name="connsiteY11" fmla="*/ 178416 h 1261300"/>
              <a:gd name="connsiteX12" fmla="*/ 2078217 w 2917981"/>
              <a:gd name="connsiteY12" fmla="*/ 56496 h 1261300"/>
              <a:gd name="connsiteX13" fmla="*/ 1605777 w 2917981"/>
              <a:gd name="connsiteY13" fmla="*/ 3156 h 1261300"/>
              <a:gd name="connsiteX14" fmla="*/ 1179057 w 2917981"/>
              <a:gd name="connsiteY14" fmla="*/ 10776 h 1261300"/>
              <a:gd name="connsiteX15" fmla="*/ 805677 w 2917981"/>
              <a:gd name="connsiteY15" fmla="*/ 48876 h 1261300"/>
              <a:gd name="connsiteX16" fmla="*/ 264657 w 2917981"/>
              <a:gd name="connsiteY16" fmla="*/ 246996 h 1261300"/>
              <a:gd name="connsiteX17" fmla="*/ 51297 w 2917981"/>
              <a:gd name="connsiteY17" fmla="*/ 445116 h 1261300"/>
              <a:gd name="connsiteX18" fmla="*/ 5577 w 2917981"/>
              <a:gd name="connsiteY18" fmla="*/ 643236 h 126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17981" h="1261300">
                <a:moveTo>
                  <a:pt x="5577" y="643236"/>
                </a:moveTo>
                <a:cubicBezTo>
                  <a:pt x="22087" y="716896"/>
                  <a:pt x="76697" y="814686"/>
                  <a:pt x="150357" y="887076"/>
                </a:cubicBezTo>
                <a:cubicBezTo>
                  <a:pt x="224017" y="959466"/>
                  <a:pt x="325617" y="1024236"/>
                  <a:pt x="447537" y="1077576"/>
                </a:cubicBezTo>
                <a:cubicBezTo>
                  <a:pt x="569457" y="1130916"/>
                  <a:pt x="737097" y="1176636"/>
                  <a:pt x="881877" y="1207116"/>
                </a:cubicBezTo>
                <a:cubicBezTo>
                  <a:pt x="1026657" y="1237596"/>
                  <a:pt x="1162547" y="1256646"/>
                  <a:pt x="1316217" y="1260456"/>
                </a:cubicBezTo>
                <a:cubicBezTo>
                  <a:pt x="1469887" y="1264266"/>
                  <a:pt x="1637527" y="1255376"/>
                  <a:pt x="1803897" y="1229976"/>
                </a:cubicBezTo>
                <a:cubicBezTo>
                  <a:pt x="1970267" y="1204576"/>
                  <a:pt x="2162037" y="1160126"/>
                  <a:pt x="2314437" y="1108056"/>
                </a:cubicBezTo>
                <a:cubicBezTo>
                  <a:pt x="2466837" y="1055986"/>
                  <a:pt x="2621777" y="982326"/>
                  <a:pt x="2718297" y="917556"/>
                </a:cubicBezTo>
                <a:cubicBezTo>
                  <a:pt x="2814817" y="852786"/>
                  <a:pt x="2863077" y="785476"/>
                  <a:pt x="2893557" y="719436"/>
                </a:cubicBezTo>
                <a:cubicBezTo>
                  <a:pt x="2924037" y="653396"/>
                  <a:pt x="2925307" y="584816"/>
                  <a:pt x="2901177" y="521316"/>
                </a:cubicBezTo>
                <a:cubicBezTo>
                  <a:pt x="2877047" y="457816"/>
                  <a:pt x="2821167" y="395586"/>
                  <a:pt x="2748777" y="338436"/>
                </a:cubicBezTo>
                <a:cubicBezTo>
                  <a:pt x="2676387" y="281286"/>
                  <a:pt x="2578597" y="225406"/>
                  <a:pt x="2466837" y="178416"/>
                </a:cubicBezTo>
                <a:cubicBezTo>
                  <a:pt x="2355077" y="131426"/>
                  <a:pt x="2221727" y="85706"/>
                  <a:pt x="2078217" y="56496"/>
                </a:cubicBezTo>
                <a:cubicBezTo>
                  <a:pt x="1934707" y="27286"/>
                  <a:pt x="1755637" y="10776"/>
                  <a:pt x="1605777" y="3156"/>
                </a:cubicBezTo>
                <a:cubicBezTo>
                  <a:pt x="1455917" y="-4464"/>
                  <a:pt x="1312407" y="3156"/>
                  <a:pt x="1179057" y="10776"/>
                </a:cubicBezTo>
                <a:cubicBezTo>
                  <a:pt x="1045707" y="18396"/>
                  <a:pt x="958077" y="9506"/>
                  <a:pt x="805677" y="48876"/>
                </a:cubicBezTo>
                <a:cubicBezTo>
                  <a:pt x="653277" y="88246"/>
                  <a:pt x="390387" y="180956"/>
                  <a:pt x="264657" y="246996"/>
                </a:cubicBezTo>
                <a:cubicBezTo>
                  <a:pt x="138927" y="313036"/>
                  <a:pt x="91937" y="385426"/>
                  <a:pt x="51297" y="445116"/>
                </a:cubicBezTo>
                <a:cubicBezTo>
                  <a:pt x="10657" y="504806"/>
                  <a:pt x="-10933" y="569576"/>
                  <a:pt x="5577" y="643236"/>
                </a:cubicBezTo>
                <a:close/>
              </a:path>
            </a:pathLst>
          </a:cu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1" name="Group 40">
            <a:extLst>
              <a:ext uri="{FF2B5EF4-FFF2-40B4-BE49-F238E27FC236}">
                <a16:creationId xmlns:a16="http://schemas.microsoft.com/office/drawing/2014/main" id="{FCF0EDAE-AE81-9448-BC1B-BDDF1A7F3A40}"/>
              </a:ext>
            </a:extLst>
          </p:cNvPr>
          <p:cNvGrpSpPr/>
          <p:nvPr/>
        </p:nvGrpSpPr>
        <p:grpSpPr>
          <a:xfrm rot="20335952">
            <a:off x="10275424" y="2606731"/>
            <a:ext cx="528756" cy="776814"/>
            <a:chOff x="5888467" y="2062651"/>
            <a:chExt cx="617220" cy="906780"/>
          </a:xfrm>
        </p:grpSpPr>
        <p:sp>
          <p:nvSpPr>
            <p:cNvPr id="37" name="Freeform 36">
              <a:extLst>
                <a:ext uri="{FF2B5EF4-FFF2-40B4-BE49-F238E27FC236}">
                  <a16:creationId xmlns:a16="http://schemas.microsoft.com/office/drawing/2014/main" id="{5DE15A35-83F5-BE41-AF52-AB43DE98999B}"/>
                </a:ext>
              </a:extLst>
            </p:cNvPr>
            <p:cNvSpPr/>
            <p:nvPr/>
          </p:nvSpPr>
          <p:spPr>
            <a:xfrm>
              <a:off x="5888467" y="2062651"/>
              <a:ext cx="617220" cy="906780"/>
            </a:xfrm>
            <a:custGeom>
              <a:avLst/>
              <a:gdLst>
                <a:gd name="connsiteX0" fmla="*/ 0 w 617220"/>
                <a:gd name="connsiteY0" fmla="*/ 906780 h 906780"/>
                <a:gd name="connsiteX1" fmla="*/ 53340 w 617220"/>
                <a:gd name="connsiteY1" fmla="*/ 807720 h 906780"/>
                <a:gd name="connsiteX2" fmla="*/ 68580 w 617220"/>
                <a:gd name="connsiteY2" fmla="*/ 784860 h 906780"/>
                <a:gd name="connsiteX3" fmla="*/ 83820 w 617220"/>
                <a:gd name="connsiteY3" fmla="*/ 762000 h 906780"/>
                <a:gd name="connsiteX4" fmla="*/ 121920 w 617220"/>
                <a:gd name="connsiteY4" fmla="*/ 693420 h 906780"/>
                <a:gd name="connsiteX5" fmla="*/ 137160 w 617220"/>
                <a:gd name="connsiteY5" fmla="*/ 662940 h 906780"/>
                <a:gd name="connsiteX6" fmla="*/ 175260 w 617220"/>
                <a:gd name="connsiteY6" fmla="*/ 609600 h 906780"/>
                <a:gd name="connsiteX7" fmla="*/ 205740 w 617220"/>
                <a:gd name="connsiteY7" fmla="*/ 563880 h 906780"/>
                <a:gd name="connsiteX8" fmla="*/ 220980 w 617220"/>
                <a:gd name="connsiteY8" fmla="*/ 541020 h 906780"/>
                <a:gd name="connsiteX9" fmla="*/ 236220 w 617220"/>
                <a:gd name="connsiteY9" fmla="*/ 518160 h 906780"/>
                <a:gd name="connsiteX10" fmla="*/ 259080 w 617220"/>
                <a:gd name="connsiteY10" fmla="*/ 495300 h 906780"/>
                <a:gd name="connsiteX11" fmla="*/ 289560 w 617220"/>
                <a:gd name="connsiteY11" fmla="*/ 449580 h 906780"/>
                <a:gd name="connsiteX12" fmla="*/ 335280 w 617220"/>
                <a:gd name="connsiteY12" fmla="*/ 381000 h 906780"/>
                <a:gd name="connsiteX13" fmla="*/ 350520 w 617220"/>
                <a:gd name="connsiteY13" fmla="*/ 358140 h 906780"/>
                <a:gd name="connsiteX14" fmla="*/ 365760 w 617220"/>
                <a:gd name="connsiteY14" fmla="*/ 335280 h 906780"/>
                <a:gd name="connsiteX15" fmla="*/ 388620 w 617220"/>
                <a:gd name="connsiteY15" fmla="*/ 320040 h 906780"/>
                <a:gd name="connsiteX16" fmla="*/ 441960 w 617220"/>
                <a:gd name="connsiteY16" fmla="*/ 251460 h 906780"/>
                <a:gd name="connsiteX17" fmla="*/ 464820 w 617220"/>
                <a:gd name="connsiteY17" fmla="*/ 205740 h 906780"/>
                <a:gd name="connsiteX18" fmla="*/ 487680 w 617220"/>
                <a:gd name="connsiteY18" fmla="*/ 182880 h 906780"/>
                <a:gd name="connsiteX19" fmla="*/ 525780 w 617220"/>
                <a:gd name="connsiteY19" fmla="*/ 137160 h 906780"/>
                <a:gd name="connsiteX20" fmla="*/ 533400 w 617220"/>
                <a:gd name="connsiteY20" fmla="*/ 114300 h 906780"/>
                <a:gd name="connsiteX21" fmla="*/ 579120 w 617220"/>
                <a:gd name="connsiteY21" fmla="*/ 45720 h 906780"/>
                <a:gd name="connsiteX22" fmla="*/ 594360 w 617220"/>
                <a:gd name="connsiteY22" fmla="*/ 22860 h 906780"/>
                <a:gd name="connsiteX23" fmla="*/ 609600 w 617220"/>
                <a:gd name="connsiteY23" fmla="*/ 0 h 906780"/>
                <a:gd name="connsiteX24" fmla="*/ 617220 w 617220"/>
                <a:gd name="connsiteY24" fmla="*/ 22860 h 906780"/>
                <a:gd name="connsiteX25" fmla="*/ 609600 w 617220"/>
                <a:gd name="connsiteY25" fmla="*/ 45720 h 906780"/>
                <a:gd name="connsiteX26" fmla="*/ 601980 w 617220"/>
                <a:gd name="connsiteY26" fmla="*/ 114300 h 906780"/>
                <a:gd name="connsiteX27" fmla="*/ 609600 w 617220"/>
                <a:gd name="connsiteY27" fmla="*/ 251460 h 906780"/>
                <a:gd name="connsiteX0" fmla="*/ 0 w 617220"/>
                <a:gd name="connsiteY0" fmla="*/ 906780 h 906780"/>
                <a:gd name="connsiteX1" fmla="*/ 53340 w 617220"/>
                <a:gd name="connsiteY1" fmla="*/ 807720 h 906780"/>
                <a:gd name="connsiteX2" fmla="*/ 68580 w 617220"/>
                <a:gd name="connsiteY2" fmla="*/ 784860 h 906780"/>
                <a:gd name="connsiteX3" fmla="*/ 83820 w 617220"/>
                <a:gd name="connsiteY3" fmla="*/ 762000 h 906780"/>
                <a:gd name="connsiteX4" fmla="*/ 121920 w 617220"/>
                <a:gd name="connsiteY4" fmla="*/ 693420 h 906780"/>
                <a:gd name="connsiteX5" fmla="*/ 137160 w 617220"/>
                <a:gd name="connsiteY5" fmla="*/ 662940 h 906780"/>
                <a:gd name="connsiteX6" fmla="*/ 175260 w 617220"/>
                <a:gd name="connsiteY6" fmla="*/ 609600 h 906780"/>
                <a:gd name="connsiteX7" fmla="*/ 205740 w 617220"/>
                <a:gd name="connsiteY7" fmla="*/ 563880 h 906780"/>
                <a:gd name="connsiteX8" fmla="*/ 220980 w 617220"/>
                <a:gd name="connsiteY8" fmla="*/ 541020 h 906780"/>
                <a:gd name="connsiteX9" fmla="*/ 236220 w 617220"/>
                <a:gd name="connsiteY9" fmla="*/ 518160 h 906780"/>
                <a:gd name="connsiteX10" fmla="*/ 259080 w 617220"/>
                <a:gd name="connsiteY10" fmla="*/ 495300 h 906780"/>
                <a:gd name="connsiteX11" fmla="*/ 289560 w 617220"/>
                <a:gd name="connsiteY11" fmla="*/ 449580 h 906780"/>
                <a:gd name="connsiteX12" fmla="*/ 335280 w 617220"/>
                <a:gd name="connsiteY12" fmla="*/ 381000 h 906780"/>
                <a:gd name="connsiteX13" fmla="*/ 350520 w 617220"/>
                <a:gd name="connsiteY13" fmla="*/ 358140 h 906780"/>
                <a:gd name="connsiteX14" fmla="*/ 365760 w 617220"/>
                <a:gd name="connsiteY14" fmla="*/ 335280 h 906780"/>
                <a:gd name="connsiteX15" fmla="*/ 388620 w 617220"/>
                <a:gd name="connsiteY15" fmla="*/ 320040 h 906780"/>
                <a:gd name="connsiteX16" fmla="*/ 441960 w 617220"/>
                <a:gd name="connsiteY16" fmla="*/ 251460 h 906780"/>
                <a:gd name="connsiteX17" fmla="*/ 464820 w 617220"/>
                <a:gd name="connsiteY17" fmla="*/ 205740 h 906780"/>
                <a:gd name="connsiteX18" fmla="*/ 487680 w 617220"/>
                <a:gd name="connsiteY18" fmla="*/ 182880 h 906780"/>
                <a:gd name="connsiteX19" fmla="*/ 525780 w 617220"/>
                <a:gd name="connsiteY19" fmla="*/ 137160 h 906780"/>
                <a:gd name="connsiteX20" fmla="*/ 533400 w 617220"/>
                <a:gd name="connsiteY20" fmla="*/ 114300 h 906780"/>
                <a:gd name="connsiteX21" fmla="*/ 579120 w 617220"/>
                <a:gd name="connsiteY21" fmla="*/ 45720 h 906780"/>
                <a:gd name="connsiteX22" fmla="*/ 594360 w 617220"/>
                <a:gd name="connsiteY22" fmla="*/ 22860 h 906780"/>
                <a:gd name="connsiteX23" fmla="*/ 609600 w 617220"/>
                <a:gd name="connsiteY23" fmla="*/ 0 h 906780"/>
                <a:gd name="connsiteX24" fmla="*/ 617220 w 617220"/>
                <a:gd name="connsiteY24" fmla="*/ 22860 h 906780"/>
                <a:gd name="connsiteX25" fmla="*/ 609600 w 617220"/>
                <a:gd name="connsiteY25" fmla="*/ 45720 h 906780"/>
                <a:gd name="connsiteX26" fmla="*/ 601980 w 617220"/>
                <a:gd name="connsiteY26" fmla="*/ 114300 h 906780"/>
                <a:gd name="connsiteX27" fmla="*/ 609600 w 617220"/>
                <a:gd name="connsiteY27" fmla="*/ 251460 h 90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17220" h="906780">
                  <a:moveTo>
                    <a:pt x="0" y="906780"/>
                  </a:moveTo>
                  <a:cubicBezTo>
                    <a:pt x="30075" y="836605"/>
                    <a:pt x="12130" y="869535"/>
                    <a:pt x="53340" y="807720"/>
                  </a:cubicBezTo>
                  <a:lnTo>
                    <a:pt x="68580" y="784860"/>
                  </a:lnTo>
                  <a:cubicBezTo>
                    <a:pt x="73660" y="777240"/>
                    <a:pt x="80924" y="770688"/>
                    <a:pt x="83820" y="762000"/>
                  </a:cubicBezTo>
                  <a:cubicBezTo>
                    <a:pt x="104892" y="698783"/>
                    <a:pt x="69517" y="798226"/>
                    <a:pt x="121920" y="693420"/>
                  </a:cubicBezTo>
                  <a:cubicBezTo>
                    <a:pt x="127000" y="683260"/>
                    <a:pt x="131524" y="672803"/>
                    <a:pt x="137160" y="662940"/>
                  </a:cubicBezTo>
                  <a:cubicBezTo>
                    <a:pt x="148171" y="643672"/>
                    <a:pt x="162540" y="627772"/>
                    <a:pt x="175260" y="609600"/>
                  </a:cubicBezTo>
                  <a:cubicBezTo>
                    <a:pt x="185764" y="594595"/>
                    <a:pt x="195580" y="579120"/>
                    <a:pt x="205740" y="563880"/>
                  </a:cubicBezTo>
                  <a:lnTo>
                    <a:pt x="220980" y="541020"/>
                  </a:lnTo>
                  <a:cubicBezTo>
                    <a:pt x="226060" y="533400"/>
                    <a:pt x="229744" y="524636"/>
                    <a:pt x="236220" y="518160"/>
                  </a:cubicBezTo>
                  <a:cubicBezTo>
                    <a:pt x="243840" y="510540"/>
                    <a:pt x="252464" y="503806"/>
                    <a:pt x="259080" y="495300"/>
                  </a:cubicBezTo>
                  <a:cubicBezTo>
                    <a:pt x="270325" y="480842"/>
                    <a:pt x="279400" y="464820"/>
                    <a:pt x="289560" y="449580"/>
                  </a:cubicBezTo>
                  <a:lnTo>
                    <a:pt x="335280" y="381000"/>
                  </a:lnTo>
                  <a:lnTo>
                    <a:pt x="350520" y="358140"/>
                  </a:lnTo>
                  <a:cubicBezTo>
                    <a:pt x="355600" y="350520"/>
                    <a:pt x="358140" y="340360"/>
                    <a:pt x="365760" y="335280"/>
                  </a:cubicBezTo>
                  <a:lnTo>
                    <a:pt x="388620" y="320040"/>
                  </a:lnTo>
                  <a:cubicBezTo>
                    <a:pt x="425078" y="265354"/>
                    <a:pt x="406148" y="287272"/>
                    <a:pt x="441960" y="251460"/>
                  </a:cubicBezTo>
                  <a:cubicBezTo>
                    <a:pt x="449597" y="228549"/>
                    <a:pt x="448407" y="225435"/>
                    <a:pt x="464820" y="205740"/>
                  </a:cubicBezTo>
                  <a:cubicBezTo>
                    <a:pt x="471719" y="197461"/>
                    <a:pt x="480781" y="191159"/>
                    <a:pt x="487680" y="182880"/>
                  </a:cubicBezTo>
                  <a:cubicBezTo>
                    <a:pt x="540724" y="119227"/>
                    <a:pt x="458994" y="203946"/>
                    <a:pt x="525780" y="137160"/>
                  </a:cubicBezTo>
                  <a:cubicBezTo>
                    <a:pt x="528320" y="129540"/>
                    <a:pt x="529499" y="121321"/>
                    <a:pt x="533400" y="114300"/>
                  </a:cubicBezTo>
                  <a:lnTo>
                    <a:pt x="579120" y="45720"/>
                  </a:lnTo>
                  <a:lnTo>
                    <a:pt x="594360" y="22860"/>
                  </a:lnTo>
                  <a:cubicBezTo>
                    <a:pt x="599440" y="15240"/>
                    <a:pt x="605790" y="0"/>
                    <a:pt x="609600" y="0"/>
                  </a:cubicBezTo>
                  <a:cubicBezTo>
                    <a:pt x="613410" y="0"/>
                    <a:pt x="617220" y="15240"/>
                    <a:pt x="617220" y="22860"/>
                  </a:cubicBezTo>
                  <a:cubicBezTo>
                    <a:pt x="617220" y="30892"/>
                    <a:pt x="610920" y="37797"/>
                    <a:pt x="609600" y="45720"/>
                  </a:cubicBezTo>
                  <a:cubicBezTo>
                    <a:pt x="605819" y="68408"/>
                    <a:pt x="604520" y="91440"/>
                    <a:pt x="601980" y="114300"/>
                  </a:cubicBezTo>
                  <a:cubicBezTo>
                    <a:pt x="609917" y="241290"/>
                    <a:pt x="609600" y="195501"/>
                    <a:pt x="609600" y="251460"/>
                  </a:cubicBezTo>
                </a:path>
              </a:pathLst>
            </a:custGeom>
            <a:noFill/>
            <a:ln w="76200" cap="rn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a:extLst>
                <a:ext uri="{FF2B5EF4-FFF2-40B4-BE49-F238E27FC236}">
                  <a16:creationId xmlns:a16="http://schemas.microsoft.com/office/drawing/2014/main" id="{98CDA3C6-25FD-2E43-8DCF-CE9BF1EAA2AC}"/>
                </a:ext>
              </a:extLst>
            </p:cNvPr>
            <p:cNvSpPr/>
            <p:nvPr/>
          </p:nvSpPr>
          <p:spPr>
            <a:xfrm rot="20580935">
              <a:off x="6250814" y="2105242"/>
              <a:ext cx="253729" cy="45719"/>
            </a:xfrm>
            <a:custGeom>
              <a:avLst/>
              <a:gdLst>
                <a:gd name="connsiteX0" fmla="*/ 266700 w 266700"/>
                <a:gd name="connsiteY0" fmla="*/ 0 h 99060"/>
                <a:gd name="connsiteX1" fmla="*/ 152400 w 266700"/>
                <a:gd name="connsiteY1" fmla="*/ 15240 h 99060"/>
                <a:gd name="connsiteX2" fmla="*/ 106680 w 266700"/>
                <a:gd name="connsiteY2" fmla="*/ 30480 h 99060"/>
                <a:gd name="connsiteX3" fmla="*/ 83820 w 266700"/>
                <a:gd name="connsiteY3" fmla="*/ 38100 h 99060"/>
                <a:gd name="connsiteX4" fmla="*/ 22860 w 266700"/>
                <a:gd name="connsiteY4" fmla="*/ 83820 h 99060"/>
                <a:gd name="connsiteX5" fmla="*/ 0 w 266700"/>
                <a:gd name="connsiteY5" fmla="*/ 99060 h 99060"/>
                <a:gd name="connsiteX0" fmla="*/ 266700 w 266700"/>
                <a:gd name="connsiteY0" fmla="*/ 0 h 99060"/>
                <a:gd name="connsiteX1" fmla="*/ 152400 w 266700"/>
                <a:gd name="connsiteY1" fmla="*/ 15240 h 99060"/>
                <a:gd name="connsiteX2" fmla="*/ 106680 w 266700"/>
                <a:gd name="connsiteY2" fmla="*/ 30480 h 99060"/>
                <a:gd name="connsiteX3" fmla="*/ 100032 w 266700"/>
                <a:gd name="connsiteY3" fmla="*/ 80253 h 99060"/>
                <a:gd name="connsiteX4" fmla="*/ 22860 w 266700"/>
                <a:gd name="connsiteY4" fmla="*/ 83820 h 99060"/>
                <a:gd name="connsiteX5" fmla="*/ 0 w 266700"/>
                <a:gd name="connsiteY5" fmla="*/ 99060 h 99060"/>
                <a:gd name="connsiteX0" fmla="*/ 266700 w 266700"/>
                <a:gd name="connsiteY0" fmla="*/ 0 h 99060"/>
                <a:gd name="connsiteX1" fmla="*/ 152400 w 266700"/>
                <a:gd name="connsiteY1" fmla="*/ 15240 h 99060"/>
                <a:gd name="connsiteX2" fmla="*/ 106680 w 266700"/>
                <a:gd name="connsiteY2" fmla="*/ 30480 h 99060"/>
                <a:gd name="connsiteX3" fmla="*/ 22860 w 266700"/>
                <a:gd name="connsiteY3" fmla="*/ 83820 h 99060"/>
                <a:gd name="connsiteX4" fmla="*/ 0 w 266700"/>
                <a:gd name="connsiteY4" fmla="*/ 99060 h 99060"/>
                <a:gd name="connsiteX0" fmla="*/ 266700 w 266700"/>
                <a:gd name="connsiteY0" fmla="*/ 0 h 99060"/>
                <a:gd name="connsiteX1" fmla="*/ 152400 w 266700"/>
                <a:gd name="connsiteY1" fmla="*/ 15240 h 99060"/>
                <a:gd name="connsiteX2" fmla="*/ 22860 w 266700"/>
                <a:gd name="connsiteY2" fmla="*/ 83820 h 99060"/>
                <a:gd name="connsiteX3" fmla="*/ 0 w 266700"/>
                <a:gd name="connsiteY3" fmla="*/ 99060 h 99060"/>
                <a:gd name="connsiteX0" fmla="*/ 266700 w 266700"/>
                <a:gd name="connsiteY0" fmla="*/ 0 h 99060"/>
                <a:gd name="connsiteX1" fmla="*/ 145915 w 266700"/>
                <a:gd name="connsiteY1" fmla="*/ 47665 h 99060"/>
                <a:gd name="connsiteX2" fmla="*/ 22860 w 266700"/>
                <a:gd name="connsiteY2" fmla="*/ 83820 h 99060"/>
                <a:gd name="connsiteX3" fmla="*/ 0 w 266700"/>
                <a:gd name="connsiteY3" fmla="*/ 99060 h 99060"/>
                <a:gd name="connsiteX0" fmla="*/ 253729 w 253729"/>
                <a:gd name="connsiteY0" fmla="*/ 0 h 73120"/>
                <a:gd name="connsiteX1" fmla="*/ 145915 w 253729"/>
                <a:gd name="connsiteY1" fmla="*/ 21725 h 73120"/>
                <a:gd name="connsiteX2" fmla="*/ 22860 w 253729"/>
                <a:gd name="connsiteY2" fmla="*/ 57880 h 73120"/>
                <a:gd name="connsiteX3" fmla="*/ 0 w 253729"/>
                <a:gd name="connsiteY3" fmla="*/ 73120 h 73120"/>
              </a:gdLst>
              <a:ahLst/>
              <a:cxnLst>
                <a:cxn ang="0">
                  <a:pos x="connsiteX0" y="connsiteY0"/>
                </a:cxn>
                <a:cxn ang="0">
                  <a:pos x="connsiteX1" y="connsiteY1"/>
                </a:cxn>
                <a:cxn ang="0">
                  <a:pos x="connsiteX2" y="connsiteY2"/>
                </a:cxn>
                <a:cxn ang="0">
                  <a:pos x="connsiteX3" y="connsiteY3"/>
                </a:cxn>
              </a:cxnLst>
              <a:rect l="l" t="t" r="r" b="b"/>
              <a:pathLst>
                <a:path w="253729" h="73120">
                  <a:moveTo>
                    <a:pt x="253729" y="0"/>
                  </a:moveTo>
                  <a:cubicBezTo>
                    <a:pt x="196441" y="5208"/>
                    <a:pt x="184393" y="12078"/>
                    <a:pt x="145915" y="21725"/>
                  </a:cubicBezTo>
                  <a:cubicBezTo>
                    <a:pt x="107437" y="31372"/>
                    <a:pt x="47179" y="49314"/>
                    <a:pt x="22860" y="57880"/>
                  </a:cubicBezTo>
                  <a:cubicBezTo>
                    <a:pt x="-1459" y="66446"/>
                    <a:pt x="7620" y="68040"/>
                    <a:pt x="0" y="73120"/>
                  </a:cubicBezTo>
                </a:path>
              </a:pathLst>
            </a:custGeom>
            <a:noFill/>
            <a:ln w="76200" cap="rn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Oval 42">
            <a:extLst>
              <a:ext uri="{FF2B5EF4-FFF2-40B4-BE49-F238E27FC236}">
                <a16:creationId xmlns:a16="http://schemas.microsoft.com/office/drawing/2014/main" id="{B6273495-D1E7-3A46-B00C-0890EC237890}"/>
              </a:ext>
            </a:extLst>
          </p:cNvPr>
          <p:cNvSpPr/>
          <p:nvPr/>
        </p:nvSpPr>
        <p:spPr>
          <a:xfrm rot="2617820">
            <a:off x="10750817" y="3074363"/>
            <a:ext cx="493444" cy="493444"/>
          </a:xfrm>
          <a:prstGeom prst="ellipse">
            <a:avLst/>
          </a:prstGeom>
          <a:solidFill>
            <a:schemeClr val="bg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2E68F33E-A268-1A48-9AD8-0B3337FC074F}"/>
              </a:ext>
            </a:extLst>
          </p:cNvPr>
          <p:cNvGrpSpPr/>
          <p:nvPr/>
        </p:nvGrpSpPr>
        <p:grpSpPr>
          <a:xfrm rot="2617820">
            <a:off x="10967315" y="3285093"/>
            <a:ext cx="246722" cy="246722"/>
            <a:chOff x="3046869" y="2192742"/>
            <a:chExt cx="288000" cy="288000"/>
          </a:xfrm>
        </p:grpSpPr>
        <p:sp>
          <p:nvSpPr>
            <p:cNvPr id="45" name="Oval 44">
              <a:extLst>
                <a:ext uri="{FF2B5EF4-FFF2-40B4-BE49-F238E27FC236}">
                  <a16:creationId xmlns:a16="http://schemas.microsoft.com/office/drawing/2014/main" id="{BC9013ED-0DDC-304E-96E0-9AD2924E2E95}"/>
                </a:ext>
              </a:extLst>
            </p:cNvPr>
            <p:cNvSpPr>
              <a:spLocks noChangeAspect="1"/>
            </p:cNvSpPr>
            <p:nvPr/>
          </p:nvSpPr>
          <p:spPr>
            <a:xfrm>
              <a:off x="3046869" y="2192742"/>
              <a:ext cx="288000" cy="288000"/>
            </a:xfrm>
            <a:prstGeom prst="ellipse">
              <a:avLst/>
            </a:prstGeom>
            <a:solidFill>
              <a:schemeClr val="tx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EFDD24B2-2C92-D049-952E-E367ECA6250F}"/>
                </a:ext>
              </a:extLst>
            </p:cNvPr>
            <p:cNvSpPr>
              <a:spLocks noChangeAspect="1"/>
            </p:cNvSpPr>
            <p:nvPr/>
          </p:nvSpPr>
          <p:spPr>
            <a:xfrm>
              <a:off x="3201602" y="2260450"/>
              <a:ext cx="84379" cy="84379"/>
            </a:xfrm>
            <a:prstGeom prst="ellipse">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Oval 47">
            <a:extLst>
              <a:ext uri="{FF2B5EF4-FFF2-40B4-BE49-F238E27FC236}">
                <a16:creationId xmlns:a16="http://schemas.microsoft.com/office/drawing/2014/main" id="{60BDCC61-F609-F64F-BFBC-B943AE593C01}"/>
              </a:ext>
            </a:extLst>
          </p:cNvPr>
          <p:cNvSpPr/>
          <p:nvPr/>
        </p:nvSpPr>
        <p:spPr>
          <a:xfrm rot="2617820">
            <a:off x="11281221" y="3514317"/>
            <a:ext cx="493444" cy="493444"/>
          </a:xfrm>
          <a:prstGeom prst="ellipse">
            <a:avLst/>
          </a:prstGeom>
          <a:solidFill>
            <a:schemeClr val="bg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82B67729-95A1-2042-9585-4F95846A8609}"/>
              </a:ext>
            </a:extLst>
          </p:cNvPr>
          <p:cNvGrpSpPr/>
          <p:nvPr/>
        </p:nvGrpSpPr>
        <p:grpSpPr>
          <a:xfrm rot="13925181">
            <a:off x="11334996" y="3568828"/>
            <a:ext cx="246722" cy="246722"/>
            <a:chOff x="3046869" y="2192742"/>
            <a:chExt cx="288000" cy="288000"/>
          </a:xfrm>
        </p:grpSpPr>
        <p:sp>
          <p:nvSpPr>
            <p:cNvPr id="50" name="Oval 49">
              <a:extLst>
                <a:ext uri="{FF2B5EF4-FFF2-40B4-BE49-F238E27FC236}">
                  <a16:creationId xmlns:a16="http://schemas.microsoft.com/office/drawing/2014/main" id="{D2E7E33C-404B-7B45-B3B0-22BB008976F8}"/>
                </a:ext>
              </a:extLst>
            </p:cNvPr>
            <p:cNvSpPr>
              <a:spLocks noChangeAspect="1"/>
            </p:cNvSpPr>
            <p:nvPr/>
          </p:nvSpPr>
          <p:spPr>
            <a:xfrm>
              <a:off x="3046869" y="2192742"/>
              <a:ext cx="288000" cy="288000"/>
            </a:xfrm>
            <a:prstGeom prst="ellipse">
              <a:avLst/>
            </a:prstGeom>
            <a:solidFill>
              <a:schemeClr val="tx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F461247D-7CF2-0E4F-8033-B73DA2FE37A8}"/>
                </a:ext>
              </a:extLst>
            </p:cNvPr>
            <p:cNvSpPr>
              <a:spLocks noChangeAspect="1"/>
            </p:cNvSpPr>
            <p:nvPr/>
          </p:nvSpPr>
          <p:spPr>
            <a:xfrm>
              <a:off x="3201602" y="2260450"/>
              <a:ext cx="84379" cy="84379"/>
            </a:xfrm>
            <a:prstGeom prst="ellipse">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Freeform 52">
            <a:extLst>
              <a:ext uri="{FF2B5EF4-FFF2-40B4-BE49-F238E27FC236}">
                <a16:creationId xmlns:a16="http://schemas.microsoft.com/office/drawing/2014/main" id="{52058403-0F6B-CC49-9223-4DDE59A14BB5}"/>
              </a:ext>
            </a:extLst>
          </p:cNvPr>
          <p:cNvSpPr/>
          <p:nvPr/>
        </p:nvSpPr>
        <p:spPr>
          <a:xfrm>
            <a:off x="3689111" y="1472674"/>
            <a:ext cx="4804865" cy="3959889"/>
          </a:xfrm>
          <a:custGeom>
            <a:avLst/>
            <a:gdLst>
              <a:gd name="connsiteX0" fmla="*/ 13252 w 4797286"/>
              <a:gd name="connsiteY0" fmla="*/ 0 h 4850295"/>
              <a:gd name="connsiteX1" fmla="*/ 2425147 w 4797286"/>
              <a:gd name="connsiteY1" fmla="*/ 0 h 4850295"/>
              <a:gd name="connsiteX2" fmla="*/ 4770782 w 4797286"/>
              <a:gd name="connsiteY2" fmla="*/ 53008 h 4850295"/>
              <a:gd name="connsiteX3" fmla="*/ 4784034 w 4797286"/>
              <a:gd name="connsiteY3" fmla="*/ 1364974 h 4850295"/>
              <a:gd name="connsiteX4" fmla="*/ 4797286 w 4797286"/>
              <a:gd name="connsiteY4" fmla="*/ 3737113 h 4850295"/>
              <a:gd name="connsiteX5" fmla="*/ 4797286 w 4797286"/>
              <a:gd name="connsiteY5" fmla="*/ 4850295 h 4850295"/>
              <a:gd name="connsiteX6" fmla="*/ 2054086 w 4797286"/>
              <a:gd name="connsiteY6" fmla="*/ 4850295 h 4850295"/>
              <a:gd name="connsiteX7" fmla="*/ 477078 w 4797286"/>
              <a:gd name="connsiteY7" fmla="*/ 4837043 h 4850295"/>
              <a:gd name="connsiteX8" fmla="*/ 0 w 4797286"/>
              <a:gd name="connsiteY8" fmla="*/ 4850295 h 4850295"/>
              <a:gd name="connsiteX9" fmla="*/ 39756 w 4797286"/>
              <a:gd name="connsiteY9" fmla="*/ 2213113 h 4850295"/>
              <a:gd name="connsiteX10" fmla="*/ 39756 w 4797286"/>
              <a:gd name="connsiteY10" fmla="*/ 848139 h 4850295"/>
              <a:gd name="connsiteX11" fmla="*/ 13252 w 4797286"/>
              <a:gd name="connsiteY11" fmla="*/ 119269 h 4850295"/>
              <a:gd name="connsiteX12" fmla="*/ 13252 w 4797286"/>
              <a:gd name="connsiteY12" fmla="*/ 0 h 4850295"/>
              <a:gd name="connsiteX0" fmla="*/ 13252 w 4797286"/>
              <a:gd name="connsiteY0" fmla="*/ 0 h 4850295"/>
              <a:gd name="connsiteX1" fmla="*/ 2425147 w 4797286"/>
              <a:gd name="connsiteY1" fmla="*/ 0 h 4850295"/>
              <a:gd name="connsiteX2" fmla="*/ 4777870 w 4797286"/>
              <a:gd name="connsiteY2" fmla="*/ 10478 h 4850295"/>
              <a:gd name="connsiteX3" fmla="*/ 4784034 w 4797286"/>
              <a:gd name="connsiteY3" fmla="*/ 1364974 h 4850295"/>
              <a:gd name="connsiteX4" fmla="*/ 4797286 w 4797286"/>
              <a:gd name="connsiteY4" fmla="*/ 3737113 h 4850295"/>
              <a:gd name="connsiteX5" fmla="*/ 4797286 w 4797286"/>
              <a:gd name="connsiteY5" fmla="*/ 4850295 h 4850295"/>
              <a:gd name="connsiteX6" fmla="*/ 2054086 w 4797286"/>
              <a:gd name="connsiteY6" fmla="*/ 4850295 h 4850295"/>
              <a:gd name="connsiteX7" fmla="*/ 477078 w 4797286"/>
              <a:gd name="connsiteY7" fmla="*/ 4837043 h 4850295"/>
              <a:gd name="connsiteX8" fmla="*/ 0 w 4797286"/>
              <a:gd name="connsiteY8" fmla="*/ 4850295 h 4850295"/>
              <a:gd name="connsiteX9" fmla="*/ 39756 w 4797286"/>
              <a:gd name="connsiteY9" fmla="*/ 2213113 h 4850295"/>
              <a:gd name="connsiteX10" fmla="*/ 39756 w 4797286"/>
              <a:gd name="connsiteY10" fmla="*/ 848139 h 4850295"/>
              <a:gd name="connsiteX11" fmla="*/ 13252 w 4797286"/>
              <a:gd name="connsiteY11" fmla="*/ 119269 h 4850295"/>
              <a:gd name="connsiteX12" fmla="*/ 13252 w 4797286"/>
              <a:gd name="connsiteY12" fmla="*/ 0 h 485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97286" h="4850295">
                <a:moveTo>
                  <a:pt x="13252" y="0"/>
                </a:moveTo>
                <a:lnTo>
                  <a:pt x="2425147" y="0"/>
                </a:lnTo>
                <a:lnTo>
                  <a:pt x="4777870" y="10478"/>
                </a:lnTo>
                <a:cubicBezTo>
                  <a:pt x="4779925" y="461977"/>
                  <a:pt x="4781979" y="913475"/>
                  <a:pt x="4784034" y="1364974"/>
                </a:cubicBezTo>
                <a:cubicBezTo>
                  <a:pt x="4788451" y="2155687"/>
                  <a:pt x="4792869" y="2946400"/>
                  <a:pt x="4797286" y="3737113"/>
                </a:cubicBezTo>
                <a:lnTo>
                  <a:pt x="4797286" y="4850295"/>
                </a:lnTo>
                <a:lnTo>
                  <a:pt x="2054086" y="4850295"/>
                </a:lnTo>
                <a:lnTo>
                  <a:pt x="477078" y="4837043"/>
                </a:lnTo>
                <a:lnTo>
                  <a:pt x="0" y="4850295"/>
                </a:lnTo>
                <a:lnTo>
                  <a:pt x="39756" y="2213113"/>
                </a:lnTo>
                <a:lnTo>
                  <a:pt x="39756" y="848139"/>
                </a:lnTo>
                <a:lnTo>
                  <a:pt x="13252" y="119269"/>
                </a:lnTo>
                <a:lnTo>
                  <a:pt x="13252" y="0"/>
                </a:lnTo>
                <a:close/>
              </a:path>
            </a:pathLst>
          </a:custGeom>
          <a:solidFill>
            <a:schemeClr val="accent4">
              <a:lumMod val="20000"/>
              <a:lumOff val="80000"/>
              <a:alpha val="4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mic Sans MS" panose="030F0902030302020204" pitchFamily="66" charset="0"/>
            </a:endParaRPr>
          </a:p>
        </p:txBody>
      </p:sp>
      <p:sp>
        <p:nvSpPr>
          <p:cNvPr id="6" name="Lightning Bolt 5">
            <a:extLst>
              <a:ext uri="{FF2B5EF4-FFF2-40B4-BE49-F238E27FC236}">
                <a16:creationId xmlns:a16="http://schemas.microsoft.com/office/drawing/2014/main" id="{FA86625D-63E5-2C43-ABBD-5CB1C92A725A}"/>
              </a:ext>
            </a:extLst>
          </p:cNvPr>
          <p:cNvSpPr/>
          <p:nvPr/>
        </p:nvSpPr>
        <p:spPr>
          <a:xfrm>
            <a:off x="4178863" y="1859535"/>
            <a:ext cx="961696" cy="912614"/>
          </a:xfrm>
          <a:prstGeom prst="lightningBol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Lightning Bolt 41">
            <a:extLst>
              <a:ext uri="{FF2B5EF4-FFF2-40B4-BE49-F238E27FC236}">
                <a16:creationId xmlns:a16="http://schemas.microsoft.com/office/drawing/2014/main" id="{1C9A4F2B-6742-2348-BAA9-0B5F3D9E8B82}"/>
              </a:ext>
            </a:extLst>
          </p:cNvPr>
          <p:cNvSpPr/>
          <p:nvPr/>
        </p:nvSpPr>
        <p:spPr>
          <a:xfrm rot="4406098">
            <a:off x="7234717" y="1819463"/>
            <a:ext cx="961696" cy="912614"/>
          </a:xfrm>
          <a:prstGeom prst="lightningBol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Lightning Bolt 46">
            <a:extLst>
              <a:ext uri="{FF2B5EF4-FFF2-40B4-BE49-F238E27FC236}">
                <a16:creationId xmlns:a16="http://schemas.microsoft.com/office/drawing/2014/main" id="{DA06995D-FFFA-B24D-9E49-095B41A9B798}"/>
              </a:ext>
            </a:extLst>
          </p:cNvPr>
          <p:cNvSpPr/>
          <p:nvPr/>
        </p:nvSpPr>
        <p:spPr>
          <a:xfrm rot="10186135">
            <a:off x="6500604" y="4188009"/>
            <a:ext cx="961696" cy="912614"/>
          </a:xfrm>
          <a:prstGeom prst="lightningBol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D2536382-B056-5F4F-B71F-AE08106F32AA}"/>
              </a:ext>
            </a:extLst>
          </p:cNvPr>
          <p:cNvSpPr txBox="1"/>
          <p:nvPr/>
        </p:nvSpPr>
        <p:spPr>
          <a:xfrm>
            <a:off x="2521265" y="445914"/>
            <a:ext cx="6518131" cy="707886"/>
          </a:xfrm>
          <a:prstGeom prst="rect">
            <a:avLst/>
          </a:prstGeom>
          <a:noFill/>
        </p:spPr>
        <p:txBody>
          <a:bodyPr wrap="none" rtlCol="0">
            <a:spAutoFit/>
          </a:bodyPr>
          <a:lstStyle/>
          <a:p>
            <a:r>
              <a:rPr lang="en-US" sz="4000" dirty="0">
                <a:latin typeface="Comic Sans MS" panose="030F0902030302020204" pitchFamily="66" charset="0"/>
              </a:rPr>
              <a:t>Quantum Error Correction</a:t>
            </a:r>
          </a:p>
        </p:txBody>
      </p:sp>
      <p:sp>
        <p:nvSpPr>
          <p:cNvPr id="55" name="Slide Number Placeholder 1">
            <a:extLst>
              <a:ext uri="{FF2B5EF4-FFF2-40B4-BE49-F238E27FC236}">
                <a16:creationId xmlns:a16="http://schemas.microsoft.com/office/drawing/2014/main" id="{E8C90AE0-4973-6F4A-B7C6-22130A2F13F0}"/>
              </a:ext>
            </a:extLst>
          </p:cNvPr>
          <p:cNvSpPr>
            <a:spLocks noGrp="1"/>
          </p:cNvSpPr>
          <p:nvPr>
            <p:ph type="sldNum" sz="quarter" idx="12"/>
          </p:nvPr>
        </p:nvSpPr>
        <p:spPr>
          <a:xfrm>
            <a:off x="0" y="6492875"/>
            <a:ext cx="826265" cy="365125"/>
          </a:xfrm>
        </p:spPr>
        <p:txBody>
          <a:bodyPr/>
          <a:lstStyle/>
          <a:p>
            <a:pPr algn="l"/>
            <a:fld id="{591A223C-FA10-BC46-A853-03BA373D023C}" type="slidenum">
              <a:rPr lang="en-US" smtClean="0"/>
              <a:pPr algn="l"/>
              <a:t>40</a:t>
            </a:fld>
            <a:endParaRPr lang="en-US" dirty="0"/>
          </a:p>
        </p:txBody>
      </p:sp>
    </p:spTree>
    <p:extLst>
      <p:ext uri="{BB962C8B-B14F-4D97-AF65-F5344CB8AC3E}">
        <p14:creationId xmlns:p14="http://schemas.microsoft.com/office/powerpoint/2010/main" val="35707565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D962-A29D-D541-867B-1BD9507DCF14}"/>
              </a:ext>
            </a:extLst>
          </p:cNvPr>
          <p:cNvSpPr>
            <a:spLocks noGrp="1"/>
          </p:cNvSpPr>
          <p:nvPr>
            <p:ph type="title"/>
          </p:nvPr>
        </p:nvSpPr>
        <p:spPr/>
        <p:txBody>
          <a:bodyPr/>
          <a:lstStyle/>
          <a:p>
            <a:r>
              <a:rPr lang="en-ZA" dirty="0"/>
              <a:t>Noise in Quantum Circuits: a GHZ₄ Case Study</a:t>
            </a:r>
            <a:endParaRPr lang="en-US" dirty="0"/>
          </a:p>
        </p:txBody>
      </p:sp>
      <p:sp>
        <p:nvSpPr>
          <p:cNvPr id="3" name="Slide Number Placeholder 2">
            <a:extLst>
              <a:ext uri="{FF2B5EF4-FFF2-40B4-BE49-F238E27FC236}">
                <a16:creationId xmlns:a16="http://schemas.microsoft.com/office/drawing/2014/main" id="{C87C1E96-49AC-1D4D-A99D-F0CD2F490B63}"/>
              </a:ext>
            </a:extLst>
          </p:cNvPr>
          <p:cNvSpPr>
            <a:spLocks noGrp="1"/>
          </p:cNvSpPr>
          <p:nvPr>
            <p:ph type="sldNum" sz="quarter" idx="12"/>
          </p:nvPr>
        </p:nvSpPr>
        <p:spPr/>
        <p:txBody>
          <a:bodyPr/>
          <a:lstStyle/>
          <a:p>
            <a:fld id="{591A223C-FA10-BC46-A853-03BA373D023C}" type="slidenum">
              <a:rPr lang="en-US" smtClean="0"/>
              <a:t>41</a:t>
            </a:fld>
            <a:endParaRPr lang="en-US"/>
          </a:p>
        </p:txBody>
      </p:sp>
      <p:pic>
        <p:nvPicPr>
          <p:cNvPr id="60" name="Picture 59">
            <a:extLst>
              <a:ext uri="{FF2B5EF4-FFF2-40B4-BE49-F238E27FC236}">
                <a16:creationId xmlns:a16="http://schemas.microsoft.com/office/drawing/2014/main" id="{F8874480-A8D9-1D4E-8A5E-046572A25DDF}"/>
              </a:ext>
            </a:extLst>
          </p:cNvPr>
          <p:cNvPicPr>
            <a:picLocks noChangeAspect="1"/>
          </p:cNvPicPr>
          <p:nvPr/>
        </p:nvPicPr>
        <p:blipFill>
          <a:blip r:embed="rId3"/>
          <a:stretch>
            <a:fillRect/>
          </a:stretch>
        </p:blipFill>
        <p:spPr>
          <a:xfrm>
            <a:off x="7797807" y="464344"/>
            <a:ext cx="3864307" cy="2796538"/>
          </a:xfrm>
          <a:prstGeom prst="rect">
            <a:avLst/>
          </a:prstGeom>
        </p:spPr>
      </p:pic>
      <p:pic>
        <p:nvPicPr>
          <p:cNvPr id="61" name="Picture 60">
            <a:extLst>
              <a:ext uri="{FF2B5EF4-FFF2-40B4-BE49-F238E27FC236}">
                <a16:creationId xmlns:a16="http://schemas.microsoft.com/office/drawing/2014/main" id="{AD5623DE-A8E2-AE4F-83B0-F0C916F40F67}"/>
              </a:ext>
            </a:extLst>
          </p:cNvPr>
          <p:cNvPicPr>
            <a:picLocks noChangeAspect="1"/>
          </p:cNvPicPr>
          <p:nvPr/>
        </p:nvPicPr>
        <p:blipFill>
          <a:blip r:embed="rId4"/>
          <a:stretch>
            <a:fillRect/>
          </a:stretch>
        </p:blipFill>
        <p:spPr>
          <a:xfrm>
            <a:off x="7797807" y="3567617"/>
            <a:ext cx="4042175" cy="2925258"/>
          </a:xfrm>
          <a:prstGeom prst="rect">
            <a:avLst/>
          </a:prstGeom>
        </p:spPr>
      </p:pic>
      <p:pic>
        <p:nvPicPr>
          <p:cNvPr id="62" name="Picture 61">
            <a:extLst>
              <a:ext uri="{FF2B5EF4-FFF2-40B4-BE49-F238E27FC236}">
                <a16:creationId xmlns:a16="http://schemas.microsoft.com/office/drawing/2014/main" id="{5D78B5C5-FB2D-3940-BDC0-33DF603705C8}"/>
              </a:ext>
            </a:extLst>
          </p:cNvPr>
          <p:cNvPicPr>
            <a:picLocks noChangeAspect="1"/>
          </p:cNvPicPr>
          <p:nvPr/>
        </p:nvPicPr>
        <p:blipFill>
          <a:blip r:embed="rId5"/>
          <a:stretch>
            <a:fillRect/>
          </a:stretch>
        </p:blipFill>
        <p:spPr>
          <a:xfrm>
            <a:off x="462765" y="2197808"/>
            <a:ext cx="6145653" cy="3108978"/>
          </a:xfrm>
          <a:prstGeom prst="rect">
            <a:avLst/>
          </a:prstGeom>
        </p:spPr>
      </p:pic>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B6A9EBFA-F2A0-1540-BE62-ADAB422BD0C2}"/>
                  </a:ext>
                </a:extLst>
              </p:cNvPr>
              <p:cNvSpPr/>
              <p:nvPr/>
            </p:nvSpPr>
            <p:spPr>
              <a:xfrm>
                <a:off x="2852359" y="5306786"/>
                <a:ext cx="13857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2060"/>
                              </a:solidFill>
                              <a:latin typeface="Cambria Math" panose="02040503050406030204" pitchFamily="18" charset="0"/>
                              <a:ea typeface="Cambria Math" panose="02040503050406030204" pitchFamily="18" charset="0"/>
                            </a:rPr>
                          </m:ctrlPr>
                        </m:sSubPr>
                        <m:e>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r>
                                <a:rPr lang="sr-Latn-RS" sz="2800" i="1">
                                  <a:solidFill>
                                    <a:srgbClr val="002060"/>
                                  </a:solidFill>
                                  <a:latin typeface="Cambria Math" panose="02040503050406030204" pitchFamily="18" charset="0"/>
                                  <a:ea typeface="Cambria Math" panose="02040503050406030204" pitchFamily="18" charset="0"/>
                                </a:rPr>
                                <m:t>𝐺𝐻𝑍</m:t>
                              </m:r>
                            </m:e>
                          </m:d>
                        </m:e>
                        <m:sub>
                          <m:r>
                            <a:rPr lang="sr-Latn-RS" sz="2800" b="0" i="1" smtClean="0">
                              <a:solidFill>
                                <a:srgbClr val="002060"/>
                              </a:solidFill>
                              <a:latin typeface="Cambria Math" panose="02040503050406030204" pitchFamily="18" charset="0"/>
                              <a:ea typeface="Cambria Math" panose="02040503050406030204" pitchFamily="18" charset="0"/>
                            </a:rPr>
                            <m:t>4</m:t>
                          </m:r>
                        </m:sub>
                      </m:sSub>
                    </m:oMath>
                  </m:oMathPara>
                </a14:m>
                <a:endParaRPr lang="en-US" sz="2800" dirty="0"/>
              </a:p>
            </p:txBody>
          </p:sp>
        </mc:Choice>
        <mc:Fallback xmlns="">
          <p:sp>
            <p:nvSpPr>
              <p:cNvPr id="64" name="Rectangle 63">
                <a:extLst>
                  <a:ext uri="{FF2B5EF4-FFF2-40B4-BE49-F238E27FC236}">
                    <a16:creationId xmlns:a16="http://schemas.microsoft.com/office/drawing/2014/main" id="{B6A9EBFA-F2A0-1540-BE62-ADAB422BD0C2}"/>
                  </a:ext>
                </a:extLst>
              </p:cNvPr>
              <p:cNvSpPr>
                <a:spLocks noRot="1" noChangeAspect="1" noMove="1" noResize="1" noEditPoints="1" noAdjustHandles="1" noChangeArrowheads="1" noChangeShapeType="1" noTextEdit="1"/>
              </p:cNvSpPr>
              <p:nvPr/>
            </p:nvSpPr>
            <p:spPr>
              <a:xfrm>
                <a:off x="2852359" y="5306786"/>
                <a:ext cx="1385764" cy="523220"/>
              </a:xfrm>
              <a:prstGeom prst="rect">
                <a:avLst/>
              </a:prstGeom>
              <a:blipFill>
                <a:blip r:embed="rId6"/>
                <a:stretch>
                  <a:fillRect l="-1818" t="-135714" r="-15455" b="-200000"/>
                </a:stretch>
              </a:blipFill>
            </p:spPr>
            <p:txBody>
              <a:bodyPr/>
              <a:lstStyle/>
              <a:p>
                <a:r>
                  <a:rPr lang="en-US">
                    <a:noFill/>
                  </a:rPr>
                  <a:t> </a:t>
                </a:r>
              </a:p>
            </p:txBody>
          </p:sp>
        </mc:Fallback>
      </mc:AlternateContent>
    </p:spTree>
    <p:extLst>
      <p:ext uri="{BB962C8B-B14F-4D97-AF65-F5344CB8AC3E}">
        <p14:creationId xmlns:p14="http://schemas.microsoft.com/office/powerpoint/2010/main" val="24683945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77F43-DD41-9549-B742-77373A8D38D8}"/>
              </a:ext>
            </a:extLst>
          </p:cNvPr>
          <p:cNvSpPr>
            <a:spLocks noGrp="1"/>
          </p:cNvSpPr>
          <p:nvPr>
            <p:ph type="title"/>
          </p:nvPr>
        </p:nvSpPr>
        <p:spPr/>
        <p:txBody>
          <a:bodyPr/>
          <a:lstStyle/>
          <a:p>
            <a:r>
              <a:rPr lang="en-ZA" dirty="0"/>
              <a:t>Classical Error Correction: Repetition Codes</a:t>
            </a:r>
            <a:endParaRPr lang="en-US" dirty="0"/>
          </a:p>
        </p:txBody>
      </p:sp>
      <p:sp>
        <p:nvSpPr>
          <p:cNvPr id="3" name="Slide Number Placeholder 2">
            <a:extLst>
              <a:ext uri="{FF2B5EF4-FFF2-40B4-BE49-F238E27FC236}">
                <a16:creationId xmlns:a16="http://schemas.microsoft.com/office/drawing/2014/main" id="{29309854-AB02-8A48-89AD-252FF3664092}"/>
              </a:ext>
            </a:extLst>
          </p:cNvPr>
          <p:cNvSpPr>
            <a:spLocks noGrp="1"/>
          </p:cNvSpPr>
          <p:nvPr>
            <p:ph type="sldNum" sz="quarter" idx="12"/>
          </p:nvPr>
        </p:nvSpPr>
        <p:spPr/>
        <p:txBody>
          <a:bodyPr/>
          <a:lstStyle/>
          <a:p>
            <a:fld id="{591A223C-FA10-BC46-A853-03BA373D023C}" type="slidenum">
              <a:rPr lang="en-US" smtClean="0"/>
              <a:t>42</a:t>
            </a:fld>
            <a:endParaRPr lang="en-US"/>
          </a:p>
        </p:txBody>
      </p:sp>
      <p:cxnSp>
        <p:nvCxnSpPr>
          <p:cNvPr id="5" name="Straight Connector 4">
            <a:extLst>
              <a:ext uri="{FF2B5EF4-FFF2-40B4-BE49-F238E27FC236}">
                <a16:creationId xmlns:a16="http://schemas.microsoft.com/office/drawing/2014/main" id="{E56AB7C8-B523-354D-8C83-C8D08EE21FBF}"/>
              </a:ext>
            </a:extLst>
          </p:cNvPr>
          <p:cNvCxnSpPr>
            <a:cxnSpLocks/>
          </p:cNvCxnSpPr>
          <p:nvPr/>
        </p:nvCxnSpPr>
        <p:spPr>
          <a:xfrm>
            <a:off x="686887" y="1929030"/>
            <a:ext cx="2607013"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ADBDF24-EE84-D944-8E05-4EB6A1FDB00E}"/>
              </a:ext>
            </a:extLst>
          </p:cNvPr>
          <p:cNvSpPr txBox="1"/>
          <p:nvPr/>
        </p:nvSpPr>
        <p:spPr>
          <a:xfrm>
            <a:off x="4080604" y="1346831"/>
            <a:ext cx="3175869" cy="461665"/>
          </a:xfrm>
          <a:prstGeom prst="rect">
            <a:avLst/>
          </a:prstGeom>
          <a:noFill/>
        </p:spPr>
        <p:txBody>
          <a:bodyPr wrap="none" rtlCol="0">
            <a:spAutoFit/>
          </a:bodyPr>
          <a:lstStyle/>
          <a:p>
            <a:r>
              <a:rPr lang="en-ZA" sz="2400" dirty="0"/>
              <a:t>transmission with error:</a:t>
            </a:r>
            <a:endParaRPr lang="en-US" sz="2400" dirty="0"/>
          </a:p>
        </p:txBody>
      </p:sp>
      <p:sp>
        <p:nvSpPr>
          <p:cNvPr id="15" name="TextBox 14">
            <a:extLst>
              <a:ext uri="{FF2B5EF4-FFF2-40B4-BE49-F238E27FC236}">
                <a16:creationId xmlns:a16="http://schemas.microsoft.com/office/drawing/2014/main" id="{7A1BB20B-3283-3743-AA2E-63229ECAD747}"/>
              </a:ext>
            </a:extLst>
          </p:cNvPr>
          <p:cNvSpPr txBox="1"/>
          <p:nvPr/>
        </p:nvSpPr>
        <p:spPr>
          <a:xfrm>
            <a:off x="4080604" y="1907658"/>
            <a:ext cx="3602268" cy="461665"/>
          </a:xfrm>
          <a:prstGeom prst="rect">
            <a:avLst/>
          </a:prstGeom>
          <a:noFill/>
        </p:spPr>
        <p:txBody>
          <a:bodyPr wrap="none" rtlCol="0">
            <a:spAutoFit/>
          </a:bodyPr>
          <a:lstStyle/>
          <a:p>
            <a:r>
              <a:rPr lang="en-ZA" sz="2400" dirty="0"/>
              <a:t>transmission without error:</a:t>
            </a:r>
            <a:endParaRPr lang="en-US" sz="2400" dirty="0"/>
          </a:p>
        </p:txBody>
      </p:sp>
      <p:sp>
        <p:nvSpPr>
          <p:cNvPr id="18" name="TextBox 17">
            <a:extLst>
              <a:ext uri="{FF2B5EF4-FFF2-40B4-BE49-F238E27FC236}">
                <a16:creationId xmlns:a16="http://schemas.microsoft.com/office/drawing/2014/main" id="{58C98BFF-BEE3-3E44-B056-5FACE2D12692}"/>
              </a:ext>
            </a:extLst>
          </p:cNvPr>
          <p:cNvSpPr txBox="1"/>
          <p:nvPr/>
        </p:nvSpPr>
        <p:spPr>
          <a:xfrm>
            <a:off x="248707" y="1642447"/>
            <a:ext cx="370614" cy="523220"/>
          </a:xfrm>
          <a:prstGeom prst="rect">
            <a:avLst/>
          </a:prstGeom>
          <a:noFill/>
        </p:spPr>
        <p:txBody>
          <a:bodyPr wrap="none" rtlCol="0">
            <a:spAutoFit/>
          </a:bodyPr>
          <a:lstStyle/>
          <a:p>
            <a:r>
              <a:rPr lang="en-US" sz="2800" dirty="0"/>
              <a:t>0</a:t>
            </a:r>
          </a:p>
        </p:txBody>
      </p:sp>
      <p:sp>
        <p:nvSpPr>
          <p:cNvPr id="19" name="TextBox 18">
            <a:extLst>
              <a:ext uri="{FF2B5EF4-FFF2-40B4-BE49-F238E27FC236}">
                <a16:creationId xmlns:a16="http://schemas.microsoft.com/office/drawing/2014/main" id="{23DEB53A-7A46-DD40-A0E8-FE9EFE5B498D}"/>
              </a:ext>
            </a:extLst>
          </p:cNvPr>
          <p:cNvSpPr txBox="1"/>
          <p:nvPr/>
        </p:nvSpPr>
        <p:spPr>
          <a:xfrm>
            <a:off x="3346580" y="1373448"/>
            <a:ext cx="367408" cy="523220"/>
          </a:xfrm>
          <a:prstGeom prst="rect">
            <a:avLst/>
          </a:prstGeom>
          <a:noFill/>
        </p:spPr>
        <p:txBody>
          <a:bodyPr wrap="none" rtlCol="0">
            <a:spAutoFit/>
          </a:bodyPr>
          <a:lstStyle/>
          <a:p>
            <a:r>
              <a:rPr lang="en-US" sz="2800" dirty="0"/>
              <a:t>1</a:t>
            </a: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93BDB519-F039-4542-8BAF-4E1C58576786}"/>
                  </a:ext>
                </a:extLst>
              </p:cNvPr>
              <p:cNvSpPr/>
              <p:nvPr/>
            </p:nvSpPr>
            <p:spPr>
              <a:xfrm>
                <a:off x="7797352" y="1907133"/>
                <a:ext cx="944618"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1</m:t>
                      </m:r>
                      <m:r>
                        <a:rPr lang="sr-Latn-RS" sz="2400" b="0" i="1" dirty="0" smtClean="0">
                          <a:latin typeface="Cambria Math" panose="02040503050406030204" pitchFamily="18" charset="0"/>
                        </a:rPr>
                        <m:t>−</m:t>
                      </m:r>
                      <m:r>
                        <m:rPr>
                          <m:sty m:val="p"/>
                        </m:rPr>
                        <a:rPr lang="sr-Latn-RS" sz="2400" b="0" i="0" dirty="0" smtClean="0">
                          <a:latin typeface="Cambria Math" panose="02040503050406030204" pitchFamily="18" charset="0"/>
                        </a:rPr>
                        <m:t>P</m:t>
                      </m:r>
                    </m:oMath>
                  </m:oMathPara>
                </a14:m>
                <a:endParaRPr lang="en-US" sz="2400" dirty="0"/>
              </a:p>
            </p:txBody>
          </p:sp>
        </mc:Choice>
        <mc:Fallback xmlns="">
          <p:sp>
            <p:nvSpPr>
              <p:cNvPr id="26" name="Rectangle 25">
                <a:extLst>
                  <a:ext uri="{FF2B5EF4-FFF2-40B4-BE49-F238E27FC236}">
                    <a16:creationId xmlns:a16="http://schemas.microsoft.com/office/drawing/2014/main" id="{93BDB519-F039-4542-8BAF-4E1C58576786}"/>
                  </a:ext>
                </a:extLst>
              </p:cNvPr>
              <p:cNvSpPr>
                <a:spLocks noRot="1" noChangeAspect="1" noMove="1" noResize="1" noEditPoints="1" noAdjustHandles="1" noChangeArrowheads="1" noChangeShapeType="1" noTextEdit="1"/>
              </p:cNvSpPr>
              <p:nvPr/>
            </p:nvSpPr>
            <p:spPr>
              <a:xfrm>
                <a:off x="7797352" y="1907133"/>
                <a:ext cx="944618"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A25F28B4-0F97-CF4A-B05B-8BFA6C27CFFF}"/>
                  </a:ext>
                </a:extLst>
              </p:cNvPr>
              <p:cNvSpPr/>
              <p:nvPr/>
            </p:nvSpPr>
            <p:spPr>
              <a:xfrm>
                <a:off x="7517125" y="1346831"/>
                <a:ext cx="944618"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sr-Latn-RS" sz="2400" b="0" i="0" dirty="0" smtClean="0">
                          <a:latin typeface="Cambria Math" panose="02040503050406030204" pitchFamily="18" charset="0"/>
                        </a:rPr>
                        <m:t>P</m:t>
                      </m:r>
                    </m:oMath>
                  </m:oMathPara>
                </a14:m>
                <a:endParaRPr lang="en-US" sz="2400" dirty="0"/>
              </a:p>
            </p:txBody>
          </p:sp>
        </mc:Choice>
        <mc:Fallback xmlns="">
          <p:sp>
            <p:nvSpPr>
              <p:cNvPr id="27" name="Rectangle 26">
                <a:extLst>
                  <a:ext uri="{FF2B5EF4-FFF2-40B4-BE49-F238E27FC236}">
                    <a16:creationId xmlns:a16="http://schemas.microsoft.com/office/drawing/2014/main" id="{A25F28B4-0F97-CF4A-B05B-8BFA6C27CFFF}"/>
                  </a:ext>
                </a:extLst>
              </p:cNvPr>
              <p:cNvSpPr>
                <a:spLocks noRot="1" noChangeAspect="1" noMove="1" noResize="1" noEditPoints="1" noAdjustHandles="1" noChangeArrowheads="1" noChangeShapeType="1" noTextEdit="1"/>
              </p:cNvSpPr>
              <p:nvPr/>
            </p:nvSpPr>
            <p:spPr>
              <a:xfrm>
                <a:off x="7517125" y="1346831"/>
                <a:ext cx="944618" cy="461665"/>
              </a:xfrm>
              <a:prstGeom prst="rect">
                <a:avLst/>
              </a:prstGeom>
              <a:blipFill>
                <a:blip r:embed="rId4"/>
                <a:stretch>
                  <a:fillRect/>
                </a:stretch>
              </a:blipFill>
            </p:spPr>
            <p:txBody>
              <a:bodyPr/>
              <a:lstStyle/>
              <a:p>
                <a:r>
                  <a:rPr lang="en-US">
                    <a:noFill/>
                  </a:rPr>
                  <a:t> </a:t>
                </a:r>
              </a:p>
            </p:txBody>
          </p:sp>
        </mc:Fallback>
      </mc:AlternateContent>
      <p:grpSp>
        <p:nvGrpSpPr>
          <p:cNvPr id="42" name="Group 41">
            <a:extLst>
              <a:ext uri="{FF2B5EF4-FFF2-40B4-BE49-F238E27FC236}">
                <a16:creationId xmlns:a16="http://schemas.microsoft.com/office/drawing/2014/main" id="{38FC876B-9CA4-E046-A8B6-6C6D72B8F165}"/>
              </a:ext>
            </a:extLst>
          </p:cNvPr>
          <p:cNvGrpSpPr/>
          <p:nvPr/>
        </p:nvGrpSpPr>
        <p:grpSpPr>
          <a:xfrm>
            <a:off x="233630" y="3730601"/>
            <a:ext cx="7755804" cy="1771477"/>
            <a:chOff x="233630" y="3807297"/>
            <a:chExt cx="7755804" cy="1771477"/>
          </a:xfrm>
        </p:grpSpPr>
        <p:cxnSp>
          <p:nvCxnSpPr>
            <p:cNvPr id="7" name="Straight Connector 6">
              <a:extLst>
                <a:ext uri="{FF2B5EF4-FFF2-40B4-BE49-F238E27FC236}">
                  <a16:creationId xmlns:a16="http://schemas.microsoft.com/office/drawing/2014/main" id="{C0EDC9B1-F24B-DB4D-9430-D7DA5F071FA3}"/>
                </a:ext>
              </a:extLst>
            </p:cNvPr>
            <p:cNvCxnSpPr>
              <a:cxnSpLocks/>
            </p:cNvCxnSpPr>
            <p:nvPr/>
          </p:nvCxnSpPr>
          <p:spPr>
            <a:xfrm>
              <a:off x="671810" y="4268312"/>
              <a:ext cx="2607013"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A4E0C22-BFCE-0841-AFC5-926B3E0D3AFB}"/>
                </a:ext>
              </a:extLst>
            </p:cNvPr>
            <p:cNvCxnSpPr>
              <a:cxnSpLocks/>
            </p:cNvCxnSpPr>
            <p:nvPr/>
          </p:nvCxnSpPr>
          <p:spPr>
            <a:xfrm>
              <a:off x="671810" y="4712542"/>
              <a:ext cx="2607013"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D97D8AC-88E3-8742-AD45-8F9BC3CD1D94}"/>
                </a:ext>
              </a:extLst>
            </p:cNvPr>
            <p:cNvCxnSpPr>
              <a:cxnSpLocks/>
            </p:cNvCxnSpPr>
            <p:nvPr/>
          </p:nvCxnSpPr>
          <p:spPr>
            <a:xfrm>
              <a:off x="671810" y="5176227"/>
              <a:ext cx="2607013"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A3842D6-ED6F-5C46-885B-3BA2027683C0}"/>
                </a:ext>
              </a:extLst>
            </p:cNvPr>
            <p:cNvSpPr txBox="1"/>
            <p:nvPr/>
          </p:nvSpPr>
          <p:spPr>
            <a:xfrm>
              <a:off x="4415729" y="3807297"/>
              <a:ext cx="1867691" cy="461665"/>
            </a:xfrm>
            <a:prstGeom prst="rect">
              <a:avLst/>
            </a:prstGeom>
            <a:noFill/>
          </p:spPr>
          <p:txBody>
            <a:bodyPr wrap="none" rtlCol="0">
              <a:spAutoFit/>
            </a:bodyPr>
            <a:lstStyle/>
            <a:p>
              <a:r>
                <a:rPr lang="en-US" sz="2400" dirty="0"/>
                <a:t>without error</a:t>
              </a:r>
            </a:p>
          </p:txBody>
        </p:sp>
        <p:sp>
          <p:nvSpPr>
            <p:cNvPr id="12" name="TextBox 11">
              <a:extLst>
                <a:ext uri="{FF2B5EF4-FFF2-40B4-BE49-F238E27FC236}">
                  <a16:creationId xmlns:a16="http://schemas.microsoft.com/office/drawing/2014/main" id="{A8CB189C-E026-3540-A4B3-5097F5FE6341}"/>
                </a:ext>
              </a:extLst>
            </p:cNvPr>
            <p:cNvSpPr txBox="1"/>
            <p:nvPr/>
          </p:nvSpPr>
          <p:spPr>
            <a:xfrm>
              <a:off x="4415729" y="4243901"/>
              <a:ext cx="1111073" cy="461665"/>
            </a:xfrm>
            <a:prstGeom prst="rect">
              <a:avLst/>
            </a:prstGeom>
            <a:noFill/>
          </p:spPr>
          <p:txBody>
            <a:bodyPr wrap="none" rtlCol="0">
              <a:spAutoFit/>
            </a:bodyPr>
            <a:lstStyle/>
            <a:p>
              <a:r>
                <a:rPr lang="en-US" sz="2400" dirty="0"/>
                <a:t>1  error</a:t>
              </a:r>
            </a:p>
          </p:txBody>
        </p:sp>
        <p:sp>
          <p:nvSpPr>
            <p:cNvPr id="13" name="TextBox 12">
              <a:extLst>
                <a:ext uri="{FF2B5EF4-FFF2-40B4-BE49-F238E27FC236}">
                  <a16:creationId xmlns:a16="http://schemas.microsoft.com/office/drawing/2014/main" id="{C40BF49D-7FC6-3540-9C58-F74FC5D01586}"/>
                </a:ext>
              </a:extLst>
            </p:cNvPr>
            <p:cNvSpPr txBox="1"/>
            <p:nvPr/>
          </p:nvSpPr>
          <p:spPr>
            <a:xfrm>
              <a:off x="4415729" y="4680505"/>
              <a:ext cx="1226041" cy="461665"/>
            </a:xfrm>
            <a:prstGeom prst="rect">
              <a:avLst/>
            </a:prstGeom>
            <a:noFill/>
          </p:spPr>
          <p:txBody>
            <a:bodyPr wrap="none" rtlCol="0">
              <a:spAutoFit/>
            </a:bodyPr>
            <a:lstStyle/>
            <a:p>
              <a:r>
                <a:rPr lang="en-US" sz="2400" dirty="0"/>
                <a:t>2  errors</a:t>
              </a:r>
            </a:p>
          </p:txBody>
        </p:sp>
        <p:sp>
          <p:nvSpPr>
            <p:cNvPr id="14" name="TextBox 13">
              <a:extLst>
                <a:ext uri="{FF2B5EF4-FFF2-40B4-BE49-F238E27FC236}">
                  <a16:creationId xmlns:a16="http://schemas.microsoft.com/office/drawing/2014/main" id="{B65BC5A2-0851-0C4C-989E-1FAD1BCBC720}"/>
                </a:ext>
              </a:extLst>
            </p:cNvPr>
            <p:cNvSpPr txBox="1"/>
            <p:nvPr/>
          </p:nvSpPr>
          <p:spPr>
            <a:xfrm>
              <a:off x="4415729" y="5117109"/>
              <a:ext cx="1226041" cy="461665"/>
            </a:xfrm>
            <a:prstGeom prst="rect">
              <a:avLst/>
            </a:prstGeom>
            <a:noFill/>
          </p:spPr>
          <p:txBody>
            <a:bodyPr wrap="none" rtlCol="0">
              <a:spAutoFit/>
            </a:bodyPr>
            <a:lstStyle/>
            <a:p>
              <a:r>
                <a:rPr lang="en-US" sz="2400" dirty="0"/>
                <a:t>3  errors</a:t>
              </a:r>
            </a:p>
          </p:txBody>
        </p:sp>
        <p:sp>
          <p:nvSpPr>
            <p:cNvPr id="20" name="TextBox 19">
              <a:extLst>
                <a:ext uri="{FF2B5EF4-FFF2-40B4-BE49-F238E27FC236}">
                  <a16:creationId xmlns:a16="http://schemas.microsoft.com/office/drawing/2014/main" id="{067C0BB4-7BAC-144B-BAA4-66433F128346}"/>
                </a:ext>
              </a:extLst>
            </p:cNvPr>
            <p:cNvSpPr txBox="1"/>
            <p:nvPr/>
          </p:nvSpPr>
          <p:spPr>
            <a:xfrm>
              <a:off x="233630" y="3964596"/>
              <a:ext cx="370614" cy="523220"/>
            </a:xfrm>
            <a:prstGeom prst="rect">
              <a:avLst/>
            </a:prstGeom>
            <a:noFill/>
          </p:spPr>
          <p:txBody>
            <a:bodyPr wrap="none" rtlCol="0">
              <a:spAutoFit/>
            </a:bodyPr>
            <a:lstStyle/>
            <a:p>
              <a:r>
                <a:rPr lang="en-US" sz="2800" dirty="0"/>
                <a:t>0</a:t>
              </a:r>
            </a:p>
          </p:txBody>
        </p:sp>
        <p:sp>
          <p:nvSpPr>
            <p:cNvPr id="21" name="TextBox 20">
              <a:extLst>
                <a:ext uri="{FF2B5EF4-FFF2-40B4-BE49-F238E27FC236}">
                  <a16:creationId xmlns:a16="http://schemas.microsoft.com/office/drawing/2014/main" id="{EA38C3D5-0E37-404D-AF10-2830522D376D}"/>
                </a:ext>
              </a:extLst>
            </p:cNvPr>
            <p:cNvSpPr txBox="1"/>
            <p:nvPr/>
          </p:nvSpPr>
          <p:spPr>
            <a:xfrm>
              <a:off x="3331503" y="3959372"/>
              <a:ext cx="370614" cy="523220"/>
            </a:xfrm>
            <a:prstGeom prst="rect">
              <a:avLst/>
            </a:prstGeom>
            <a:noFill/>
          </p:spPr>
          <p:txBody>
            <a:bodyPr wrap="none" rtlCol="0">
              <a:spAutoFit/>
            </a:bodyPr>
            <a:lstStyle/>
            <a:p>
              <a:r>
                <a:rPr lang="en-US" sz="2800" dirty="0"/>
                <a:t>0</a:t>
              </a:r>
            </a:p>
          </p:txBody>
        </p:sp>
        <p:sp>
          <p:nvSpPr>
            <p:cNvPr id="22" name="TextBox 21">
              <a:extLst>
                <a:ext uri="{FF2B5EF4-FFF2-40B4-BE49-F238E27FC236}">
                  <a16:creationId xmlns:a16="http://schemas.microsoft.com/office/drawing/2014/main" id="{774608FD-10AC-164F-86E8-0B5266D15A84}"/>
                </a:ext>
              </a:extLst>
            </p:cNvPr>
            <p:cNvSpPr txBox="1"/>
            <p:nvPr/>
          </p:nvSpPr>
          <p:spPr>
            <a:xfrm>
              <a:off x="233630" y="4470387"/>
              <a:ext cx="367408" cy="523220"/>
            </a:xfrm>
            <a:prstGeom prst="rect">
              <a:avLst/>
            </a:prstGeom>
            <a:noFill/>
          </p:spPr>
          <p:txBody>
            <a:bodyPr wrap="none" rtlCol="0">
              <a:spAutoFit/>
            </a:bodyPr>
            <a:lstStyle/>
            <a:p>
              <a:r>
                <a:rPr lang="en-US" sz="2800" dirty="0"/>
                <a:t>0</a:t>
              </a:r>
            </a:p>
          </p:txBody>
        </p:sp>
        <p:sp>
          <p:nvSpPr>
            <p:cNvPr id="23" name="TextBox 22">
              <a:extLst>
                <a:ext uri="{FF2B5EF4-FFF2-40B4-BE49-F238E27FC236}">
                  <a16:creationId xmlns:a16="http://schemas.microsoft.com/office/drawing/2014/main" id="{4D314D7C-173C-F642-B5C9-315548FD5B84}"/>
                </a:ext>
              </a:extLst>
            </p:cNvPr>
            <p:cNvSpPr txBox="1"/>
            <p:nvPr/>
          </p:nvSpPr>
          <p:spPr>
            <a:xfrm>
              <a:off x="3331503" y="4465163"/>
              <a:ext cx="367408" cy="523220"/>
            </a:xfrm>
            <a:prstGeom prst="rect">
              <a:avLst/>
            </a:prstGeom>
            <a:noFill/>
          </p:spPr>
          <p:txBody>
            <a:bodyPr wrap="none" rtlCol="0">
              <a:spAutoFit/>
            </a:bodyPr>
            <a:lstStyle/>
            <a:p>
              <a:r>
                <a:rPr lang="en-US" sz="2800" dirty="0"/>
                <a:t>1</a:t>
              </a:r>
            </a:p>
          </p:txBody>
        </p:sp>
        <p:sp>
          <p:nvSpPr>
            <p:cNvPr id="24" name="TextBox 23">
              <a:extLst>
                <a:ext uri="{FF2B5EF4-FFF2-40B4-BE49-F238E27FC236}">
                  <a16:creationId xmlns:a16="http://schemas.microsoft.com/office/drawing/2014/main" id="{51462A0B-93FB-5E45-B422-0044699DF124}"/>
                </a:ext>
              </a:extLst>
            </p:cNvPr>
            <p:cNvSpPr txBox="1"/>
            <p:nvPr/>
          </p:nvSpPr>
          <p:spPr>
            <a:xfrm>
              <a:off x="233630" y="4976178"/>
              <a:ext cx="370614" cy="523220"/>
            </a:xfrm>
            <a:prstGeom prst="rect">
              <a:avLst/>
            </a:prstGeom>
            <a:noFill/>
          </p:spPr>
          <p:txBody>
            <a:bodyPr wrap="none" rtlCol="0">
              <a:spAutoFit/>
            </a:bodyPr>
            <a:lstStyle/>
            <a:p>
              <a:r>
                <a:rPr lang="en-US" sz="2800" dirty="0"/>
                <a:t>0</a:t>
              </a:r>
            </a:p>
          </p:txBody>
        </p:sp>
        <p:sp>
          <p:nvSpPr>
            <p:cNvPr id="25" name="TextBox 24">
              <a:extLst>
                <a:ext uri="{FF2B5EF4-FFF2-40B4-BE49-F238E27FC236}">
                  <a16:creationId xmlns:a16="http://schemas.microsoft.com/office/drawing/2014/main" id="{50EA97FB-553D-E54C-9D76-AEC5A4EDB41E}"/>
                </a:ext>
              </a:extLst>
            </p:cNvPr>
            <p:cNvSpPr txBox="1"/>
            <p:nvPr/>
          </p:nvSpPr>
          <p:spPr>
            <a:xfrm>
              <a:off x="3331503" y="4970954"/>
              <a:ext cx="370614" cy="523220"/>
            </a:xfrm>
            <a:prstGeom prst="rect">
              <a:avLst/>
            </a:prstGeom>
            <a:noFill/>
          </p:spPr>
          <p:txBody>
            <a:bodyPr wrap="none" rtlCol="0">
              <a:spAutoFit/>
            </a:bodyPr>
            <a:lstStyle/>
            <a:p>
              <a:r>
                <a:rPr lang="en-US" sz="2800" dirty="0"/>
                <a:t>0</a:t>
              </a:r>
            </a:p>
          </p:txBody>
        </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0839B9AC-0BB7-7B4B-8183-E1DE6AEFFDC6}"/>
                    </a:ext>
                  </a:extLst>
                </p:cNvPr>
                <p:cNvSpPr/>
                <p:nvPr/>
              </p:nvSpPr>
              <p:spPr>
                <a:xfrm>
                  <a:off x="6062311" y="3807297"/>
                  <a:ext cx="1720645"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400" i="1" dirty="0" smtClean="0">
                                <a:latin typeface="Cambria Math" panose="02040503050406030204" pitchFamily="18" charset="0"/>
                              </a:rPr>
                            </m:ctrlPr>
                          </m:sSupPr>
                          <m:e>
                            <m:d>
                              <m:dPr>
                                <m:ctrlPr>
                                  <a:rPr lang="en-US" sz="2400" i="1" dirty="0" smtClean="0">
                                    <a:latin typeface="Cambria Math" panose="02040503050406030204" pitchFamily="18" charset="0"/>
                                  </a:rPr>
                                </m:ctrlPr>
                              </m:dPr>
                              <m:e>
                                <m:r>
                                  <a:rPr lang="sr-Latn-RS" sz="2400" b="0" i="1" dirty="0" smtClean="0">
                                    <a:latin typeface="Cambria Math" panose="02040503050406030204" pitchFamily="18" charset="0"/>
                                  </a:rPr>
                                  <m:t>1−</m:t>
                                </m:r>
                                <m:r>
                                  <m:rPr>
                                    <m:sty m:val="p"/>
                                  </m:rPr>
                                  <a:rPr lang="sr-Latn-RS" sz="2400" b="0" i="0" dirty="0" smtClean="0">
                                    <a:latin typeface="Cambria Math" panose="02040503050406030204" pitchFamily="18" charset="0"/>
                                  </a:rPr>
                                  <m:t>P</m:t>
                                </m:r>
                              </m:e>
                            </m:d>
                          </m:e>
                          <m:sup>
                            <m:r>
                              <a:rPr lang="sr-Latn-RS" sz="2400" b="0" i="1" dirty="0" smtClean="0">
                                <a:latin typeface="Cambria Math" panose="02040503050406030204" pitchFamily="18" charset="0"/>
                              </a:rPr>
                              <m:t>3</m:t>
                            </m:r>
                          </m:sup>
                        </m:sSup>
                      </m:oMath>
                    </m:oMathPara>
                  </a14:m>
                  <a:endParaRPr lang="en-US" sz="2400" dirty="0"/>
                </a:p>
              </p:txBody>
            </p:sp>
          </mc:Choice>
          <mc:Fallback xmlns="">
            <p:sp>
              <p:nvSpPr>
                <p:cNvPr id="28" name="Rectangle 27">
                  <a:extLst>
                    <a:ext uri="{FF2B5EF4-FFF2-40B4-BE49-F238E27FC236}">
                      <a16:creationId xmlns:a16="http://schemas.microsoft.com/office/drawing/2014/main" id="{0839B9AC-0BB7-7B4B-8183-E1DE6AEFFDC6}"/>
                    </a:ext>
                  </a:extLst>
                </p:cNvPr>
                <p:cNvSpPr>
                  <a:spLocks noRot="1" noChangeAspect="1" noMove="1" noResize="1" noEditPoints="1" noAdjustHandles="1" noChangeArrowheads="1" noChangeShapeType="1" noTextEdit="1"/>
                </p:cNvSpPr>
                <p:nvPr/>
              </p:nvSpPr>
              <p:spPr>
                <a:xfrm>
                  <a:off x="6062311" y="3807297"/>
                  <a:ext cx="1720645"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8F679F39-A361-4C4F-A448-86D14C7E5CD0}"/>
                    </a:ext>
                  </a:extLst>
                </p:cNvPr>
                <p:cNvSpPr/>
                <p:nvPr/>
              </p:nvSpPr>
              <p:spPr>
                <a:xfrm>
                  <a:off x="6062311" y="4243901"/>
                  <a:ext cx="1720645"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400" i="1" dirty="0" smtClean="0">
                                <a:latin typeface="Cambria Math" panose="02040503050406030204" pitchFamily="18" charset="0"/>
                              </a:rPr>
                            </m:ctrlPr>
                          </m:sSupPr>
                          <m:e>
                            <m:r>
                              <a:rPr lang="sr-Latn-RS" sz="2400" b="0" i="0" dirty="0" smtClean="0">
                                <a:latin typeface="Cambria Math" panose="02040503050406030204" pitchFamily="18" charset="0"/>
                              </a:rPr>
                              <m:t>3</m:t>
                            </m:r>
                            <m:r>
                              <m:rPr>
                                <m:sty m:val="p"/>
                              </m:rPr>
                              <a:rPr lang="sr-Latn-RS" sz="2400" b="0" i="0" dirty="0" smtClean="0">
                                <a:latin typeface="Cambria Math" panose="02040503050406030204" pitchFamily="18" charset="0"/>
                              </a:rPr>
                              <m:t>P</m:t>
                            </m:r>
                            <m:d>
                              <m:dPr>
                                <m:ctrlPr>
                                  <a:rPr lang="en-US" sz="2400" i="1" dirty="0" smtClean="0">
                                    <a:latin typeface="Cambria Math" panose="02040503050406030204" pitchFamily="18" charset="0"/>
                                  </a:rPr>
                                </m:ctrlPr>
                              </m:dPr>
                              <m:e>
                                <m:r>
                                  <a:rPr lang="sr-Latn-RS" sz="2400" b="0" i="1" dirty="0" smtClean="0">
                                    <a:latin typeface="Cambria Math" panose="02040503050406030204" pitchFamily="18" charset="0"/>
                                  </a:rPr>
                                  <m:t>1−</m:t>
                                </m:r>
                                <m:r>
                                  <m:rPr>
                                    <m:sty m:val="p"/>
                                  </m:rPr>
                                  <a:rPr lang="sr-Latn-RS" sz="2400" b="0" i="0" dirty="0" smtClean="0">
                                    <a:latin typeface="Cambria Math" panose="02040503050406030204" pitchFamily="18" charset="0"/>
                                  </a:rPr>
                                  <m:t>P</m:t>
                                </m:r>
                              </m:e>
                            </m:d>
                          </m:e>
                          <m:sup>
                            <m:r>
                              <a:rPr lang="sr-Latn-RS" sz="2400" b="0" i="1" dirty="0" smtClean="0">
                                <a:latin typeface="Cambria Math" panose="02040503050406030204" pitchFamily="18" charset="0"/>
                              </a:rPr>
                              <m:t>2</m:t>
                            </m:r>
                          </m:sup>
                        </m:sSup>
                      </m:oMath>
                    </m:oMathPara>
                  </a14:m>
                  <a:endParaRPr lang="en-US" sz="2400" dirty="0"/>
                </a:p>
              </p:txBody>
            </p:sp>
          </mc:Choice>
          <mc:Fallback xmlns="">
            <p:sp>
              <p:nvSpPr>
                <p:cNvPr id="29" name="Rectangle 28">
                  <a:extLst>
                    <a:ext uri="{FF2B5EF4-FFF2-40B4-BE49-F238E27FC236}">
                      <a16:creationId xmlns:a16="http://schemas.microsoft.com/office/drawing/2014/main" id="{8F679F39-A361-4C4F-A448-86D14C7E5CD0}"/>
                    </a:ext>
                  </a:extLst>
                </p:cNvPr>
                <p:cNvSpPr>
                  <a:spLocks noRot="1" noChangeAspect="1" noMove="1" noResize="1" noEditPoints="1" noAdjustHandles="1" noChangeArrowheads="1" noChangeShapeType="1" noTextEdit="1"/>
                </p:cNvSpPr>
                <p:nvPr/>
              </p:nvSpPr>
              <p:spPr>
                <a:xfrm>
                  <a:off x="6062311" y="4243901"/>
                  <a:ext cx="1720645"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9FA5C237-6DCF-2547-AAE4-625F15F27811}"/>
                    </a:ext>
                  </a:extLst>
                </p:cNvPr>
                <p:cNvSpPr/>
                <p:nvPr/>
              </p:nvSpPr>
              <p:spPr>
                <a:xfrm>
                  <a:off x="5855833" y="4680505"/>
                  <a:ext cx="2133601"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sr-Latn-RS" sz="2400" i="0" dirty="0" smtClean="0">
                            <a:latin typeface="Cambria Math" panose="02040503050406030204" pitchFamily="18" charset="0"/>
                          </a:rPr>
                          <m:t>3</m:t>
                        </m:r>
                        <m:sSup>
                          <m:sSupPr>
                            <m:ctrlPr>
                              <a:rPr lang="sr-Latn-RS" sz="2400" i="1" dirty="0" smtClean="0">
                                <a:latin typeface="Cambria Math" panose="02040503050406030204" pitchFamily="18" charset="0"/>
                              </a:rPr>
                            </m:ctrlPr>
                          </m:sSupPr>
                          <m:e>
                            <m:r>
                              <m:rPr>
                                <m:sty m:val="p"/>
                              </m:rPr>
                              <a:rPr lang="sr-Latn-RS" sz="2400" b="0" i="0" dirty="0" smtClean="0">
                                <a:latin typeface="Cambria Math" panose="02040503050406030204" pitchFamily="18" charset="0"/>
                              </a:rPr>
                              <m:t>P</m:t>
                            </m:r>
                          </m:e>
                          <m:sup>
                            <m:r>
                              <a:rPr lang="sr-Latn-RS" sz="2400" b="0" i="0" dirty="0" smtClean="0">
                                <a:latin typeface="Cambria Math" panose="02040503050406030204" pitchFamily="18" charset="0"/>
                              </a:rPr>
                              <m:t>2</m:t>
                            </m:r>
                          </m:sup>
                        </m:sSup>
                        <m:r>
                          <a:rPr lang="sr-Latn-RS" sz="2400" i="1" dirty="0" smtClean="0">
                            <a:latin typeface="Cambria Math" panose="02040503050406030204" pitchFamily="18" charset="0"/>
                          </a:rPr>
                          <m:t>(</m:t>
                        </m:r>
                        <m:r>
                          <a:rPr lang="en-US" sz="2400" i="1" dirty="0">
                            <a:latin typeface="Cambria Math" panose="02040503050406030204" pitchFamily="18" charset="0"/>
                          </a:rPr>
                          <m:t>1</m:t>
                        </m:r>
                        <m:r>
                          <a:rPr lang="sr-Latn-RS" sz="2400" i="1" dirty="0">
                            <a:latin typeface="Cambria Math" panose="02040503050406030204" pitchFamily="18" charset="0"/>
                          </a:rPr>
                          <m:t>−</m:t>
                        </m:r>
                        <m:r>
                          <m:rPr>
                            <m:sty m:val="p"/>
                          </m:rPr>
                          <a:rPr lang="sr-Latn-RS" sz="2400" dirty="0">
                            <a:latin typeface="Cambria Math" panose="02040503050406030204" pitchFamily="18" charset="0"/>
                          </a:rPr>
                          <m:t>P</m:t>
                        </m:r>
                        <m:r>
                          <a:rPr lang="sr-Latn-RS" sz="2400" b="0" i="0" dirty="0" smtClean="0">
                            <a:latin typeface="Cambria Math" panose="02040503050406030204" pitchFamily="18" charset="0"/>
                          </a:rPr>
                          <m:t>)</m:t>
                        </m:r>
                      </m:oMath>
                    </m:oMathPara>
                  </a14:m>
                  <a:endParaRPr lang="en-US" sz="2400" dirty="0"/>
                </a:p>
              </p:txBody>
            </p:sp>
          </mc:Choice>
          <mc:Fallback xmlns="">
            <p:sp>
              <p:nvSpPr>
                <p:cNvPr id="30" name="Rectangle 29">
                  <a:extLst>
                    <a:ext uri="{FF2B5EF4-FFF2-40B4-BE49-F238E27FC236}">
                      <a16:creationId xmlns:a16="http://schemas.microsoft.com/office/drawing/2014/main" id="{9FA5C237-6DCF-2547-AAE4-625F15F27811}"/>
                    </a:ext>
                  </a:extLst>
                </p:cNvPr>
                <p:cNvSpPr>
                  <a:spLocks noRot="1" noChangeAspect="1" noMove="1" noResize="1" noEditPoints="1" noAdjustHandles="1" noChangeArrowheads="1" noChangeShapeType="1" noTextEdit="1"/>
                </p:cNvSpPr>
                <p:nvPr/>
              </p:nvSpPr>
              <p:spPr>
                <a:xfrm>
                  <a:off x="5855833" y="4680505"/>
                  <a:ext cx="2133601" cy="461665"/>
                </a:xfrm>
                <a:prstGeom prst="rect">
                  <a:avLst/>
                </a:prstGeom>
                <a:blipFill>
                  <a:blip r:embed="rId7"/>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FC2BF862-91E8-7E46-A1C0-EB704898F080}"/>
                    </a:ext>
                  </a:extLst>
                </p:cNvPr>
                <p:cNvSpPr/>
                <p:nvPr/>
              </p:nvSpPr>
              <p:spPr>
                <a:xfrm>
                  <a:off x="5855833" y="5117109"/>
                  <a:ext cx="2133601"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sr-Latn-RS" sz="2400" i="1" dirty="0" smtClean="0">
                                <a:latin typeface="Cambria Math" panose="02040503050406030204" pitchFamily="18" charset="0"/>
                              </a:rPr>
                            </m:ctrlPr>
                          </m:sSupPr>
                          <m:e>
                            <m:r>
                              <m:rPr>
                                <m:sty m:val="p"/>
                              </m:rPr>
                              <a:rPr lang="sr-Latn-RS" sz="2400" b="0" i="0" dirty="0" smtClean="0">
                                <a:latin typeface="Cambria Math" panose="02040503050406030204" pitchFamily="18" charset="0"/>
                              </a:rPr>
                              <m:t>P</m:t>
                            </m:r>
                          </m:e>
                          <m:sup>
                            <m:r>
                              <a:rPr lang="sr-Latn-RS" sz="2400" b="0" i="0" dirty="0" smtClean="0">
                                <a:latin typeface="Cambria Math" panose="02040503050406030204" pitchFamily="18" charset="0"/>
                              </a:rPr>
                              <m:t>3</m:t>
                            </m:r>
                          </m:sup>
                        </m:sSup>
                      </m:oMath>
                    </m:oMathPara>
                  </a14:m>
                  <a:endParaRPr lang="en-US" sz="2400" dirty="0"/>
                </a:p>
              </p:txBody>
            </p:sp>
          </mc:Choice>
          <mc:Fallback xmlns="">
            <p:sp>
              <p:nvSpPr>
                <p:cNvPr id="31" name="Rectangle 30">
                  <a:extLst>
                    <a:ext uri="{FF2B5EF4-FFF2-40B4-BE49-F238E27FC236}">
                      <a16:creationId xmlns:a16="http://schemas.microsoft.com/office/drawing/2014/main" id="{FC2BF862-91E8-7E46-A1C0-EB704898F080}"/>
                    </a:ext>
                  </a:extLst>
                </p:cNvPr>
                <p:cNvSpPr>
                  <a:spLocks noRot="1" noChangeAspect="1" noMove="1" noResize="1" noEditPoints="1" noAdjustHandles="1" noChangeArrowheads="1" noChangeShapeType="1" noTextEdit="1"/>
                </p:cNvSpPr>
                <p:nvPr/>
              </p:nvSpPr>
              <p:spPr>
                <a:xfrm>
                  <a:off x="5855833" y="5117109"/>
                  <a:ext cx="2133601" cy="461665"/>
                </a:xfrm>
                <a:prstGeom prst="rect">
                  <a:avLst/>
                </a:prstGeom>
                <a:blipFill>
                  <a:blip r:embed="rId8"/>
                  <a:stretch>
                    <a:fillRect/>
                  </a:stretch>
                </a:blipFill>
              </p:spPr>
              <p:txBody>
                <a:bodyPr/>
                <a:lstStyle/>
                <a:p>
                  <a:r>
                    <a:rPr lang="en-US">
                      <a:noFill/>
                    </a:rPr>
                    <a:t> </a:t>
                  </a:r>
                </a:p>
              </p:txBody>
            </p:sp>
          </mc:Fallback>
        </mc:AlternateContent>
        <p:sp>
          <p:nvSpPr>
            <p:cNvPr id="32" name="Left Brace 31">
              <a:extLst>
                <a:ext uri="{FF2B5EF4-FFF2-40B4-BE49-F238E27FC236}">
                  <a16:creationId xmlns:a16="http://schemas.microsoft.com/office/drawing/2014/main" id="{0980A9E8-BB14-6441-88E8-E6813E5B4D78}"/>
                </a:ext>
              </a:extLst>
            </p:cNvPr>
            <p:cNvSpPr/>
            <p:nvPr/>
          </p:nvSpPr>
          <p:spPr>
            <a:xfrm>
              <a:off x="3843164" y="3885605"/>
              <a:ext cx="501888" cy="1693169"/>
            </a:xfrm>
            <a:prstGeom prst="leftBrace">
              <a:avLst>
                <a:gd name="adj1" fmla="val 3771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032393D8-ED08-FB4A-88C4-98E92694DDF5}"/>
              </a:ext>
            </a:extLst>
          </p:cNvPr>
          <p:cNvSpPr/>
          <p:nvPr/>
        </p:nvSpPr>
        <p:spPr>
          <a:xfrm>
            <a:off x="10531171" y="3643074"/>
            <a:ext cx="1486754" cy="707886"/>
          </a:xfrm>
          <a:prstGeom prst="rect">
            <a:avLst/>
          </a:prstGeom>
        </p:spPr>
        <p:txBody>
          <a:bodyPr wrap="none">
            <a:spAutoFit/>
          </a:bodyPr>
          <a:lstStyle/>
          <a:p>
            <a:pPr algn="ctr"/>
            <a:r>
              <a:rPr lang="en-US" sz="2000" dirty="0"/>
              <a:t>e.g.</a:t>
            </a:r>
          </a:p>
          <a:p>
            <a:pPr algn="ctr"/>
            <a:r>
              <a:rPr lang="en-US" sz="2000" dirty="0"/>
              <a:t>0.01 vs. 0.03</a:t>
            </a:r>
          </a:p>
        </p:txBody>
      </p:sp>
      <p:sp>
        <p:nvSpPr>
          <p:cNvPr id="49" name="TextBox 48">
            <a:extLst>
              <a:ext uri="{FF2B5EF4-FFF2-40B4-BE49-F238E27FC236}">
                <a16:creationId xmlns:a16="http://schemas.microsoft.com/office/drawing/2014/main" id="{7FDA26C1-4B31-8B4A-BFB9-7B25C6641643}"/>
              </a:ext>
            </a:extLst>
          </p:cNvPr>
          <p:cNvSpPr txBox="1"/>
          <p:nvPr/>
        </p:nvSpPr>
        <p:spPr>
          <a:xfrm>
            <a:off x="3358300" y="1859963"/>
            <a:ext cx="370614" cy="523220"/>
          </a:xfrm>
          <a:prstGeom prst="rect">
            <a:avLst/>
          </a:prstGeom>
          <a:noFill/>
        </p:spPr>
        <p:txBody>
          <a:bodyPr wrap="none" rtlCol="0">
            <a:spAutoFit/>
          </a:bodyPr>
          <a:lstStyle/>
          <a:p>
            <a:r>
              <a:rPr lang="en-US" sz="2800" dirty="0"/>
              <a:t>0</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2ED635BB-6C66-D246-9C54-1A0AD449BDAC}"/>
                  </a:ext>
                </a:extLst>
              </p:cNvPr>
              <p:cNvSpPr txBox="1"/>
              <p:nvPr/>
            </p:nvSpPr>
            <p:spPr>
              <a:xfrm>
                <a:off x="248707" y="3153332"/>
                <a:ext cx="3712235" cy="461665"/>
              </a:xfrm>
              <a:prstGeom prst="rect">
                <a:avLst/>
              </a:prstGeom>
              <a:noFill/>
            </p:spPr>
            <p:txBody>
              <a:bodyPr wrap="none" rtlCol="0">
                <a:spAutoFit/>
              </a:bodyPr>
              <a:lstStyle/>
              <a:p>
                <a14:m>
                  <m:oMath xmlns:m="http://schemas.openxmlformats.org/officeDocument/2006/math">
                    <m:r>
                      <a:rPr lang="sr-Latn-RS" sz="2400" i="1" smtClean="0">
                        <a:latin typeface="Cambria Math" panose="02040503050406030204" pitchFamily="18" charset="0"/>
                      </a:rPr>
                      <m:t>𝐵</m:t>
                    </m:r>
                    <m:r>
                      <a:rPr lang="sr-Latn-RS" sz="2400" i="1" smtClean="0">
                        <a:latin typeface="Cambria Math" panose="02040503050406030204" pitchFamily="18" charset="0"/>
                      </a:rPr>
                      <m:t>=</m:t>
                    </m:r>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0,1</m:t>
                        </m:r>
                      </m:e>
                    </m:d>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𝐶</m:t>
                        </m:r>
                      </m:e>
                      <m:sub>
                        <m:r>
                          <a:rPr lang="sr-Latn-RS" sz="2400" i="1">
                            <a:latin typeface="Cambria Math" panose="02040503050406030204" pitchFamily="18" charset="0"/>
                          </a:rPr>
                          <m:t>3</m:t>
                        </m:r>
                      </m:sub>
                    </m:sSub>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000,</m:t>
                        </m:r>
                        <m:r>
                          <a:rPr lang="sr-Latn-RS" sz="2400" b="0" i="1" smtClean="0">
                            <a:latin typeface="Cambria Math" panose="02040503050406030204" pitchFamily="18" charset="0"/>
                          </a:rPr>
                          <m:t>  </m:t>
                        </m:r>
                        <m:r>
                          <a:rPr lang="sr-Latn-RS" sz="2400" i="1">
                            <a:latin typeface="Cambria Math" panose="02040503050406030204" pitchFamily="18" charset="0"/>
                          </a:rPr>
                          <m:t>111</m:t>
                        </m:r>
                      </m:e>
                    </m:d>
                  </m:oMath>
                </a14:m>
                <a:r>
                  <a:rPr lang="en-ZA" sz="2400" dirty="0">
                    <a:effectLst/>
                  </a:rPr>
                  <a:t> </a:t>
                </a:r>
                <a:endParaRPr lang="en-US" sz="2400" dirty="0"/>
              </a:p>
            </p:txBody>
          </p:sp>
        </mc:Choice>
        <mc:Fallback xmlns="">
          <p:sp>
            <p:nvSpPr>
              <p:cNvPr id="52" name="TextBox 51">
                <a:extLst>
                  <a:ext uri="{FF2B5EF4-FFF2-40B4-BE49-F238E27FC236}">
                    <a16:creationId xmlns:a16="http://schemas.microsoft.com/office/drawing/2014/main" id="{2ED635BB-6C66-D246-9C54-1A0AD449BDAC}"/>
                  </a:ext>
                </a:extLst>
              </p:cNvPr>
              <p:cNvSpPr txBox="1">
                <a:spLocks noRot="1" noChangeAspect="1" noMove="1" noResize="1" noEditPoints="1" noAdjustHandles="1" noChangeArrowheads="1" noChangeShapeType="1" noTextEdit="1"/>
              </p:cNvSpPr>
              <p:nvPr/>
            </p:nvSpPr>
            <p:spPr>
              <a:xfrm>
                <a:off x="248707" y="3153332"/>
                <a:ext cx="3712235" cy="461665"/>
              </a:xfrm>
              <a:prstGeom prst="rect">
                <a:avLst/>
              </a:prstGeom>
              <a:blipFill>
                <a:blip r:embed="rId12"/>
                <a:stretch>
                  <a:fillRect l="-341" b="-2632"/>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FAE3940C-AA18-944C-BCA4-ADC17A6185EA}"/>
              </a:ext>
            </a:extLst>
          </p:cNvPr>
          <p:cNvGrpSpPr/>
          <p:nvPr/>
        </p:nvGrpSpPr>
        <p:grpSpPr>
          <a:xfrm>
            <a:off x="4232344" y="3316777"/>
            <a:ext cx="6209514" cy="2381821"/>
            <a:chOff x="4232344" y="3316777"/>
            <a:chExt cx="6209514" cy="2381821"/>
          </a:xfrm>
        </p:grpSpPr>
        <p:grpSp>
          <p:nvGrpSpPr>
            <p:cNvPr id="43" name="Group 42">
              <a:extLst>
                <a:ext uri="{FF2B5EF4-FFF2-40B4-BE49-F238E27FC236}">
                  <a16:creationId xmlns:a16="http://schemas.microsoft.com/office/drawing/2014/main" id="{CFD201F6-C5E7-2142-9D14-B569C85261AE}"/>
                </a:ext>
              </a:extLst>
            </p:cNvPr>
            <p:cNvGrpSpPr/>
            <p:nvPr/>
          </p:nvGrpSpPr>
          <p:grpSpPr>
            <a:xfrm>
              <a:off x="4232344" y="3730601"/>
              <a:ext cx="6209514" cy="1686877"/>
              <a:chOff x="4232344" y="3807297"/>
              <a:chExt cx="6209514" cy="1686877"/>
            </a:xfrm>
          </p:grpSpPr>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A11957DD-08CC-744E-99D3-7F930E4421F1}"/>
                      </a:ext>
                    </a:extLst>
                  </p:cNvPr>
                  <p:cNvSpPr/>
                  <p:nvPr/>
                </p:nvSpPr>
                <p:spPr>
                  <a:xfrm>
                    <a:off x="8195912" y="4887052"/>
                    <a:ext cx="2245946" cy="461665"/>
                  </a:xfrm>
                  <a:prstGeom prst="rect">
                    <a:avLst/>
                  </a:prstGeom>
                  <a:solidFill>
                    <a:schemeClr val="accent2">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r>
                            <a:rPr lang="sr-Latn-RS" sz="2400" i="0" dirty="0" smtClean="0">
                              <a:latin typeface="Cambria Math" panose="02040503050406030204" pitchFamily="18" charset="0"/>
                            </a:rPr>
                            <m:t>3</m:t>
                          </m:r>
                          <m:sSup>
                            <m:sSupPr>
                              <m:ctrlPr>
                                <a:rPr lang="sr-Latn-RS" sz="2400" i="1" dirty="0" smtClean="0">
                                  <a:latin typeface="Cambria Math" panose="02040503050406030204" pitchFamily="18" charset="0"/>
                                </a:rPr>
                              </m:ctrlPr>
                            </m:sSupPr>
                            <m:e>
                              <m:r>
                                <m:rPr>
                                  <m:sty m:val="p"/>
                                </m:rPr>
                                <a:rPr lang="sr-Latn-RS" sz="2400" b="0" i="0" dirty="0" smtClean="0">
                                  <a:latin typeface="Cambria Math" panose="02040503050406030204" pitchFamily="18" charset="0"/>
                                </a:rPr>
                                <m:t>P</m:t>
                              </m:r>
                            </m:e>
                            <m:sup>
                              <m:r>
                                <a:rPr lang="sr-Latn-RS" sz="2400" b="0" i="0" dirty="0" smtClean="0">
                                  <a:latin typeface="Cambria Math" panose="02040503050406030204" pitchFamily="18" charset="0"/>
                                </a:rPr>
                                <m:t>2</m:t>
                              </m:r>
                            </m:sup>
                          </m:sSup>
                          <m:r>
                            <a:rPr lang="sr-Latn-RS" sz="2400" b="0" i="0" dirty="0" smtClean="0">
                              <a:latin typeface="Cambria Math" panose="02040503050406030204" pitchFamily="18" charset="0"/>
                            </a:rPr>
                            <m:t>−2</m:t>
                          </m:r>
                          <m:sSup>
                            <m:sSupPr>
                              <m:ctrlPr>
                                <a:rPr lang="sr-Latn-RS" sz="2400" i="1" dirty="0" smtClean="0">
                                  <a:latin typeface="Cambria Math" panose="02040503050406030204" pitchFamily="18" charset="0"/>
                                </a:rPr>
                              </m:ctrlPr>
                            </m:sSupPr>
                            <m:e>
                              <m:r>
                                <m:rPr>
                                  <m:sty m:val="p"/>
                                </m:rPr>
                                <a:rPr lang="sr-Latn-RS" sz="2400" dirty="0">
                                  <a:latin typeface="Cambria Math" panose="02040503050406030204" pitchFamily="18" charset="0"/>
                                </a:rPr>
                                <m:t>P</m:t>
                              </m:r>
                            </m:e>
                            <m:sup>
                              <m:r>
                                <a:rPr lang="sr-Latn-RS" sz="2400" b="0" i="1" dirty="0" smtClean="0">
                                  <a:latin typeface="Cambria Math" panose="02040503050406030204" pitchFamily="18" charset="0"/>
                                </a:rPr>
                                <m:t>3</m:t>
                              </m:r>
                            </m:sup>
                          </m:sSup>
                        </m:oMath>
                      </m:oMathPara>
                    </a14:m>
                    <a:endParaRPr lang="en-US" sz="2400" dirty="0"/>
                  </a:p>
                </p:txBody>
              </p:sp>
            </mc:Choice>
            <mc:Fallback xmlns="">
              <p:sp>
                <p:nvSpPr>
                  <p:cNvPr id="40" name="Rectangle 39">
                    <a:extLst>
                      <a:ext uri="{FF2B5EF4-FFF2-40B4-BE49-F238E27FC236}">
                        <a16:creationId xmlns:a16="http://schemas.microsoft.com/office/drawing/2014/main" id="{A11957DD-08CC-744E-99D3-7F930E4421F1}"/>
                      </a:ext>
                    </a:extLst>
                  </p:cNvPr>
                  <p:cNvSpPr>
                    <a:spLocks noRot="1" noChangeAspect="1" noMove="1" noResize="1" noEditPoints="1" noAdjustHandles="1" noChangeArrowheads="1" noChangeShapeType="1" noTextEdit="1"/>
                  </p:cNvSpPr>
                  <p:nvPr/>
                </p:nvSpPr>
                <p:spPr>
                  <a:xfrm>
                    <a:off x="8195912" y="4887052"/>
                    <a:ext cx="2245946"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36AEE2AD-BD82-1E4E-B836-D72135A63D79}"/>
                      </a:ext>
                    </a:extLst>
                  </p:cNvPr>
                  <p:cNvSpPr/>
                  <p:nvPr/>
                </p:nvSpPr>
                <p:spPr>
                  <a:xfrm>
                    <a:off x="8195911" y="3918856"/>
                    <a:ext cx="2245947" cy="461665"/>
                  </a:xfrm>
                  <a:prstGeom prst="rect">
                    <a:avLst/>
                  </a:prstGeom>
                  <a:solidFill>
                    <a:schemeClr val="accent5">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r>
                            <a:rPr lang="sr-Latn-RS" sz="2400" b="0" i="0" dirty="0" smtClean="0">
                              <a:latin typeface="Cambria Math" panose="02040503050406030204" pitchFamily="18" charset="0"/>
                            </a:rPr>
                            <m:t>1−</m:t>
                          </m:r>
                          <m:r>
                            <a:rPr lang="sr-Latn-RS" sz="2400" i="0" dirty="0" smtClean="0">
                              <a:latin typeface="Cambria Math" panose="02040503050406030204" pitchFamily="18" charset="0"/>
                            </a:rPr>
                            <m:t>3</m:t>
                          </m:r>
                          <m:sSup>
                            <m:sSupPr>
                              <m:ctrlPr>
                                <a:rPr lang="sr-Latn-RS" sz="2400" i="1" dirty="0" smtClean="0">
                                  <a:latin typeface="Cambria Math" panose="02040503050406030204" pitchFamily="18" charset="0"/>
                                </a:rPr>
                              </m:ctrlPr>
                            </m:sSupPr>
                            <m:e>
                              <m:r>
                                <m:rPr>
                                  <m:sty m:val="p"/>
                                </m:rPr>
                                <a:rPr lang="sr-Latn-RS" sz="2400" b="0" i="0" dirty="0" smtClean="0">
                                  <a:latin typeface="Cambria Math" panose="02040503050406030204" pitchFamily="18" charset="0"/>
                                </a:rPr>
                                <m:t>P</m:t>
                              </m:r>
                            </m:e>
                            <m:sup>
                              <m:r>
                                <a:rPr lang="sr-Latn-RS" sz="2400" b="0" i="0" dirty="0" smtClean="0">
                                  <a:latin typeface="Cambria Math" panose="02040503050406030204" pitchFamily="18" charset="0"/>
                                </a:rPr>
                                <m:t>2</m:t>
                              </m:r>
                            </m:sup>
                          </m:sSup>
                          <m:r>
                            <a:rPr lang="sr-Latn-RS" sz="2400" b="0" i="0" dirty="0" smtClean="0">
                              <a:latin typeface="Cambria Math" panose="02040503050406030204" pitchFamily="18" charset="0"/>
                            </a:rPr>
                            <m:t>+2</m:t>
                          </m:r>
                          <m:sSup>
                            <m:sSupPr>
                              <m:ctrlPr>
                                <a:rPr lang="sr-Latn-RS" sz="2400" i="1" dirty="0" smtClean="0">
                                  <a:latin typeface="Cambria Math" panose="02040503050406030204" pitchFamily="18" charset="0"/>
                                </a:rPr>
                              </m:ctrlPr>
                            </m:sSupPr>
                            <m:e>
                              <m:r>
                                <m:rPr>
                                  <m:sty m:val="p"/>
                                </m:rPr>
                                <a:rPr lang="sr-Latn-RS" sz="2400" dirty="0">
                                  <a:latin typeface="Cambria Math" panose="02040503050406030204" pitchFamily="18" charset="0"/>
                                </a:rPr>
                                <m:t>P</m:t>
                              </m:r>
                            </m:e>
                            <m:sup>
                              <m:r>
                                <a:rPr lang="sr-Latn-RS" sz="2400" b="0" i="1" dirty="0" smtClean="0">
                                  <a:latin typeface="Cambria Math" panose="02040503050406030204" pitchFamily="18" charset="0"/>
                                </a:rPr>
                                <m:t>3</m:t>
                              </m:r>
                            </m:sup>
                          </m:sSup>
                        </m:oMath>
                      </m:oMathPara>
                    </a14:m>
                    <a:endParaRPr lang="en-US" sz="2400" dirty="0"/>
                  </a:p>
                </p:txBody>
              </p:sp>
            </mc:Choice>
            <mc:Fallback xmlns="">
              <p:sp>
                <p:nvSpPr>
                  <p:cNvPr id="41" name="Rectangle 40">
                    <a:extLst>
                      <a:ext uri="{FF2B5EF4-FFF2-40B4-BE49-F238E27FC236}">
                        <a16:creationId xmlns:a16="http://schemas.microsoft.com/office/drawing/2014/main" id="{36AEE2AD-BD82-1E4E-B836-D72135A63D79}"/>
                      </a:ext>
                    </a:extLst>
                  </p:cNvPr>
                  <p:cNvSpPr>
                    <a:spLocks noRot="1" noChangeAspect="1" noMove="1" noResize="1" noEditPoints="1" noAdjustHandles="1" noChangeArrowheads="1" noChangeShapeType="1" noTextEdit="1"/>
                  </p:cNvSpPr>
                  <p:nvPr/>
                </p:nvSpPr>
                <p:spPr>
                  <a:xfrm>
                    <a:off x="8195911" y="3918856"/>
                    <a:ext cx="2245947" cy="461665"/>
                  </a:xfrm>
                  <a:prstGeom prst="rect">
                    <a:avLst/>
                  </a:prstGeom>
                  <a:blipFill>
                    <a:blip r:embed="rId10"/>
                    <a:stretch>
                      <a:fillRect/>
                    </a:stretch>
                  </a:blipFill>
                </p:spPr>
                <p:txBody>
                  <a:bodyPr/>
                  <a:lstStyle/>
                  <a:p>
                    <a:r>
                      <a:rPr lang="en-US">
                        <a:noFill/>
                      </a:rPr>
                      <a:t> </a:t>
                    </a:r>
                  </a:p>
                </p:txBody>
              </p:sp>
            </mc:Fallback>
          </mc:AlternateContent>
          <p:cxnSp>
            <p:nvCxnSpPr>
              <p:cNvPr id="35" name="Straight Connector 34">
                <a:extLst>
                  <a:ext uri="{FF2B5EF4-FFF2-40B4-BE49-F238E27FC236}">
                    <a16:creationId xmlns:a16="http://schemas.microsoft.com/office/drawing/2014/main" id="{433C4854-0700-1E41-AAE4-D168B3ED69B8}"/>
                  </a:ext>
                </a:extLst>
              </p:cNvPr>
              <p:cNvCxnSpPr>
                <a:cxnSpLocks/>
              </p:cNvCxnSpPr>
              <p:nvPr/>
            </p:nvCxnSpPr>
            <p:spPr>
              <a:xfrm>
                <a:off x="4232344" y="4680505"/>
                <a:ext cx="57080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5D0A4D3-D629-4F43-B90C-CE04412B12AB}"/>
                  </a:ext>
                </a:extLst>
              </p:cNvPr>
              <p:cNvCxnSpPr>
                <a:cxnSpLocks/>
              </p:cNvCxnSpPr>
              <p:nvPr/>
            </p:nvCxnSpPr>
            <p:spPr>
              <a:xfrm>
                <a:off x="7989434" y="3807297"/>
                <a:ext cx="0" cy="1686877"/>
              </a:xfrm>
              <a:prstGeom prst="line">
                <a:avLst/>
              </a:prstGeom>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90A8BB93-B04A-7445-86B2-D730FABBE16E}"/>
                </a:ext>
              </a:extLst>
            </p:cNvPr>
            <p:cNvSpPr txBox="1"/>
            <p:nvPr/>
          </p:nvSpPr>
          <p:spPr>
            <a:xfrm>
              <a:off x="8195911" y="3316777"/>
              <a:ext cx="2080441" cy="400110"/>
            </a:xfrm>
            <a:prstGeom prst="rect">
              <a:avLst/>
            </a:prstGeom>
            <a:noFill/>
          </p:spPr>
          <p:txBody>
            <a:bodyPr wrap="none" rtlCol="0">
              <a:spAutoFit/>
            </a:bodyPr>
            <a:lstStyle/>
            <a:p>
              <a:r>
                <a:rPr lang="en-ZA" sz="2000" dirty="0"/>
                <a:t>Correctable errors</a:t>
              </a:r>
              <a:endParaRPr lang="en-US" sz="2000" dirty="0"/>
            </a:p>
          </p:txBody>
        </p:sp>
        <p:sp>
          <p:nvSpPr>
            <p:cNvPr id="50" name="TextBox 49">
              <a:extLst>
                <a:ext uri="{FF2B5EF4-FFF2-40B4-BE49-F238E27FC236}">
                  <a16:creationId xmlns:a16="http://schemas.microsoft.com/office/drawing/2014/main" id="{54C3D9FF-E287-DE45-BE70-8746F08EC92F}"/>
                </a:ext>
              </a:extLst>
            </p:cNvPr>
            <p:cNvSpPr txBox="1"/>
            <p:nvPr/>
          </p:nvSpPr>
          <p:spPr>
            <a:xfrm>
              <a:off x="8060713" y="5298488"/>
              <a:ext cx="2350836" cy="400110"/>
            </a:xfrm>
            <a:prstGeom prst="rect">
              <a:avLst/>
            </a:prstGeom>
            <a:noFill/>
          </p:spPr>
          <p:txBody>
            <a:bodyPr wrap="none" rtlCol="0">
              <a:spAutoFit/>
            </a:bodyPr>
            <a:lstStyle/>
            <a:p>
              <a:pPr algn="ctr"/>
              <a:r>
                <a:rPr lang="en-ZA" sz="2000" dirty="0" err="1"/>
                <a:t>Uncorrectable</a:t>
              </a:r>
              <a:r>
                <a:rPr lang="en-ZA" sz="2000" dirty="0"/>
                <a:t> errors</a:t>
              </a:r>
              <a:endParaRPr lang="en-US" sz="2000" dirty="0"/>
            </a:p>
          </p:txBody>
        </p:sp>
      </p:grpSp>
    </p:spTree>
    <p:extLst>
      <p:ext uri="{BB962C8B-B14F-4D97-AF65-F5344CB8AC3E}">
        <p14:creationId xmlns:p14="http://schemas.microsoft.com/office/powerpoint/2010/main" val="3754116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dissolve">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dissolve">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5FE84-10CB-5D43-9FBA-065E1C33215C}"/>
              </a:ext>
            </a:extLst>
          </p:cNvPr>
          <p:cNvSpPr>
            <a:spLocks noGrp="1"/>
          </p:cNvSpPr>
          <p:nvPr>
            <p:ph type="title"/>
          </p:nvPr>
        </p:nvSpPr>
        <p:spPr/>
        <p:txBody>
          <a:bodyPr/>
          <a:lstStyle/>
          <a:p>
            <a:r>
              <a:rPr lang="en-ZA" dirty="0"/>
              <a:t>Digitalization of Quantum Errors</a:t>
            </a:r>
          </a:p>
        </p:txBody>
      </p:sp>
      <p:sp>
        <p:nvSpPr>
          <p:cNvPr id="3" name="Slide Number Placeholder 2">
            <a:extLst>
              <a:ext uri="{FF2B5EF4-FFF2-40B4-BE49-F238E27FC236}">
                <a16:creationId xmlns:a16="http://schemas.microsoft.com/office/drawing/2014/main" id="{41D9CA3C-52E4-6A45-A1A3-2CA5A9EB9BCA}"/>
              </a:ext>
            </a:extLst>
          </p:cNvPr>
          <p:cNvSpPr>
            <a:spLocks noGrp="1"/>
          </p:cNvSpPr>
          <p:nvPr>
            <p:ph type="sldNum" sz="quarter" idx="12"/>
          </p:nvPr>
        </p:nvSpPr>
        <p:spPr/>
        <p:txBody>
          <a:bodyPr/>
          <a:lstStyle/>
          <a:p>
            <a:fld id="{591A223C-FA10-BC46-A853-03BA373D023C}" type="slidenum">
              <a:rPr lang="en-US" smtClean="0"/>
              <a:t>43</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017CE4E-D614-B941-AB4D-DAB7CC70B547}"/>
                  </a:ext>
                </a:extLst>
              </p:cNvPr>
              <p:cNvSpPr/>
              <p:nvPr/>
            </p:nvSpPr>
            <p:spPr>
              <a:xfrm>
                <a:off x="555329" y="1126515"/>
                <a:ext cx="6211231" cy="79207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i="0">
                          <a:latin typeface="Cambria Math" panose="02040503050406030204" pitchFamily="18" charset="0"/>
                        </a:rPr>
                        <m:t>=</m:t>
                      </m:r>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i="0">
                                  <a:latin typeface="Cambria Math" panose="02040503050406030204" pitchFamily="18" charset="0"/>
                                </a:rPr>
                                <m:t>2</m:t>
                              </m:r>
                            </m:den>
                          </m:f>
                        </m:e>
                      </m:func>
                      <m:d>
                        <m:dPr>
                          <m:begChr m:val="|"/>
                          <m:endChr m:val="⟩"/>
                          <m:ctrlPr>
                            <a:rPr lang="en-US" sz="2400" i="1">
                              <a:latin typeface="Cambria Math" panose="02040503050406030204" pitchFamily="18" charset="0"/>
                            </a:rPr>
                          </m:ctrlPr>
                        </m:dPr>
                        <m:e>
                          <m:r>
                            <a:rPr lang="en-US" sz="2400" i="0">
                              <a:latin typeface="Cambria Math" panose="02040503050406030204" pitchFamily="18" charset="0"/>
                            </a:rPr>
                            <m:t>0</m:t>
                          </m:r>
                        </m:e>
                      </m:d>
                      <m:r>
                        <a:rPr lang="en-US" sz="2400" i="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𝑖</m:t>
                          </m:r>
                          <m:r>
                            <a:rPr lang="en-US" sz="2400" i="1">
                              <a:latin typeface="Cambria Math" panose="02040503050406030204" pitchFamily="18" charset="0"/>
                            </a:rPr>
                            <m:t>𝜑</m:t>
                          </m:r>
                        </m:sup>
                      </m:sSup>
                      <m:func>
                        <m:funcPr>
                          <m:ctrlPr>
                            <a:rPr lang="en-US" sz="2400" i="1">
                              <a:latin typeface="Cambria Math" panose="02040503050406030204" pitchFamily="18" charset="0"/>
                            </a:rPr>
                          </m:ctrlPr>
                        </m:funcPr>
                        <m:fName>
                          <m:r>
                            <m:rPr>
                              <m:sty m:val="p"/>
                            </m:rPr>
                            <a:rPr lang="en-US" sz="2400" i="0">
                              <a:latin typeface="Cambria Math" panose="02040503050406030204" pitchFamily="18" charset="0"/>
                            </a:rPr>
                            <m:t>sin</m:t>
                          </m:r>
                        </m:fName>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i="0">
                                  <a:latin typeface="Cambria Math" panose="02040503050406030204" pitchFamily="18" charset="0"/>
                                </a:rPr>
                                <m:t>2</m:t>
                              </m:r>
                            </m:den>
                          </m:f>
                        </m:e>
                      </m:func>
                      <m:d>
                        <m:dPr>
                          <m:begChr m:val="|"/>
                          <m:endChr m:val="⟩"/>
                          <m:ctrlPr>
                            <a:rPr lang="en-US" sz="2400" i="1">
                              <a:latin typeface="Cambria Math" panose="02040503050406030204" pitchFamily="18" charset="0"/>
                            </a:rPr>
                          </m:ctrlPr>
                        </m:dPr>
                        <m:e>
                          <m:r>
                            <a:rPr lang="en-US" sz="2400" i="0">
                              <a:latin typeface="Cambria Math" panose="02040503050406030204" pitchFamily="18" charset="0"/>
                            </a:rPr>
                            <m:t>1</m:t>
                          </m:r>
                        </m:e>
                      </m:d>
                    </m:oMath>
                  </m:oMathPara>
                </a14:m>
                <a:endParaRPr lang="en-US" sz="2400" dirty="0"/>
              </a:p>
            </p:txBody>
          </p:sp>
        </mc:Choice>
        <mc:Fallback xmlns="">
          <p:sp>
            <p:nvSpPr>
              <p:cNvPr id="4" name="Rectangle 3">
                <a:extLst>
                  <a:ext uri="{FF2B5EF4-FFF2-40B4-BE49-F238E27FC236}">
                    <a16:creationId xmlns:a16="http://schemas.microsoft.com/office/drawing/2014/main" id="{F017CE4E-D614-B941-AB4D-DAB7CC70B547}"/>
                  </a:ext>
                </a:extLst>
              </p:cNvPr>
              <p:cNvSpPr>
                <a:spLocks noRot="1" noChangeAspect="1" noMove="1" noResize="1" noEditPoints="1" noAdjustHandles="1" noChangeArrowheads="1" noChangeShapeType="1" noTextEdit="1"/>
              </p:cNvSpPr>
              <p:nvPr/>
            </p:nvSpPr>
            <p:spPr>
              <a:xfrm>
                <a:off x="555329" y="1126515"/>
                <a:ext cx="6211231" cy="792076"/>
              </a:xfrm>
              <a:prstGeom prst="rect">
                <a:avLst/>
              </a:prstGeom>
              <a:blipFill>
                <a:blip r:embed="rId3"/>
                <a:stretch>
                  <a:fillRect b="-47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8989323-9BD4-6643-BFC8-54D432F13397}"/>
                  </a:ext>
                </a:extLst>
              </p:cNvPr>
              <p:cNvSpPr/>
              <p:nvPr/>
            </p:nvSpPr>
            <p:spPr>
              <a:xfrm>
                <a:off x="430383" y="1918591"/>
                <a:ext cx="7458004" cy="7920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400" i="1" smtClean="0">
                              <a:latin typeface="Cambria Math" panose="02040503050406030204" pitchFamily="18" charset="0"/>
                            </a:rPr>
                          </m:ctrlPr>
                        </m:funcPr>
                        <m:fName>
                          <m:r>
                            <a:rPr lang="en-US" sz="2400" i="1">
                              <a:latin typeface="Cambria Math" panose="02040503050406030204" pitchFamily="18" charset="0"/>
                            </a:rPr>
                            <m:t>𝑈</m:t>
                          </m:r>
                          <m:d>
                            <m:dPr>
                              <m:ctrlPr>
                                <a:rPr lang="en-US" sz="2400" i="1">
                                  <a:latin typeface="Cambria Math" panose="02040503050406030204" pitchFamily="18" charset="0"/>
                                </a:rPr>
                              </m:ctrlPr>
                            </m:dPr>
                            <m:e>
                              <m:r>
                                <a:rPr lang="en-US" sz="2400" i="1">
                                  <a:latin typeface="Cambria Math" panose="02040503050406030204" pitchFamily="18" charset="0"/>
                                </a:rPr>
                                <m:t>𝛿𝜃</m:t>
                              </m:r>
                              <m:r>
                                <a:rPr lang="en-US" sz="2400">
                                  <a:latin typeface="Cambria Math" panose="02040503050406030204" pitchFamily="18" charset="0"/>
                                </a:rPr>
                                <m:t>,</m:t>
                              </m:r>
                              <m:r>
                                <a:rPr lang="en-US" sz="2400" i="1">
                                  <a:latin typeface="Cambria Math" panose="02040503050406030204" pitchFamily="18" charset="0"/>
                                </a:rPr>
                                <m:t>𝛿𝜑</m:t>
                              </m:r>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sr-Latn-RS" sz="2400" b="0" i="1" smtClean="0">
                              <a:latin typeface="Cambria Math" panose="02040503050406030204" pitchFamily="18" charset="0"/>
                            </a:rPr>
                            <m:t>=</m:t>
                          </m:r>
                          <m:r>
                            <a:rPr lang="en-US" sz="2400" i="1">
                              <a:latin typeface="Cambria Math" panose="02040503050406030204" pitchFamily="18" charset="0"/>
                            </a:rPr>
                            <m:t>𝑐𝑜𝑠</m:t>
                          </m:r>
                        </m:fName>
                        <m:e>
                          <m:f>
                            <m:fPr>
                              <m:ctrlPr>
                                <a:rPr lang="en-US" sz="2400" i="1">
                                  <a:latin typeface="Cambria Math" panose="02040503050406030204" pitchFamily="18" charset="0"/>
                                </a:rPr>
                              </m:ctrlPr>
                            </m:fPr>
                            <m:num>
                              <m:r>
                                <a:rPr lang="en-US" sz="2400" i="1">
                                  <a:latin typeface="Cambria Math" panose="02040503050406030204" pitchFamily="18" charset="0"/>
                                </a:rPr>
                                <m:t>𝜃</m:t>
                              </m:r>
                              <m:r>
                                <a:rPr lang="en-US" sz="2400">
                                  <a:latin typeface="Cambria Math" panose="02040503050406030204" pitchFamily="18" charset="0"/>
                                </a:rPr>
                                <m:t>+</m:t>
                              </m:r>
                              <m:r>
                                <a:rPr lang="en-US" sz="2400" i="1">
                                  <a:latin typeface="Cambria Math" panose="02040503050406030204" pitchFamily="18" charset="0"/>
                                </a:rPr>
                                <m:t>𝛿𝜃</m:t>
                              </m:r>
                            </m:num>
                            <m:den>
                              <m:r>
                                <a:rPr lang="en-US" sz="2400">
                                  <a:latin typeface="Cambria Math" panose="02040503050406030204" pitchFamily="18" charset="0"/>
                                </a:rPr>
                                <m:t>2</m:t>
                              </m:r>
                            </m:den>
                          </m:f>
                        </m:e>
                      </m:func>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d>
                            <m:dPr>
                              <m:begChr m:val=""/>
                              <m:ctrlPr>
                                <a:rPr lang="en-US" sz="2400" i="1">
                                  <a:latin typeface="Cambria Math" panose="02040503050406030204" pitchFamily="18" charset="0"/>
                                </a:rPr>
                              </m:ctrlPr>
                            </m:dPr>
                            <m:e>
                              <m:r>
                                <a:rPr lang="en-US" sz="2400" i="1">
                                  <a:latin typeface="Cambria Math" panose="02040503050406030204" pitchFamily="18" charset="0"/>
                                </a:rPr>
                                <m:t>𝑖</m:t>
                              </m:r>
                              <m:r>
                                <a:rPr lang="en-US" sz="2400">
                                  <a:latin typeface="Cambria Math" panose="02040503050406030204" pitchFamily="18" charset="0"/>
                                </a:rPr>
                                <m:t>(</m:t>
                              </m:r>
                              <m:r>
                                <a:rPr lang="en-US" sz="2400" i="1">
                                  <a:latin typeface="Cambria Math" panose="02040503050406030204" pitchFamily="18" charset="0"/>
                                </a:rPr>
                                <m:t>𝜑</m:t>
                              </m:r>
                              <m:r>
                                <a:rPr lang="en-US" sz="2400">
                                  <a:latin typeface="Cambria Math" panose="02040503050406030204" pitchFamily="18" charset="0"/>
                                </a:rPr>
                                <m:t>+</m:t>
                              </m:r>
                              <m:r>
                                <a:rPr lang="en-US" sz="2400" i="1">
                                  <a:latin typeface="Cambria Math" panose="02040503050406030204" pitchFamily="18" charset="0"/>
                                </a:rPr>
                                <m:t>𝛿𝜑</m:t>
                              </m:r>
                            </m:e>
                          </m:d>
                        </m:sup>
                      </m:sSup>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sin</m:t>
                          </m:r>
                        </m:fName>
                        <m:e>
                          <m:f>
                            <m:fPr>
                              <m:ctrlPr>
                                <a:rPr lang="en-US" sz="2400" i="1">
                                  <a:latin typeface="Cambria Math" panose="02040503050406030204" pitchFamily="18" charset="0"/>
                                </a:rPr>
                              </m:ctrlPr>
                            </m:fPr>
                            <m:num>
                              <m:r>
                                <a:rPr lang="en-US" sz="2400" i="1">
                                  <a:latin typeface="Cambria Math" panose="02040503050406030204" pitchFamily="18" charset="0"/>
                                </a:rPr>
                                <m:t>𝜃</m:t>
                              </m:r>
                              <m:r>
                                <a:rPr lang="en-US" sz="2400">
                                  <a:latin typeface="Cambria Math" panose="02040503050406030204" pitchFamily="18" charset="0"/>
                                </a:rPr>
                                <m:t>+</m:t>
                              </m:r>
                              <m:r>
                                <a:rPr lang="en-US" sz="2400" i="1">
                                  <a:latin typeface="Cambria Math" panose="02040503050406030204" pitchFamily="18" charset="0"/>
                                </a:rPr>
                                <m:t>𝛿𝜃</m:t>
                              </m:r>
                            </m:num>
                            <m:den>
                              <m:r>
                                <a:rPr lang="en-US" sz="2400">
                                  <a:latin typeface="Cambria Math" panose="02040503050406030204" pitchFamily="18" charset="0"/>
                                </a:rPr>
                                <m:t>2</m:t>
                              </m:r>
                            </m:den>
                          </m:f>
                        </m:e>
                      </m:func>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oMath>
                  </m:oMathPara>
                </a14:m>
                <a:endParaRPr lang="en-US" sz="2400" dirty="0"/>
              </a:p>
            </p:txBody>
          </p:sp>
        </mc:Choice>
        <mc:Fallback xmlns="">
          <p:sp>
            <p:nvSpPr>
              <p:cNvPr id="5" name="Rectangle 4">
                <a:extLst>
                  <a:ext uri="{FF2B5EF4-FFF2-40B4-BE49-F238E27FC236}">
                    <a16:creationId xmlns:a16="http://schemas.microsoft.com/office/drawing/2014/main" id="{08989323-9BD4-6643-BFC8-54D432F13397}"/>
                  </a:ext>
                </a:extLst>
              </p:cNvPr>
              <p:cNvSpPr>
                <a:spLocks noRot="1" noChangeAspect="1" noMove="1" noResize="1" noEditPoints="1" noAdjustHandles="1" noChangeArrowheads="1" noChangeShapeType="1" noTextEdit="1"/>
              </p:cNvSpPr>
              <p:nvPr/>
            </p:nvSpPr>
            <p:spPr>
              <a:xfrm>
                <a:off x="430383" y="1918591"/>
                <a:ext cx="7458004" cy="792076"/>
              </a:xfrm>
              <a:prstGeom prst="rect">
                <a:avLst/>
              </a:prstGeom>
              <a:blipFill>
                <a:blip r:embed="rId4"/>
                <a:stretch>
                  <a:fillRect t="-33333" b="-5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09C221F1-DBFB-3244-B334-0EBCA5145D62}"/>
                  </a:ext>
                </a:extLst>
              </p:cNvPr>
              <p:cNvSpPr/>
              <p:nvPr/>
            </p:nvSpPr>
            <p:spPr>
              <a:xfrm>
                <a:off x="555329" y="3224517"/>
                <a:ext cx="9450921" cy="633635"/>
              </a:xfrm>
              <a:prstGeom prst="rect">
                <a:avLst/>
              </a:prstGeom>
              <a:solidFill>
                <a:schemeClr val="bg1">
                  <a:lumMod val="95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𝑈</m:t>
                      </m:r>
                      <m:d>
                        <m:dPr>
                          <m:ctrlPr>
                            <a:rPr lang="en-US" sz="2400" i="1">
                              <a:latin typeface="Cambria Math" panose="02040503050406030204" pitchFamily="18" charset="0"/>
                            </a:rPr>
                          </m:ctrlPr>
                        </m:dPr>
                        <m:e>
                          <m:r>
                            <a:rPr lang="en-US" sz="2400" i="1">
                              <a:latin typeface="Cambria Math" panose="02040503050406030204" pitchFamily="18" charset="0"/>
                            </a:rPr>
                            <m:t>𝛿𝜃</m:t>
                          </m:r>
                          <m:r>
                            <a:rPr lang="en-US" sz="2400" i="0">
                              <a:latin typeface="Cambria Math" panose="02040503050406030204" pitchFamily="18" charset="0"/>
                            </a:rPr>
                            <m:t>,</m:t>
                          </m:r>
                          <m:r>
                            <a:rPr lang="en-US" sz="2400" i="1">
                              <a:latin typeface="Cambria Math" panose="02040503050406030204" pitchFamily="18" charset="0"/>
                            </a:rPr>
                            <m:t>𝛿𝜑</m:t>
                          </m:r>
                        </m:e>
                      </m:d>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𝐼</m:t>
                          </m:r>
                        </m:sub>
                      </m:sSub>
                      <m:r>
                        <a:rPr lang="en-US" sz="2400" i="1">
                          <a:latin typeface="Cambria Math" panose="02040503050406030204" pitchFamily="18" charset="0"/>
                        </a:rPr>
                        <m:t>𝐼</m:t>
                      </m:r>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𝑥</m:t>
                          </m:r>
                        </m:sub>
                      </m:sSub>
                      <m:r>
                        <a:rPr lang="en-US" sz="2400" i="1">
                          <a:latin typeface="Cambria Math" panose="02040503050406030204" pitchFamily="18" charset="0"/>
                        </a:rPr>
                        <m:t>𝑋</m:t>
                      </m:r>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𝑦</m:t>
                          </m:r>
                        </m:sub>
                      </m:sSub>
                      <m:r>
                        <a:rPr lang="en-US" sz="2400" i="1">
                          <a:latin typeface="Cambria Math" panose="02040503050406030204" pitchFamily="18" charset="0"/>
                        </a:rPr>
                        <m:t>𝑌</m:t>
                      </m:r>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𝑧</m:t>
                          </m:r>
                        </m:sub>
                      </m:sSub>
                      <m:r>
                        <a:rPr lang="en-US" sz="2400" i="1">
                          <a:latin typeface="Cambria Math" panose="02040503050406030204" pitchFamily="18" charset="0"/>
                        </a:rPr>
                        <m:t>𝑍</m:t>
                      </m:r>
                      <m:groupChr>
                        <m:groupChrPr>
                          <m:chr m:val="→"/>
                          <m:vertJc m:val="bot"/>
                          <m:ctrlPr>
                            <a:rPr lang="en-US" sz="2400" i="1">
                              <a:latin typeface="Cambria Math" panose="02040503050406030204" pitchFamily="18" charset="0"/>
                            </a:rPr>
                          </m:ctrlPr>
                        </m:groupChrPr>
                        <m:e>
                          <m:r>
                            <a:rPr lang="sr-Latn-RS" sz="2400" i="1">
                              <a:latin typeface="Cambria Math" panose="02040503050406030204" pitchFamily="18" charset="0"/>
                            </a:rPr>
                            <m:t>𝑌</m:t>
                          </m:r>
                          <m:r>
                            <a:rPr lang="sr-Latn-RS" sz="2400" i="1">
                              <a:latin typeface="Cambria Math" panose="02040503050406030204" pitchFamily="18" charset="0"/>
                            </a:rPr>
                            <m:t>=</m:t>
                          </m:r>
                          <m:r>
                            <a:rPr lang="sr-Latn-RS" sz="2400" i="1">
                              <a:latin typeface="Cambria Math" panose="02040503050406030204" pitchFamily="18" charset="0"/>
                            </a:rPr>
                            <m:t>𝑖𝑋𝑍</m:t>
                          </m:r>
                        </m:e>
                      </m:groupCh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𝐼</m:t>
                          </m:r>
                        </m:sub>
                      </m:sSub>
                      <m:r>
                        <a:rPr lang="sr-Latn-RS" sz="2400" i="1">
                          <a:latin typeface="Cambria Math" panose="02040503050406030204" pitchFamily="18" charset="0"/>
                        </a:rPr>
                        <m:t>𝐼</m:t>
                      </m:r>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𝑧</m:t>
                          </m:r>
                        </m:sub>
                      </m:sSub>
                      <m:r>
                        <a:rPr lang="sr-Latn-RS" sz="2400" i="1">
                          <a:latin typeface="Cambria Math" panose="02040503050406030204" pitchFamily="18" charset="0"/>
                        </a:rPr>
                        <m:t>𝑋</m:t>
                      </m:r>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𝑥𝑧</m:t>
                          </m:r>
                        </m:sub>
                      </m:sSub>
                      <m:r>
                        <a:rPr lang="sr-Latn-RS" sz="2400" i="1">
                          <a:latin typeface="Cambria Math" panose="02040503050406030204" pitchFamily="18" charset="0"/>
                        </a:rPr>
                        <m:t>𝑋𝑍</m:t>
                      </m:r>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𝑧</m:t>
                          </m:r>
                        </m:sub>
                      </m:sSub>
                      <m:r>
                        <a:rPr lang="sr-Latn-RS" sz="2400" i="1">
                          <a:latin typeface="Cambria Math" panose="02040503050406030204" pitchFamily="18" charset="0"/>
                        </a:rPr>
                        <m:t>𝑍</m:t>
                      </m:r>
                    </m:oMath>
                  </m:oMathPara>
                </a14:m>
                <a:endParaRPr lang="en-US" sz="2400" dirty="0"/>
              </a:p>
            </p:txBody>
          </p:sp>
        </mc:Choice>
        <mc:Fallback xmlns="">
          <p:sp>
            <p:nvSpPr>
              <p:cNvPr id="6" name="Rectangle 5">
                <a:extLst>
                  <a:ext uri="{FF2B5EF4-FFF2-40B4-BE49-F238E27FC236}">
                    <a16:creationId xmlns:a16="http://schemas.microsoft.com/office/drawing/2014/main" id="{09C221F1-DBFB-3244-B334-0EBCA5145D62}"/>
                  </a:ext>
                </a:extLst>
              </p:cNvPr>
              <p:cNvSpPr>
                <a:spLocks noRot="1" noChangeAspect="1" noMove="1" noResize="1" noEditPoints="1" noAdjustHandles="1" noChangeArrowheads="1" noChangeShapeType="1" noTextEdit="1"/>
              </p:cNvSpPr>
              <p:nvPr/>
            </p:nvSpPr>
            <p:spPr>
              <a:xfrm>
                <a:off x="555329" y="3224517"/>
                <a:ext cx="9450921" cy="633635"/>
              </a:xfrm>
              <a:prstGeom prst="rect">
                <a:avLst/>
              </a:prstGeom>
              <a:blipFill>
                <a:blip r:embed="rId5"/>
                <a:stretch>
                  <a:fillRect b="-5882"/>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DFAE7005-A8C0-314E-AC2F-F91BAF52D583}"/>
              </a:ext>
            </a:extLst>
          </p:cNvPr>
          <p:cNvGrpSpPr/>
          <p:nvPr/>
        </p:nvGrpSpPr>
        <p:grpSpPr>
          <a:xfrm>
            <a:off x="1494727" y="4254358"/>
            <a:ext cx="9429061" cy="1838193"/>
            <a:chOff x="1494727" y="4254358"/>
            <a:chExt cx="9429061" cy="1838193"/>
          </a:xfrm>
        </p:grpSpPr>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795FD19A-A4C3-5043-8801-1C6CFA3E1F7A}"/>
                    </a:ext>
                  </a:extLst>
                </p:cNvPr>
                <p:cNvSpPr/>
                <p:nvPr/>
              </p:nvSpPr>
              <p:spPr>
                <a:xfrm>
                  <a:off x="1494727" y="4898306"/>
                  <a:ext cx="4061048" cy="1181029"/>
                </a:xfrm>
                <a:prstGeom prst="rect">
                  <a:avLst/>
                </a:prstGeom>
                <a:solidFill>
                  <a:schemeClr val="accent4">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𝑋</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e>
                          </m:mr>
                          <m:mr>
                            <m:e>
                              <m:r>
                                <a:rPr lang="en-US" sz="2400" i="1">
                                  <a:latin typeface="Cambria Math" panose="02040503050406030204" pitchFamily="18" charset="0"/>
                                </a:rPr>
                                <m:t>𝑋</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e>
                          </m:mr>
                          <m:mr>
                            <m:e>
                              <m:r>
                                <a:rPr lang="en-US" sz="2400" i="1">
                                  <a:latin typeface="Cambria Math" panose="02040503050406030204" pitchFamily="18" charset="0"/>
                                </a:rPr>
                                <m:t>𝑋</m:t>
                              </m:r>
                              <m:d>
                                <m:dPr>
                                  <m:ctrlPr>
                                    <a:rPr lang="en-US" sz="2400" i="1">
                                      <a:latin typeface="Cambria Math" panose="02040503050406030204" pitchFamily="18" charset="0"/>
                                    </a:rPr>
                                  </m:ctrlPr>
                                </m:dPr>
                                <m:e>
                                  <m:r>
                                    <a:rPr lang="en-US" sz="2400" i="1">
                                      <a:latin typeface="Cambria Math" panose="02040503050406030204" pitchFamily="18" charset="0"/>
                                    </a:rPr>
                                    <m:t>𝑎</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r>
                                    <a:rPr lang="en-US" sz="2400" i="1">
                                      <a:latin typeface="Cambria Math" panose="02040503050406030204" pitchFamily="18" charset="0"/>
                                    </a:rPr>
                                    <m:t>𝑏</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e>
                              </m:d>
                              <m:r>
                                <a:rPr lang="en-US" sz="2400">
                                  <a:latin typeface="Cambria Math" panose="02040503050406030204" pitchFamily="18" charset="0"/>
                                </a:rPr>
                                <m:t>=</m:t>
                              </m:r>
                              <m:r>
                                <a:rPr lang="en-US" sz="2400" i="1">
                                  <a:latin typeface="Cambria Math" panose="02040503050406030204" pitchFamily="18" charset="0"/>
                                </a:rPr>
                                <m:t>𝑎</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r>
                                <a:rPr lang="en-US" sz="2400">
                                  <a:latin typeface="Cambria Math" panose="02040503050406030204" pitchFamily="18" charset="0"/>
                                </a:rPr>
                                <m:t>+</m:t>
                              </m:r>
                              <m:r>
                                <a:rPr lang="en-US" sz="2400" i="1">
                                  <a:latin typeface="Cambria Math" panose="02040503050406030204" pitchFamily="18" charset="0"/>
                                </a:rPr>
                                <m:t>𝑏</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e>
                          </m:mr>
                        </m:m>
                      </m:oMath>
                    </m:oMathPara>
                  </a14:m>
                  <a:endParaRPr lang="en-US" sz="2400" dirty="0"/>
                </a:p>
              </p:txBody>
            </p:sp>
          </mc:Choice>
          <mc:Fallback xmlns="">
            <p:sp>
              <p:nvSpPr>
                <p:cNvPr id="7" name="Rectangle 6">
                  <a:extLst>
                    <a:ext uri="{FF2B5EF4-FFF2-40B4-BE49-F238E27FC236}">
                      <a16:creationId xmlns:a16="http://schemas.microsoft.com/office/drawing/2014/main" id="{795FD19A-A4C3-5043-8801-1C6CFA3E1F7A}"/>
                    </a:ext>
                  </a:extLst>
                </p:cNvPr>
                <p:cNvSpPr>
                  <a:spLocks noRot="1" noChangeAspect="1" noMove="1" noResize="1" noEditPoints="1" noAdjustHandles="1" noChangeArrowheads="1" noChangeShapeType="1" noTextEdit="1"/>
                </p:cNvSpPr>
                <p:nvPr/>
              </p:nvSpPr>
              <p:spPr>
                <a:xfrm>
                  <a:off x="1494727" y="4898306"/>
                  <a:ext cx="4061048" cy="118102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2FA4A6F-5245-5048-AF26-D196A6112448}"/>
                    </a:ext>
                  </a:extLst>
                </p:cNvPr>
                <p:cNvSpPr/>
                <p:nvPr/>
              </p:nvSpPr>
              <p:spPr>
                <a:xfrm>
                  <a:off x="6766560" y="4902545"/>
                  <a:ext cx="4157228" cy="1190006"/>
                </a:xfrm>
                <a:prstGeom prst="rect">
                  <a:avLst/>
                </a:prstGeom>
                <a:solidFill>
                  <a:schemeClr val="accent4">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sz="2400" i="1" smtClean="0">
                                <a:latin typeface="Cambria Math" panose="02040503050406030204" pitchFamily="18" charset="0"/>
                              </a:rPr>
                            </m:ctrlPr>
                          </m:mPr>
                          <m:mr>
                            <m:e>
                              <m:r>
                                <a:rPr lang="en-US" sz="2400" i="1">
                                  <a:latin typeface="Cambria Math" panose="02040503050406030204" pitchFamily="18" charset="0"/>
                                </a:rPr>
                                <m:t>𝑍</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e>
                          </m:mr>
                          <m:mr>
                            <m:e>
                              <m:r>
                                <a:rPr lang="en-US" sz="2400" i="1">
                                  <a:latin typeface="Cambria Math" panose="02040503050406030204" pitchFamily="18" charset="0"/>
                                </a:rPr>
                                <m:t>𝑍</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e>
                          </m:mr>
                          <m:mr>
                            <m:e>
                              <m:r>
                                <a:rPr lang="en-US" sz="2400" i="1">
                                  <a:latin typeface="Cambria Math" panose="02040503050406030204" pitchFamily="18" charset="0"/>
                                </a:rPr>
                                <m:t>𝑍</m:t>
                              </m:r>
                              <m:d>
                                <m:dPr>
                                  <m:ctrlPr>
                                    <a:rPr lang="en-US" sz="2400" i="1">
                                      <a:latin typeface="Cambria Math" panose="02040503050406030204" pitchFamily="18" charset="0"/>
                                    </a:rPr>
                                  </m:ctrlPr>
                                </m:dPr>
                                <m:e>
                                  <m:r>
                                    <a:rPr lang="en-US" sz="2400" i="1">
                                      <a:latin typeface="Cambria Math" panose="02040503050406030204" pitchFamily="18" charset="0"/>
                                    </a:rPr>
                                    <m:t>𝑎</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r>
                                    <a:rPr lang="en-US" sz="2400" i="1">
                                      <a:latin typeface="Cambria Math" panose="02040503050406030204" pitchFamily="18" charset="0"/>
                                    </a:rPr>
                                    <m:t>𝑏</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e>
                              </m:d>
                              <m:r>
                                <a:rPr lang="en-US" sz="2400">
                                  <a:latin typeface="Cambria Math" panose="02040503050406030204" pitchFamily="18" charset="0"/>
                                </a:rPr>
                                <m:t>=</m:t>
                              </m:r>
                              <m:r>
                                <a:rPr lang="en-US" sz="2400" i="1">
                                  <a:latin typeface="Cambria Math" panose="02040503050406030204" pitchFamily="18" charset="0"/>
                                </a:rPr>
                                <m:t>𝑎</m:t>
                              </m:r>
                              <m:d>
                                <m:dPr>
                                  <m:begChr m:val="|"/>
                                  <m:endChr m:val="⟩"/>
                                  <m:ctrlPr>
                                    <a:rPr lang="en-US" sz="2400" i="1">
                                      <a:latin typeface="Cambria Math" panose="02040503050406030204" pitchFamily="18" charset="0"/>
                                    </a:rPr>
                                  </m:ctrlPr>
                                </m:dPr>
                                <m:e>
                                  <m:r>
                                    <a:rPr lang="en-US" sz="2400" b="0" i="0" smtClean="0">
                                      <a:latin typeface="Cambria Math" panose="02040503050406030204" pitchFamily="18" charset="0"/>
                                    </a:rPr>
                                    <m:t>0</m:t>
                                  </m:r>
                                </m:e>
                              </m:d>
                              <m:r>
                                <a:rPr lang="en-US" sz="2400">
                                  <a:latin typeface="Cambria Math" panose="02040503050406030204" pitchFamily="18" charset="0"/>
                                </a:rPr>
                                <m:t>−</m:t>
                              </m:r>
                              <m:r>
                                <a:rPr lang="en-US" sz="2400" i="1">
                                  <a:latin typeface="Cambria Math" panose="02040503050406030204" pitchFamily="18" charset="0"/>
                                </a:rPr>
                                <m:t>𝑏</m:t>
                              </m:r>
                              <m:d>
                                <m:dPr>
                                  <m:begChr m:val="|"/>
                                  <m:endChr m:val="⟩"/>
                                  <m:ctrlPr>
                                    <a:rPr lang="en-US" sz="2400" i="1">
                                      <a:latin typeface="Cambria Math" panose="02040503050406030204" pitchFamily="18" charset="0"/>
                                    </a:rPr>
                                  </m:ctrlPr>
                                </m:dPr>
                                <m:e>
                                  <m:r>
                                    <a:rPr lang="en-US" sz="2400" b="0" i="0" smtClean="0">
                                      <a:latin typeface="Cambria Math" panose="02040503050406030204" pitchFamily="18" charset="0"/>
                                    </a:rPr>
                                    <m:t>1</m:t>
                                  </m:r>
                                </m:e>
                              </m:d>
                            </m:e>
                          </m:mr>
                        </m:m>
                      </m:oMath>
                    </m:oMathPara>
                  </a14:m>
                  <a:endParaRPr lang="en-US" sz="2400" dirty="0"/>
                </a:p>
              </p:txBody>
            </p:sp>
          </mc:Choice>
          <mc:Fallback xmlns="">
            <p:sp>
              <p:nvSpPr>
                <p:cNvPr id="8" name="Rectangle 7">
                  <a:extLst>
                    <a:ext uri="{FF2B5EF4-FFF2-40B4-BE49-F238E27FC236}">
                      <a16:creationId xmlns:a16="http://schemas.microsoft.com/office/drawing/2014/main" id="{F2FA4A6F-5245-5048-AF26-D196A6112448}"/>
                    </a:ext>
                  </a:extLst>
                </p:cNvPr>
                <p:cNvSpPr>
                  <a:spLocks noRot="1" noChangeAspect="1" noMove="1" noResize="1" noEditPoints="1" noAdjustHandles="1" noChangeArrowheads="1" noChangeShapeType="1" noTextEdit="1"/>
                </p:cNvSpPr>
                <p:nvPr/>
              </p:nvSpPr>
              <p:spPr>
                <a:xfrm>
                  <a:off x="6766560" y="4902545"/>
                  <a:ext cx="4157228" cy="1190006"/>
                </a:xfrm>
                <a:prstGeom prst="rect">
                  <a:avLst/>
                </a:prstGeom>
                <a:blipFill>
                  <a:blip r:embed="rId7"/>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3A61C749-5009-6C46-A94C-5238EB81364C}"/>
                </a:ext>
              </a:extLst>
            </p:cNvPr>
            <p:cNvSpPr txBox="1"/>
            <p:nvPr/>
          </p:nvSpPr>
          <p:spPr>
            <a:xfrm>
              <a:off x="1800851" y="4254358"/>
              <a:ext cx="3720186" cy="461665"/>
            </a:xfrm>
            <a:prstGeom prst="rect">
              <a:avLst/>
            </a:prstGeom>
            <a:noFill/>
          </p:spPr>
          <p:txBody>
            <a:bodyPr wrap="none" rtlCol="0">
              <a:spAutoFit/>
            </a:bodyPr>
            <a:lstStyle/>
            <a:p>
              <a:r>
                <a:rPr lang="en-ZA" sz="2400" dirty="0"/>
                <a:t>Pauli X errors (bit-flip errors)</a:t>
              </a:r>
              <a:endParaRPr lang="en-US" sz="2400" dirty="0"/>
            </a:p>
          </p:txBody>
        </p:sp>
        <p:sp>
          <p:nvSpPr>
            <p:cNvPr id="10" name="TextBox 9">
              <a:extLst>
                <a:ext uri="{FF2B5EF4-FFF2-40B4-BE49-F238E27FC236}">
                  <a16:creationId xmlns:a16="http://schemas.microsoft.com/office/drawing/2014/main" id="{DEA4B288-7E9A-C242-B6C5-C77E1D99AE1E}"/>
                </a:ext>
              </a:extLst>
            </p:cNvPr>
            <p:cNvSpPr txBox="1"/>
            <p:nvPr/>
          </p:nvSpPr>
          <p:spPr>
            <a:xfrm>
              <a:off x="6603146" y="4254358"/>
              <a:ext cx="4124014" cy="461665"/>
            </a:xfrm>
            <a:prstGeom prst="rect">
              <a:avLst/>
            </a:prstGeom>
            <a:noFill/>
          </p:spPr>
          <p:txBody>
            <a:bodyPr wrap="none" rtlCol="0">
              <a:spAutoFit/>
            </a:bodyPr>
            <a:lstStyle/>
            <a:p>
              <a:r>
                <a:rPr lang="en-ZA" sz="2400" dirty="0"/>
                <a:t>Pauli Z errors (phase-flip errors)</a:t>
              </a:r>
              <a:endParaRPr lang="en-US" sz="2400" dirty="0"/>
            </a:p>
          </p:txBody>
        </p:sp>
      </p:grpSp>
    </p:spTree>
    <p:extLst>
      <p:ext uri="{BB962C8B-B14F-4D97-AF65-F5344CB8AC3E}">
        <p14:creationId xmlns:p14="http://schemas.microsoft.com/office/powerpoint/2010/main" val="2448451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2" name="Straight Connector 41">
            <a:extLst>
              <a:ext uri="{FF2B5EF4-FFF2-40B4-BE49-F238E27FC236}">
                <a16:creationId xmlns:a16="http://schemas.microsoft.com/office/drawing/2014/main" id="{78439858-A1D0-8945-AF34-4739BA650229}"/>
              </a:ext>
            </a:extLst>
          </p:cNvPr>
          <p:cNvCxnSpPr>
            <a:cxnSpLocks/>
          </p:cNvCxnSpPr>
          <p:nvPr/>
        </p:nvCxnSpPr>
        <p:spPr>
          <a:xfrm flipV="1">
            <a:off x="2777067" y="2748016"/>
            <a:ext cx="599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4583795-7FDE-A840-AFCB-A72756798EE5}"/>
              </a:ext>
            </a:extLst>
          </p:cNvPr>
          <p:cNvSpPr>
            <a:spLocks noGrp="1"/>
          </p:cNvSpPr>
          <p:nvPr>
            <p:ph type="title"/>
          </p:nvPr>
        </p:nvSpPr>
        <p:spPr/>
        <p:txBody>
          <a:bodyPr/>
          <a:lstStyle/>
          <a:p>
            <a:r>
              <a:rPr lang="en-ZA" dirty="0"/>
              <a:t>Quantum Error Detection and Correction Model</a:t>
            </a:r>
            <a:endParaRPr lang="en-US" dirty="0"/>
          </a:p>
        </p:txBody>
      </p:sp>
      <p:sp>
        <p:nvSpPr>
          <p:cNvPr id="3" name="Slide Number Placeholder 2">
            <a:extLst>
              <a:ext uri="{FF2B5EF4-FFF2-40B4-BE49-F238E27FC236}">
                <a16:creationId xmlns:a16="http://schemas.microsoft.com/office/drawing/2014/main" id="{71DEC3CF-1665-0B43-ADCA-718238A2CD51}"/>
              </a:ext>
            </a:extLst>
          </p:cNvPr>
          <p:cNvSpPr>
            <a:spLocks noGrp="1"/>
          </p:cNvSpPr>
          <p:nvPr>
            <p:ph type="sldNum" sz="quarter" idx="12"/>
          </p:nvPr>
        </p:nvSpPr>
        <p:spPr/>
        <p:txBody>
          <a:bodyPr/>
          <a:lstStyle/>
          <a:p>
            <a:fld id="{591A223C-FA10-BC46-A853-03BA373D023C}" type="slidenum">
              <a:rPr lang="en-US" smtClean="0"/>
              <a:t>44</a:t>
            </a:fld>
            <a:endParaRPr lang="en-US"/>
          </a:p>
        </p:txBody>
      </p:sp>
      <p:sp>
        <p:nvSpPr>
          <p:cNvPr id="6" name="Oval 5">
            <a:extLst>
              <a:ext uri="{FF2B5EF4-FFF2-40B4-BE49-F238E27FC236}">
                <a16:creationId xmlns:a16="http://schemas.microsoft.com/office/drawing/2014/main" id="{AB40B690-982C-874C-BCD5-4FF046CD1A73}"/>
              </a:ext>
            </a:extLst>
          </p:cNvPr>
          <p:cNvSpPr/>
          <p:nvPr/>
        </p:nvSpPr>
        <p:spPr>
          <a:xfrm>
            <a:off x="472485" y="1769361"/>
            <a:ext cx="720000" cy="720000"/>
          </a:xfrm>
          <a:prstGeom prst="ellipse">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p:txBody>
      </p:sp>
      <p:cxnSp>
        <p:nvCxnSpPr>
          <p:cNvPr id="11" name="Straight Connector 10">
            <a:extLst>
              <a:ext uri="{FF2B5EF4-FFF2-40B4-BE49-F238E27FC236}">
                <a16:creationId xmlns:a16="http://schemas.microsoft.com/office/drawing/2014/main" id="{8A9E1B5F-D43D-A64A-9CA8-CD26B129919D}"/>
              </a:ext>
            </a:extLst>
          </p:cNvPr>
          <p:cNvCxnSpPr>
            <a:cxnSpLocks/>
          </p:cNvCxnSpPr>
          <p:nvPr/>
        </p:nvCxnSpPr>
        <p:spPr>
          <a:xfrm>
            <a:off x="1192485" y="2129361"/>
            <a:ext cx="66793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D57D060-048E-824D-B6BF-437DD9936C24}"/>
              </a:ext>
            </a:extLst>
          </p:cNvPr>
          <p:cNvCxnSpPr>
            <a:cxnSpLocks/>
          </p:cNvCxnSpPr>
          <p:nvPr/>
        </p:nvCxnSpPr>
        <p:spPr>
          <a:xfrm>
            <a:off x="2777067" y="3569876"/>
            <a:ext cx="599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8E7BE0A-03EA-E44D-8F3B-61FD9C7C9796}"/>
              </a:ext>
            </a:extLst>
          </p:cNvPr>
          <p:cNvCxnSpPr>
            <a:cxnSpLocks/>
          </p:cNvCxnSpPr>
          <p:nvPr/>
        </p:nvCxnSpPr>
        <p:spPr>
          <a:xfrm>
            <a:off x="2692400" y="4391737"/>
            <a:ext cx="58614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ounded Rectangle 4">
            <a:extLst>
              <a:ext uri="{FF2B5EF4-FFF2-40B4-BE49-F238E27FC236}">
                <a16:creationId xmlns:a16="http://schemas.microsoft.com/office/drawing/2014/main" id="{35CA1656-FAC8-8A40-8E54-AD3E08A5E2C2}"/>
              </a:ext>
            </a:extLst>
          </p:cNvPr>
          <p:cNvSpPr/>
          <p:nvPr/>
        </p:nvSpPr>
        <p:spPr>
          <a:xfrm>
            <a:off x="1860415" y="1769361"/>
            <a:ext cx="1175657" cy="2971800"/>
          </a:xfrm>
          <a:prstGeom prst="round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i="1" dirty="0">
                <a:solidFill>
                  <a:schemeClr val="tx1"/>
                </a:solidFill>
                <a:latin typeface="Times New Roman" panose="02020603050405020304" pitchFamily="18" charset="0"/>
                <a:cs typeface="Times New Roman" panose="02020603050405020304" pitchFamily="18" charset="0"/>
              </a:rPr>
              <a:t>E</a:t>
            </a:r>
          </a:p>
        </p:txBody>
      </p:sp>
      <p:sp>
        <p:nvSpPr>
          <p:cNvPr id="16" name="Oval 15">
            <a:extLst>
              <a:ext uri="{FF2B5EF4-FFF2-40B4-BE49-F238E27FC236}">
                <a16:creationId xmlns:a16="http://schemas.microsoft.com/office/drawing/2014/main" id="{140F0546-4D10-3A4D-99C8-44AC74E92DAB}"/>
              </a:ext>
            </a:extLst>
          </p:cNvPr>
          <p:cNvSpPr/>
          <p:nvPr/>
        </p:nvSpPr>
        <p:spPr>
          <a:xfrm flipH="1">
            <a:off x="10397423" y="1769361"/>
            <a:ext cx="720000" cy="720000"/>
          </a:xfrm>
          <a:prstGeom prst="ellipse">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0" dirty="0">
              <a:solidFill>
                <a:schemeClr val="tx1"/>
              </a:solidFill>
            </a:endParaRPr>
          </a:p>
        </p:txBody>
      </p:sp>
      <p:sp>
        <p:nvSpPr>
          <p:cNvPr id="24" name="Rounded Rectangle 23">
            <a:extLst>
              <a:ext uri="{FF2B5EF4-FFF2-40B4-BE49-F238E27FC236}">
                <a16:creationId xmlns:a16="http://schemas.microsoft.com/office/drawing/2014/main" id="{14662C3B-F617-714B-B0D4-4BB8D9FA06ED}"/>
              </a:ext>
            </a:extLst>
          </p:cNvPr>
          <p:cNvSpPr/>
          <p:nvPr/>
        </p:nvSpPr>
        <p:spPr>
          <a:xfrm flipH="1">
            <a:off x="8553836" y="1769361"/>
            <a:ext cx="1175657" cy="2971800"/>
          </a:xfrm>
          <a:prstGeom prst="round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i="1" dirty="0">
                <a:solidFill>
                  <a:schemeClr val="tx1"/>
                </a:solidFill>
                <a:latin typeface="Times New Roman" panose="02020603050405020304" pitchFamily="18" charset="0"/>
                <a:cs typeface="Times New Roman" panose="02020603050405020304" pitchFamily="18" charset="0"/>
              </a:rPr>
              <a:t>D</a:t>
            </a:r>
          </a:p>
        </p:txBody>
      </p:sp>
      <p:sp>
        <p:nvSpPr>
          <p:cNvPr id="27" name="Freeform 26">
            <a:extLst>
              <a:ext uri="{FF2B5EF4-FFF2-40B4-BE49-F238E27FC236}">
                <a16:creationId xmlns:a16="http://schemas.microsoft.com/office/drawing/2014/main" id="{D9E1CD65-7A31-6648-B218-CFF41928FA72}"/>
              </a:ext>
            </a:extLst>
          </p:cNvPr>
          <p:cNvSpPr/>
          <p:nvPr/>
        </p:nvSpPr>
        <p:spPr>
          <a:xfrm>
            <a:off x="3990646" y="1735626"/>
            <a:ext cx="1257301" cy="3020786"/>
          </a:xfrm>
          <a:custGeom>
            <a:avLst/>
            <a:gdLst>
              <a:gd name="connsiteX0" fmla="*/ 24493 w 1232807"/>
              <a:gd name="connsiteY0" fmla="*/ 293914 h 3020786"/>
              <a:gd name="connsiteX1" fmla="*/ 57150 w 1232807"/>
              <a:gd name="connsiteY1" fmla="*/ 155121 h 3020786"/>
              <a:gd name="connsiteX2" fmla="*/ 146957 w 1232807"/>
              <a:gd name="connsiteY2" fmla="*/ 8164 h 3020786"/>
              <a:gd name="connsiteX3" fmla="*/ 465365 w 1232807"/>
              <a:gd name="connsiteY3" fmla="*/ 0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83822 w 1232807"/>
              <a:gd name="connsiteY9" fmla="*/ 922564 h 3020786"/>
              <a:gd name="connsiteX10" fmla="*/ 1183822 w 1232807"/>
              <a:gd name="connsiteY10" fmla="*/ 1257300 h 3020786"/>
              <a:gd name="connsiteX11" fmla="*/ 1208315 w 1232807"/>
              <a:gd name="connsiteY11" fmla="*/ 1600200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65315 w 1232807"/>
              <a:gd name="connsiteY24" fmla="*/ 2032907 h 3020786"/>
              <a:gd name="connsiteX25" fmla="*/ 16329 w 1232807"/>
              <a:gd name="connsiteY25" fmla="*/ 1559378 h 3020786"/>
              <a:gd name="connsiteX26" fmla="*/ 40822 w 1232807"/>
              <a:gd name="connsiteY26" fmla="*/ 1191986 h 3020786"/>
              <a:gd name="connsiteX27" fmla="*/ 89807 w 1232807"/>
              <a:gd name="connsiteY27" fmla="*/ 930728 h 3020786"/>
              <a:gd name="connsiteX28" fmla="*/ 57150 w 1232807"/>
              <a:gd name="connsiteY28" fmla="*/ 620486 h 3020786"/>
              <a:gd name="connsiteX29" fmla="*/ 0 w 1232807"/>
              <a:gd name="connsiteY29" fmla="*/ 432707 h 3020786"/>
              <a:gd name="connsiteX30" fmla="*/ 24493 w 1232807"/>
              <a:gd name="connsiteY30" fmla="*/ 293914 h 3020786"/>
              <a:gd name="connsiteX0" fmla="*/ 24493 w 1232807"/>
              <a:gd name="connsiteY0" fmla="*/ 293914 h 3020786"/>
              <a:gd name="connsiteX1" fmla="*/ 57150 w 1232807"/>
              <a:gd name="connsiteY1" fmla="*/ 155121 h 3020786"/>
              <a:gd name="connsiteX2" fmla="*/ 146957 w 1232807"/>
              <a:gd name="connsiteY2" fmla="*/ 8164 h 3020786"/>
              <a:gd name="connsiteX3" fmla="*/ 465365 w 1232807"/>
              <a:gd name="connsiteY3" fmla="*/ 0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83822 w 1232807"/>
              <a:gd name="connsiteY9" fmla="*/ 922564 h 3020786"/>
              <a:gd name="connsiteX10" fmla="*/ 1183822 w 1232807"/>
              <a:gd name="connsiteY10" fmla="*/ 1257300 h 3020786"/>
              <a:gd name="connsiteX11" fmla="*/ 1208315 w 1232807"/>
              <a:gd name="connsiteY11" fmla="*/ 1600200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65315 w 1232807"/>
              <a:gd name="connsiteY24" fmla="*/ 2032907 h 3020786"/>
              <a:gd name="connsiteX25" fmla="*/ 16329 w 1232807"/>
              <a:gd name="connsiteY25" fmla="*/ 1559378 h 3020786"/>
              <a:gd name="connsiteX26" fmla="*/ 40822 w 1232807"/>
              <a:gd name="connsiteY26" fmla="*/ 1191986 h 3020786"/>
              <a:gd name="connsiteX27" fmla="*/ 40821 w 1232807"/>
              <a:gd name="connsiteY27" fmla="*/ 881742 h 3020786"/>
              <a:gd name="connsiteX28" fmla="*/ 57150 w 1232807"/>
              <a:gd name="connsiteY28" fmla="*/ 620486 h 3020786"/>
              <a:gd name="connsiteX29" fmla="*/ 0 w 1232807"/>
              <a:gd name="connsiteY29" fmla="*/ 432707 h 3020786"/>
              <a:gd name="connsiteX30" fmla="*/ 24493 w 1232807"/>
              <a:gd name="connsiteY30" fmla="*/ 293914 h 3020786"/>
              <a:gd name="connsiteX0" fmla="*/ 24493 w 1232807"/>
              <a:gd name="connsiteY0" fmla="*/ 293914 h 3020786"/>
              <a:gd name="connsiteX1" fmla="*/ 57150 w 1232807"/>
              <a:gd name="connsiteY1" fmla="*/ 155121 h 3020786"/>
              <a:gd name="connsiteX2" fmla="*/ 146957 w 1232807"/>
              <a:gd name="connsiteY2" fmla="*/ 8164 h 3020786"/>
              <a:gd name="connsiteX3" fmla="*/ 465365 w 1232807"/>
              <a:gd name="connsiteY3" fmla="*/ 0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83822 w 1232807"/>
              <a:gd name="connsiteY9" fmla="*/ 922564 h 3020786"/>
              <a:gd name="connsiteX10" fmla="*/ 1183822 w 1232807"/>
              <a:gd name="connsiteY10" fmla="*/ 1257300 h 3020786"/>
              <a:gd name="connsiteX11" fmla="*/ 1208315 w 1232807"/>
              <a:gd name="connsiteY11" fmla="*/ 1600200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65315 w 1232807"/>
              <a:gd name="connsiteY24" fmla="*/ 2032907 h 3020786"/>
              <a:gd name="connsiteX25" fmla="*/ 16329 w 1232807"/>
              <a:gd name="connsiteY25" fmla="*/ 1559378 h 3020786"/>
              <a:gd name="connsiteX26" fmla="*/ 40822 w 1232807"/>
              <a:gd name="connsiteY26" fmla="*/ 1191986 h 3020786"/>
              <a:gd name="connsiteX27" fmla="*/ 40821 w 1232807"/>
              <a:gd name="connsiteY27" fmla="*/ 881742 h 3020786"/>
              <a:gd name="connsiteX28" fmla="*/ 24493 w 1232807"/>
              <a:gd name="connsiteY28" fmla="*/ 612322 h 3020786"/>
              <a:gd name="connsiteX29" fmla="*/ 0 w 1232807"/>
              <a:gd name="connsiteY29" fmla="*/ 432707 h 3020786"/>
              <a:gd name="connsiteX30" fmla="*/ 24493 w 1232807"/>
              <a:gd name="connsiteY30" fmla="*/ 293914 h 3020786"/>
              <a:gd name="connsiteX0" fmla="*/ 24493 w 1232807"/>
              <a:gd name="connsiteY0" fmla="*/ 293914 h 3020786"/>
              <a:gd name="connsiteX1" fmla="*/ 57150 w 1232807"/>
              <a:gd name="connsiteY1" fmla="*/ 155121 h 3020786"/>
              <a:gd name="connsiteX2" fmla="*/ 146957 w 1232807"/>
              <a:gd name="connsiteY2" fmla="*/ 8164 h 3020786"/>
              <a:gd name="connsiteX3" fmla="*/ 465365 w 1232807"/>
              <a:gd name="connsiteY3" fmla="*/ 0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26672 w 1232807"/>
              <a:gd name="connsiteY9" fmla="*/ 898071 h 3020786"/>
              <a:gd name="connsiteX10" fmla="*/ 1183822 w 1232807"/>
              <a:gd name="connsiteY10" fmla="*/ 1257300 h 3020786"/>
              <a:gd name="connsiteX11" fmla="*/ 1208315 w 1232807"/>
              <a:gd name="connsiteY11" fmla="*/ 1600200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65315 w 1232807"/>
              <a:gd name="connsiteY24" fmla="*/ 2032907 h 3020786"/>
              <a:gd name="connsiteX25" fmla="*/ 16329 w 1232807"/>
              <a:gd name="connsiteY25" fmla="*/ 1559378 h 3020786"/>
              <a:gd name="connsiteX26" fmla="*/ 40822 w 1232807"/>
              <a:gd name="connsiteY26" fmla="*/ 1191986 h 3020786"/>
              <a:gd name="connsiteX27" fmla="*/ 40821 w 1232807"/>
              <a:gd name="connsiteY27" fmla="*/ 881742 h 3020786"/>
              <a:gd name="connsiteX28" fmla="*/ 24493 w 1232807"/>
              <a:gd name="connsiteY28" fmla="*/ 612322 h 3020786"/>
              <a:gd name="connsiteX29" fmla="*/ 0 w 1232807"/>
              <a:gd name="connsiteY29" fmla="*/ 432707 h 3020786"/>
              <a:gd name="connsiteX30" fmla="*/ 24493 w 1232807"/>
              <a:gd name="connsiteY30" fmla="*/ 293914 h 3020786"/>
              <a:gd name="connsiteX0" fmla="*/ 24493 w 1232807"/>
              <a:gd name="connsiteY0" fmla="*/ 293914 h 3020786"/>
              <a:gd name="connsiteX1" fmla="*/ 57150 w 1232807"/>
              <a:gd name="connsiteY1" fmla="*/ 155121 h 3020786"/>
              <a:gd name="connsiteX2" fmla="*/ 146957 w 1232807"/>
              <a:gd name="connsiteY2" fmla="*/ 8164 h 3020786"/>
              <a:gd name="connsiteX3" fmla="*/ 481693 w 1232807"/>
              <a:gd name="connsiteY3" fmla="*/ 73479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26672 w 1232807"/>
              <a:gd name="connsiteY9" fmla="*/ 898071 h 3020786"/>
              <a:gd name="connsiteX10" fmla="*/ 1183822 w 1232807"/>
              <a:gd name="connsiteY10" fmla="*/ 1257300 h 3020786"/>
              <a:gd name="connsiteX11" fmla="*/ 1208315 w 1232807"/>
              <a:gd name="connsiteY11" fmla="*/ 1600200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65315 w 1232807"/>
              <a:gd name="connsiteY24" fmla="*/ 2032907 h 3020786"/>
              <a:gd name="connsiteX25" fmla="*/ 16329 w 1232807"/>
              <a:gd name="connsiteY25" fmla="*/ 1559378 h 3020786"/>
              <a:gd name="connsiteX26" fmla="*/ 40822 w 1232807"/>
              <a:gd name="connsiteY26" fmla="*/ 1191986 h 3020786"/>
              <a:gd name="connsiteX27" fmla="*/ 40821 w 1232807"/>
              <a:gd name="connsiteY27" fmla="*/ 881742 h 3020786"/>
              <a:gd name="connsiteX28" fmla="*/ 24493 w 1232807"/>
              <a:gd name="connsiteY28" fmla="*/ 612322 h 3020786"/>
              <a:gd name="connsiteX29" fmla="*/ 0 w 1232807"/>
              <a:gd name="connsiteY29" fmla="*/ 432707 h 3020786"/>
              <a:gd name="connsiteX30" fmla="*/ 24493 w 1232807"/>
              <a:gd name="connsiteY30" fmla="*/ 293914 h 3020786"/>
              <a:gd name="connsiteX0" fmla="*/ 24493 w 1257301"/>
              <a:gd name="connsiteY0" fmla="*/ 293914 h 3020786"/>
              <a:gd name="connsiteX1" fmla="*/ 57150 w 1257301"/>
              <a:gd name="connsiteY1" fmla="*/ 155121 h 3020786"/>
              <a:gd name="connsiteX2" fmla="*/ 146957 w 1257301"/>
              <a:gd name="connsiteY2" fmla="*/ 8164 h 3020786"/>
              <a:gd name="connsiteX3" fmla="*/ 481693 w 1257301"/>
              <a:gd name="connsiteY3" fmla="*/ 73479 h 3020786"/>
              <a:gd name="connsiteX4" fmla="*/ 718457 w 1257301"/>
              <a:gd name="connsiteY4" fmla="*/ 24493 h 3020786"/>
              <a:gd name="connsiteX5" fmla="*/ 987879 w 1257301"/>
              <a:gd name="connsiteY5" fmla="*/ 0 h 3020786"/>
              <a:gd name="connsiteX6" fmla="*/ 1167493 w 1257301"/>
              <a:gd name="connsiteY6" fmla="*/ 89807 h 3020786"/>
              <a:gd name="connsiteX7" fmla="*/ 1191986 w 1257301"/>
              <a:gd name="connsiteY7" fmla="*/ 195943 h 3020786"/>
              <a:gd name="connsiteX8" fmla="*/ 1183822 w 1257301"/>
              <a:gd name="connsiteY8" fmla="*/ 579664 h 3020786"/>
              <a:gd name="connsiteX9" fmla="*/ 1126672 w 1257301"/>
              <a:gd name="connsiteY9" fmla="*/ 898071 h 3020786"/>
              <a:gd name="connsiteX10" fmla="*/ 1183822 w 1257301"/>
              <a:gd name="connsiteY10" fmla="*/ 1257300 h 3020786"/>
              <a:gd name="connsiteX11" fmla="*/ 1257301 w 1257301"/>
              <a:gd name="connsiteY11" fmla="*/ 1608365 h 3020786"/>
              <a:gd name="connsiteX12" fmla="*/ 1183822 w 1257301"/>
              <a:gd name="connsiteY12" fmla="*/ 1975757 h 3020786"/>
              <a:gd name="connsiteX13" fmla="*/ 1151165 w 1257301"/>
              <a:gd name="connsiteY13" fmla="*/ 2228850 h 3020786"/>
              <a:gd name="connsiteX14" fmla="*/ 1175657 w 1257301"/>
              <a:gd name="connsiteY14" fmla="*/ 2481943 h 3020786"/>
              <a:gd name="connsiteX15" fmla="*/ 1232807 w 1257301"/>
              <a:gd name="connsiteY15" fmla="*/ 2792186 h 3020786"/>
              <a:gd name="connsiteX16" fmla="*/ 1175657 w 1257301"/>
              <a:gd name="connsiteY16" fmla="*/ 2988128 h 3020786"/>
              <a:gd name="connsiteX17" fmla="*/ 979715 w 1257301"/>
              <a:gd name="connsiteY17" fmla="*/ 2996293 h 3020786"/>
              <a:gd name="connsiteX18" fmla="*/ 865415 w 1257301"/>
              <a:gd name="connsiteY18" fmla="*/ 2955471 h 3020786"/>
              <a:gd name="connsiteX19" fmla="*/ 498022 w 1257301"/>
              <a:gd name="connsiteY19" fmla="*/ 2963636 h 3020786"/>
              <a:gd name="connsiteX20" fmla="*/ 236765 w 1257301"/>
              <a:gd name="connsiteY20" fmla="*/ 3020786 h 3020786"/>
              <a:gd name="connsiteX21" fmla="*/ 57150 w 1257301"/>
              <a:gd name="connsiteY21" fmla="*/ 2906486 h 3020786"/>
              <a:gd name="connsiteX22" fmla="*/ 16329 w 1257301"/>
              <a:gd name="connsiteY22" fmla="*/ 2726871 h 3020786"/>
              <a:gd name="connsiteX23" fmla="*/ 73479 w 1257301"/>
              <a:gd name="connsiteY23" fmla="*/ 2432957 h 3020786"/>
              <a:gd name="connsiteX24" fmla="*/ 65315 w 1257301"/>
              <a:gd name="connsiteY24" fmla="*/ 2032907 h 3020786"/>
              <a:gd name="connsiteX25" fmla="*/ 16329 w 1257301"/>
              <a:gd name="connsiteY25" fmla="*/ 1559378 h 3020786"/>
              <a:gd name="connsiteX26" fmla="*/ 40822 w 1257301"/>
              <a:gd name="connsiteY26" fmla="*/ 1191986 h 3020786"/>
              <a:gd name="connsiteX27" fmla="*/ 40821 w 1257301"/>
              <a:gd name="connsiteY27" fmla="*/ 881742 h 3020786"/>
              <a:gd name="connsiteX28" fmla="*/ 24493 w 1257301"/>
              <a:gd name="connsiteY28" fmla="*/ 612322 h 3020786"/>
              <a:gd name="connsiteX29" fmla="*/ 0 w 1257301"/>
              <a:gd name="connsiteY29" fmla="*/ 432707 h 3020786"/>
              <a:gd name="connsiteX30" fmla="*/ 24493 w 1257301"/>
              <a:gd name="connsiteY30" fmla="*/ 293914 h 3020786"/>
              <a:gd name="connsiteX0" fmla="*/ 24493 w 1257301"/>
              <a:gd name="connsiteY0" fmla="*/ 293914 h 3020786"/>
              <a:gd name="connsiteX1" fmla="*/ 57150 w 1257301"/>
              <a:gd name="connsiteY1" fmla="*/ 155121 h 3020786"/>
              <a:gd name="connsiteX2" fmla="*/ 146957 w 1257301"/>
              <a:gd name="connsiteY2" fmla="*/ 8164 h 3020786"/>
              <a:gd name="connsiteX3" fmla="*/ 481693 w 1257301"/>
              <a:gd name="connsiteY3" fmla="*/ 73479 h 3020786"/>
              <a:gd name="connsiteX4" fmla="*/ 718457 w 1257301"/>
              <a:gd name="connsiteY4" fmla="*/ 24493 h 3020786"/>
              <a:gd name="connsiteX5" fmla="*/ 987879 w 1257301"/>
              <a:gd name="connsiteY5" fmla="*/ 0 h 3020786"/>
              <a:gd name="connsiteX6" fmla="*/ 1167493 w 1257301"/>
              <a:gd name="connsiteY6" fmla="*/ 89807 h 3020786"/>
              <a:gd name="connsiteX7" fmla="*/ 1191986 w 1257301"/>
              <a:gd name="connsiteY7" fmla="*/ 195943 h 3020786"/>
              <a:gd name="connsiteX8" fmla="*/ 1183822 w 1257301"/>
              <a:gd name="connsiteY8" fmla="*/ 579664 h 3020786"/>
              <a:gd name="connsiteX9" fmla="*/ 1126672 w 1257301"/>
              <a:gd name="connsiteY9" fmla="*/ 898071 h 3020786"/>
              <a:gd name="connsiteX10" fmla="*/ 1183822 w 1257301"/>
              <a:gd name="connsiteY10" fmla="*/ 1257300 h 3020786"/>
              <a:gd name="connsiteX11" fmla="*/ 1257301 w 1257301"/>
              <a:gd name="connsiteY11" fmla="*/ 1608365 h 3020786"/>
              <a:gd name="connsiteX12" fmla="*/ 1183822 w 1257301"/>
              <a:gd name="connsiteY12" fmla="*/ 1975757 h 3020786"/>
              <a:gd name="connsiteX13" fmla="*/ 1151165 w 1257301"/>
              <a:gd name="connsiteY13" fmla="*/ 2228850 h 3020786"/>
              <a:gd name="connsiteX14" fmla="*/ 1175657 w 1257301"/>
              <a:gd name="connsiteY14" fmla="*/ 2481943 h 3020786"/>
              <a:gd name="connsiteX15" fmla="*/ 1232807 w 1257301"/>
              <a:gd name="connsiteY15" fmla="*/ 2792186 h 3020786"/>
              <a:gd name="connsiteX16" fmla="*/ 1175657 w 1257301"/>
              <a:gd name="connsiteY16" fmla="*/ 2988128 h 3020786"/>
              <a:gd name="connsiteX17" fmla="*/ 979715 w 1257301"/>
              <a:gd name="connsiteY17" fmla="*/ 2996293 h 3020786"/>
              <a:gd name="connsiteX18" fmla="*/ 865415 w 1257301"/>
              <a:gd name="connsiteY18" fmla="*/ 2955471 h 3020786"/>
              <a:gd name="connsiteX19" fmla="*/ 498022 w 1257301"/>
              <a:gd name="connsiteY19" fmla="*/ 2963636 h 3020786"/>
              <a:gd name="connsiteX20" fmla="*/ 236765 w 1257301"/>
              <a:gd name="connsiteY20" fmla="*/ 3020786 h 3020786"/>
              <a:gd name="connsiteX21" fmla="*/ 57150 w 1257301"/>
              <a:gd name="connsiteY21" fmla="*/ 2906486 h 3020786"/>
              <a:gd name="connsiteX22" fmla="*/ 16329 w 1257301"/>
              <a:gd name="connsiteY22" fmla="*/ 2726871 h 3020786"/>
              <a:gd name="connsiteX23" fmla="*/ 73479 w 1257301"/>
              <a:gd name="connsiteY23" fmla="*/ 2432957 h 3020786"/>
              <a:gd name="connsiteX24" fmla="*/ 130629 w 1257301"/>
              <a:gd name="connsiteY24" fmla="*/ 2049236 h 3020786"/>
              <a:gd name="connsiteX25" fmla="*/ 16329 w 1257301"/>
              <a:gd name="connsiteY25" fmla="*/ 1559378 h 3020786"/>
              <a:gd name="connsiteX26" fmla="*/ 40822 w 1257301"/>
              <a:gd name="connsiteY26" fmla="*/ 1191986 h 3020786"/>
              <a:gd name="connsiteX27" fmla="*/ 40821 w 1257301"/>
              <a:gd name="connsiteY27" fmla="*/ 881742 h 3020786"/>
              <a:gd name="connsiteX28" fmla="*/ 24493 w 1257301"/>
              <a:gd name="connsiteY28" fmla="*/ 612322 h 3020786"/>
              <a:gd name="connsiteX29" fmla="*/ 0 w 1257301"/>
              <a:gd name="connsiteY29" fmla="*/ 432707 h 3020786"/>
              <a:gd name="connsiteX30" fmla="*/ 24493 w 1257301"/>
              <a:gd name="connsiteY30" fmla="*/ 293914 h 3020786"/>
              <a:gd name="connsiteX0" fmla="*/ 24493 w 1257301"/>
              <a:gd name="connsiteY0" fmla="*/ 293914 h 3020786"/>
              <a:gd name="connsiteX1" fmla="*/ 57150 w 1257301"/>
              <a:gd name="connsiteY1" fmla="*/ 155121 h 3020786"/>
              <a:gd name="connsiteX2" fmla="*/ 146957 w 1257301"/>
              <a:gd name="connsiteY2" fmla="*/ 8164 h 3020786"/>
              <a:gd name="connsiteX3" fmla="*/ 481693 w 1257301"/>
              <a:gd name="connsiteY3" fmla="*/ 73479 h 3020786"/>
              <a:gd name="connsiteX4" fmla="*/ 718457 w 1257301"/>
              <a:gd name="connsiteY4" fmla="*/ 24493 h 3020786"/>
              <a:gd name="connsiteX5" fmla="*/ 987879 w 1257301"/>
              <a:gd name="connsiteY5" fmla="*/ 0 h 3020786"/>
              <a:gd name="connsiteX6" fmla="*/ 1167493 w 1257301"/>
              <a:gd name="connsiteY6" fmla="*/ 89807 h 3020786"/>
              <a:gd name="connsiteX7" fmla="*/ 1191986 w 1257301"/>
              <a:gd name="connsiteY7" fmla="*/ 195943 h 3020786"/>
              <a:gd name="connsiteX8" fmla="*/ 1183822 w 1257301"/>
              <a:gd name="connsiteY8" fmla="*/ 579664 h 3020786"/>
              <a:gd name="connsiteX9" fmla="*/ 1126672 w 1257301"/>
              <a:gd name="connsiteY9" fmla="*/ 898071 h 3020786"/>
              <a:gd name="connsiteX10" fmla="*/ 1183822 w 1257301"/>
              <a:gd name="connsiteY10" fmla="*/ 1257300 h 3020786"/>
              <a:gd name="connsiteX11" fmla="*/ 1257301 w 1257301"/>
              <a:gd name="connsiteY11" fmla="*/ 1608365 h 3020786"/>
              <a:gd name="connsiteX12" fmla="*/ 1183822 w 1257301"/>
              <a:gd name="connsiteY12" fmla="*/ 1975757 h 3020786"/>
              <a:gd name="connsiteX13" fmla="*/ 1151165 w 1257301"/>
              <a:gd name="connsiteY13" fmla="*/ 2228850 h 3020786"/>
              <a:gd name="connsiteX14" fmla="*/ 1175657 w 1257301"/>
              <a:gd name="connsiteY14" fmla="*/ 2481943 h 3020786"/>
              <a:gd name="connsiteX15" fmla="*/ 1232807 w 1257301"/>
              <a:gd name="connsiteY15" fmla="*/ 2792186 h 3020786"/>
              <a:gd name="connsiteX16" fmla="*/ 1175657 w 1257301"/>
              <a:gd name="connsiteY16" fmla="*/ 2988128 h 3020786"/>
              <a:gd name="connsiteX17" fmla="*/ 979715 w 1257301"/>
              <a:gd name="connsiteY17" fmla="*/ 2996293 h 3020786"/>
              <a:gd name="connsiteX18" fmla="*/ 865415 w 1257301"/>
              <a:gd name="connsiteY18" fmla="*/ 2955471 h 3020786"/>
              <a:gd name="connsiteX19" fmla="*/ 498022 w 1257301"/>
              <a:gd name="connsiteY19" fmla="*/ 2963636 h 3020786"/>
              <a:gd name="connsiteX20" fmla="*/ 236765 w 1257301"/>
              <a:gd name="connsiteY20" fmla="*/ 3020786 h 3020786"/>
              <a:gd name="connsiteX21" fmla="*/ 57150 w 1257301"/>
              <a:gd name="connsiteY21" fmla="*/ 2906486 h 3020786"/>
              <a:gd name="connsiteX22" fmla="*/ 16329 w 1257301"/>
              <a:gd name="connsiteY22" fmla="*/ 2726871 h 3020786"/>
              <a:gd name="connsiteX23" fmla="*/ 73479 w 1257301"/>
              <a:gd name="connsiteY23" fmla="*/ 2432957 h 3020786"/>
              <a:gd name="connsiteX24" fmla="*/ 97972 w 1257301"/>
              <a:gd name="connsiteY24" fmla="*/ 2057401 h 3020786"/>
              <a:gd name="connsiteX25" fmla="*/ 16329 w 1257301"/>
              <a:gd name="connsiteY25" fmla="*/ 1559378 h 3020786"/>
              <a:gd name="connsiteX26" fmla="*/ 40822 w 1257301"/>
              <a:gd name="connsiteY26" fmla="*/ 1191986 h 3020786"/>
              <a:gd name="connsiteX27" fmla="*/ 40821 w 1257301"/>
              <a:gd name="connsiteY27" fmla="*/ 881742 h 3020786"/>
              <a:gd name="connsiteX28" fmla="*/ 24493 w 1257301"/>
              <a:gd name="connsiteY28" fmla="*/ 612322 h 3020786"/>
              <a:gd name="connsiteX29" fmla="*/ 0 w 1257301"/>
              <a:gd name="connsiteY29" fmla="*/ 432707 h 3020786"/>
              <a:gd name="connsiteX30" fmla="*/ 24493 w 1257301"/>
              <a:gd name="connsiteY30" fmla="*/ 293914 h 3020786"/>
              <a:gd name="connsiteX0" fmla="*/ 24493 w 1257301"/>
              <a:gd name="connsiteY0" fmla="*/ 293914 h 3020786"/>
              <a:gd name="connsiteX1" fmla="*/ 57150 w 1257301"/>
              <a:gd name="connsiteY1" fmla="*/ 155121 h 3020786"/>
              <a:gd name="connsiteX2" fmla="*/ 163286 w 1257301"/>
              <a:gd name="connsiteY2" fmla="*/ 48986 h 3020786"/>
              <a:gd name="connsiteX3" fmla="*/ 481693 w 1257301"/>
              <a:gd name="connsiteY3" fmla="*/ 73479 h 3020786"/>
              <a:gd name="connsiteX4" fmla="*/ 718457 w 1257301"/>
              <a:gd name="connsiteY4" fmla="*/ 24493 h 3020786"/>
              <a:gd name="connsiteX5" fmla="*/ 987879 w 1257301"/>
              <a:gd name="connsiteY5" fmla="*/ 0 h 3020786"/>
              <a:gd name="connsiteX6" fmla="*/ 1167493 w 1257301"/>
              <a:gd name="connsiteY6" fmla="*/ 89807 h 3020786"/>
              <a:gd name="connsiteX7" fmla="*/ 1191986 w 1257301"/>
              <a:gd name="connsiteY7" fmla="*/ 195943 h 3020786"/>
              <a:gd name="connsiteX8" fmla="*/ 1183822 w 1257301"/>
              <a:gd name="connsiteY8" fmla="*/ 579664 h 3020786"/>
              <a:gd name="connsiteX9" fmla="*/ 1126672 w 1257301"/>
              <a:gd name="connsiteY9" fmla="*/ 898071 h 3020786"/>
              <a:gd name="connsiteX10" fmla="*/ 1183822 w 1257301"/>
              <a:gd name="connsiteY10" fmla="*/ 1257300 h 3020786"/>
              <a:gd name="connsiteX11" fmla="*/ 1257301 w 1257301"/>
              <a:gd name="connsiteY11" fmla="*/ 1608365 h 3020786"/>
              <a:gd name="connsiteX12" fmla="*/ 1183822 w 1257301"/>
              <a:gd name="connsiteY12" fmla="*/ 1975757 h 3020786"/>
              <a:gd name="connsiteX13" fmla="*/ 1151165 w 1257301"/>
              <a:gd name="connsiteY13" fmla="*/ 2228850 h 3020786"/>
              <a:gd name="connsiteX14" fmla="*/ 1175657 w 1257301"/>
              <a:gd name="connsiteY14" fmla="*/ 2481943 h 3020786"/>
              <a:gd name="connsiteX15" fmla="*/ 1232807 w 1257301"/>
              <a:gd name="connsiteY15" fmla="*/ 2792186 h 3020786"/>
              <a:gd name="connsiteX16" fmla="*/ 1175657 w 1257301"/>
              <a:gd name="connsiteY16" fmla="*/ 2988128 h 3020786"/>
              <a:gd name="connsiteX17" fmla="*/ 979715 w 1257301"/>
              <a:gd name="connsiteY17" fmla="*/ 2996293 h 3020786"/>
              <a:gd name="connsiteX18" fmla="*/ 865415 w 1257301"/>
              <a:gd name="connsiteY18" fmla="*/ 2955471 h 3020786"/>
              <a:gd name="connsiteX19" fmla="*/ 498022 w 1257301"/>
              <a:gd name="connsiteY19" fmla="*/ 2963636 h 3020786"/>
              <a:gd name="connsiteX20" fmla="*/ 236765 w 1257301"/>
              <a:gd name="connsiteY20" fmla="*/ 3020786 h 3020786"/>
              <a:gd name="connsiteX21" fmla="*/ 57150 w 1257301"/>
              <a:gd name="connsiteY21" fmla="*/ 2906486 h 3020786"/>
              <a:gd name="connsiteX22" fmla="*/ 16329 w 1257301"/>
              <a:gd name="connsiteY22" fmla="*/ 2726871 h 3020786"/>
              <a:gd name="connsiteX23" fmla="*/ 73479 w 1257301"/>
              <a:gd name="connsiteY23" fmla="*/ 2432957 h 3020786"/>
              <a:gd name="connsiteX24" fmla="*/ 97972 w 1257301"/>
              <a:gd name="connsiteY24" fmla="*/ 2057401 h 3020786"/>
              <a:gd name="connsiteX25" fmla="*/ 16329 w 1257301"/>
              <a:gd name="connsiteY25" fmla="*/ 1559378 h 3020786"/>
              <a:gd name="connsiteX26" fmla="*/ 40822 w 1257301"/>
              <a:gd name="connsiteY26" fmla="*/ 1191986 h 3020786"/>
              <a:gd name="connsiteX27" fmla="*/ 40821 w 1257301"/>
              <a:gd name="connsiteY27" fmla="*/ 881742 h 3020786"/>
              <a:gd name="connsiteX28" fmla="*/ 24493 w 1257301"/>
              <a:gd name="connsiteY28" fmla="*/ 612322 h 3020786"/>
              <a:gd name="connsiteX29" fmla="*/ 0 w 1257301"/>
              <a:gd name="connsiteY29" fmla="*/ 432707 h 3020786"/>
              <a:gd name="connsiteX30" fmla="*/ 24493 w 1257301"/>
              <a:gd name="connsiteY30" fmla="*/ 293914 h 302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57301" h="3020786">
                <a:moveTo>
                  <a:pt x="24493" y="293914"/>
                </a:moveTo>
                <a:lnTo>
                  <a:pt x="57150" y="155121"/>
                </a:lnTo>
                <a:lnTo>
                  <a:pt x="163286" y="48986"/>
                </a:lnTo>
                <a:lnTo>
                  <a:pt x="481693" y="73479"/>
                </a:lnTo>
                <a:lnTo>
                  <a:pt x="718457" y="24493"/>
                </a:lnTo>
                <a:lnTo>
                  <a:pt x="987879" y="0"/>
                </a:lnTo>
                <a:lnTo>
                  <a:pt x="1167493" y="89807"/>
                </a:lnTo>
                <a:lnTo>
                  <a:pt x="1191986" y="195943"/>
                </a:lnTo>
                <a:lnTo>
                  <a:pt x="1183822" y="579664"/>
                </a:lnTo>
                <a:lnTo>
                  <a:pt x="1126672" y="898071"/>
                </a:lnTo>
                <a:lnTo>
                  <a:pt x="1183822" y="1257300"/>
                </a:lnTo>
                <a:lnTo>
                  <a:pt x="1257301" y="1608365"/>
                </a:lnTo>
                <a:lnTo>
                  <a:pt x="1183822" y="1975757"/>
                </a:lnTo>
                <a:lnTo>
                  <a:pt x="1151165" y="2228850"/>
                </a:lnTo>
                <a:lnTo>
                  <a:pt x="1175657" y="2481943"/>
                </a:lnTo>
                <a:lnTo>
                  <a:pt x="1232807" y="2792186"/>
                </a:lnTo>
                <a:lnTo>
                  <a:pt x="1175657" y="2988128"/>
                </a:lnTo>
                <a:lnTo>
                  <a:pt x="979715" y="2996293"/>
                </a:lnTo>
                <a:lnTo>
                  <a:pt x="865415" y="2955471"/>
                </a:lnTo>
                <a:lnTo>
                  <a:pt x="498022" y="2963636"/>
                </a:lnTo>
                <a:lnTo>
                  <a:pt x="236765" y="3020786"/>
                </a:lnTo>
                <a:lnTo>
                  <a:pt x="57150" y="2906486"/>
                </a:lnTo>
                <a:lnTo>
                  <a:pt x="16329" y="2726871"/>
                </a:lnTo>
                <a:lnTo>
                  <a:pt x="73479" y="2432957"/>
                </a:lnTo>
                <a:lnTo>
                  <a:pt x="97972" y="2057401"/>
                </a:lnTo>
                <a:lnTo>
                  <a:pt x="16329" y="1559378"/>
                </a:lnTo>
                <a:lnTo>
                  <a:pt x="40822" y="1191986"/>
                </a:lnTo>
                <a:cubicBezTo>
                  <a:pt x="40822" y="1088571"/>
                  <a:pt x="40821" y="985157"/>
                  <a:pt x="40821" y="881742"/>
                </a:cubicBezTo>
                <a:lnTo>
                  <a:pt x="24493" y="612322"/>
                </a:lnTo>
                <a:lnTo>
                  <a:pt x="0" y="432707"/>
                </a:lnTo>
                <a:lnTo>
                  <a:pt x="24493" y="293914"/>
                </a:lnTo>
                <a:close/>
              </a:path>
            </a:pathLst>
          </a:custGeom>
          <a:solidFill>
            <a:schemeClr val="accent2">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i="1" dirty="0">
                <a:solidFill>
                  <a:schemeClr val="tx1"/>
                </a:solidFill>
              </a:rPr>
              <a:t>Err</a:t>
            </a:r>
          </a:p>
        </p:txBody>
      </p:sp>
      <p:sp>
        <p:nvSpPr>
          <p:cNvPr id="28" name="Rounded Rectangle 27">
            <a:extLst>
              <a:ext uri="{FF2B5EF4-FFF2-40B4-BE49-F238E27FC236}">
                <a16:creationId xmlns:a16="http://schemas.microsoft.com/office/drawing/2014/main" id="{69467265-8A92-F541-A1E2-E497C462F816}"/>
              </a:ext>
            </a:extLst>
          </p:cNvPr>
          <p:cNvSpPr/>
          <p:nvPr/>
        </p:nvSpPr>
        <p:spPr>
          <a:xfrm>
            <a:off x="6279505" y="1744868"/>
            <a:ext cx="1175657" cy="2971800"/>
          </a:xfrm>
          <a:prstGeom prst="roundRect">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i="1" dirty="0">
                <a:solidFill>
                  <a:schemeClr val="tx1"/>
                </a:solidFill>
                <a:latin typeface="Times New Roman" panose="02020603050405020304" pitchFamily="18" charset="0"/>
                <a:cs typeface="Times New Roman" panose="02020603050405020304" pitchFamily="18" charset="0"/>
              </a:rPr>
              <a:t>Co</a:t>
            </a:r>
          </a:p>
        </p:txBody>
      </p:sp>
      <p:sp>
        <p:nvSpPr>
          <p:cNvPr id="30" name="TextBox 29">
            <a:extLst>
              <a:ext uri="{FF2B5EF4-FFF2-40B4-BE49-F238E27FC236}">
                <a16:creationId xmlns:a16="http://schemas.microsoft.com/office/drawing/2014/main" id="{991BF33D-4C5D-4941-9C4B-B0AF14E02A2F}"/>
              </a:ext>
            </a:extLst>
          </p:cNvPr>
          <p:cNvSpPr txBox="1"/>
          <p:nvPr/>
        </p:nvSpPr>
        <p:spPr>
          <a:xfrm>
            <a:off x="5920984" y="5289444"/>
            <a:ext cx="1892698" cy="584775"/>
          </a:xfrm>
          <a:prstGeom prst="rect">
            <a:avLst/>
          </a:prstGeom>
          <a:noFill/>
        </p:spPr>
        <p:txBody>
          <a:bodyPr wrap="none" rtlCol="0">
            <a:spAutoFit/>
          </a:bodyPr>
          <a:lstStyle/>
          <a:p>
            <a:r>
              <a:rPr lang="en-US" sz="3200" dirty="0"/>
              <a:t>correction</a:t>
            </a:r>
          </a:p>
        </p:txBody>
      </p:sp>
      <p:sp>
        <p:nvSpPr>
          <p:cNvPr id="31" name="TextBox 30">
            <a:extLst>
              <a:ext uri="{FF2B5EF4-FFF2-40B4-BE49-F238E27FC236}">
                <a16:creationId xmlns:a16="http://schemas.microsoft.com/office/drawing/2014/main" id="{DF0D3F41-398C-4D4E-919E-8DEAD2664DDC}"/>
              </a:ext>
            </a:extLst>
          </p:cNvPr>
          <p:cNvSpPr txBox="1"/>
          <p:nvPr/>
        </p:nvSpPr>
        <p:spPr>
          <a:xfrm>
            <a:off x="4068797" y="5289445"/>
            <a:ext cx="1026050" cy="584775"/>
          </a:xfrm>
          <a:prstGeom prst="rect">
            <a:avLst/>
          </a:prstGeom>
          <a:noFill/>
        </p:spPr>
        <p:txBody>
          <a:bodyPr wrap="none" rtlCol="0">
            <a:spAutoFit/>
          </a:bodyPr>
          <a:lstStyle/>
          <a:p>
            <a:pPr algn="ctr"/>
            <a:r>
              <a:rPr lang="en-US" sz="3200" dirty="0"/>
              <a:t>error</a:t>
            </a:r>
          </a:p>
        </p:txBody>
      </p:sp>
      <p:sp>
        <p:nvSpPr>
          <p:cNvPr id="32" name="TextBox 31">
            <a:extLst>
              <a:ext uri="{FF2B5EF4-FFF2-40B4-BE49-F238E27FC236}">
                <a16:creationId xmlns:a16="http://schemas.microsoft.com/office/drawing/2014/main" id="{B1C1C67A-8A6B-C149-944F-B964E068B0FC}"/>
              </a:ext>
            </a:extLst>
          </p:cNvPr>
          <p:cNvSpPr txBox="1"/>
          <p:nvPr/>
        </p:nvSpPr>
        <p:spPr>
          <a:xfrm>
            <a:off x="1742857" y="5289445"/>
            <a:ext cx="1410771" cy="584775"/>
          </a:xfrm>
          <a:prstGeom prst="rect">
            <a:avLst/>
          </a:prstGeom>
          <a:noFill/>
        </p:spPr>
        <p:txBody>
          <a:bodyPr wrap="none" rtlCol="0">
            <a:spAutoFit/>
          </a:bodyPr>
          <a:lstStyle/>
          <a:p>
            <a:r>
              <a:rPr lang="en-US" sz="3200" dirty="0"/>
              <a:t>encode</a:t>
            </a:r>
          </a:p>
        </p:txBody>
      </p:sp>
      <p:sp>
        <p:nvSpPr>
          <p:cNvPr id="33" name="TextBox 32">
            <a:extLst>
              <a:ext uri="{FF2B5EF4-FFF2-40B4-BE49-F238E27FC236}">
                <a16:creationId xmlns:a16="http://schemas.microsoft.com/office/drawing/2014/main" id="{EAB2A2D1-E0CF-4448-B29F-6BD8C32BCBF5}"/>
              </a:ext>
            </a:extLst>
          </p:cNvPr>
          <p:cNvSpPr txBox="1"/>
          <p:nvPr/>
        </p:nvSpPr>
        <p:spPr>
          <a:xfrm>
            <a:off x="8436278" y="5270962"/>
            <a:ext cx="1410771" cy="584775"/>
          </a:xfrm>
          <a:prstGeom prst="rect">
            <a:avLst/>
          </a:prstGeom>
          <a:noFill/>
        </p:spPr>
        <p:txBody>
          <a:bodyPr wrap="none" rtlCol="0">
            <a:spAutoFit/>
          </a:bodyPr>
          <a:lstStyle/>
          <a:p>
            <a:r>
              <a:rPr lang="en-US" sz="3200" dirty="0"/>
              <a:t>decode</a:t>
            </a:r>
          </a:p>
        </p:txBody>
      </p:sp>
      <p:cxnSp>
        <p:nvCxnSpPr>
          <p:cNvPr id="39" name="Straight Connector 38">
            <a:extLst>
              <a:ext uri="{FF2B5EF4-FFF2-40B4-BE49-F238E27FC236}">
                <a16:creationId xmlns:a16="http://schemas.microsoft.com/office/drawing/2014/main" id="{A2712252-5551-C146-A13C-E31D603A0708}"/>
              </a:ext>
            </a:extLst>
          </p:cNvPr>
          <p:cNvCxnSpPr>
            <a:cxnSpLocks/>
          </p:cNvCxnSpPr>
          <p:nvPr/>
        </p:nvCxnSpPr>
        <p:spPr>
          <a:xfrm>
            <a:off x="9729493" y="2129361"/>
            <a:ext cx="66793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529FE50A-2B6B-8C44-B35E-01C5CAA7659B}"/>
              </a:ext>
            </a:extLst>
          </p:cNvPr>
          <p:cNvSpPr>
            <a:spLocks noChangeAspect="1"/>
          </p:cNvSpPr>
          <p:nvPr/>
        </p:nvSpPr>
        <p:spPr>
          <a:xfrm>
            <a:off x="3190037" y="2596226"/>
            <a:ext cx="360000" cy="360000"/>
          </a:xfrm>
          <a:prstGeom prst="ellipse">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0B87A23F-6BA3-5D4F-892E-98AAFF294EA3}"/>
              </a:ext>
            </a:extLst>
          </p:cNvPr>
          <p:cNvSpPr/>
          <p:nvPr/>
        </p:nvSpPr>
        <p:spPr>
          <a:xfrm>
            <a:off x="10417426" y="1877230"/>
            <a:ext cx="679994" cy="461665"/>
          </a:xfrm>
          <a:prstGeom prst="rect">
            <a:avLst/>
          </a:prstGeom>
        </p:spPr>
        <p:txBody>
          <a:bodyPr wrap="none">
            <a:spAutoFit/>
          </a:bodyPr>
          <a:lstStyle/>
          <a:p>
            <a:pPr algn="ctr"/>
            <a:r>
              <a:rPr lang="en-US" sz="2400" dirty="0"/>
              <a:t>|</a:t>
            </a:r>
            <a:r>
              <a:rPr lang="en-US" sz="2400" i="1" dirty="0"/>
              <a:t>S</a:t>
            </a:r>
            <a:r>
              <a:rPr lang="en-US" sz="2400" baseline="-25000" dirty="0"/>
              <a:t>1</a:t>
            </a:r>
            <a:r>
              <a:rPr lang="en-US" sz="2400" dirty="0"/>
              <a:t>⟩</a:t>
            </a:r>
          </a:p>
        </p:txBody>
      </p:sp>
      <p:sp>
        <p:nvSpPr>
          <p:cNvPr id="44" name="Rectangle 43">
            <a:extLst>
              <a:ext uri="{FF2B5EF4-FFF2-40B4-BE49-F238E27FC236}">
                <a16:creationId xmlns:a16="http://schemas.microsoft.com/office/drawing/2014/main" id="{54D79BEE-437B-E743-ACB8-E717D61C99A7}"/>
              </a:ext>
            </a:extLst>
          </p:cNvPr>
          <p:cNvSpPr/>
          <p:nvPr/>
        </p:nvSpPr>
        <p:spPr>
          <a:xfrm>
            <a:off x="483833" y="1877229"/>
            <a:ext cx="575799" cy="461665"/>
          </a:xfrm>
          <a:prstGeom prst="rect">
            <a:avLst/>
          </a:prstGeom>
        </p:spPr>
        <p:txBody>
          <a:bodyPr wrap="none">
            <a:spAutoFit/>
          </a:bodyPr>
          <a:lstStyle/>
          <a:p>
            <a:pPr algn="ctr"/>
            <a:r>
              <a:rPr lang="en-US" sz="2400" dirty="0"/>
              <a:t>|</a:t>
            </a:r>
            <a:r>
              <a:rPr lang="en-US" sz="2400" i="1" dirty="0"/>
              <a:t>S</a:t>
            </a:r>
            <a:r>
              <a:rPr lang="en-US" sz="2400" dirty="0"/>
              <a:t>⟩</a:t>
            </a:r>
          </a:p>
        </p:txBody>
      </p:sp>
      <p:sp>
        <p:nvSpPr>
          <p:cNvPr id="46" name="Oval 45">
            <a:extLst>
              <a:ext uri="{FF2B5EF4-FFF2-40B4-BE49-F238E27FC236}">
                <a16:creationId xmlns:a16="http://schemas.microsoft.com/office/drawing/2014/main" id="{DD090E8C-F9EA-8A4C-A6C2-E41F53FBAA42}"/>
              </a:ext>
            </a:extLst>
          </p:cNvPr>
          <p:cNvSpPr>
            <a:spLocks noChangeAspect="1"/>
          </p:cNvSpPr>
          <p:nvPr/>
        </p:nvSpPr>
        <p:spPr>
          <a:xfrm>
            <a:off x="3190037" y="3397414"/>
            <a:ext cx="360000" cy="360000"/>
          </a:xfrm>
          <a:prstGeom prst="ellipse">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605D7DE4-76CA-1A47-B35D-2EEC34C81945}"/>
              </a:ext>
            </a:extLst>
          </p:cNvPr>
          <p:cNvSpPr>
            <a:spLocks noChangeAspect="1"/>
          </p:cNvSpPr>
          <p:nvPr/>
        </p:nvSpPr>
        <p:spPr>
          <a:xfrm>
            <a:off x="3190037" y="4185629"/>
            <a:ext cx="360000" cy="360000"/>
          </a:xfrm>
          <a:prstGeom prst="ellipse">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49122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8C986-6A4F-374E-9556-E2490AA40B70}"/>
              </a:ext>
            </a:extLst>
          </p:cNvPr>
          <p:cNvSpPr>
            <a:spLocks noGrp="1"/>
          </p:cNvSpPr>
          <p:nvPr>
            <p:ph type="title"/>
          </p:nvPr>
        </p:nvSpPr>
        <p:spPr/>
        <p:txBody>
          <a:bodyPr/>
          <a:lstStyle/>
          <a:p>
            <a:r>
              <a:rPr lang="en-ZA" dirty="0"/>
              <a:t>Bit-Flip Error Detection and Correction</a:t>
            </a:r>
            <a:endParaRPr lang="en-US" dirty="0"/>
          </a:p>
        </p:txBody>
      </p:sp>
      <p:sp>
        <p:nvSpPr>
          <p:cNvPr id="3" name="Slide Number Placeholder 2">
            <a:extLst>
              <a:ext uri="{FF2B5EF4-FFF2-40B4-BE49-F238E27FC236}">
                <a16:creationId xmlns:a16="http://schemas.microsoft.com/office/drawing/2014/main" id="{B1C23E26-1A55-A944-9573-554004475C28}"/>
              </a:ext>
            </a:extLst>
          </p:cNvPr>
          <p:cNvSpPr>
            <a:spLocks noGrp="1"/>
          </p:cNvSpPr>
          <p:nvPr>
            <p:ph type="sldNum" sz="quarter" idx="12"/>
          </p:nvPr>
        </p:nvSpPr>
        <p:spPr/>
        <p:txBody>
          <a:bodyPr/>
          <a:lstStyle/>
          <a:p>
            <a:fld id="{591A223C-FA10-BC46-A853-03BA373D023C}" type="slidenum">
              <a:rPr lang="en-US" smtClean="0"/>
              <a:t>45</a:t>
            </a:fld>
            <a:endParaRPr lang="en-US"/>
          </a:p>
        </p:txBody>
      </p:sp>
      <p:cxnSp>
        <p:nvCxnSpPr>
          <p:cNvPr id="13" name="Straight Connector 12">
            <a:extLst>
              <a:ext uri="{FF2B5EF4-FFF2-40B4-BE49-F238E27FC236}">
                <a16:creationId xmlns:a16="http://schemas.microsoft.com/office/drawing/2014/main" id="{CBF6FBB7-3308-F04C-9CE0-DE4FBCE7B89C}"/>
              </a:ext>
            </a:extLst>
          </p:cNvPr>
          <p:cNvCxnSpPr>
            <a:cxnSpLocks/>
          </p:cNvCxnSpPr>
          <p:nvPr/>
        </p:nvCxnSpPr>
        <p:spPr>
          <a:xfrm>
            <a:off x="770288" y="2211312"/>
            <a:ext cx="10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E288BE0-A79A-9F4B-AB06-8B3F5FA0F0BD}"/>
              </a:ext>
            </a:extLst>
          </p:cNvPr>
          <p:cNvCxnSpPr>
            <a:cxnSpLocks/>
          </p:cNvCxnSpPr>
          <p:nvPr/>
        </p:nvCxnSpPr>
        <p:spPr>
          <a:xfrm>
            <a:off x="223288" y="1586424"/>
            <a:ext cx="11347000" cy="1"/>
          </a:xfrm>
          <a:prstGeom prst="line">
            <a:avLst/>
          </a:prstGeom>
          <a:ln w="12700">
            <a:solidFill>
              <a:schemeClr val="tx1"/>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0DB772D-FC63-0D47-AB81-83A6CB0973D1}"/>
              </a:ext>
            </a:extLst>
          </p:cNvPr>
          <p:cNvCxnSpPr>
            <a:cxnSpLocks/>
          </p:cNvCxnSpPr>
          <p:nvPr/>
        </p:nvCxnSpPr>
        <p:spPr>
          <a:xfrm flipV="1">
            <a:off x="770287" y="2801864"/>
            <a:ext cx="10800000" cy="11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BC1956AE-860B-084E-934B-7CBF805996D3}"/>
              </a:ext>
            </a:extLst>
          </p:cNvPr>
          <p:cNvSpPr txBox="1"/>
          <p:nvPr/>
        </p:nvSpPr>
        <p:spPr>
          <a:xfrm>
            <a:off x="223288" y="2076063"/>
            <a:ext cx="468219" cy="365241"/>
          </a:xfrm>
          <a:prstGeom prst="rect">
            <a:avLst/>
          </a:prstGeom>
          <a:noFill/>
        </p:spPr>
        <p:txBody>
          <a:bodyPr wrap="none" rtlCol="0">
            <a:spAutoFit/>
          </a:bodyPr>
          <a:lstStyle/>
          <a:p>
            <a:r>
              <a:rPr lang="en-US" sz="2400" dirty="0"/>
              <a:t>|0⟩</a:t>
            </a:r>
            <a:endParaRPr lang="en-US" sz="2400" baseline="-25000" dirty="0"/>
          </a:p>
        </p:txBody>
      </p:sp>
      <p:sp>
        <p:nvSpPr>
          <p:cNvPr id="132" name="TextBox 131">
            <a:extLst>
              <a:ext uri="{FF2B5EF4-FFF2-40B4-BE49-F238E27FC236}">
                <a16:creationId xmlns:a16="http://schemas.microsoft.com/office/drawing/2014/main" id="{8663B749-F58C-4349-B02F-2FF35FEC73A6}"/>
              </a:ext>
            </a:extLst>
          </p:cNvPr>
          <p:cNvSpPr txBox="1"/>
          <p:nvPr/>
        </p:nvSpPr>
        <p:spPr>
          <a:xfrm>
            <a:off x="224284" y="2658256"/>
            <a:ext cx="468219" cy="365241"/>
          </a:xfrm>
          <a:prstGeom prst="rect">
            <a:avLst/>
          </a:prstGeom>
          <a:noFill/>
        </p:spPr>
        <p:txBody>
          <a:bodyPr wrap="none" rtlCol="0">
            <a:spAutoFit/>
          </a:bodyPr>
          <a:lstStyle/>
          <a:p>
            <a:r>
              <a:rPr lang="en-US" sz="2400" dirty="0"/>
              <a:t>|0⟩</a:t>
            </a:r>
            <a:endParaRPr lang="en-US" sz="2400" baseline="-25000" dirty="0"/>
          </a:p>
        </p:txBody>
      </p:sp>
      <mc:AlternateContent xmlns:mc="http://schemas.openxmlformats.org/markup-compatibility/2006" xmlns:a14="http://schemas.microsoft.com/office/drawing/2010/main">
        <mc:Choice Requires="a14">
          <p:sp>
            <p:nvSpPr>
              <p:cNvPr id="134" name="Rectangle 133">
                <a:extLst>
                  <a:ext uri="{FF2B5EF4-FFF2-40B4-BE49-F238E27FC236}">
                    <a16:creationId xmlns:a16="http://schemas.microsoft.com/office/drawing/2014/main" id="{351F3C9C-92FB-154B-BC41-5D8B335ED3D3}"/>
                  </a:ext>
                </a:extLst>
              </p:cNvPr>
              <p:cNvSpPr/>
              <p:nvPr/>
            </p:nvSpPr>
            <p:spPr>
              <a:xfrm>
                <a:off x="42126" y="950870"/>
                <a:ext cx="1694784" cy="461665"/>
              </a:xfrm>
              <a:prstGeom prst="rect">
                <a:avLst/>
              </a:prstGeom>
              <a:solidFill>
                <a:schemeClr val="accent4">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𝑎</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0</m:t>
                          </m:r>
                        </m:e>
                      </m:d>
                      <m:r>
                        <a:rPr lang="en-US" sz="2400" b="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𝑏</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m:t>
                          </m:r>
                        </m:e>
                      </m:d>
                    </m:oMath>
                  </m:oMathPara>
                </a14:m>
                <a:endParaRPr lang="en-US" sz="2400" dirty="0"/>
              </a:p>
            </p:txBody>
          </p:sp>
        </mc:Choice>
        <mc:Fallback xmlns="">
          <p:sp>
            <p:nvSpPr>
              <p:cNvPr id="134" name="Rectangle 133">
                <a:extLst>
                  <a:ext uri="{FF2B5EF4-FFF2-40B4-BE49-F238E27FC236}">
                    <a16:creationId xmlns:a16="http://schemas.microsoft.com/office/drawing/2014/main" id="{351F3C9C-92FB-154B-BC41-5D8B335ED3D3}"/>
                  </a:ext>
                </a:extLst>
              </p:cNvPr>
              <p:cNvSpPr>
                <a:spLocks noRot="1" noChangeAspect="1" noMove="1" noResize="1" noEditPoints="1" noAdjustHandles="1" noChangeArrowheads="1" noChangeShapeType="1" noTextEdit="1"/>
              </p:cNvSpPr>
              <p:nvPr/>
            </p:nvSpPr>
            <p:spPr>
              <a:xfrm>
                <a:off x="42126" y="950870"/>
                <a:ext cx="1694784" cy="461665"/>
              </a:xfrm>
              <a:prstGeom prst="rect">
                <a:avLst/>
              </a:prstGeom>
              <a:blipFill>
                <a:blip r:embed="rId3"/>
                <a:stretch>
                  <a:fillRect t="-124324" r="-19259" b="-191892"/>
                </a:stretch>
              </a:blipFill>
            </p:spPr>
            <p:txBody>
              <a:bodyPr/>
              <a:lstStyle/>
              <a:p>
                <a:r>
                  <a:rPr lang="en-US">
                    <a:noFill/>
                  </a:rPr>
                  <a:t> </a:t>
                </a:r>
              </a:p>
            </p:txBody>
          </p:sp>
        </mc:Fallback>
      </mc:AlternateContent>
      <p:grpSp>
        <p:nvGrpSpPr>
          <p:cNvPr id="39" name="Group 38">
            <a:extLst>
              <a:ext uri="{FF2B5EF4-FFF2-40B4-BE49-F238E27FC236}">
                <a16:creationId xmlns:a16="http://schemas.microsoft.com/office/drawing/2014/main" id="{62980AC0-8419-9D40-B8B9-C0D3FDB2C608}"/>
              </a:ext>
            </a:extLst>
          </p:cNvPr>
          <p:cNvGrpSpPr/>
          <p:nvPr/>
        </p:nvGrpSpPr>
        <p:grpSpPr>
          <a:xfrm>
            <a:off x="5795995" y="1084181"/>
            <a:ext cx="4059670" cy="3221710"/>
            <a:chOff x="5795995" y="1084181"/>
            <a:chExt cx="4059670" cy="3221710"/>
          </a:xfrm>
        </p:grpSpPr>
        <p:grpSp>
          <p:nvGrpSpPr>
            <p:cNvPr id="38" name="Group 37">
              <a:extLst>
                <a:ext uri="{FF2B5EF4-FFF2-40B4-BE49-F238E27FC236}">
                  <a16:creationId xmlns:a16="http://schemas.microsoft.com/office/drawing/2014/main" id="{CE0C5880-A34C-3F49-A267-62E3D40FCC51}"/>
                </a:ext>
              </a:extLst>
            </p:cNvPr>
            <p:cNvGrpSpPr/>
            <p:nvPr/>
          </p:nvGrpSpPr>
          <p:grpSpPr>
            <a:xfrm>
              <a:off x="5795995" y="1528641"/>
              <a:ext cx="4059670" cy="2777250"/>
              <a:chOff x="5795995" y="1528641"/>
              <a:chExt cx="4059670" cy="2777250"/>
            </a:xfrm>
          </p:grpSpPr>
          <p:cxnSp>
            <p:nvCxnSpPr>
              <p:cNvPr id="29" name="Straight Connector 28">
                <a:extLst>
                  <a:ext uri="{FF2B5EF4-FFF2-40B4-BE49-F238E27FC236}">
                    <a16:creationId xmlns:a16="http://schemas.microsoft.com/office/drawing/2014/main" id="{4B143E4F-F76C-CE4E-942A-D5C129F487C7}"/>
                  </a:ext>
                </a:extLst>
              </p:cNvPr>
              <p:cNvCxnSpPr>
                <a:cxnSpLocks/>
              </p:cNvCxnSpPr>
              <p:nvPr/>
            </p:nvCxnSpPr>
            <p:spPr>
              <a:xfrm>
                <a:off x="6163558" y="3404938"/>
                <a:ext cx="293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4ABFCFF3-1121-BF4D-B388-F7FD251F0A2A}"/>
                  </a:ext>
                </a:extLst>
              </p:cNvPr>
              <p:cNvGrpSpPr/>
              <p:nvPr/>
            </p:nvGrpSpPr>
            <p:grpSpPr>
              <a:xfrm>
                <a:off x="5795995" y="1528641"/>
                <a:ext cx="4059670" cy="2777250"/>
                <a:chOff x="5795995" y="1528641"/>
                <a:chExt cx="4059670" cy="2777250"/>
              </a:xfrm>
            </p:grpSpPr>
            <p:sp>
              <p:nvSpPr>
                <p:cNvPr id="111" name="TextBox 110">
                  <a:extLst>
                    <a:ext uri="{FF2B5EF4-FFF2-40B4-BE49-F238E27FC236}">
                      <a16:creationId xmlns:a16="http://schemas.microsoft.com/office/drawing/2014/main" id="{E7981B4F-AEDA-4949-B042-CD122080A801}"/>
                    </a:ext>
                  </a:extLst>
                </p:cNvPr>
                <p:cNvSpPr txBox="1"/>
                <p:nvPr/>
              </p:nvSpPr>
              <p:spPr>
                <a:xfrm>
                  <a:off x="9446579" y="3875004"/>
                  <a:ext cx="409086" cy="430887"/>
                </a:xfrm>
                <a:prstGeom prst="rect">
                  <a:avLst/>
                </a:prstGeom>
                <a:noFill/>
              </p:spPr>
              <p:txBody>
                <a:bodyPr wrap="none" rtlCol="0">
                  <a:spAutoFit/>
                </a:bodyPr>
                <a:lstStyle/>
                <a:p>
                  <a:r>
                    <a:rPr lang="en-US" sz="2200" dirty="0"/>
                    <a:t>S</a:t>
                  </a:r>
                  <a:r>
                    <a:rPr lang="en-US" sz="2200" baseline="-25000" dirty="0"/>
                    <a:t>2</a:t>
                  </a:r>
                </a:p>
              </p:txBody>
            </p:sp>
            <p:cxnSp>
              <p:nvCxnSpPr>
                <p:cNvPr id="30" name="Straight Connector 29">
                  <a:extLst>
                    <a:ext uri="{FF2B5EF4-FFF2-40B4-BE49-F238E27FC236}">
                      <a16:creationId xmlns:a16="http://schemas.microsoft.com/office/drawing/2014/main" id="{02BDB9B5-4A56-6049-A058-0526F7513665}"/>
                    </a:ext>
                  </a:extLst>
                </p:cNvPr>
                <p:cNvCxnSpPr>
                  <a:cxnSpLocks/>
                </p:cNvCxnSpPr>
                <p:nvPr/>
              </p:nvCxnSpPr>
              <p:spPr>
                <a:xfrm>
                  <a:off x="6163558" y="3995491"/>
                  <a:ext cx="328302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DC8AB1FE-DA9C-E546-8C1D-8F088E8542AA}"/>
                    </a:ext>
                  </a:extLst>
                </p:cNvPr>
                <p:cNvSpPr txBox="1"/>
                <p:nvPr/>
              </p:nvSpPr>
              <p:spPr>
                <a:xfrm>
                  <a:off x="9031169" y="3386956"/>
                  <a:ext cx="409086" cy="430887"/>
                </a:xfrm>
                <a:prstGeom prst="rect">
                  <a:avLst/>
                </a:prstGeom>
                <a:noFill/>
              </p:spPr>
              <p:txBody>
                <a:bodyPr wrap="none" rtlCol="0">
                  <a:spAutoFit/>
                </a:bodyPr>
                <a:lstStyle/>
                <a:p>
                  <a:r>
                    <a:rPr lang="en-US" sz="2200" dirty="0"/>
                    <a:t>S</a:t>
                  </a:r>
                  <a:r>
                    <a:rPr lang="en-US" sz="2200" baseline="-25000" dirty="0"/>
                    <a:t>1</a:t>
                  </a:r>
                </a:p>
              </p:txBody>
            </p:sp>
            <p:grpSp>
              <p:nvGrpSpPr>
                <p:cNvPr id="76" name="Group 75">
                  <a:extLst>
                    <a:ext uri="{FF2B5EF4-FFF2-40B4-BE49-F238E27FC236}">
                      <a16:creationId xmlns:a16="http://schemas.microsoft.com/office/drawing/2014/main" id="{C31F95C8-1842-564C-8C3A-4782A758538F}"/>
                    </a:ext>
                  </a:extLst>
                </p:cNvPr>
                <p:cNvGrpSpPr/>
                <p:nvPr/>
              </p:nvGrpSpPr>
              <p:grpSpPr>
                <a:xfrm>
                  <a:off x="7828222" y="2733270"/>
                  <a:ext cx="427215" cy="1461826"/>
                  <a:chOff x="1328178" y="510560"/>
                  <a:chExt cx="540000" cy="1847748"/>
                </a:xfrm>
              </p:grpSpPr>
              <p:cxnSp>
                <p:nvCxnSpPr>
                  <p:cNvPr id="77" name="Straight Connector 76">
                    <a:extLst>
                      <a:ext uri="{FF2B5EF4-FFF2-40B4-BE49-F238E27FC236}">
                        <a16:creationId xmlns:a16="http://schemas.microsoft.com/office/drawing/2014/main" id="{C4611995-2EE2-694E-AB5B-8E749D31FC44}"/>
                      </a:ext>
                    </a:extLst>
                  </p:cNvPr>
                  <p:cNvCxnSpPr>
                    <a:cxnSpLocks/>
                    <a:stCxn id="79" idx="0"/>
                    <a:endCxn id="78" idx="4"/>
                  </p:cNvCxnSpPr>
                  <p:nvPr/>
                </p:nvCxnSpPr>
                <p:spPr>
                  <a:xfrm flipV="1">
                    <a:off x="1598179" y="690560"/>
                    <a:ext cx="0" cy="11277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Oval 77">
                    <a:extLst>
                      <a:ext uri="{FF2B5EF4-FFF2-40B4-BE49-F238E27FC236}">
                        <a16:creationId xmlns:a16="http://schemas.microsoft.com/office/drawing/2014/main" id="{2F2E70E1-B820-AE4D-BFD2-F289789C9180}"/>
                      </a:ext>
                    </a:extLst>
                  </p:cNvPr>
                  <p:cNvSpPr/>
                  <p:nvPr/>
                </p:nvSpPr>
                <p:spPr>
                  <a:xfrm>
                    <a:off x="1508178" y="510560"/>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000"/>
                  </a:p>
                </p:txBody>
              </p:sp>
              <p:sp>
                <p:nvSpPr>
                  <p:cNvPr id="79" name="Oval 78">
                    <a:extLst>
                      <a:ext uri="{FF2B5EF4-FFF2-40B4-BE49-F238E27FC236}">
                        <a16:creationId xmlns:a16="http://schemas.microsoft.com/office/drawing/2014/main" id="{1BC5A187-DBC3-4F4B-B201-0710D55AE977}"/>
                      </a:ext>
                    </a:extLst>
                  </p:cNvPr>
                  <p:cNvSpPr>
                    <a:spLocks noChangeAspect="1"/>
                  </p:cNvSpPr>
                  <p:nvPr/>
                </p:nvSpPr>
                <p:spPr>
                  <a:xfrm>
                    <a:off x="1328178" y="1818308"/>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latin typeface="Times" pitchFamily="2" charset="0"/>
                      </a:rPr>
                      <a:t>+</a:t>
                    </a:r>
                  </a:p>
                </p:txBody>
              </p:sp>
            </p:grpSp>
            <p:grpSp>
              <p:nvGrpSpPr>
                <p:cNvPr id="82" name="Group 81">
                  <a:extLst>
                    <a:ext uri="{FF2B5EF4-FFF2-40B4-BE49-F238E27FC236}">
                      <a16:creationId xmlns:a16="http://schemas.microsoft.com/office/drawing/2014/main" id="{FBA7FA4B-580F-AA44-A1BC-B4E88148904C}"/>
                    </a:ext>
                  </a:extLst>
                </p:cNvPr>
                <p:cNvGrpSpPr/>
                <p:nvPr/>
              </p:nvGrpSpPr>
              <p:grpSpPr>
                <a:xfrm>
                  <a:off x="7329805" y="2141616"/>
                  <a:ext cx="427215" cy="2055655"/>
                  <a:chOff x="1328178" y="-253964"/>
                  <a:chExt cx="540000" cy="2598348"/>
                </a:xfrm>
              </p:grpSpPr>
              <p:cxnSp>
                <p:nvCxnSpPr>
                  <p:cNvPr id="83" name="Straight Connector 82">
                    <a:extLst>
                      <a:ext uri="{FF2B5EF4-FFF2-40B4-BE49-F238E27FC236}">
                        <a16:creationId xmlns:a16="http://schemas.microsoft.com/office/drawing/2014/main" id="{DA802F9B-B98E-BB44-AEAF-7DEB8F75380E}"/>
                      </a:ext>
                    </a:extLst>
                  </p:cNvPr>
                  <p:cNvCxnSpPr>
                    <a:cxnSpLocks/>
                    <a:stCxn id="85" idx="0"/>
                    <a:endCxn id="84" idx="4"/>
                  </p:cNvCxnSpPr>
                  <p:nvPr/>
                </p:nvCxnSpPr>
                <p:spPr>
                  <a:xfrm flipV="1">
                    <a:off x="1598179" y="-73964"/>
                    <a:ext cx="0" cy="18783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Oval 83">
                    <a:extLst>
                      <a:ext uri="{FF2B5EF4-FFF2-40B4-BE49-F238E27FC236}">
                        <a16:creationId xmlns:a16="http://schemas.microsoft.com/office/drawing/2014/main" id="{6F994A80-B435-264B-BB4C-C0097F2258AD}"/>
                      </a:ext>
                    </a:extLst>
                  </p:cNvPr>
                  <p:cNvSpPr/>
                  <p:nvPr/>
                </p:nvSpPr>
                <p:spPr>
                  <a:xfrm>
                    <a:off x="1508178" y="-253964"/>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000"/>
                  </a:p>
                </p:txBody>
              </p:sp>
              <p:sp>
                <p:nvSpPr>
                  <p:cNvPr id="85" name="Oval 84">
                    <a:extLst>
                      <a:ext uri="{FF2B5EF4-FFF2-40B4-BE49-F238E27FC236}">
                        <a16:creationId xmlns:a16="http://schemas.microsoft.com/office/drawing/2014/main" id="{217E2C49-D855-EF44-A6CB-9604BF3C2F32}"/>
                      </a:ext>
                    </a:extLst>
                  </p:cNvPr>
                  <p:cNvSpPr>
                    <a:spLocks noChangeAspect="1"/>
                  </p:cNvSpPr>
                  <p:nvPr/>
                </p:nvSpPr>
                <p:spPr>
                  <a:xfrm>
                    <a:off x="1328178" y="1804384"/>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latin typeface="Times" pitchFamily="2" charset="0"/>
                      </a:rPr>
                      <a:t>+</a:t>
                    </a:r>
                  </a:p>
                </p:txBody>
              </p:sp>
            </p:grpSp>
            <p:grpSp>
              <p:nvGrpSpPr>
                <p:cNvPr id="89" name="Group 88">
                  <a:extLst>
                    <a:ext uri="{FF2B5EF4-FFF2-40B4-BE49-F238E27FC236}">
                      <a16:creationId xmlns:a16="http://schemas.microsoft.com/office/drawing/2014/main" id="{8434EF05-7762-054A-B5E2-E5AD749E074D}"/>
                    </a:ext>
                  </a:extLst>
                </p:cNvPr>
                <p:cNvGrpSpPr/>
                <p:nvPr/>
              </p:nvGrpSpPr>
              <p:grpSpPr>
                <a:xfrm>
                  <a:off x="6868121" y="2142327"/>
                  <a:ext cx="427215" cy="1472842"/>
                  <a:chOff x="1328178" y="524484"/>
                  <a:chExt cx="540000" cy="1861672"/>
                </a:xfrm>
              </p:grpSpPr>
              <p:cxnSp>
                <p:nvCxnSpPr>
                  <p:cNvPr id="90" name="Straight Connector 89">
                    <a:extLst>
                      <a:ext uri="{FF2B5EF4-FFF2-40B4-BE49-F238E27FC236}">
                        <a16:creationId xmlns:a16="http://schemas.microsoft.com/office/drawing/2014/main" id="{30C4F1CC-1350-2641-A850-5842B0F5F70D}"/>
                      </a:ext>
                    </a:extLst>
                  </p:cNvPr>
                  <p:cNvCxnSpPr>
                    <a:cxnSpLocks/>
                    <a:stCxn id="92" idx="0"/>
                    <a:endCxn id="91" idx="4"/>
                  </p:cNvCxnSpPr>
                  <p:nvPr/>
                </p:nvCxnSpPr>
                <p:spPr>
                  <a:xfrm flipV="1">
                    <a:off x="1598179" y="704484"/>
                    <a:ext cx="0" cy="114167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BD68C736-2E79-1C4B-AB20-1648C3DBF9DA}"/>
                      </a:ext>
                    </a:extLst>
                  </p:cNvPr>
                  <p:cNvSpPr/>
                  <p:nvPr/>
                </p:nvSpPr>
                <p:spPr>
                  <a:xfrm>
                    <a:off x="1508178" y="524484"/>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000"/>
                  </a:p>
                </p:txBody>
              </p:sp>
              <p:sp>
                <p:nvSpPr>
                  <p:cNvPr id="92" name="Oval 91">
                    <a:extLst>
                      <a:ext uri="{FF2B5EF4-FFF2-40B4-BE49-F238E27FC236}">
                        <a16:creationId xmlns:a16="http://schemas.microsoft.com/office/drawing/2014/main" id="{ED7BB535-C04B-2240-85CA-8187F91C363C}"/>
                      </a:ext>
                    </a:extLst>
                  </p:cNvPr>
                  <p:cNvSpPr>
                    <a:spLocks noChangeAspect="1"/>
                  </p:cNvSpPr>
                  <p:nvPr/>
                </p:nvSpPr>
                <p:spPr>
                  <a:xfrm>
                    <a:off x="1328178" y="1846156"/>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latin typeface="Times" pitchFamily="2" charset="0"/>
                      </a:rPr>
                      <a:t>+</a:t>
                    </a:r>
                  </a:p>
                </p:txBody>
              </p:sp>
            </p:grpSp>
            <p:grpSp>
              <p:nvGrpSpPr>
                <p:cNvPr id="93" name="Group 92">
                  <a:extLst>
                    <a:ext uri="{FF2B5EF4-FFF2-40B4-BE49-F238E27FC236}">
                      <a16:creationId xmlns:a16="http://schemas.microsoft.com/office/drawing/2014/main" id="{762D64F4-5855-5B44-92B5-D5A9118D7137}"/>
                    </a:ext>
                  </a:extLst>
                </p:cNvPr>
                <p:cNvGrpSpPr/>
                <p:nvPr/>
              </p:nvGrpSpPr>
              <p:grpSpPr>
                <a:xfrm>
                  <a:off x="6369704" y="1528641"/>
                  <a:ext cx="427215" cy="2083195"/>
                  <a:chOff x="1328178" y="-267888"/>
                  <a:chExt cx="540000" cy="2633158"/>
                </a:xfrm>
              </p:grpSpPr>
              <p:cxnSp>
                <p:nvCxnSpPr>
                  <p:cNvPr id="94" name="Straight Connector 93">
                    <a:extLst>
                      <a:ext uri="{FF2B5EF4-FFF2-40B4-BE49-F238E27FC236}">
                        <a16:creationId xmlns:a16="http://schemas.microsoft.com/office/drawing/2014/main" id="{1CC2FB86-6A49-6A46-88FB-6658B74A4C36}"/>
                      </a:ext>
                    </a:extLst>
                  </p:cNvPr>
                  <p:cNvCxnSpPr>
                    <a:cxnSpLocks/>
                    <a:stCxn id="96" idx="0"/>
                    <a:endCxn id="95" idx="4"/>
                  </p:cNvCxnSpPr>
                  <p:nvPr/>
                </p:nvCxnSpPr>
                <p:spPr>
                  <a:xfrm flipV="1">
                    <a:off x="1598179" y="-87888"/>
                    <a:ext cx="0" cy="19131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Oval 94">
                    <a:extLst>
                      <a:ext uri="{FF2B5EF4-FFF2-40B4-BE49-F238E27FC236}">
                        <a16:creationId xmlns:a16="http://schemas.microsoft.com/office/drawing/2014/main" id="{58CE85E7-E3A0-864F-BC48-66803C9FFC0A}"/>
                      </a:ext>
                    </a:extLst>
                  </p:cNvPr>
                  <p:cNvSpPr/>
                  <p:nvPr/>
                </p:nvSpPr>
                <p:spPr>
                  <a:xfrm>
                    <a:off x="1508178" y="-267888"/>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000" dirty="0"/>
                  </a:p>
                </p:txBody>
              </p:sp>
              <p:sp>
                <p:nvSpPr>
                  <p:cNvPr id="96" name="Oval 95">
                    <a:extLst>
                      <a:ext uri="{FF2B5EF4-FFF2-40B4-BE49-F238E27FC236}">
                        <a16:creationId xmlns:a16="http://schemas.microsoft.com/office/drawing/2014/main" id="{CB2E0700-0C89-6540-9B9D-C548F58C8502}"/>
                      </a:ext>
                    </a:extLst>
                  </p:cNvPr>
                  <p:cNvSpPr>
                    <a:spLocks noChangeAspect="1"/>
                  </p:cNvSpPr>
                  <p:nvPr/>
                </p:nvSpPr>
                <p:spPr>
                  <a:xfrm>
                    <a:off x="1328178" y="1825270"/>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latin typeface="Times" pitchFamily="2" charset="0"/>
                      </a:rPr>
                      <a:t>+</a:t>
                    </a:r>
                  </a:p>
                </p:txBody>
              </p:sp>
            </p:grpSp>
            <p:grpSp>
              <p:nvGrpSpPr>
                <p:cNvPr id="99" name="Group 98">
                  <a:extLst>
                    <a:ext uri="{FF2B5EF4-FFF2-40B4-BE49-F238E27FC236}">
                      <a16:creationId xmlns:a16="http://schemas.microsoft.com/office/drawing/2014/main" id="{B81EE213-8908-B74D-8E97-4E80D6ED198F}"/>
                    </a:ext>
                  </a:extLst>
                </p:cNvPr>
                <p:cNvGrpSpPr>
                  <a:grpSpLocks noChangeAspect="1"/>
                </p:cNvGrpSpPr>
                <p:nvPr/>
              </p:nvGrpSpPr>
              <p:grpSpPr>
                <a:xfrm>
                  <a:off x="8487046" y="3721488"/>
                  <a:ext cx="484177" cy="484177"/>
                  <a:chOff x="8665028" y="849762"/>
                  <a:chExt cx="720000" cy="720000"/>
                </a:xfrm>
              </p:grpSpPr>
              <p:sp>
                <p:nvSpPr>
                  <p:cNvPr id="100" name="Rectangle 99">
                    <a:extLst>
                      <a:ext uri="{FF2B5EF4-FFF2-40B4-BE49-F238E27FC236}">
                        <a16:creationId xmlns:a16="http://schemas.microsoft.com/office/drawing/2014/main" id="{FA9BDCCA-392A-274F-93BE-2237BA2F962F}"/>
                      </a:ext>
                    </a:extLst>
                  </p:cNvPr>
                  <p:cNvSpPr>
                    <a:spLocks noChangeAspect="1"/>
                  </p:cNvSpPr>
                  <p:nvPr/>
                </p:nvSpPr>
                <p:spPr>
                  <a:xfrm>
                    <a:off x="8665028" y="849762"/>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cxnSp>
                <p:nvCxnSpPr>
                  <p:cNvPr id="101" name="Straight Connector 100">
                    <a:extLst>
                      <a:ext uri="{FF2B5EF4-FFF2-40B4-BE49-F238E27FC236}">
                        <a16:creationId xmlns:a16="http://schemas.microsoft.com/office/drawing/2014/main" id="{E239352C-7FF0-B84F-A7D8-AE81830CD332}"/>
                      </a:ext>
                    </a:extLst>
                  </p:cNvPr>
                  <p:cNvCxnSpPr>
                    <a:cxnSpLocks/>
                  </p:cNvCxnSpPr>
                  <p:nvPr/>
                </p:nvCxnSpPr>
                <p:spPr>
                  <a:xfrm flipV="1">
                    <a:off x="9023348" y="979487"/>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102" name="Arc 101">
                    <a:extLst>
                      <a:ext uri="{FF2B5EF4-FFF2-40B4-BE49-F238E27FC236}">
                        <a16:creationId xmlns:a16="http://schemas.microsoft.com/office/drawing/2014/main" id="{5A75DAC8-1746-2142-8A62-4C73BCDD0B55}"/>
                      </a:ext>
                    </a:extLst>
                  </p:cNvPr>
                  <p:cNvSpPr/>
                  <p:nvPr/>
                </p:nvSpPr>
                <p:spPr>
                  <a:xfrm>
                    <a:off x="8745179" y="981197"/>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06" name="Group 105">
                  <a:extLst>
                    <a:ext uri="{FF2B5EF4-FFF2-40B4-BE49-F238E27FC236}">
                      <a16:creationId xmlns:a16="http://schemas.microsoft.com/office/drawing/2014/main" id="{0D2E9CF3-D706-964C-A8FA-3B19B88CD7CC}"/>
                    </a:ext>
                  </a:extLst>
                </p:cNvPr>
                <p:cNvGrpSpPr>
                  <a:grpSpLocks noChangeAspect="1"/>
                </p:cNvGrpSpPr>
                <p:nvPr/>
              </p:nvGrpSpPr>
              <p:grpSpPr>
                <a:xfrm>
                  <a:off x="8495259" y="3148246"/>
                  <a:ext cx="484177" cy="484177"/>
                  <a:chOff x="8665028" y="849762"/>
                  <a:chExt cx="720000" cy="720000"/>
                </a:xfrm>
              </p:grpSpPr>
              <p:sp>
                <p:nvSpPr>
                  <p:cNvPr id="107" name="Rectangle 106">
                    <a:extLst>
                      <a:ext uri="{FF2B5EF4-FFF2-40B4-BE49-F238E27FC236}">
                        <a16:creationId xmlns:a16="http://schemas.microsoft.com/office/drawing/2014/main" id="{4185A1F1-3815-9F48-B506-5F4757B290FD}"/>
                      </a:ext>
                    </a:extLst>
                  </p:cNvPr>
                  <p:cNvSpPr>
                    <a:spLocks noChangeAspect="1"/>
                  </p:cNvSpPr>
                  <p:nvPr/>
                </p:nvSpPr>
                <p:spPr>
                  <a:xfrm>
                    <a:off x="8665028" y="849762"/>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cxnSp>
                <p:nvCxnSpPr>
                  <p:cNvPr id="108" name="Straight Connector 107">
                    <a:extLst>
                      <a:ext uri="{FF2B5EF4-FFF2-40B4-BE49-F238E27FC236}">
                        <a16:creationId xmlns:a16="http://schemas.microsoft.com/office/drawing/2014/main" id="{A0199A70-28F1-344F-890D-4C1D3CAFC8DD}"/>
                      </a:ext>
                    </a:extLst>
                  </p:cNvPr>
                  <p:cNvCxnSpPr>
                    <a:cxnSpLocks/>
                  </p:cNvCxnSpPr>
                  <p:nvPr/>
                </p:nvCxnSpPr>
                <p:spPr>
                  <a:xfrm flipV="1">
                    <a:off x="9023348" y="979487"/>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109" name="Arc 108">
                    <a:extLst>
                      <a:ext uri="{FF2B5EF4-FFF2-40B4-BE49-F238E27FC236}">
                        <a16:creationId xmlns:a16="http://schemas.microsoft.com/office/drawing/2014/main" id="{23CA4022-85AE-F140-A3C1-3366086B0B15}"/>
                      </a:ext>
                    </a:extLst>
                  </p:cNvPr>
                  <p:cNvSpPr/>
                  <p:nvPr/>
                </p:nvSpPr>
                <p:spPr>
                  <a:xfrm>
                    <a:off x="8745179" y="981197"/>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10" name="TextBox 109">
                  <a:extLst>
                    <a:ext uri="{FF2B5EF4-FFF2-40B4-BE49-F238E27FC236}">
                      <a16:creationId xmlns:a16="http://schemas.microsoft.com/office/drawing/2014/main" id="{149265D4-7F49-F14B-985F-BDF1BC26BA47}"/>
                    </a:ext>
                  </a:extLst>
                </p:cNvPr>
                <p:cNvSpPr txBox="1"/>
                <p:nvPr/>
              </p:nvSpPr>
              <p:spPr>
                <a:xfrm>
                  <a:off x="5795995" y="2991224"/>
                  <a:ext cx="558166" cy="430887"/>
                </a:xfrm>
                <a:prstGeom prst="rect">
                  <a:avLst/>
                </a:prstGeom>
                <a:noFill/>
              </p:spPr>
              <p:txBody>
                <a:bodyPr wrap="none" rtlCol="0">
                  <a:spAutoFit/>
                </a:bodyPr>
                <a:lstStyle/>
                <a:p>
                  <a:r>
                    <a:rPr lang="en-US" sz="2200" dirty="0"/>
                    <a:t>|0⟩</a:t>
                  </a:r>
                  <a:endParaRPr lang="en-US" sz="2200" baseline="-25000" dirty="0"/>
                </a:p>
              </p:txBody>
            </p:sp>
            <p:sp>
              <p:nvSpPr>
                <p:cNvPr id="127" name="TextBox 126">
                  <a:extLst>
                    <a:ext uri="{FF2B5EF4-FFF2-40B4-BE49-F238E27FC236}">
                      <a16:creationId xmlns:a16="http://schemas.microsoft.com/office/drawing/2014/main" id="{B6AD88A8-9DAD-FC42-B4FE-3F241D2330C3}"/>
                    </a:ext>
                  </a:extLst>
                </p:cNvPr>
                <p:cNvSpPr txBox="1"/>
                <p:nvPr/>
              </p:nvSpPr>
              <p:spPr>
                <a:xfrm>
                  <a:off x="5796991" y="3573417"/>
                  <a:ext cx="558166" cy="430887"/>
                </a:xfrm>
                <a:prstGeom prst="rect">
                  <a:avLst/>
                </a:prstGeom>
                <a:noFill/>
              </p:spPr>
              <p:txBody>
                <a:bodyPr wrap="none" rtlCol="0">
                  <a:spAutoFit/>
                </a:bodyPr>
                <a:lstStyle/>
                <a:p>
                  <a:r>
                    <a:rPr lang="en-US" sz="2200" dirty="0"/>
                    <a:t>|0⟩</a:t>
                  </a:r>
                  <a:endParaRPr lang="en-US" sz="2200" baseline="-25000" dirty="0"/>
                </a:p>
              </p:txBody>
            </p:sp>
          </p:grpSp>
        </p:grpSp>
        <p:sp>
          <p:nvSpPr>
            <p:cNvPr id="139" name="TextBox 138">
              <a:extLst>
                <a:ext uri="{FF2B5EF4-FFF2-40B4-BE49-F238E27FC236}">
                  <a16:creationId xmlns:a16="http://schemas.microsoft.com/office/drawing/2014/main" id="{D0471B0B-AB76-3045-9069-FCB3DD6B5518}"/>
                </a:ext>
              </a:extLst>
            </p:cNvPr>
            <p:cNvSpPr txBox="1"/>
            <p:nvPr/>
          </p:nvSpPr>
          <p:spPr>
            <a:xfrm>
              <a:off x="6551124" y="1084181"/>
              <a:ext cx="1378711" cy="461665"/>
            </a:xfrm>
            <a:prstGeom prst="rect">
              <a:avLst/>
            </a:prstGeom>
            <a:noFill/>
          </p:spPr>
          <p:txBody>
            <a:bodyPr wrap="none" rtlCol="0">
              <a:spAutoFit/>
            </a:bodyPr>
            <a:lstStyle/>
            <a:p>
              <a:r>
                <a:rPr lang="en-US" sz="2400" dirty="0"/>
                <a:t>detection</a:t>
              </a:r>
              <a:endParaRPr lang="en-US" sz="2400" baseline="-25000" dirty="0"/>
            </a:p>
          </p:txBody>
        </p:sp>
      </p:grpSp>
      <p:grpSp>
        <p:nvGrpSpPr>
          <p:cNvPr id="40" name="Group 39">
            <a:extLst>
              <a:ext uri="{FF2B5EF4-FFF2-40B4-BE49-F238E27FC236}">
                <a16:creationId xmlns:a16="http://schemas.microsoft.com/office/drawing/2014/main" id="{2C6A5D83-8D0F-9444-95FC-017D5C6E7EEF}"/>
              </a:ext>
            </a:extLst>
          </p:cNvPr>
          <p:cNvGrpSpPr/>
          <p:nvPr/>
        </p:nvGrpSpPr>
        <p:grpSpPr>
          <a:xfrm>
            <a:off x="8987876" y="1268022"/>
            <a:ext cx="548716" cy="2727469"/>
            <a:chOff x="8987876" y="1268022"/>
            <a:chExt cx="548716" cy="2727469"/>
          </a:xfrm>
        </p:grpSpPr>
        <p:sp>
          <p:nvSpPr>
            <p:cNvPr id="112" name="Rounded Rectangle 111">
              <a:extLst>
                <a:ext uri="{FF2B5EF4-FFF2-40B4-BE49-F238E27FC236}">
                  <a16:creationId xmlns:a16="http://schemas.microsoft.com/office/drawing/2014/main" id="{9E82141E-A50C-F44A-B583-31DA6090585D}"/>
                </a:ext>
              </a:extLst>
            </p:cNvPr>
            <p:cNvSpPr/>
            <p:nvPr/>
          </p:nvSpPr>
          <p:spPr>
            <a:xfrm>
              <a:off x="8987876" y="1332016"/>
              <a:ext cx="548716" cy="1713589"/>
            </a:xfrm>
            <a:prstGeom prst="roundRect">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400" i="1" dirty="0">
                <a:solidFill>
                  <a:schemeClr val="tx1"/>
                </a:solidFill>
                <a:latin typeface="Times New Roman" panose="02020603050405020304" pitchFamily="18" charset="0"/>
                <a:cs typeface="Times New Roman" panose="02020603050405020304" pitchFamily="18" charset="0"/>
              </a:endParaRPr>
            </a:p>
          </p:txBody>
        </p:sp>
        <p:cxnSp>
          <p:nvCxnSpPr>
            <p:cNvPr id="118" name="Straight Connector 117">
              <a:extLst>
                <a:ext uri="{FF2B5EF4-FFF2-40B4-BE49-F238E27FC236}">
                  <a16:creationId xmlns:a16="http://schemas.microsoft.com/office/drawing/2014/main" id="{53AF16BA-94A7-2748-AF44-A60B04708743}"/>
                </a:ext>
              </a:extLst>
            </p:cNvPr>
            <p:cNvCxnSpPr>
              <a:cxnSpLocks/>
            </p:cNvCxnSpPr>
            <p:nvPr/>
          </p:nvCxnSpPr>
          <p:spPr>
            <a:xfrm flipV="1">
              <a:off x="9446579" y="3058127"/>
              <a:ext cx="0" cy="9373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3E59601-F578-484E-8B27-4BBAA335DBAD}"/>
                </a:ext>
              </a:extLst>
            </p:cNvPr>
            <p:cNvCxnSpPr>
              <a:cxnSpLocks/>
            </p:cNvCxnSpPr>
            <p:nvPr/>
          </p:nvCxnSpPr>
          <p:spPr>
            <a:xfrm flipV="1">
              <a:off x="9094431" y="3050227"/>
              <a:ext cx="0" cy="354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0" name="TextBox 139">
              <a:extLst>
                <a:ext uri="{FF2B5EF4-FFF2-40B4-BE49-F238E27FC236}">
                  <a16:creationId xmlns:a16="http://schemas.microsoft.com/office/drawing/2014/main" id="{3F9468A0-6FAD-D449-AA07-508FF4904A44}"/>
                </a:ext>
              </a:extLst>
            </p:cNvPr>
            <p:cNvSpPr txBox="1"/>
            <p:nvPr/>
          </p:nvSpPr>
          <p:spPr>
            <a:xfrm rot="16200000">
              <a:off x="8344356" y="1988251"/>
              <a:ext cx="1840568" cy="400110"/>
            </a:xfrm>
            <a:prstGeom prst="rect">
              <a:avLst/>
            </a:prstGeom>
            <a:noFill/>
          </p:spPr>
          <p:txBody>
            <a:bodyPr wrap="none" rtlCol="0">
              <a:spAutoFit/>
            </a:bodyPr>
            <a:lstStyle/>
            <a:p>
              <a:r>
                <a:rPr lang="en-US" sz="2000" dirty="0"/>
                <a:t>error correction</a:t>
              </a:r>
              <a:endParaRPr lang="en-US" sz="2000" baseline="-25000" dirty="0"/>
            </a:p>
          </p:txBody>
        </p:sp>
      </p:grpSp>
      <p:grpSp>
        <p:nvGrpSpPr>
          <p:cNvPr id="23" name="Group 22">
            <a:extLst>
              <a:ext uri="{FF2B5EF4-FFF2-40B4-BE49-F238E27FC236}">
                <a16:creationId xmlns:a16="http://schemas.microsoft.com/office/drawing/2014/main" id="{E31DDD46-E26F-2740-A3C2-391FD6DB25EC}"/>
              </a:ext>
            </a:extLst>
          </p:cNvPr>
          <p:cNvGrpSpPr/>
          <p:nvPr/>
        </p:nvGrpSpPr>
        <p:grpSpPr>
          <a:xfrm>
            <a:off x="3178427" y="1384776"/>
            <a:ext cx="2426652" cy="1795475"/>
            <a:chOff x="3178427" y="1384776"/>
            <a:chExt cx="2426652" cy="1795475"/>
          </a:xfrm>
        </p:grpSpPr>
        <p:sp>
          <p:nvSpPr>
            <p:cNvPr id="122" name="Freeform 121">
              <a:extLst>
                <a:ext uri="{FF2B5EF4-FFF2-40B4-BE49-F238E27FC236}">
                  <a16:creationId xmlns:a16="http://schemas.microsoft.com/office/drawing/2014/main" id="{D4E8B6B8-92EF-7342-9148-EBB611659956}"/>
                </a:ext>
              </a:extLst>
            </p:cNvPr>
            <p:cNvSpPr/>
            <p:nvPr/>
          </p:nvSpPr>
          <p:spPr>
            <a:xfrm>
              <a:off x="3178427" y="1384776"/>
              <a:ext cx="2426652" cy="1795475"/>
            </a:xfrm>
            <a:custGeom>
              <a:avLst/>
              <a:gdLst>
                <a:gd name="connsiteX0" fmla="*/ 24493 w 1232807"/>
                <a:gd name="connsiteY0" fmla="*/ 293914 h 3020786"/>
                <a:gd name="connsiteX1" fmla="*/ 57150 w 1232807"/>
                <a:gd name="connsiteY1" fmla="*/ 155121 h 3020786"/>
                <a:gd name="connsiteX2" fmla="*/ 146957 w 1232807"/>
                <a:gd name="connsiteY2" fmla="*/ 8164 h 3020786"/>
                <a:gd name="connsiteX3" fmla="*/ 465365 w 1232807"/>
                <a:gd name="connsiteY3" fmla="*/ 0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83822 w 1232807"/>
                <a:gd name="connsiteY9" fmla="*/ 922564 h 3020786"/>
                <a:gd name="connsiteX10" fmla="*/ 1183822 w 1232807"/>
                <a:gd name="connsiteY10" fmla="*/ 1257300 h 3020786"/>
                <a:gd name="connsiteX11" fmla="*/ 1208315 w 1232807"/>
                <a:gd name="connsiteY11" fmla="*/ 1600200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65315 w 1232807"/>
                <a:gd name="connsiteY24" fmla="*/ 2032907 h 3020786"/>
                <a:gd name="connsiteX25" fmla="*/ 16329 w 1232807"/>
                <a:gd name="connsiteY25" fmla="*/ 1559378 h 3020786"/>
                <a:gd name="connsiteX26" fmla="*/ 40822 w 1232807"/>
                <a:gd name="connsiteY26" fmla="*/ 1191986 h 3020786"/>
                <a:gd name="connsiteX27" fmla="*/ 89807 w 1232807"/>
                <a:gd name="connsiteY27" fmla="*/ 930728 h 3020786"/>
                <a:gd name="connsiteX28" fmla="*/ 57150 w 1232807"/>
                <a:gd name="connsiteY28" fmla="*/ 620486 h 3020786"/>
                <a:gd name="connsiteX29" fmla="*/ 0 w 1232807"/>
                <a:gd name="connsiteY29" fmla="*/ 432707 h 3020786"/>
                <a:gd name="connsiteX30" fmla="*/ 24493 w 1232807"/>
                <a:gd name="connsiteY30" fmla="*/ 293914 h 3020786"/>
                <a:gd name="connsiteX0" fmla="*/ 24493 w 1232807"/>
                <a:gd name="connsiteY0" fmla="*/ 293914 h 3020786"/>
                <a:gd name="connsiteX1" fmla="*/ 57150 w 1232807"/>
                <a:gd name="connsiteY1" fmla="*/ 155121 h 3020786"/>
                <a:gd name="connsiteX2" fmla="*/ 146957 w 1232807"/>
                <a:gd name="connsiteY2" fmla="*/ 8164 h 3020786"/>
                <a:gd name="connsiteX3" fmla="*/ 465365 w 1232807"/>
                <a:gd name="connsiteY3" fmla="*/ 0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83822 w 1232807"/>
                <a:gd name="connsiteY9" fmla="*/ 922564 h 3020786"/>
                <a:gd name="connsiteX10" fmla="*/ 1183822 w 1232807"/>
                <a:gd name="connsiteY10" fmla="*/ 1257300 h 3020786"/>
                <a:gd name="connsiteX11" fmla="*/ 1208315 w 1232807"/>
                <a:gd name="connsiteY11" fmla="*/ 1600200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65315 w 1232807"/>
                <a:gd name="connsiteY24" fmla="*/ 2032907 h 3020786"/>
                <a:gd name="connsiteX25" fmla="*/ 16329 w 1232807"/>
                <a:gd name="connsiteY25" fmla="*/ 1559378 h 3020786"/>
                <a:gd name="connsiteX26" fmla="*/ 40822 w 1232807"/>
                <a:gd name="connsiteY26" fmla="*/ 1191986 h 3020786"/>
                <a:gd name="connsiteX27" fmla="*/ 40821 w 1232807"/>
                <a:gd name="connsiteY27" fmla="*/ 881742 h 3020786"/>
                <a:gd name="connsiteX28" fmla="*/ 57150 w 1232807"/>
                <a:gd name="connsiteY28" fmla="*/ 620486 h 3020786"/>
                <a:gd name="connsiteX29" fmla="*/ 0 w 1232807"/>
                <a:gd name="connsiteY29" fmla="*/ 432707 h 3020786"/>
                <a:gd name="connsiteX30" fmla="*/ 24493 w 1232807"/>
                <a:gd name="connsiteY30" fmla="*/ 293914 h 3020786"/>
                <a:gd name="connsiteX0" fmla="*/ 24493 w 1232807"/>
                <a:gd name="connsiteY0" fmla="*/ 293914 h 3020786"/>
                <a:gd name="connsiteX1" fmla="*/ 57150 w 1232807"/>
                <a:gd name="connsiteY1" fmla="*/ 155121 h 3020786"/>
                <a:gd name="connsiteX2" fmla="*/ 146957 w 1232807"/>
                <a:gd name="connsiteY2" fmla="*/ 8164 h 3020786"/>
                <a:gd name="connsiteX3" fmla="*/ 465365 w 1232807"/>
                <a:gd name="connsiteY3" fmla="*/ 0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83822 w 1232807"/>
                <a:gd name="connsiteY9" fmla="*/ 922564 h 3020786"/>
                <a:gd name="connsiteX10" fmla="*/ 1183822 w 1232807"/>
                <a:gd name="connsiteY10" fmla="*/ 1257300 h 3020786"/>
                <a:gd name="connsiteX11" fmla="*/ 1208315 w 1232807"/>
                <a:gd name="connsiteY11" fmla="*/ 1600200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65315 w 1232807"/>
                <a:gd name="connsiteY24" fmla="*/ 2032907 h 3020786"/>
                <a:gd name="connsiteX25" fmla="*/ 16329 w 1232807"/>
                <a:gd name="connsiteY25" fmla="*/ 1559378 h 3020786"/>
                <a:gd name="connsiteX26" fmla="*/ 40822 w 1232807"/>
                <a:gd name="connsiteY26" fmla="*/ 1191986 h 3020786"/>
                <a:gd name="connsiteX27" fmla="*/ 40821 w 1232807"/>
                <a:gd name="connsiteY27" fmla="*/ 881742 h 3020786"/>
                <a:gd name="connsiteX28" fmla="*/ 24493 w 1232807"/>
                <a:gd name="connsiteY28" fmla="*/ 612322 h 3020786"/>
                <a:gd name="connsiteX29" fmla="*/ 0 w 1232807"/>
                <a:gd name="connsiteY29" fmla="*/ 432707 h 3020786"/>
                <a:gd name="connsiteX30" fmla="*/ 24493 w 1232807"/>
                <a:gd name="connsiteY30" fmla="*/ 293914 h 3020786"/>
                <a:gd name="connsiteX0" fmla="*/ 24493 w 1232807"/>
                <a:gd name="connsiteY0" fmla="*/ 293914 h 3020786"/>
                <a:gd name="connsiteX1" fmla="*/ 57150 w 1232807"/>
                <a:gd name="connsiteY1" fmla="*/ 155121 h 3020786"/>
                <a:gd name="connsiteX2" fmla="*/ 146957 w 1232807"/>
                <a:gd name="connsiteY2" fmla="*/ 8164 h 3020786"/>
                <a:gd name="connsiteX3" fmla="*/ 465365 w 1232807"/>
                <a:gd name="connsiteY3" fmla="*/ 0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26672 w 1232807"/>
                <a:gd name="connsiteY9" fmla="*/ 898071 h 3020786"/>
                <a:gd name="connsiteX10" fmla="*/ 1183822 w 1232807"/>
                <a:gd name="connsiteY10" fmla="*/ 1257300 h 3020786"/>
                <a:gd name="connsiteX11" fmla="*/ 1208315 w 1232807"/>
                <a:gd name="connsiteY11" fmla="*/ 1600200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65315 w 1232807"/>
                <a:gd name="connsiteY24" fmla="*/ 2032907 h 3020786"/>
                <a:gd name="connsiteX25" fmla="*/ 16329 w 1232807"/>
                <a:gd name="connsiteY25" fmla="*/ 1559378 h 3020786"/>
                <a:gd name="connsiteX26" fmla="*/ 40822 w 1232807"/>
                <a:gd name="connsiteY26" fmla="*/ 1191986 h 3020786"/>
                <a:gd name="connsiteX27" fmla="*/ 40821 w 1232807"/>
                <a:gd name="connsiteY27" fmla="*/ 881742 h 3020786"/>
                <a:gd name="connsiteX28" fmla="*/ 24493 w 1232807"/>
                <a:gd name="connsiteY28" fmla="*/ 612322 h 3020786"/>
                <a:gd name="connsiteX29" fmla="*/ 0 w 1232807"/>
                <a:gd name="connsiteY29" fmla="*/ 432707 h 3020786"/>
                <a:gd name="connsiteX30" fmla="*/ 24493 w 1232807"/>
                <a:gd name="connsiteY30" fmla="*/ 293914 h 3020786"/>
                <a:gd name="connsiteX0" fmla="*/ 24493 w 1232807"/>
                <a:gd name="connsiteY0" fmla="*/ 293914 h 3020786"/>
                <a:gd name="connsiteX1" fmla="*/ 57150 w 1232807"/>
                <a:gd name="connsiteY1" fmla="*/ 155121 h 3020786"/>
                <a:gd name="connsiteX2" fmla="*/ 146957 w 1232807"/>
                <a:gd name="connsiteY2" fmla="*/ 8164 h 3020786"/>
                <a:gd name="connsiteX3" fmla="*/ 481693 w 1232807"/>
                <a:gd name="connsiteY3" fmla="*/ 73479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26672 w 1232807"/>
                <a:gd name="connsiteY9" fmla="*/ 898071 h 3020786"/>
                <a:gd name="connsiteX10" fmla="*/ 1183822 w 1232807"/>
                <a:gd name="connsiteY10" fmla="*/ 1257300 h 3020786"/>
                <a:gd name="connsiteX11" fmla="*/ 1208315 w 1232807"/>
                <a:gd name="connsiteY11" fmla="*/ 1600200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65315 w 1232807"/>
                <a:gd name="connsiteY24" fmla="*/ 2032907 h 3020786"/>
                <a:gd name="connsiteX25" fmla="*/ 16329 w 1232807"/>
                <a:gd name="connsiteY25" fmla="*/ 1559378 h 3020786"/>
                <a:gd name="connsiteX26" fmla="*/ 40822 w 1232807"/>
                <a:gd name="connsiteY26" fmla="*/ 1191986 h 3020786"/>
                <a:gd name="connsiteX27" fmla="*/ 40821 w 1232807"/>
                <a:gd name="connsiteY27" fmla="*/ 881742 h 3020786"/>
                <a:gd name="connsiteX28" fmla="*/ 24493 w 1232807"/>
                <a:gd name="connsiteY28" fmla="*/ 612322 h 3020786"/>
                <a:gd name="connsiteX29" fmla="*/ 0 w 1232807"/>
                <a:gd name="connsiteY29" fmla="*/ 432707 h 3020786"/>
                <a:gd name="connsiteX30" fmla="*/ 24493 w 1232807"/>
                <a:gd name="connsiteY30" fmla="*/ 293914 h 3020786"/>
                <a:gd name="connsiteX0" fmla="*/ 24493 w 1257301"/>
                <a:gd name="connsiteY0" fmla="*/ 293914 h 3020786"/>
                <a:gd name="connsiteX1" fmla="*/ 57150 w 1257301"/>
                <a:gd name="connsiteY1" fmla="*/ 155121 h 3020786"/>
                <a:gd name="connsiteX2" fmla="*/ 146957 w 1257301"/>
                <a:gd name="connsiteY2" fmla="*/ 8164 h 3020786"/>
                <a:gd name="connsiteX3" fmla="*/ 481693 w 1257301"/>
                <a:gd name="connsiteY3" fmla="*/ 73479 h 3020786"/>
                <a:gd name="connsiteX4" fmla="*/ 718457 w 1257301"/>
                <a:gd name="connsiteY4" fmla="*/ 24493 h 3020786"/>
                <a:gd name="connsiteX5" fmla="*/ 987879 w 1257301"/>
                <a:gd name="connsiteY5" fmla="*/ 0 h 3020786"/>
                <a:gd name="connsiteX6" fmla="*/ 1167493 w 1257301"/>
                <a:gd name="connsiteY6" fmla="*/ 89807 h 3020786"/>
                <a:gd name="connsiteX7" fmla="*/ 1191986 w 1257301"/>
                <a:gd name="connsiteY7" fmla="*/ 195943 h 3020786"/>
                <a:gd name="connsiteX8" fmla="*/ 1183822 w 1257301"/>
                <a:gd name="connsiteY8" fmla="*/ 579664 h 3020786"/>
                <a:gd name="connsiteX9" fmla="*/ 1126672 w 1257301"/>
                <a:gd name="connsiteY9" fmla="*/ 898071 h 3020786"/>
                <a:gd name="connsiteX10" fmla="*/ 1183822 w 1257301"/>
                <a:gd name="connsiteY10" fmla="*/ 1257300 h 3020786"/>
                <a:gd name="connsiteX11" fmla="*/ 1257301 w 1257301"/>
                <a:gd name="connsiteY11" fmla="*/ 1608365 h 3020786"/>
                <a:gd name="connsiteX12" fmla="*/ 1183822 w 1257301"/>
                <a:gd name="connsiteY12" fmla="*/ 1975757 h 3020786"/>
                <a:gd name="connsiteX13" fmla="*/ 1151165 w 1257301"/>
                <a:gd name="connsiteY13" fmla="*/ 2228850 h 3020786"/>
                <a:gd name="connsiteX14" fmla="*/ 1175657 w 1257301"/>
                <a:gd name="connsiteY14" fmla="*/ 2481943 h 3020786"/>
                <a:gd name="connsiteX15" fmla="*/ 1232807 w 1257301"/>
                <a:gd name="connsiteY15" fmla="*/ 2792186 h 3020786"/>
                <a:gd name="connsiteX16" fmla="*/ 1175657 w 1257301"/>
                <a:gd name="connsiteY16" fmla="*/ 2988128 h 3020786"/>
                <a:gd name="connsiteX17" fmla="*/ 979715 w 1257301"/>
                <a:gd name="connsiteY17" fmla="*/ 2996293 h 3020786"/>
                <a:gd name="connsiteX18" fmla="*/ 865415 w 1257301"/>
                <a:gd name="connsiteY18" fmla="*/ 2955471 h 3020786"/>
                <a:gd name="connsiteX19" fmla="*/ 498022 w 1257301"/>
                <a:gd name="connsiteY19" fmla="*/ 2963636 h 3020786"/>
                <a:gd name="connsiteX20" fmla="*/ 236765 w 1257301"/>
                <a:gd name="connsiteY20" fmla="*/ 3020786 h 3020786"/>
                <a:gd name="connsiteX21" fmla="*/ 57150 w 1257301"/>
                <a:gd name="connsiteY21" fmla="*/ 2906486 h 3020786"/>
                <a:gd name="connsiteX22" fmla="*/ 16329 w 1257301"/>
                <a:gd name="connsiteY22" fmla="*/ 2726871 h 3020786"/>
                <a:gd name="connsiteX23" fmla="*/ 73479 w 1257301"/>
                <a:gd name="connsiteY23" fmla="*/ 2432957 h 3020786"/>
                <a:gd name="connsiteX24" fmla="*/ 65315 w 1257301"/>
                <a:gd name="connsiteY24" fmla="*/ 2032907 h 3020786"/>
                <a:gd name="connsiteX25" fmla="*/ 16329 w 1257301"/>
                <a:gd name="connsiteY25" fmla="*/ 1559378 h 3020786"/>
                <a:gd name="connsiteX26" fmla="*/ 40822 w 1257301"/>
                <a:gd name="connsiteY26" fmla="*/ 1191986 h 3020786"/>
                <a:gd name="connsiteX27" fmla="*/ 40821 w 1257301"/>
                <a:gd name="connsiteY27" fmla="*/ 881742 h 3020786"/>
                <a:gd name="connsiteX28" fmla="*/ 24493 w 1257301"/>
                <a:gd name="connsiteY28" fmla="*/ 612322 h 3020786"/>
                <a:gd name="connsiteX29" fmla="*/ 0 w 1257301"/>
                <a:gd name="connsiteY29" fmla="*/ 432707 h 3020786"/>
                <a:gd name="connsiteX30" fmla="*/ 24493 w 1257301"/>
                <a:gd name="connsiteY30" fmla="*/ 293914 h 3020786"/>
                <a:gd name="connsiteX0" fmla="*/ 24493 w 1257301"/>
                <a:gd name="connsiteY0" fmla="*/ 293914 h 3020786"/>
                <a:gd name="connsiteX1" fmla="*/ 57150 w 1257301"/>
                <a:gd name="connsiteY1" fmla="*/ 155121 h 3020786"/>
                <a:gd name="connsiteX2" fmla="*/ 146957 w 1257301"/>
                <a:gd name="connsiteY2" fmla="*/ 8164 h 3020786"/>
                <a:gd name="connsiteX3" fmla="*/ 481693 w 1257301"/>
                <a:gd name="connsiteY3" fmla="*/ 73479 h 3020786"/>
                <a:gd name="connsiteX4" fmla="*/ 718457 w 1257301"/>
                <a:gd name="connsiteY4" fmla="*/ 24493 h 3020786"/>
                <a:gd name="connsiteX5" fmla="*/ 987879 w 1257301"/>
                <a:gd name="connsiteY5" fmla="*/ 0 h 3020786"/>
                <a:gd name="connsiteX6" fmla="*/ 1167493 w 1257301"/>
                <a:gd name="connsiteY6" fmla="*/ 89807 h 3020786"/>
                <a:gd name="connsiteX7" fmla="*/ 1191986 w 1257301"/>
                <a:gd name="connsiteY7" fmla="*/ 195943 h 3020786"/>
                <a:gd name="connsiteX8" fmla="*/ 1183822 w 1257301"/>
                <a:gd name="connsiteY8" fmla="*/ 579664 h 3020786"/>
                <a:gd name="connsiteX9" fmla="*/ 1126672 w 1257301"/>
                <a:gd name="connsiteY9" fmla="*/ 898071 h 3020786"/>
                <a:gd name="connsiteX10" fmla="*/ 1183822 w 1257301"/>
                <a:gd name="connsiteY10" fmla="*/ 1257300 h 3020786"/>
                <a:gd name="connsiteX11" fmla="*/ 1257301 w 1257301"/>
                <a:gd name="connsiteY11" fmla="*/ 1608365 h 3020786"/>
                <a:gd name="connsiteX12" fmla="*/ 1183822 w 1257301"/>
                <a:gd name="connsiteY12" fmla="*/ 1975757 h 3020786"/>
                <a:gd name="connsiteX13" fmla="*/ 1151165 w 1257301"/>
                <a:gd name="connsiteY13" fmla="*/ 2228850 h 3020786"/>
                <a:gd name="connsiteX14" fmla="*/ 1175657 w 1257301"/>
                <a:gd name="connsiteY14" fmla="*/ 2481943 h 3020786"/>
                <a:gd name="connsiteX15" fmla="*/ 1232807 w 1257301"/>
                <a:gd name="connsiteY15" fmla="*/ 2792186 h 3020786"/>
                <a:gd name="connsiteX16" fmla="*/ 1175657 w 1257301"/>
                <a:gd name="connsiteY16" fmla="*/ 2988128 h 3020786"/>
                <a:gd name="connsiteX17" fmla="*/ 979715 w 1257301"/>
                <a:gd name="connsiteY17" fmla="*/ 2996293 h 3020786"/>
                <a:gd name="connsiteX18" fmla="*/ 865415 w 1257301"/>
                <a:gd name="connsiteY18" fmla="*/ 2955471 h 3020786"/>
                <a:gd name="connsiteX19" fmla="*/ 498022 w 1257301"/>
                <a:gd name="connsiteY19" fmla="*/ 2963636 h 3020786"/>
                <a:gd name="connsiteX20" fmla="*/ 236765 w 1257301"/>
                <a:gd name="connsiteY20" fmla="*/ 3020786 h 3020786"/>
                <a:gd name="connsiteX21" fmla="*/ 57150 w 1257301"/>
                <a:gd name="connsiteY21" fmla="*/ 2906486 h 3020786"/>
                <a:gd name="connsiteX22" fmla="*/ 16329 w 1257301"/>
                <a:gd name="connsiteY22" fmla="*/ 2726871 h 3020786"/>
                <a:gd name="connsiteX23" fmla="*/ 73479 w 1257301"/>
                <a:gd name="connsiteY23" fmla="*/ 2432957 h 3020786"/>
                <a:gd name="connsiteX24" fmla="*/ 130629 w 1257301"/>
                <a:gd name="connsiteY24" fmla="*/ 2049236 h 3020786"/>
                <a:gd name="connsiteX25" fmla="*/ 16329 w 1257301"/>
                <a:gd name="connsiteY25" fmla="*/ 1559378 h 3020786"/>
                <a:gd name="connsiteX26" fmla="*/ 40822 w 1257301"/>
                <a:gd name="connsiteY26" fmla="*/ 1191986 h 3020786"/>
                <a:gd name="connsiteX27" fmla="*/ 40821 w 1257301"/>
                <a:gd name="connsiteY27" fmla="*/ 881742 h 3020786"/>
                <a:gd name="connsiteX28" fmla="*/ 24493 w 1257301"/>
                <a:gd name="connsiteY28" fmla="*/ 612322 h 3020786"/>
                <a:gd name="connsiteX29" fmla="*/ 0 w 1257301"/>
                <a:gd name="connsiteY29" fmla="*/ 432707 h 3020786"/>
                <a:gd name="connsiteX30" fmla="*/ 24493 w 1257301"/>
                <a:gd name="connsiteY30" fmla="*/ 293914 h 3020786"/>
                <a:gd name="connsiteX0" fmla="*/ 24493 w 1257301"/>
                <a:gd name="connsiteY0" fmla="*/ 293914 h 3020786"/>
                <a:gd name="connsiteX1" fmla="*/ 57150 w 1257301"/>
                <a:gd name="connsiteY1" fmla="*/ 155121 h 3020786"/>
                <a:gd name="connsiteX2" fmla="*/ 146957 w 1257301"/>
                <a:gd name="connsiteY2" fmla="*/ 8164 h 3020786"/>
                <a:gd name="connsiteX3" fmla="*/ 481693 w 1257301"/>
                <a:gd name="connsiteY3" fmla="*/ 73479 h 3020786"/>
                <a:gd name="connsiteX4" fmla="*/ 718457 w 1257301"/>
                <a:gd name="connsiteY4" fmla="*/ 24493 h 3020786"/>
                <a:gd name="connsiteX5" fmla="*/ 987879 w 1257301"/>
                <a:gd name="connsiteY5" fmla="*/ 0 h 3020786"/>
                <a:gd name="connsiteX6" fmla="*/ 1167493 w 1257301"/>
                <a:gd name="connsiteY6" fmla="*/ 89807 h 3020786"/>
                <a:gd name="connsiteX7" fmla="*/ 1191986 w 1257301"/>
                <a:gd name="connsiteY7" fmla="*/ 195943 h 3020786"/>
                <a:gd name="connsiteX8" fmla="*/ 1183822 w 1257301"/>
                <a:gd name="connsiteY8" fmla="*/ 579664 h 3020786"/>
                <a:gd name="connsiteX9" fmla="*/ 1126672 w 1257301"/>
                <a:gd name="connsiteY9" fmla="*/ 898071 h 3020786"/>
                <a:gd name="connsiteX10" fmla="*/ 1183822 w 1257301"/>
                <a:gd name="connsiteY10" fmla="*/ 1257300 h 3020786"/>
                <a:gd name="connsiteX11" fmla="*/ 1257301 w 1257301"/>
                <a:gd name="connsiteY11" fmla="*/ 1608365 h 3020786"/>
                <a:gd name="connsiteX12" fmla="*/ 1183822 w 1257301"/>
                <a:gd name="connsiteY12" fmla="*/ 1975757 h 3020786"/>
                <a:gd name="connsiteX13" fmla="*/ 1151165 w 1257301"/>
                <a:gd name="connsiteY13" fmla="*/ 2228850 h 3020786"/>
                <a:gd name="connsiteX14" fmla="*/ 1175657 w 1257301"/>
                <a:gd name="connsiteY14" fmla="*/ 2481943 h 3020786"/>
                <a:gd name="connsiteX15" fmla="*/ 1232807 w 1257301"/>
                <a:gd name="connsiteY15" fmla="*/ 2792186 h 3020786"/>
                <a:gd name="connsiteX16" fmla="*/ 1175657 w 1257301"/>
                <a:gd name="connsiteY16" fmla="*/ 2988128 h 3020786"/>
                <a:gd name="connsiteX17" fmla="*/ 979715 w 1257301"/>
                <a:gd name="connsiteY17" fmla="*/ 2996293 h 3020786"/>
                <a:gd name="connsiteX18" fmla="*/ 865415 w 1257301"/>
                <a:gd name="connsiteY18" fmla="*/ 2955471 h 3020786"/>
                <a:gd name="connsiteX19" fmla="*/ 498022 w 1257301"/>
                <a:gd name="connsiteY19" fmla="*/ 2963636 h 3020786"/>
                <a:gd name="connsiteX20" fmla="*/ 236765 w 1257301"/>
                <a:gd name="connsiteY20" fmla="*/ 3020786 h 3020786"/>
                <a:gd name="connsiteX21" fmla="*/ 57150 w 1257301"/>
                <a:gd name="connsiteY21" fmla="*/ 2906486 h 3020786"/>
                <a:gd name="connsiteX22" fmla="*/ 16329 w 1257301"/>
                <a:gd name="connsiteY22" fmla="*/ 2726871 h 3020786"/>
                <a:gd name="connsiteX23" fmla="*/ 73479 w 1257301"/>
                <a:gd name="connsiteY23" fmla="*/ 2432957 h 3020786"/>
                <a:gd name="connsiteX24" fmla="*/ 97972 w 1257301"/>
                <a:gd name="connsiteY24" fmla="*/ 2057401 h 3020786"/>
                <a:gd name="connsiteX25" fmla="*/ 16329 w 1257301"/>
                <a:gd name="connsiteY25" fmla="*/ 1559378 h 3020786"/>
                <a:gd name="connsiteX26" fmla="*/ 40822 w 1257301"/>
                <a:gd name="connsiteY26" fmla="*/ 1191986 h 3020786"/>
                <a:gd name="connsiteX27" fmla="*/ 40821 w 1257301"/>
                <a:gd name="connsiteY27" fmla="*/ 881742 h 3020786"/>
                <a:gd name="connsiteX28" fmla="*/ 24493 w 1257301"/>
                <a:gd name="connsiteY28" fmla="*/ 612322 h 3020786"/>
                <a:gd name="connsiteX29" fmla="*/ 0 w 1257301"/>
                <a:gd name="connsiteY29" fmla="*/ 432707 h 3020786"/>
                <a:gd name="connsiteX30" fmla="*/ 24493 w 1257301"/>
                <a:gd name="connsiteY30" fmla="*/ 293914 h 3020786"/>
                <a:gd name="connsiteX0" fmla="*/ 24493 w 1257301"/>
                <a:gd name="connsiteY0" fmla="*/ 293914 h 3020786"/>
                <a:gd name="connsiteX1" fmla="*/ 57150 w 1257301"/>
                <a:gd name="connsiteY1" fmla="*/ 155121 h 3020786"/>
                <a:gd name="connsiteX2" fmla="*/ 163286 w 1257301"/>
                <a:gd name="connsiteY2" fmla="*/ 48986 h 3020786"/>
                <a:gd name="connsiteX3" fmla="*/ 481693 w 1257301"/>
                <a:gd name="connsiteY3" fmla="*/ 73479 h 3020786"/>
                <a:gd name="connsiteX4" fmla="*/ 718457 w 1257301"/>
                <a:gd name="connsiteY4" fmla="*/ 24493 h 3020786"/>
                <a:gd name="connsiteX5" fmla="*/ 987879 w 1257301"/>
                <a:gd name="connsiteY5" fmla="*/ 0 h 3020786"/>
                <a:gd name="connsiteX6" fmla="*/ 1167493 w 1257301"/>
                <a:gd name="connsiteY6" fmla="*/ 89807 h 3020786"/>
                <a:gd name="connsiteX7" fmla="*/ 1191986 w 1257301"/>
                <a:gd name="connsiteY7" fmla="*/ 195943 h 3020786"/>
                <a:gd name="connsiteX8" fmla="*/ 1183822 w 1257301"/>
                <a:gd name="connsiteY8" fmla="*/ 579664 h 3020786"/>
                <a:gd name="connsiteX9" fmla="*/ 1126672 w 1257301"/>
                <a:gd name="connsiteY9" fmla="*/ 898071 h 3020786"/>
                <a:gd name="connsiteX10" fmla="*/ 1183822 w 1257301"/>
                <a:gd name="connsiteY10" fmla="*/ 1257300 h 3020786"/>
                <a:gd name="connsiteX11" fmla="*/ 1257301 w 1257301"/>
                <a:gd name="connsiteY11" fmla="*/ 1608365 h 3020786"/>
                <a:gd name="connsiteX12" fmla="*/ 1183822 w 1257301"/>
                <a:gd name="connsiteY12" fmla="*/ 1975757 h 3020786"/>
                <a:gd name="connsiteX13" fmla="*/ 1151165 w 1257301"/>
                <a:gd name="connsiteY13" fmla="*/ 2228850 h 3020786"/>
                <a:gd name="connsiteX14" fmla="*/ 1175657 w 1257301"/>
                <a:gd name="connsiteY14" fmla="*/ 2481943 h 3020786"/>
                <a:gd name="connsiteX15" fmla="*/ 1232807 w 1257301"/>
                <a:gd name="connsiteY15" fmla="*/ 2792186 h 3020786"/>
                <a:gd name="connsiteX16" fmla="*/ 1175657 w 1257301"/>
                <a:gd name="connsiteY16" fmla="*/ 2988128 h 3020786"/>
                <a:gd name="connsiteX17" fmla="*/ 979715 w 1257301"/>
                <a:gd name="connsiteY17" fmla="*/ 2996293 h 3020786"/>
                <a:gd name="connsiteX18" fmla="*/ 865415 w 1257301"/>
                <a:gd name="connsiteY18" fmla="*/ 2955471 h 3020786"/>
                <a:gd name="connsiteX19" fmla="*/ 498022 w 1257301"/>
                <a:gd name="connsiteY19" fmla="*/ 2963636 h 3020786"/>
                <a:gd name="connsiteX20" fmla="*/ 236765 w 1257301"/>
                <a:gd name="connsiteY20" fmla="*/ 3020786 h 3020786"/>
                <a:gd name="connsiteX21" fmla="*/ 57150 w 1257301"/>
                <a:gd name="connsiteY21" fmla="*/ 2906486 h 3020786"/>
                <a:gd name="connsiteX22" fmla="*/ 16329 w 1257301"/>
                <a:gd name="connsiteY22" fmla="*/ 2726871 h 3020786"/>
                <a:gd name="connsiteX23" fmla="*/ 73479 w 1257301"/>
                <a:gd name="connsiteY23" fmla="*/ 2432957 h 3020786"/>
                <a:gd name="connsiteX24" fmla="*/ 97972 w 1257301"/>
                <a:gd name="connsiteY24" fmla="*/ 2057401 h 3020786"/>
                <a:gd name="connsiteX25" fmla="*/ 16329 w 1257301"/>
                <a:gd name="connsiteY25" fmla="*/ 1559378 h 3020786"/>
                <a:gd name="connsiteX26" fmla="*/ 40822 w 1257301"/>
                <a:gd name="connsiteY26" fmla="*/ 1191986 h 3020786"/>
                <a:gd name="connsiteX27" fmla="*/ 40821 w 1257301"/>
                <a:gd name="connsiteY27" fmla="*/ 881742 h 3020786"/>
                <a:gd name="connsiteX28" fmla="*/ 24493 w 1257301"/>
                <a:gd name="connsiteY28" fmla="*/ 612322 h 3020786"/>
                <a:gd name="connsiteX29" fmla="*/ 0 w 1257301"/>
                <a:gd name="connsiteY29" fmla="*/ 432707 h 3020786"/>
                <a:gd name="connsiteX30" fmla="*/ 24493 w 1257301"/>
                <a:gd name="connsiteY30" fmla="*/ 293914 h 302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57301" h="3020786">
                  <a:moveTo>
                    <a:pt x="24493" y="293914"/>
                  </a:moveTo>
                  <a:lnTo>
                    <a:pt x="57150" y="155121"/>
                  </a:lnTo>
                  <a:lnTo>
                    <a:pt x="163286" y="48986"/>
                  </a:lnTo>
                  <a:lnTo>
                    <a:pt x="481693" y="73479"/>
                  </a:lnTo>
                  <a:lnTo>
                    <a:pt x="718457" y="24493"/>
                  </a:lnTo>
                  <a:lnTo>
                    <a:pt x="987879" y="0"/>
                  </a:lnTo>
                  <a:lnTo>
                    <a:pt x="1167493" y="89807"/>
                  </a:lnTo>
                  <a:lnTo>
                    <a:pt x="1191986" y="195943"/>
                  </a:lnTo>
                  <a:lnTo>
                    <a:pt x="1183822" y="579664"/>
                  </a:lnTo>
                  <a:lnTo>
                    <a:pt x="1126672" y="898071"/>
                  </a:lnTo>
                  <a:lnTo>
                    <a:pt x="1183822" y="1257300"/>
                  </a:lnTo>
                  <a:lnTo>
                    <a:pt x="1257301" y="1608365"/>
                  </a:lnTo>
                  <a:lnTo>
                    <a:pt x="1183822" y="1975757"/>
                  </a:lnTo>
                  <a:lnTo>
                    <a:pt x="1151165" y="2228850"/>
                  </a:lnTo>
                  <a:lnTo>
                    <a:pt x="1175657" y="2481943"/>
                  </a:lnTo>
                  <a:lnTo>
                    <a:pt x="1232807" y="2792186"/>
                  </a:lnTo>
                  <a:lnTo>
                    <a:pt x="1175657" y="2988128"/>
                  </a:lnTo>
                  <a:lnTo>
                    <a:pt x="979715" y="2996293"/>
                  </a:lnTo>
                  <a:lnTo>
                    <a:pt x="865415" y="2955471"/>
                  </a:lnTo>
                  <a:lnTo>
                    <a:pt x="498022" y="2963636"/>
                  </a:lnTo>
                  <a:lnTo>
                    <a:pt x="236765" y="3020786"/>
                  </a:lnTo>
                  <a:lnTo>
                    <a:pt x="57150" y="2906486"/>
                  </a:lnTo>
                  <a:lnTo>
                    <a:pt x="16329" y="2726871"/>
                  </a:lnTo>
                  <a:lnTo>
                    <a:pt x="73479" y="2432957"/>
                  </a:lnTo>
                  <a:lnTo>
                    <a:pt x="97972" y="2057401"/>
                  </a:lnTo>
                  <a:lnTo>
                    <a:pt x="16329" y="1559378"/>
                  </a:lnTo>
                  <a:lnTo>
                    <a:pt x="40822" y="1191986"/>
                  </a:lnTo>
                  <a:cubicBezTo>
                    <a:pt x="40822" y="1088571"/>
                    <a:pt x="40821" y="985157"/>
                    <a:pt x="40821" y="881742"/>
                  </a:cubicBezTo>
                  <a:lnTo>
                    <a:pt x="24493" y="612322"/>
                  </a:lnTo>
                  <a:lnTo>
                    <a:pt x="0" y="432707"/>
                  </a:lnTo>
                  <a:lnTo>
                    <a:pt x="24493" y="293914"/>
                  </a:lnTo>
                  <a:close/>
                </a:path>
              </a:pathLst>
            </a:custGeom>
            <a:solidFill>
              <a:schemeClr val="accent2">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400" i="1" dirty="0">
                <a:solidFill>
                  <a:schemeClr val="tx1"/>
                </a:solidFill>
              </a:endParaRPr>
            </a:p>
          </p:txBody>
        </p:sp>
        <mc:AlternateContent xmlns:mc="http://schemas.openxmlformats.org/markup-compatibility/2006" xmlns:a14="http://schemas.microsoft.com/office/drawing/2010/main">
          <mc:Choice Requires="a14">
            <p:sp>
              <p:nvSpPr>
                <p:cNvPr id="141" name="Rectangle 140">
                  <a:extLst>
                    <a:ext uri="{FF2B5EF4-FFF2-40B4-BE49-F238E27FC236}">
                      <a16:creationId xmlns:a16="http://schemas.microsoft.com/office/drawing/2014/main" id="{D19EEF1B-C442-AB4C-8D4B-B93384C5D3C2}"/>
                    </a:ext>
                  </a:extLst>
                </p:cNvPr>
                <p:cNvSpPr/>
                <p:nvPr/>
              </p:nvSpPr>
              <p:spPr>
                <a:xfrm>
                  <a:off x="3442634" y="1546345"/>
                  <a:ext cx="1953053" cy="15102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400" i="1" smtClean="0">
                                <a:latin typeface="Cambria Math" panose="02040503050406030204" pitchFamily="18" charset="0"/>
                                <a:ea typeface="Cambria Math" panose="02040503050406030204" pitchFamily="18" charset="0"/>
                              </a:rPr>
                            </m:ctrlPr>
                          </m:mPr>
                          <m:mr>
                            <m:e>
                              <m:sSub>
                                <m:sSubPr>
                                  <m:ctrlPr>
                                    <a:rPr lang="en-US" sz="2400" i="1">
                                      <a:latin typeface="Cambria Math" panose="02040503050406030204" pitchFamily="18" charset="0"/>
                                      <a:ea typeface="Cambria Math" panose="02040503050406030204" pitchFamily="18" charset="0"/>
                                    </a:rPr>
                                  </m:ctrlPr>
                                </m:sSubPr>
                                <m:e>
                                  <m:r>
                                    <a:rPr lang="sr-Latn-RS" sz="2400" i="1">
                                      <a:latin typeface="Cambria Math" panose="02040503050406030204" pitchFamily="18" charset="0"/>
                                      <a:ea typeface="Cambria Math" panose="02040503050406030204" pitchFamily="18" charset="0"/>
                                    </a:rPr>
                                    <m:t>𝐸</m:t>
                                  </m:r>
                                </m:e>
                                <m:sub>
                                  <m:r>
                                    <a:rPr lang="sr-Latn-RS" sz="2400" i="1">
                                      <a:latin typeface="Cambria Math" panose="02040503050406030204" pitchFamily="18" charset="0"/>
                                      <a:ea typeface="Cambria Math" panose="02040503050406030204" pitchFamily="18" charset="0"/>
                                    </a:rPr>
                                    <m:t>0</m:t>
                                  </m:r>
                                </m:sub>
                              </m:sSub>
                              <m:r>
                                <m:rPr>
                                  <m:brk m:alnAt="7"/>
                                </m:rPr>
                                <a:rPr lang="sr-Latn-RS" sz="2400" i="1">
                                  <a:latin typeface="Cambria Math" panose="02040503050406030204" pitchFamily="18" charset="0"/>
                                  <a:ea typeface="Cambria Math" panose="02040503050406030204" pitchFamily="18" charset="0"/>
                                </a:rPr>
                                <m:t>=</m:t>
                              </m:r>
                              <m:r>
                                <a:rPr lang="sr-Latn-RS" sz="2400" b="0" i="1" smtClean="0">
                                  <a:latin typeface="Cambria Math" panose="02040503050406030204" pitchFamily="18" charset="0"/>
                                  <a:ea typeface="Cambria Math" panose="02040503050406030204" pitchFamily="18" charset="0"/>
                                </a:rPr>
                                <m:t>𝐼</m:t>
                              </m:r>
                              <m:r>
                                <a:rPr lang="sr-Latn-RS" sz="2400" b="0" i="1" smtClean="0">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i="1">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b="0" i="1" smtClean="0">
                                  <a:latin typeface="Cambria Math" panose="02040503050406030204" pitchFamily="18" charset="0"/>
                                  <a:ea typeface="Cambria Math" panose="02040503050406030204" pitchFamily="18" charset="0"/>
                                </a:rPr>
                                <m:t> </m:t>
                              </m:r>
                            </m:e>
                          </m:mr>
                          <m:mr>
                            <m:e>
                              <m:sSub>
                                <m:sSubPr>
                                  <m:ctrlPr>
                                    <a:rPr lang="en-US" sz="2400" i="1">
                                      <a:latin typeface="Cambria Math" panose="02040503050406030204" pitchFamily="18" charset="0"/>
                                      <a:ea typeface="Cambria Math" panose="02040503050406030204" pitchFamily="18" charset="0"/>
                                    </a:rPr>
                                  </m:ctrlPr>
                                </m:sSubPr>
                                <m:e>
                                  <m:r>
                                    <a:rPr lang="sr-Latn-RS" sz="2400" i="1">
                                      <a:latin typeface="Cambria Math" panose="02040503050406030204" pitchFamily="18" charset="0"/>
                                      <a:ea typeface="Cambria Math" panose="02040503050406030204" pitchFamily="18" charset="0"/>
                                    </a:rPr>
                                    <m:t>𝐸</m:t>
                                  </m:r>
                                </m:e>
                                <m:sub>
                                  <m:r>
                                    <a:rPr lang="sr-Latn-RS" sz="2400" b="0" i="1" smtClean="0">
                                      <a:latin typeface="Cambria Math" panose="02040503050406030204" pitchFamily="18" charset="0"/>
                                      <a:ea typeface="Cambria Math" panose="02040503050406030204" pitchFamily="18" charset="0"/>
                                    </a:rPr>
                                    <m:t>1</m:t>
                                  </m:r>
                                </m:sub>
                              </m:sSub>
                              <m:r>
                                <m:rPr>
                                  <m:brk m:alnAt="7"/>
                                </m:rPr>
                                <a:rPr lang="sr-Latn-RS" sz="2400" i="1">
                                  <a:latin typeface="Cambria Math" panose="02040503050406030204" pitchFamily="18" charset="0"/>
                                  <a:ea typeface="Cambria Math" panose="02040503050406030204" pitchFamily="18" charset="0"/>
                                </a:rPr>
                                <m:t>=</m:t>
                              </m:r>
                              <m:r>
                                <a:rPr lang="sr-Latn-RS" sz="2400" b="0" i="1" smtClean="0">
                                  <a:solidFill>
                                    <a:srgbClr val="FF0000"/>
                                  </a:solidFill>
                                  <a:latin typeface="Cambria Math" panose="02040503050406030204" pitchFamily="18" charset="0"/>
                                  <a:ea typeface="Cambria Math" panose="02040503050406030204" pitchFamily="18" charset="0"/>
                                </a:rPr>
                                <m:t>𝑋</m:t>
                              </m:r>
                              <m:r>
                                <a:rPr lang="sr-Latn-RS" sz="2400" i="1">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i="1">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b="0" i="1" smtClean="0">
                                  <a:latin typeface="Cambria Math" panose="02040503050406030204" pitchFamily="18" charset="0"/>
                                  <a:ea typeface="Cambria Math" panose="02040503050406030204" pitchFamily="18" charset="0"/>
                                </a:rPr>
                                <m:t> </m:t>
                              </m:r>
                            </m:e>
                          </m:mr>
                          <m:mr>
                            <m:e>
                              <m:sSub>
                                <m:sSubPr>
                                  <m:ctrlPr>
                                    <a:rPr lang="en-US" sz="2400" i="1">
                                      <a:latin typeface="Cambria Math" panose="02040503050406030204" pitchFamily="18" charset="0"/>
                                      <a:ea typeface="Cambria Math" panose="02040503050406030204" pitchFamily="18" charset="0"/>
                                    </a:rPr>
                                  </m:ctrlPr>
                                </m:sSubPr>
                                <m:e>
                                  <m:r>
                                    <a:rPr lang="sr-Latn-RS" sz="2400" i="1">
                                      <a:latin typeface="Cambria Math" panose="02040503050406030204" pitchFamily="18" charset="0"/>
                                      <a:ea typeface="Cambria Math" panose="02040503050406030204" pitchFamily="18" charset="0"/>
                                    </a:rPr>
                                    <m:t>𝐸</m:t>
                                  </m:r>
                                </m:e>
                                <m:sub>
                                  <m:r>
                                    <a:rPr lang="sr-Latn-RS" sz="2400" b="0" i="1" smtClean="0">
                                      <a:latin typeface="Cambria Math" panose="02040503050406030204" pitchFamily="18" charset="0"/>
                                      <a:ea typeface="Cambria Math" panose="02040503050406030204" pitchFamily="18" charset="0"/>
                                    </a:rPr>
                                    <m:t>2</m:t>
                                  </m:r>
                                </m:sub>
                              </m:sSub>
                              <m:r>
                                <m:rPr>
                                  <m:brk m:alnAt="7"/>
                                </m:rPr>
                                <a:rPr lang="sr-Latn-RS" sz="2400" i="1">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i="1">
                                  <a:latin typeface="Cambria Math" panose="02040503050406030204" pitchFamily="18" charset="0"/>
                                  <a:ea typeface="Cambria Math" panose="02040503050406030204" pitchFamily="18" charset="0"/>
                                </a:rPr>
                                <m:t>⨂</m:t>
                              </m:r>
                              <m:r>
                                <a:rPr lang="sr-Latn-RS" sz="2400" b="0" i="1" smtClean="0">
                                  <a:solidFill>
                                    <a:srgbClr val="FF0000"/>
                                  </a:solidFill>
                                  <a:latin typeface="Cambria Math" panose="02040503050406030204" pitchFamily="18" charset="0"/>
                                  <a:ea typeface="Cambria Math" panose="02040503050406030204" pitchFamily="18" charset="0"/>
                                </a:rPr>
                                <m:t>𝑋</m:t>
                              </m:r>
                              <m:r>
                                <a:rPr lang="sr-Latn-RS" sz="2400" i="1">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e>
                          </m:mr>
                          <m:mr>
                            <m:e>
                              <m:sSub>
                                <m:sSubPr>
                                  <m:ctrlPr>
                                    <a:rPr lang="en-US" sz="2400" i="1">
                                      <a:latin typeface="Cambria Math" panose="02040503050406030204" pitchFamily="18" charset="0"/>
                                      <a:ea typeface="Cambria Math" panose="02040503050406030204" pitchFamily="18" charset="0"/>
                                    </a:rPr>
                                  </m:ctrlPr>
                                </m:sSubPr>
                                <m:e>
                                  <m:r>
                                    <a:rPr lang="sr-Latn-RS" sz="2400" i="1">
                                      <a:latin typeface="Cambria Math" panose="02040503050406030204" pitchFamily="18" charset="0"/>
                                      <a:ea typeface="Cambria Math" panose="02040503050406030204" pitchFamily="18" charset="0"/>
                                    </a:rPr>
                                    <m:t>𝐸</m:t>
                                  </m:r>
                                </m:e>
                                <m:sub>
                                  <m:r>
                                    <a:rPr lang="sr-Latn-RS" sz="2400" b="0" i="1" smtClean="0">
                                      <a:latin typeface="Cambria Math" panose="02040503050406030204" pitchFamily="18" charset="0"/>
                                      <a:ea typeface="Cambria Math" panose="02040503050406030204" pitchFamily="18" charset="0"/>
                                    </a:rPr>
                                    <m:t>3</m:t>
                                  </m:r>
                                </m:sub>
                              </m:sSub>
                              <m:r>
                                <m:rPr>
                                  <m:brk m:alnAt="7"/>
                                </m:rPr>
                                <a:rPr lang="sr-Latn-RS" sz="2400" i="1">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i="1">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i="1">
                                  <a:latin typeface="Cambria Math" panose="02040503050406030204" pitchFamily="18" charset="0"/>
                                  <a:ea typeface="Cambria Math" panose="02040503050406030204" pitchFamily="18" charset="0"/>
                                </a:rPr>
                                <m:t>⨂</m:t>
                              </m:r>
                              <m:r>
                                <a:rPr lang="sr-Latn-RS" sz="2400" b="0" i="1" smtClean="0">
                                  <a:solidFill>
                                    <a:srgbClr val="FF0000"/>
                                  </a:solidFill>
                                  <a:latin typeface="Cambria Math" panose="02040503050406030204" pitchFamily="18" charset="0"/>
                                  <a:ea typeface="Cambria Math" panose="02040503050406030204" pitchFamily="18" charset="0"/>
                                </a:rPr>
                                <m:t>𝑋</m:t>
                              </m:r>
                            </m:e>
                          </m:mr>
                        </m:m>
                      </m:oMath>
                    </m:oMathPara>
                  </a14:m>
                  <a:endParaRPr lang="en-US" sz="2400" dirty="0"/>
                </a:p>
              </p:txBody>
            </p:sp>
          </mc:Choice>
          <mc:Fallback xmlns="">
            <p:sp>
              <p:nvSpPr>
                <p:cNvPr id="141" name="Rectangle 140">
                  <a:extLst>
                    <a:ext uri="{FF2B5EF4-FFF2-40B4-BE49-F238E27FC236}">
                      <a16:creationId xmlns:a16="http://schemas.microsoft.com/office/drawing/2014/main" id="{D19EEF1B-C442-AB4C-8D4B-B93384C5D3C2}"/>
                    </a:ext>
                  </a:extLst>
                </p:cNvPr>
                <p:cNvSpPr>
                  <a:spLocks noRot="1" noChangeAspect="1" noMove="1" noResize="1" noEditPoints="1" noAdjustHandles="1" noChangeArrowheads="1" noChangeShapeType="1" noTextEdit="1"/>
                </p:cNvSpPr>
                <p:nvPr/>
              </p:nvSpPr>
              <p:spPr>
                <a:xfrm>
                  <a:off x="3442634" y="1546345"/>
                  <a:ext cx="1953053" cy="1510285"/>
                </a:xfrm>
                <a:prstGeom prst="rect">
                  <a:avLst/>
                </a:prstGeom>
                <a:blipFill>
                  <a:blip r:embed="rId4"/>
                  <a:stretch>
                    <a:fillRect t="-833" r="-2581" b="-1667"/>
                  </a:stretch>
                </a:blipFill>
              </p:spPr>
              <p:txBody>
                <a:bodyPr/>
                <a:lstStyle/>
                <a:p>
                  <a:r>
                    <a:rPr lang="en-US">
                      <a:noFill/>
                    </a:rPr>
                    <a:t> </a:t>
                  </a:r>
                </a:p>
              </p:txBody>
            </p:sp>
          </mc:Fallback>
        </mc:AlternateContent>
      </p:grpSp>
      <p:sp>
        <p:nvSpPr>
          <p:cNvPr id="75" name="Rectangle 74">
            <a:extLst>
              <a:ext uri="{FF2B5EF4-FFF2-40B4-BE49-F238E27FC236}">
                <a16:creationId xmlns:a16="http://schemas.microsoft.com/office/drawing/2014/main" id="{F9D6D4C9-3771-B642-B403-F34FFEE36237}"/>
              </a:ext>
            </a:extLst>
          </p:cNvPr>
          <p:cNvSpPr/>
          <p:nvPr/>
        </p:nvSpPr>
        <p:spPr>
          <a:xfrm>
            <a:off x="879897" y="1335755"/>
            <a:ext cx="1190305" cy="1860808"/>
          </a:xfrm>
          <a:prstGeom prst="rect">
            <a:avLst/>
          </a:prstGeom>
          <a:noFill/>
          <a:ln>
            <a:solidFill>
              <a:schemeClr val="accent1">
                <a:shade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TextBox 135">
            <a:extLst>
              <a:ext uri="{FF2B5EF4-FFF2-40B4-BE49-F238E27FC236}">
                <a16:creationId xmlns:a16="http://schemas.microsoft.com/office/drawing/2014/main" id="{37B2B352-C515-FE43-9610-B4665C30E1BD}"/>
              </a:ext>
            </a:extLst>
          </p:cNvPr>
          <p:cNvSpPr txBox="1"/>
          <p:nvPr/>
        </p:nvSpPr>
        <p:spPr>
          <a:xfrm>
            <a:off x="767218" y="3187742"/>
            <a:ext cx="1328249" cy="461665"/>
          </a:xfrm>
          <a:prstGeom prst="rect">
            <a:avLst/>
          </a:prstGeom>
          <a:noFill/>
        </p:spPr>
        <p:txBody>
          <a:bodyPr wrap="none" rtlCol="0">
            <a:spAutoFit/>
          </a:bodyPr>
          <a:lstStyle/>
          <a:p>
            <a:r>
              <a:rPr lang="en-US" sz="2400" dirty="0"/>
              <a:t>encoding</a:t>
            </a:r>
            <a:endParaRPr lang="en-US" sz="2400" baseline="-25000" dirty="0"/>
          </a:p>
        </p:txBody>
      </p:sp>
      <p:grpSp>
        <p:nvGrpSpPr>
          <p:cNvPr id="59" name="Group 58">
            <a:extLst>
              <a:ext uri="{FF2B5EF4-FFF2-40B4-BE49-F238E27FC236}">
                <a16:creationId xmlns:a16="http://schemas.microsoft.com/office/drawing/2014/main" id="{450FDB76-FDBA-1A49-9A9A-3AB0A6AD6802}"/>
              </a:ext>
            </a:extLst>
          </p:cNvPr>
          <p:cNvGrpSpPr/>
          <p:nvPr/>
        </p:nvGrpSpPr>
        <p:grpSpPr>
          <a:xfrm>
            <a:off x="1054455" y="1544279"/>
            <a:ext cx="427215" cy="855401"/>
            <a:chOff x="1328178" y="1242270"/>
            <a:chExt cx="540000" cy="1081228"/>
          </a:xfrm>
        </p:grpSpPr>
        <p:cxnSp>
          <p:nvCxnSpPr>
            <p:cNvPr id="10" name="Straight Connector 9">
              <a:extLst>
                <a:ext uri="{FF2B5EF4-FFF2-40B4-BE49-F238E27FC236}">
                  <a16:creationId xmlns:a16="http://schemas.microsoft.com/office/drawing/2014/main" id="{CFF000E6-B11A-774F-B1FA-CFFC48CDF33F}"/>
                </a:ext>
              </a:extLst>
            </p:cNvPr>
            <p:cNvCxnSpPr>
              <a:cxnSpLocks/>
              <a:stCxn id="12" idx="0"/>
              <a:endCxn id="11" idx="4"/>
            </p:cNvCxnSpPr>
            <p:nvPr/>
          </p:nvCxnSpPr>
          <p:spPr>
            <a:xfrm flipV="1">
              <a:off x="1598178" y="1422270"/>
              <a:ext cx="5329" cy="36122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465065AA-7970-CC4A-90E1-F74D3E2EDEBE}"/>
                </a:ext>
              </a:extLst>
            </p:cNvPr>
            <p:cNvSpPr/>
            <p:nvPr/>
          </p:nvSpPr>
          <p:spPr>
            <a:xfrm>
              <a:off x="1513507" y="1242270"/>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12" name="Oval 11">
              <a:extLst>
                <a:ext uri="{FF2B5EF4-FFF2-40B4-BE49-F238E27FC236}">
                  <a16:creationId xmlns:a16="http://schemas.microsoft.com/office/drawing/2014/main" id="{66FCC10D-266E-9249-940B-12348E8EE753}"/>
                </a:ext>
              </a:extLst>
            </p:cNvPr>
            <p:cNvSpPr>
              <a:spLocks noChangeAspect="1"/>
            </p:cNvSpPr>
            <p:nvPr/>
          </p:nvSpPr>
          <p:spPr>
            <a:xfrm>
              <a:off x="1328178" y="1783498"/>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grpSp>
      <p:grpSp>
        <p:nvGrpSpPr>
          <p:cNvPr id="60" name="Group 59">
            <a:extLst>
              <a:ext uri="{FF2B5EF4-FFF2-40B4-BE49-F238E27FC236}">
                <a16:creationId xmlns:a16="http://schemas.microsoft.com/office/drawing/2014/main" id="{2CE055B1-1432-E747-ADAE-E2C26705B954}"/>
              </a:ext>
            </a:extLst>
          </p:cNvPr>
          <p:cNvGrpSpPr/>
          <p:nvPr/>
        </p:nvGrpSpPr>
        <p:grpSpPr>
          <a:xfrm>
            <a:off x="1523302" y="1514683"/>
            <a:ext cx="427215" cy="1471511"/>
            <a:chOff x="1328178" y="463507"/>
            <a:chExt cx="540000" cy="1859991"/>
          </a:xfrm>
        </p:grpSpPr>
        <p:cxnSp>
          <p:nvCxnSpPr>
            <p:cNvPr id="61" name="Straight Connector 60">
              <a:extLst>
                <a:ext uri="{FF2B5EF4-FFF2-40B4-BE49-F238E27FC236}">
                  <a16:creationId xmlns:a16="http://schemas.microsoft.com/office/drawing/2014/main" id="{327985ED-C1F0-4048-835B-4CC5EAEDB07B}"/>
                </a:ext>
              </a:extLst>
            </p:cNvPr>
            <p:cNvCxnSpPr>
              <a:cxnSpLocks/>
              <a:stCxn id="63" idx="0"/>
              <a:endCxn id="62" idx="4"/>
            </p:cNvCxnSpPr>
            <p:nvPr/>
          </p:nvCxnSpPr>
          <p:spPr>
            <a:xfrm flipH="1" flipV="1">
              <a:off x="1598177" y="643507"/>
              <a:ext cx="1" cy="11399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Oval 61">
              <a:extLst>
                <a:ext uri="{FF2B5EF4-FFF2-40B4-BE49-F238E27FC236}">
                  <a16:creationId xmlns:a16="http://schemas.microsoft.com/office/drawing/2014/main" id="{3C5E5F56-0817-CB4A-8BFE-BE0DB404F4A4}"/>
                </a:ext>
              </a:extLst>
            </p:cNvPr>
            <p:cNvSpPr/>
            <p:nvPr/>
          </p:nvSpPr>
          <p:spPr>
            <a:xfrm>
              <a:off x="1508177" y="463507"/>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63" name="Oval 62">
              <a:extLst>
                <a:ext uri="{FF2B5EF4-FFF2-40B4-BE49-F238E27FC236}">
                  <a16:creationId xmlns:a16="http://schemas.microsoft.com/office/drawing/2014/main" id="{9D503B65-BF19-5144-AAE4-920408B9AA5F}"/>
                </a:ext>
              </a:extLst>
            </p:cNvPr>
            <p:cNvSpPr>
              <a:spLocks noChangeAspect="1"/>
            </p:cNvSpPr>
            <p:nvPr/>
          </p:nvSpPr>
          <p:spPr>
            <a:xfrm>
              <a:off x="1328178" y="1783498"/>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grpSp>
      <p:grpSp>
        <p:nvGrpSpPr>
          <p:cNvPr id="42" name="Group 41">
            <a:extLst>
              <a:ext uri="{FF2B5EF4-FFF2-40B4-BE49-F238E27FC236}">
                <a16:creationId xmlns:a16="http://schemas.microsoft.com/office/drawing/2014/main" id="{F9E30F46-6B21-244F-8CB3-6DCCF9DDDD82}"/>
              </a:ext>
            </a:extLst>
          </p:cNvPr>
          <p:cNvGrpSpPr/>
          <p:nvPr/>
        </p:nvGrpSpPr>
        <p:grpSpPr>
          <a:xfrm>
            <a:off x="9740210" y="829340"/>
            <a:ext cx="2275536" cy="2861854"/>
            <a:chOff x="9740210" y="829340"/>
            <a:chExt cx="2275536" cy="2861854"/>
          </a:xfrm>
        </p:grpSpPr>
        <p:grpSp>
          <p:nvGrpSpPr>
            <p:cNvPr id="41" name="Group 40">
              <a:extLst>
                <a:ext uri="{FF2B5EF4-FFF2-40B4-BE49-F238E27FC236}">
                  <a16:creationId xmlns:a16="http://schemas.microsoft.com/office/drawing/2014/main" id="{1DBC56F1-ADE5-1E4D-86CF-4C73D0182184}"/>
                </a:ext>
              </a:extLst>
            </p:cNvPr>
            <p:cNvGrpSpPr/>
            <p:nvPr/>
          </p:nvGrpSpPr>
          <p:grpSpPr>
            <a:xfrm>
              <a:off x="9740210" y="829340"/>
              <a:ext cx="2275536" cy="2861854"/>
              <a:chOff x="9740210" y="829340"/>
              <a:chExt cx="2275536" cy="2861854"/>
            </a:xfrm>
          </p:grpSpPr>
          <p:sp>
            <p:nvSpPr>
              <p:cNvPr id="36" name="Rectangle 35">
                <a:extLst>
                  <a:ext uri="{FF2B5EF4-FFF2-40B4-BE49-F238E27FC236}">
                    <a16:creationId xmlns:a16="http://schemas.microsoft.com/office/drawing/2014/main" id="{8899D5BA-DFC9-4D4F-891B-809F6FBCC999}"/>
                  </a:ext>
                </a:extLst>
              </p:cNvPr>
              <p:cNvSpPr/>
              <p:nvPr/>
            </p:nvSpPr>
            <p:spPr>
              <a:xfrm>
                <a:off x="9740210" y="1352110"/>
                <a:ext cx="1190305" cy="1860809"/>
              </a:xfrm>
              <a:prstGeom prst="rect">
                <a:avLst/>
              </a:prstGeom>
              <a:noFill/>
              <a:ln>
                <a:solidFill>
                  <a:schemeClr val="accent1">
                    <a:shade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Rectangle 134">
                    <a:extLst>
                      <a:ext uri="{FF2B5EF4-FFF2-40B4-BE49-F238E27FC236}">
                        <a16:creationId xmlns:a16="http://schemas.microsoft.com/office/drawing/2014/main" id="{B416D723-5D8A-674C-83D0-99F75924C327}"/>
                      </a:ext>
                    </a:extLst>
                  </p:cNvPr>
                  <p:cNvSpPr/>
                  <p:nvPr/>
                </p:nvSpPr>
                <p:spPr>
                  <a:xfrm>
                    <a:off x="10309069" y="829340"/>
                    <a:ext cx="1706677" cy="461665"/>
                  </a:xfrm>
                  <a:prstGeom prst="rect">
                    <a:avLst/>
                  </a:prstGeom>
                  <a:solidFill>
                    <a:schemeClr val="accent4">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𝑎</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0</m:t>
                              </m:r>
                            </m:e>
                          </m:d>
                          <m:r>
                            <a:rPr lang="en-US" sz="2400" b="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𝑏</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m:t>
                              </m:r>
                            </m:e>
                          </m:d>
                        </m:oMath>
                      </m:oMathPara>
                    </a14:m>
                    <a:endParaRPr lang="en-US" sz="2400" dirty="0"/>
                  </a:p>
                </p:txBody>
              </p:sp>
            </mc:Choice>
            <mc:Fallback xmlns="">
              <p:sp>
                <p:nvSpPr>
                  <p:cNvPr id="135" name="Rectangle 134">
                    <a:extLst>
                      <a:ext uri="{FF2B5EF4-FFF2-40B4-BE49-F238E27FC236}">
                        <a16:creationId xmlns:a16="http://schemas.microsoft.com/office/drawing/2014/main" id="{B416D723-5D8A-674C-83D0-99F75924C327}"/>
                      </a:ext>
                    </a:extLst>
                  </p:cNvPr>
                  <p:cNvSpPr>
                    <a:spLocks noRot="1" noChangeAspect="1" noMove="1" noResize="1" noEditPoints="1" noAdjustHandles="1" noChangeArrowheads="1" noChangeShapeType="1" noTextEdit="1"/>
                  </p:cNvSpPr>
                  <p:nvPr/>
                </p:nvSpPr>
                <p:spPr>
                  <a:xfrm>
                    <a:off x="10309069" y="829340"/>
                    <a:ext cx="1706677" cy="461665"/>
                  </a:xfrm>
                  <a:prstGeom prst="rect">
                    <a:avLst/>
                  </a:prstGeom>
                  <a:blipFill>
                    <a:blip r:embed="rId5"/>
                    <a:stretch>
                      <a:fillRect t="-121053" r="-19259" b="-186842"/>
                    </a:stretch>
                  </a:blipFill>
                </p:spPr>
                <p:txBody>
                  <a:bodyPr/>
                  <a:lstStyle/>
                  <a:p>
                    <a:r>
                      <a:rPr lang="en-US">
                        <a:noFill/>
                      </a:rPr>
                      <a:t> </a:t>
                    </a:r>
                  </a:p>
                </p:txBody>
              </p:sp>
            </mc:Fallback>
          </mc:AlternateContent>
          <p:sp>
            <p:nvSpPr>
              <p:cNvPr id="137" name="TextBox 136">
                <a:extLst>
                  <a:ext uri="{FF2B5EF4-FFF2-40B4-BE49-F238E27FC236}">
                    <a16:creationId xmlns:a16="http://schemas.microsoft.com/office/drawing/2014/main" id="{46B0A05D-8EC2-0B43-A86F-499A66938D3F}"/>
                  </a:ext>
                </a:extLst>
              </p:cNvPr>
              <p:cNvSpPr txBox="1"/>
              <p:nvPr/>
            </p:nvSpPr>
            <p:spPr>
              <a:xfrm>
                <a:off x="9740210" y="3260307"/>
                <a:ext cx="1676088" cy="430887"/>
              </a:xfrm>
              <a:prstGeom prst="rect">
                <a:avLst/>
              </a:prstGeom>
              <a:noFill/>
            </p:spPr>
            <p:txBody>
              <a:bodyPr wrap="square" rtlCol="0">
                <a:spAutoFit/>
              </a:bodyPr>
              <a:lstStyle/>
              <a:p>
                <a:r>
                  <a:rPr lang="en-US" sz="2200" dirty="0"/>
                  <a:t>decoding</a:t>
                </a:r>
                <a:endParaRPr lang="en-US" sz="2200" baseline="-25000" dirty="0"/>
              </a:p>
            </p:txBody>
          </p:sp>
        </p:grpSp>
        <p:grpSp>
          <p:nvGrpSpPr>
            <p:cNvPr id="65" name="Group 64">
              <a:extLst>
                <a:ext uri="{FF2B5EF4-FFF2-40B4-BE49-F238E27FC236}">
                  <a16:creationId xmlns:a16="http://schemas.microsoft.com/office/drawing/2014/main" id="{32D0FEC7-845A-824C-BE41-1856BA5AEEE7}"/>
                </a:ext>
              </a:extLst>
            </p:cNvPr>
            <p:cNvGrpSpPr/>
            <p:nvPr/>
          </p:nvGrpSpPr>
          <p:grpSpPr>
            <a:xfrm>
              <a:off x="9855665" y="1532502"/>
              <a:ext cx="427215" cy="854584"/>
              <a:chOff x="1295075" y="466848"/>
              <a:chExt cx="540000" cy="1080196"/>
            </a:xfrm>
          </p:grpSpPr>
          <p:cxnSp>
            <p:nvCxnSpPr>
              <p:cNvPr id="66" name="Straight Connector 65">
                <a:extLst>
                  <a:ext uri="{FF2B5EF4-FFF2-40B4-BE49-F238E27FC236}">
                    <a16:creationId xmlns:a16="http://schemas.microsoft.com/office/drawing/2014/main" id="{8444B726-EF49-D74E-B68B-3462394D8BF7}"/>
                  </a:ext>
                </a:extLst>
              </p:cNvPr>
              <p:cNvCxnSpPr>
                <a:cxnSpLocks/>
                <a:stCxn id="68" idx="0"/>
                <a:endCxn id="67" idx="4"/>
              </p:cNvCxnSpPr>
              <p:nvPr/>
            </p:nvCxnSpPr>
            <p:spPr>
              <a:xfrm flipH="1" flipV="1">
                <a:off x="1565074" y="646848"/>
                <a:ext cx="1" cy="3601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4A61A121-7347-C345-A3DD-B7D7F5A1D834}"/>
                  </a:ext>
                </a:extLst>
              </p:cNvPr>
              <p:cNvSpPr/>
              <p:nvPr/>
            </p:nvSpPr>
            <p:spPr>
              <a:xfrm>
                <a:off x="1475074" y="466848"/>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1CC8BBF1-52F9-1F4D-BF90-083879D21EE3}"/>
                  </a:ext>
                </a:extLst>
              </p:cNvPr>
              <p:cNvSpPr>
                <a:spLocks noChangeAspect="1"/>
              </p:cNvSpPr>
              <p:nvPr/>
            </p:nvSpPr>
            <p:spPr>
              <a:xfrm>
                <a:off x="1295075" y="1007044"/>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grpSp>
        <p:grpSp>
          <p:nvGrpSpPr>
            <p:cNvPr id="69" name="Group 68">
              <a:extLst>
                <a:ext uri="{FF2B5EF4-FFF2-40B4-BE49-F238E27FC236}">
                  <a16:creationId xmlns:a16="http://schemas.microsoft.com/office/drawing/2014/main" id="{99BE3E63-8827-9E4E-B4F8-3B1528983FB4}"/>
                </a:ext>
              </a:extLst>
            </p:cNvPr>
            <p:cNvGrpSpPr/>
            <p:nvPr/>
          </p:nvGrpSpPr>
          <p:grpSpPr>
            <a:xfrm>
              <a:off x="10398185" y="1528640"/>
              <a:ext cx="427215" cy="1446580"/>
              <a:chOff x="1358838" y="1189364"/>
              <a:chExt cx="540000" cy="1828472"/>
            </a:xfrm>
          </p:grpSpPr>
          <p:cxnSp>
            <p:nvCxnSpPr>
              <p:cNvPr id="70" name="Straight Connector 69">
                <a:extLst>
                  <a:ext uri="{FF2B5EF4-FFF2-40B4-BE49-F238E27FC236}">
                    <a16:creationId xmlns:a16="http://schemas.microsoft.com/office/drawing/2014/main" id="{AC5E7D5E-D538-104B-9FED-F0143621837A}"/>
                  </a:ext>
                </a:extLst>
              </p:cNvPr>
              <p:cNvCxnSpPr>
                <a:cxnSpLocks/>
                <a:stCxn id="72" idx="0"/>
                <a:endCxn id="71" idx="4"/>
              </p:cNvCxnSpPr>
              <p:nvPr/>
            </p:nvCxnSpPr>
            <p:spPr>
              <a:xfrm flipH="1" flipV="1">
                <a:off x="1628837" y="1369363"/>
                <a:ext cx="1" cy="110847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BC500D9F-326F-7B48-92C6-9166D7F96738}"/>
                  </a:ext>
                </a:extLst>
              </p:cNvPr>
              <p:cNvSpPr/>
              <p:nvPr/>
            </p:nvSpPr>
            <p:spPr>
              <a:xfrm>
                <a:off x="1538837" y="1189364"/>
                <a:ext cx="180000" cy="179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C8A56794-758C-C746-95D0-55F33FC26A3B}"/>
                  </a:ext>
                </a:extLst>
              </p:cNvPr>
              <p:cNvSpPr>
                <a:spLocks noChangeAspect="1"/>
              </p:cNvSpPr>
              <p:nvPr/>
            </p:nvSpPr>
            <p:spPr>
              <a:xfrm>
                <a:off x="1358838" y="2477835"/>
                <a:ext cx="540000" cy="5400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grpSp>
      </p:grpSp>
      <p:grpSp>
        <p:nvGrpSpPr>
          <p:cNvPr id="22" name="Group 21">
            <a:extLst>
              <a:ext uri="{FF2B5EF4-FFF2-40B4-BE49-F238E27FC236}">
                <a16:creationId xmlns:a16="http://schemas.microsoft.com/office/drawing/2014/main" id="{68A14D80-40F2-714E-BA77-931AF40E7F08}"/>
              </a:ext>
            </a:extLst>
          </p:cNvPr>
          <p:cNvGrpSpPr/>
          <p:nvPr/>
        </p:nvGrpSpPr>
        <p:grpSpPr>
          <a:xfrm>
            <a:off x="362491" y="2440860"/>
            <a:ext cx="2630465" cy="2635445"/>
            <a:chOff x="362491" y="2440860"/>
            <a:chExt cx="2630465" cy="2635445"/>
          </a:xfrm>
        </p:grpSpPr>
        <mc:AlternateContent xmlns:mc="http://schemas.openxmlformats.org/markup-compatibility/2006" xmlns:a14="http://schemas.microsoft.com/office/drawing/2010/main">
          <mc:Choice Requires="a14">
            <p:sp>
              <p:nvSpPr>
                <p:cNvPr id="153" name="Rectangle 152">
                  <a:extLst>
                    <a:ext uri="{FF2B5EF4-FFF2-40B4-BE49-F238E27FC236}">
                      <a16:creationId xmlns:a16="http://schemas.microsoft.com/office/drawing/2014/main" id="{8E68923B-D1AA-924B-A407-39182BC6ED26}"/>
                    </a:ext>
                  </a:extLst>
                </p:cNvPr>
                <p:cNvSpPr/>
                <p:nvPr/>
              </p:nvSpPr>
              <p:spPr>
                <a:xfrm>
                  <a:off x="362491" y="3875976"/>
                  <a:ext cx="2630465" cy="1200329"/>
                </a:xfrm>
                <a:prstGeom prst="rect">
                  <a:avLst/>
                </a:prstGeom>
                <a:solidFill>
                  <a:schemeClr val="accent4">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𝑎</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0</m:t>
                            </m:r>
                          </m:e>
                        </m:d>
                        <m:r>
                          <a:rPr lang="en-US" sz="2400" b="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𝑏</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m:t>
                            </m:r>
                          </m:e>
                        </m:d>
                      </m:oMath>
                    </m:oMathPara>
                  </a14:m>
                  <a:endParaRPr lang="sr-Latn-RS" sz="24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sr-Latn-RS" sz="24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𝑎</m:t>
                            </m:r>
                            <m:r>
                              <a:rPr lang="en-US" sz="2400" i="1">
                                <a:latin typeface="Cambria Math" panose="02040503050406030204" pitchFamily="18" charset="0"/>
                                <a:ea typeface="Cambria Math" panose="02040503050406030204" pitchFamily="18" charset="0"/>
                              </a:rPr>
                              <m:t>|000</m:t>
                            </m:r>
                          </m:e>
                        </m:d>
                        <m:r>
                          <a:rPr lang="en-US" sz="2400" i="1">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𝑏</m:t>
                            </m:r>
                            <m:r>
                              <a:rPr lang="en-US" sz="2400" i="1">
                                <a:latin typeface="Cambria Math" panose="02040503050406030204" pitchFamily="18" charset="0"/>
                                <a:ea typeface="Cambria Math" panose="02040503050406030204" pitchFamily="18" charset="0"/>
                              </a:rPr>
                              <m:t>|111</m:t>
                            </m:r>
                          </m:e>
                        </m:d>
                      </m:oMath>
                    </m:oMathPara>
                  </a14:m>
                  <a:endParaRPr lang="en-US" sz="2400" dirty="0"/>
                </a:p>
              </p:txBody>
            </p:sp>
          </mc:Choice>
          <mc:Fallback xmlns="">
            <p:sp>
              <p:nvSpPr>
                <p:cNvPr id="153" name="Rectangle 152">
                  <a:extLst>
                    <a:ext uri="{FF2B5EF4-FFF2-40B4-BE49-F238E27FC236}">
                      <a16:creationId xmlns:a16="http://schemas.microsoft.com/office/drawing/2014/main" id="{8E68923B-D1AA-924B-A407-39182BC6ED26}"/>
                    </a:ext>
                  </a:extLst>
                </p:cNvPr>
                <p:cNvSpPr>
                  <a:spLocks noRot="1" noChangeAspect="1" noMove="1" noResize="1" noEditPoints="1" noAdjustHandles="1" noChangeArrowheads="1" noChangeShapeType="1" noTextEdit="1"/>
                </p:cNvSpPr>
                <p:nvPr/>
              </p:nvSpPr>
              <p:spPr>
                <a:xfrm>
                  <a:off x="362491" y="3875976"/>
                  <a:ext cx="2630465" cy="1200329"/>
                </a:xfrm>
                <a:prstGeom prst="rect">
                  <a:avLst/>
                </a:prstGeom>
                <a:blipFill>
                  <a:blip r:embed="rId6"/>
                  <a:stretch>
                    <a:fillRect t="-48958" r="-7212" b="-71875"/>
                  </a:stretch>
                </a:blipFill>
              </p:spPr>
              <p:txBody>
                <a:bodyPr/>
                <a:lstStyle/>
                <a:p>
                  <a:r>
                    <a:rPr lang="en-US">
                      <a:noFill/>
                    </a:rPr>
                    <a:t> </a:t>
                  </a:r>
                </a:p>
              </p:txBody>
            </p:sp>
          </mc:Fallback>
        </mc:AlternateContent>
        <p:sp>
          <p:nvSpPr>
            <p:cNvPr id="19" name="Arc 18">
              <a:extLst>
                <a:ext uri="{FF2B5EF4-FFF2-40B4-BE49-F238E27FC236}">
                  <a16:creationId xmlns:a16="http://schemas.microsoft.com/office/drawing/2014/main" id="{3B0BB12F-5F05-B241-92C5-C895D6FCB310}"/>
                </a:ext>
              </a:extLst>
            </p:cNvPr>
            <p:cNvSpPr/>
            <p:nvPr/>
          </p:nvSpPr>
          <p:spPr>
            <a:xfrm rot="21410543">
              <a:off x="1335703" y="2440860"/>
              <a:ext cx="1243305" cy="1761835"/>
            </a:xfrm>
            <a:prstGeom prst="arc">
              <a:avLst>
                <a:gd name="adj1" fmla="val 16106607"/>
                <a:gd name="adj2" fmla="val 1365743"/>
              </a:avLst>
            </a:prstGeom>
            <a:ln w="25400">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A1794CBC-0B53-3047-82B7-5D7FEC2D77AC}"/>
              </a:ext>
            </a:extLst>
          </p:cNvPr>
          <p:cNvGrpSpPr/>
          <p:nvPr/>
        </p:nvGrpSpPr>
        <p:grpSpPr>
          <a:xfrm>
            <a:off x="3643518" y="4416775"/>
            <a:ext cx="2684070" cy="2404273"/>
            <a:chOff x="3970444" y="4413650"/>
            <a:chExt cx="2684070" cy="2404273"/>
          </a:xfrm>
        </p:grpSpPr>
        <p:sp>
          <p:nvSpPr>
            <p:cNvPr id="9" name="Rectangle 8">
              <a:extLst>
                <a:ext uri="{FF2B5EF4-FFF2-40B4-BE49-F238E27FC236}">
                  <a16:creationId xmlns:a16="http://schemas.microsoft.com/office/drawing/2014/main" id="{974BEA8A-E9B0-7E4C-ACD2-E641AEFB4F13}"/>
                </a:ext>
              </a:extLst>
            </p:cNvPr>
            <p:cNvSpPr/>
            <p:nvPr/>
          </p:nvSpPr>
          <p:spPr>
            <a:xfrm>
              <a:off x="4047067" y="4665907"/>
              <a:ext cx="2322637" cy="212037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0ED94C29-E070-F844-80FE-2F0F661C8EA7}"/>
                </a:ext>
              </a:extLst>
            </p:cNvPr>
            <p:cNvCxnSpPr>
              <a:cxnSpLocks/>
            </p:cNvCxnSpPr>
            <p:nvPr/>
          </p:nvCxnSpPr>
          <p:spPr>
            <a:xfrm>
              <a:off x="4047067" y="5726092"/>
              <a:ext cx="26074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83311DC2-C2FD-0D4D-8F03-7498DC59EF67}"/>
                </a:ext>
              </a:extLst>
            </p:cNvPr>
            <p:cNvCxnSpPr>
              <a:cxnSpLocks/>
            </p:cNvCxnSpPr>
            <p:nvPr/>
          </p:nvCxnSpPr>
          <p:spPr>
            <a:xfrm flipV="1">
              <a:off x="5208385" y="4413650"/>
              <a:ext cx="0" cy="240427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9F5D8B7-AA3E-CC44-86C1-B685434C870E}"/>
                    </a:ext>
                  </a:extLst>
                </p:cNvPr>
                <p:cNvSpPr txBox="1"/>
                <p:nvPr/>
              </p:nvSpPr>
              <p:spPr>
                <a:xfrm>
                  <a:off x="3983962" y="4787230"/>
                  <a:ext cx="1290160" cy="8217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sr-Latn-RS" sz="2400" i="1">
                                <a:latin typeface="Cambria Math" panose="02040503050406030204" pitchFamily="18" charset="0"/>
                                <a:ea typeface="Cambria Math" panose="02040503050406030204" pitchFamily="18" charset="0"/>
                              </a:rPr>
                              <m:t>𝐸</m:t>
                            </m:r>
                          </m:e>
                          <m:sub>
                            <m:r>
                              <a:rPr lang="sr-Latn-RS" sz="2400" i="1">
                                <a:latin typeface="Cambria Math" panose="02040503050406030204" pitchFamily="18" charset="0"/>
                                <a:ea typeface="Cambria Math" panose="02040503050406030204" pitchFamily="18" charset="0"/>
                              </a:rPr>
                              <m:t>0</m:t>
                            </m:r>
                          </m:sub>
                        </m:sSub>
                        <m:m>
                          <m:mPr>
                            <m:mcs>
                              <m:mc>
                                <m:mcPr>
                                  <m:count m:val="1"/>
                                  <m:mcJc m:val="center"/>
                                </m:mcPr>
                              </m:mc>
                            </m:mcs>
                            <m:ctrlPr>
                              <a:rPr lang="sr-Latn-RS" sz="2400" i="1" smtClean="0">
                                <a:latin typeface="Cambria Math" panose="02040503050406030204" pitchFamily="18" charset="0"/>
                                <a:ea typeface="Cambria Math" panose="02040503050406030204" pitchFamily="18" charset="0"/>
                              </a:rPr>
                            </m:ctrlPr>
                          </m:mPr>
                          <m:m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r>
                                    <a:rPr lang="sr-Latn-RS" sz="2400" i="1">
                                      <a:latin typeface="Cambria Math" panose="02040503050406030204" pitchFamily="18" charset="0"/>
                                      <a:ea typeface="Cambria Math" panose="02040503050406030204" pitchFamily="18" charset="0"/>
                                    </a:rPr>
                                    <m:t>00</m:t>
                                  </m:r>
                                </m:e>
                              </m:d>
                            </m:e>
                          </m:mr>
                          <m:m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111</m:t>
                                  </m:r>
                                </m:e>
                              </m:d>
                            </m:e>
                          </m:mr>
                        </m:m>
                      </m:oMath>
                    </m:oMathPara>
                  </a14:m>
                  <a:endParaRPr lang="en-US" sz="2400" dirty="0"/>
                </a:p>
              </p:txBody>
            </p:sp>
          </mc:Choice>
          <mc:Fallback xmlns="">
            <p:sp>
              <p:nvSpPr>
                <p:cNvPr id="20" name="TextBox 19">
                  <a:extLst>
                    <a:ext uri="{FF2B5EF4-FFF2-40B4-BE49-F238E27FC236}">
                      <a16:creationId xmlns:a16="http://schemas.microsoft.com/office/drawing/2014/main" id="{E9F5D8B7-AA3E-CC44-86C1-B685434C870E}"/>
                    </a:ext>
                  </a:extLst>
                </p:cNvPr>
                <p:cNvSpPr txBox="1">
                  <a:spLocks noRot="1" noChangeAspect="1" noMove="1" noResize="1" noEditPoints="1" noAdjustHandles="1" noChangeArrowheads="1" noChangeShapeType="1" noTextEdit="1"/>
                </p:cNvSpPr>
                <p:nvPr/>
              </p:nvSpPr>
              <p:spPr>
                <a:xfrm>
                  <a:off x="3983962" y="4787230"/>
                  <a:ext cx="1290160" cy="821700"/>
                </a:xfrm>
                <a:prstGeom prst="rect">
                  <a:avLst/>
                </a:prstGeom>
                <a:blipFill>
                  <a:blip r:embed="rId7"/>
                  <a:stretch>
                    <a:fillRect t="-72727" r="-23529" b="-10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6206482D-9911-6E42-89F3-420A5A6D1D43}"/>
                    </a:ext>
                  </a:extLst>
                </p:cNvPr>
                <p:cNvSpPr txBox="1"/>
                <p:nvPr/>
              </p:nvSpPr>
              <p:spPr>
                <a:xfrm>
                  <a:off x="5163283" y="4801963"/>
                  <a:ext cx="1283044" cy="8217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ea typeface="Cambria Math" panose="02040503050406030204" pitchFamily="18" charset="0"/>
                              </a:rPr>
                            </m:ctrlPr>
                          </m:sSubPr>
                          <m:e>
                            <m:r>
                              <a:rPr lang="sr-Latn-RS" sz="2400" i="1">
                                <a:latin typeface="Cambria Math" panose="02040503050406030204" pitchFamily="18" charset="0"/>
                                <a:ea typeface="Cambria Math" panose="02040503050406030204" pitchFamily="18" charset="0"/>
                              </a:rPr>
                              <m:t>𝐸</m:t>
                            </m:r>
                          </m:e>
                          <m:sub>
                            <m:r>
                              <a:rPr lang="sr-Latn-RS" sz="2400" b="0" i="1" smtClean="0">
                                <a:latin typeface="Cambria Math" panose="02040503050406030204" pitchFamily="18" charset="0"/>
                                <a:ea typeface="Cambria Math" panose="02040503050406030204" pitchFamily="18" charset="0"/>
                              </a:rPr>
                              <m:t>1</m:t>
                            </m:r>
                          </m:sub>
                        </m:sSub>
                        <m:m>
                          <m:mPr>
                            <m:mcs>
                              <m:mc>
                                <m:mcPr>
                                  <m:count m:val="1"/>
                                  <m:mcJc m:val="center"/>
                                </m:mcPr>
                              </m:mc>
                            </m:mcs>
                            <m:ctrlPr>
                              <a:rPr lang="sr-Latn-RS" sz="2400" i="1" smtClean="0">
                                <a:latin typeface="Cambria Math" panose="02040503050406030204" pitchFamily="18" charset="0"/>
                                <a:ea typeface="Cambria Math" panose="02040503050406030204" pitchFamily="18" charset="0"/>
                              </a:rPr>
                            </m:ctrlPr>
                          </m:mPr>
                          <m:m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sr-Latn-RS" sz="2400" b="0" i="1" smtClean="0">
                                      <a:solidFill>
                                        <a:srgbClr val="FF0000"/>
                                      </a:solidFill>
                                      <a:latin typeface="Cambria Math" panose="02040503050406030204" pitchFamily="18" charset="0"/>
                                      <a:ea typeface="Cambria Math" panose="02040503050406030204" pitchFamily="18" charset="0"/>
                                    </a:rPr>
                                    <m:t>1</m:t>
                                  </m:r>
                                  <m:r>
                                    <a:rPr lang="sr-Latn-RS" sz="2400" i="1">
                                      <a:latin typeface="Cambria Math" panose="02040503050406030204" pitchFamily="18" charset="0"/>
                                      <a:ea typeface="Cambria Math" panose="02040503050406030204" pitchFamily="18" charset="0"/>
                                    </a:rPr>
                                    <m:t>00</m:t>
                                  </m:r>
                                </m:e>
                              </m:d>
                            </m:e>
                          </m:mr>
                          <m:m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sr-Latn-RS" sz="2400" b="0" i="1" smtClean="0">
                                      <a:solidFill>
                                        <a:srgbClr val="FF0000"/>
                                      </a:solidFill>
                                      <a:latin typeface="Cambria Math" panose="02040503050406030204" pitchFamily="18" charset="0"/>
                                      <a:ea typeface="Cambria Math" panose="02040503050406030204" pitchFamily="18" charset="0"/>
                                    </a:rPr>
                                    <m:t>0</m:t>
                                  </m:r>
                                  <m:r>
                                    <a:rPr lang="en-US" sz="2400" b="0" i="1" smtClean="0">
                                      <a:latin typeface="Cambria Math" panose="02040503050406030204" pitchFamily="18" charset="0"/>
                                      <a:ea typeface="Cambria Math" panose="02040503050406030204" pitchFamily="18" charset="0"/>
                                    </a:rPr>
                                    <m:t>11</m:t>
                                  </m:r>
                                </m:e>
                              </m:d>
                            </m:e>
                          </m:mr>
                        </m:m>
                      </m:oMath>
                    </m:oMathPara>
                  </a14:m>
                  <a:endParaRPr lang="en-US" sz="2400" dirty="0"/>
                </a:p>
              </p:txBody>
            </p:sp>
          </mc:Choice>
          <mc:Fallback xmlns="">
            <p:sp>
              <p:nvSpPr>
                <p:cNvPr id="103" name="TextBox 102">
                  <a:extLst>
                    <a:ext uri="{FF2B5EF4-FFF2-40B4-BE49-F238E27FC236}">
                      <a16:creationId xmlns:a16="http://schemas.microsoft.com/office/drawing/2014/main" id="{6206482D-9911-6E42-89F3-420A5A6D1D43}"/>
                    </a:ext>
                  </a:extLst>
                </p:cNvPr>
                <p:cNvSpPr txBox="1">
                  <a:spLocks noRot="1" noChangeAspect="1" noMove="1" noResize="1" noEditPoints="1" noAdjustHandles="1" noChangeArrowheads="1" noChangeShapeType="1" noTextEdit="1"/>
                </p:cNvSpPr>
                <p:nvPr/>
              </p:nvSpPr>
              <p:spPr>
                <a:xfrm>
                  <a:off x="5163283" y="4801963"/>
                  <a:ext cx="1283044" cy="821700"/>
                </a:xfrm>
                <a:prstGeom prst="rect">
                  <a:avLst/>
                </a:prstGeom>
                <a:blipFill>
                  <a:blip r:embed="rId8"/>
                  <a:stretch>
                    <a:fillRect t="-71212" r="-24510" b="-10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83EB4084-FB84-0D4A-B41B-34124F6408D9}"/>
                    </a:ext>
                  </a:extLst>
                </p:cNvPr>
                <p:cNvSpPr txBox="1"/>
                <p:nvPr/>
              </p:nvSpPr>
              <p:spPr>
                <a:xfrm>
                  <a:off x="5138346" y="5868495"/>
                  <a:ext cx="1290160" cy="8217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sr-Latn-RS" sz="2400" i="1">
                                <a:solidFill>
                                  <a:schemeClr val="tx1"/>
                                </a:solidFill>
                                <a:latin typeface="Cambria Math" panose="02040503050406030204" pitchFamily="18" charset="0"/>
                                <a:ea typeface="Cambria Math" panose="02040503050406030204" pitchFamily="18" charset="0"/>
                              </a:rPr>
                              <m:t>𝐸</m:t>
                            </m:r>
                          </m:e>
                          <m:sub>
                            <m:r>
                              <a:rPr lang="sr-Latn-RS" sz="2400" b="0" i="1" smtClean="0">
                                <a:solidFill>
                                  <a:schemeClr val="tx1"/>
                                </a:solidFill>
                                <a:latin typeface="Cambria Math" panose="02040503050406030204" pitchFamily="18" charset="0"/>
                                <a:ea typeface="Cambria Math" panose="02040503050406030204" pitchFamily="18" charset="0"/>
                              </a:rPr>
                              <m:t>2</m:t>
                            </m:r>
                          </m:sub>
                        </m:sSub>
                        <m:m>
                          <m:mPr>
                            <m:mcs>
                              <m:mc>
                                <m:mcPr>
                                  <m:count m:val="1"/>
                                  <m:mcJc m:val="center"/>
                                </m:mcPr>
                              </m:mc>
                            </m:mcs>
                            <m:ctrlPr>
                              <a:rPr lang="sr-Latn-RS" sz="2400" i="1" smtClean="0">
                                <a:solidFill>
                                  <a:schemeClr val="tx1"/>
                                </a:solidFill>
                                <a:latin typeface="Cambria Math" panose="02040503050406030204" pitchFamily="18" charset="0"/>
                                <a:ea typeface="Cambria Math" panose="02040503050406030204" pitchFamily="18" charset="0"/>
                              </a:rPr>
                            </m:ctrlPr>
                          </m:mPr>
                          <m:mr>
                            <m:e>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i="1">
                                      <a:solidFill>
                                        <a:schemeClr val="tx1"/>
                                      </a:solidFill>
                                      <a:latin typeface="Cambria Math" panose="02040503050406030204" pitchFamily="18" charset="0"/>
                                      <a:ea typeface="Cambria Math" panose="02040503050406030204" pitchFamily="18" charset="0"/>
                                    </a:rPr>
                                    <m:t>|</m:t>
                                  </m:r>
                                  <m:r>
                                    <a:rPr lang="sr-Latn-RS" sz="2400" b="0" i="1" smtClean="0">
                                      <a:solidFill>
                                        <a:schemeClr val="tx1"/>
                                      </a:solidFill>
                                      <a:latin typeface="Cambria Math" panose="02040503050406030204" pitchFamily="18" charset="0"/>
                                      <a:ea typeface="Cambria Math" panose="02040503050406030204" pitchFamily="18" charset="0"/>
                                    </a:rPr>
                                    <m:t>0</m:t>
                                  </m:r>
                                  <m:r>
                                    <a:rPr lang="sr-Latn-RS" sz="2400" b="0" i="1" smtClean="0">
                                      <a:solidFill>
                                        <a:srgbClr val="FF0000"/>
                                      </a:solidFill>
                                      <a:latin typeface="Cambria Math" panose="02040503050406030204" pitchFamily="18" charset="0"/>
                                      <a:ea typeface="Cambria Math" panose="02040503050406030204" pitchFamily="18" charset="0"/>
                                    </a:rPr>
                                    <m:t>1</m:t>
                                  </m:r>
                                  <m:r>
                                    <a:rPr lang="sr-Latn-RS" sz="2400" i="1">
                                      <a:solidFill>
                                        <a:schemeClr val="tx1"/>
                                      </a:solidFill>
                                      <a:latin typeface="Cambria Math" panose="02040503050406030204" pitchFamily="18" charset="0"/>
                                      <a:ea typeface="Cambria Math" panose="02040503050406030204" pitchFamily="18" charset="0"/>
                                    </a:rPr>
                                    <m:t>0</m:t>
                                  </m:r>
                                </m:e>
                              </m:d>
                            </m:e>
                          </m:mr>
                          <m:mr>
                            <m:e>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i="1">
                                      <a:solidFill>
                                        <a:schemeClr val="tx1"/>
                                      </a:solidFill>
                                      <a:latin typeface="Cambria Math" panose="02040503050406030204" pitchFamily="18" charset="0"/>
                                      <a:ea typeface="Cambria Math" panose="02040503050406030204" pitchFamily="18" charset="0"/>
                                    </a:rPr>
                                    <m:t>|</m:t>
                                  </m:r>
                                  <m:r>
                                    <a:rPr lang="sr-Latn-RS" sz="2400" b="0" i="1" smtClean="0">
                                      <a:solidFill>
                                        <a:schemeClr val="tx1"/>
                                      </a:solidFill>
                                      <a:latin typeface="Cambria Math" panose="02040503050406030204" pitchFamily="18" charset="0"/>
                                      <a:ea typeface="Cambria Math" panose="02040503050406030204" pitchFamily="18" charset="0"/>
                                    </a:rPr>
                                    <m:t>1</m:t>
                                  </m:r>
                                  <m:r>
                                    <a:rPr lang="sr-Latn-RS" sz="2400" b="0" i="1" smtClean="0">
                                      <a:solidFill>
                                        <a:srgbClr val="FF0000"/>
                                      </a:solidFill>
                                      <a:latin typeface="Cambria Math" panose="02040503050406030204" pitchFamily="18" charset="0"/>
                                      <a:ea typeface="Cambria Math" panose="02040503050406030204" pitchFamily="18" charset="0"/>
                                    </a:rPr>
                                    <m:t>0</m:t>
                                  </m:r>
                                  <m:r>
                                    <a:rPr lang="en-US" sz="2400" b="0" i="1" smtClean="0">
                                      <a:solidFill>
                                        <a:schemeClr val="tx1"/>
                                      </a:solidFill>
                                      <a:latin typeface="Cambria Math" panose="02040503050406030204" pitchFamily="18" charset="0"/>
                                      <a:ea typeface="Cambria Math" panose="02040503050406030204" pitchFamily="18" charset="0"/>
                                    </a:rPr>
                                    <m:t>1</m:t>
                                  </m:r>
                                </m:e>
                              </m:d>
                            </m:e>
                          </m:mr>
                        </m:m>
                      </m:oMath>
                    </m:oMathPara>
                  </a14:m>
                  <a:endParaRPr lang="en-US" sz="2400" dirty="0">
                    <a:solidFill>
                      <a:schemeClr val="tx1"/>
                    </a:solidFill>
                  </a:endParaRPr>
                </a:p>
              </p:txBody>
            </p:sp>
          </mc:Choice>
          <mc:Fallback xmlns="">
            <p:sp>
              <p:nvSpPr>
                <p:cNvPr id="104" name="TextBox 103">
                  <a:extLst>
                    <a:ext uri="{FF2B5EF4-FFF2-40B4-BE49-F238E27FC236}">
                      <a16:creationId xmlns:a16="http://schemas.microsoft.com/office/drawing/2014/main" id="{83EB4084-FB84-0D4A-B41B-34124F6408D9}"/>
                    </a:ext>
                  </a:extLst>
                </p:cNvPr>
                <p:cNvSpPr txBox="1">
                  <a:spLocks noRot="1" noChangeAspect="1" noMove="1" noResize="1" noEditPoints="1" noAdjustHandles="1" noChangeArrowheads="1" noChangeShapeType="1" noTextEdit="1"/>
                </p:cNvSpPr>
                <p:nvPr/>
              </p:nvSpPr>
              <p:spPr>
                <a:xfrm>
                  <a:off x="5138346" y="5868495"/>
                  <a:ext cx="1290160" cy="821700"/>
                </a:xfrm>
                <a:prstGeom prst="rect">
                  <a:avLst/>
                </a:prstGeom>
                <a:blipFill>
                  <a:blip r:embed="rId9"/>
                  <a:stretch>
                    <a:fillRect t="-72727" r="-24510" b="-10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F84F56C9-DAC7-0E45-8BAD-DD15AC1C11F4}"/>
                    </a:ext>
                  </a:extLst>
                </p:cNvPr>
                <p:cNvSpPr txBox="1"/>
                <p:nvPr/>
              </p:nvSpPr>
              <p:spPr>
                <a:xfrm>
                  <a:off x="3970444" y="5839155"/>
                  <a:ext cx="1290161" cy="8217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sr-Latn-RS" sz="2400" i="1">
                                <a:solidFill>
                                  <a:schemeClr val="tx1"/>
                                </a:solidFill>
                                <a:latin typeface="Cambria Math" panose="02040503050406030204" pitchFamily="18" charset="0"/>
                                <a:ea typeface="Cambria Math" panose="02040503050406030204" pitchFamily="18" charset="0"/>
                              </a:rPr>
                              <m:t>𝐸</m:t>
                            </m:r>
                          </m:e>
                          <m:sub>
                            <m:r>
                              <a:rPr lang="sr-Latn-RS" sz="2400" b="0" i="1" smtClean="0">
                                <a:solidFill>
                                  <a:schemeClr val="tx1"/>
                                </a:solidFill>
                                <a:latin typeface="Cambria Math" panose="02040503050406030204" pitchFamily="18" charset="0"/>
                                <a:ea typeface="Cambria Math" panose="02040503050406030204" pitchFamily="18" charset="0"/>
                              </a:rPr>
                              <m:t>3</m:t>
                            </m:r>
                          </m:sub>
                        </m:sSub>
                        <m:m>
                          <m:mPr>
                            <m:mcs>
                              <m:mc>
                                <m:mcPr>
                                  <m:count m:val="1"/>
                                  <m:mcJc m:val="center"/>
                                </m:mcPr>
                              </m:mc>
                            </m:mcs>
                            <m:ctrlPr>
                              <a:rPr lang="sr-Latn-RS" sz="2400" i="1" smtClean="0">
                                <a:solidFill>
                                  <a:schemeClr val="tx1"/>
                                </a:solidFill>
                                <a:latin typeface="Cambria Math" panose="02040503050406030204" pitchFamily="18" charset="0"/>
                                <a:ea typeface="Cambria Math" panose="02040503050406030204" pitchFamily="18" charset="0"/>
                              </a:rPr>
                            </m:ctrlPr>
                          </m:mPr>
                          <m:mr>
                            <m:e>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i="1">
                                      <a:solidFill>
                                        <a:schemeClr val="tx1"/>
                                      </a:solidFill>
                                      <a:latin typeface="Cambria Math" panose="02040503050406030204" pitchFamily="18" charset="0"/>
                                      <a:ea typeface="Cambria Math" panose="02040503050406030204" pitchFamily="18" charset="0"/>
                                    </a:rPr>
                                    <m:t>|</m:t>
                                  </m:r>
                                  <m:r>
                                    <a:rPr lang="sr-Latn-RS" sz="2400" b="0" i="1" smtClean="0">
                                      <a:solidFill>
                                        <a:schemeClr val="tx1"/>
                                      </a:solidFill>
                                      <a:latin typeface="Cambria Math" panose="02040503050406030204" pitchFamily="18" charset="0"/>
                                      <a:ea typeface="Cambria Math" panose="02040503050406030204" pitchFamily="18" charset="0"/>
                                    </a:rPr>
                                    <m:t>00</m:t>
                                  </m:r>
                                  <m:r>
                                    <a:rPr lang="sr-Latn-RS" sz="2400" b="0" i="1" smtClean="0">
                                      <a:solidFill>
                                        <a:srgbClr val="FF0000"/>
                                      </a:solidFill>
                                      <a:latin typeface="Cambria Math" panose="02040503050406030204" pitchFamily="18" charset="0"/>
                                      <a:ea typeface="Cambria Math" panose="02040503050406030204" pitchFamily="18" charset="0"/>
                                    </a:rPr>
                                    <m:t>1</m:t>
                                  </m:r>
                                </m:e>
                              </m:d>
                            </m:e>
                          </m:mr>
                          <m:mr>
                            <m:e>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i="1">
                                      <a:solidFill>
                                        <a:schemeClr val="tx1"/>
                                      </a:solidFill>
                                      <a:latin typeface="Cambria Math" panose="02040503050406030204" pitchFamily="18" charset="0"/>
                                      <a:ea typeface="Cambria Math" panose="02040503050406030204" pitchFamily="18" charset="0"/>
                                    </a:rPr>
                                    <m:t>|</m:t>
                                  </m:r>
                                  <m:r>
                                    <a:rPr lang="sr-Latn-RS" sz="2400" b="0" i="1" smtClean="0">
                                      <a:solidFill>
                                        <a:schemeClr val="tx1"/>
                                      </a:solidFill>
                                      <a:latin typeface="Cambria Math" panose="02040503050406030204" pitchFamily="18" charset="0"/>
                                      <a:ea typeface="Cambria Math" panose="02040503050406030204" pitchFamily="18" charset="0"/>
                                    </a:rPr>
                                    <m:t>11</m:t>
                                  </m:r>
                                  <m:r>
                                    <a:rPr lang="sr-Latn-RS" sz="2400" b="0" i="1" smtClean="0">
                                      <a:solidFill>
                                        <a:srgbClr val="FF0000"/>
                                      </a:solidFill>
                                      <a:latin typeface="Cambria Math" panose="02040503050406030204" pitchFamily="18" charset="0"/>
                                      <a:ea typeface="Cambria Math" panose="02040503050406030204" pitchFamily="18" charset="0"/>
                                    </a:rPr>
                                    <m:t>0</m:t>
                                  </m:r>
                                </m:e>
                              </m:d>
                            </m:e>
                          </m:mr>
                        </m:m>
                      </m:oMath>
                    </m:oMathPara>
                  </a14:m>
                  <a:endParaRPr lang="en-US" sz="2400" dirty="0">
                    <a:solidFill>
                      <a:schemeClr val="tx1"/>
                    </a:solidFill>
                  </a:endParaRPr>
                </a:p>
              </p:txBody>
            </p:sp>
          </mc:Choice>
          <mc:Fallback xmlns="">
            <p:sp>
              <p:nvSpPr>
                <p:cNvPr id="105" name="TextBox 104">
                  <a:extLst>
                    <a:ext uri="{FF2B5EF4-FFF2-40B4-BE49-F238E27FC236}">
                      <a16:creationId xmlns:a16="http://schemas.microsoft.com/office/drawing/2014/main" id="{F84F56C9-DAC7-0E45-8BAD-DD15AC1C11F4}"/>
                    </a:ext>
                  </a:extLst>
                </p:cNvPr>
                <p:cNvSpPr txBox="1">
                  <a:spLocks noRot="1" noChangeAspect="1" noMove="1" noResize="1" noEditPoints="1" noAdjustHandles="1" noChangeArrowheads="1" noChangeShapeType="1" noTextEdit="1"/>
                </p:cNvSpPr>
                <p:nvPr/>
              </p:nvSpPr>
              <p:spPr>
                <a:xfrm>
                  <a:off x="3970444" y="5839155"/>
                  <a:ext cx="1290161" cy="821700"/>
                </a:xfrm>
                <a:prstGeom prst="rect">
                  <a:avLst/>
                </a:prstGeom>
                <a:blipFill>
                  <a:blip r:embed="rId10"/>
                  <a:stretch>
                    <a:fillRect t="-72727" r="-24510" b="-107576"/>
                  </a:stretch>
                </a:blipFill>
              </p:spPr>
              <p:txBody>
                <a:bodyPr/>
                <a:lstStyle/>
                <a:p>
                  <a:r>
                    <a:rPr lang="en-US">
                      <a:noFill/>
                    </a:rPr>
                    <a:t> </a:t>
                  </a:r>
                </a:p>
              </p:txBody>
            </p:sp>
          </mc:Fallback>
        </mc:AlternateContent>
      </p:grpSp>
      <p:grpSp>
        <p:nvGrpSpPr>
          <p:cNvPr id="28" name="Group 27">
            <a:extLst>
              <a:ext uri="{FF2B5EF4-FFF2-40B4-BE49-F238E27FC236}">
                <a16:creationId xmlns:a16="http://schemas.microsoft.com/office/drawing/2014/main" id="{38011E91-6604-5C40-9B81-A2BE1A854453}"/>
              </a:ext>
            </a:extLst>
          </p:cNvPr>
          <p:cNvGrpSpPr/>
          <p:nvPr/>
        </p:nvGrpSpPr>
        <p:grpSpPr>
          <a:xfrm>
            <a:off x="3896225" y="3524540"/>
            <a:ext cx="2964279" cy="2965602"/>
            <a:chOff x="4223151" y="3521415"/>
            <a:chExt cx="2964279" cy="2965602"/>
          </a:xfrm>
        </p:grpSpPr>
        <p:sp>
          <p:nvSpPr>
            <p:cNvPr id="21" name="TextBox 20">
              <a:extLst>
                <a:ext uri="{FF2B5EF4-FFF2-40B4-BE49-F238E27FC236}">
                  <a16:creationId xmlns:a16="http://schemas.microsoft.com/office/drawing/2014/main" id="{641A97B6-0E68-6941-956A-E28972246622}"/>
                </a:ext>
              </a:extLst>
            </p:cNvPr>
            <p:cNvSpPr txBox="1"/>
            <p:nvPr/>
          </p:nvSpPr>
          <p:spPr>
            <a:xfrm>
              <a:off x="4460470" y="4182818"/>
              <a:ext cx="340158" cy="461665"/>
            </a:xfrm>
            <a:prstGeom prst="rect">
              <a:avLst/>
            </a:prstGeom>
            <a:noFill/>
          </p:spPr>
          <p:txBody>
            <a:bodyPr wrap="none" rtlCol="0">
              <a:spAutoFit/>
            </a:bodyPr>
            <a:lstStyle/>
            <a:p>
              <a:r>
                <a:rPr lang="en-US" sz="2400" dirty="0"/>
                <a:t>0</a:t>
              </a:r>
            </a:p>
          </p:txBody>
        </p:sp>
        <p:sp>
          <p:nvSpPr>
            <p:cNvPr id="87" name="TextBox 86">
              <a:extLst>
                <a:ext uri="{FF2B5EF4-FFF2-40B4-BE49-F238E27FC236}">
                  <a16:creationId xmlns:a16="http://schemas.microsoft.com/office/drawing/2014/main" id="{FB75B8EC-F834-154A-856E-2E7760AC65C4}"/>
                </a:ext>
              </a:extLst>
            </p:cNvPr>
            <p:cNvSpPr txBox="1"/>
            <p:nvPr/>
          </p:nvSpPr>
          <p:spPr>
            <a:xfrm>
              <a:off x="5582781" y="4182818"/>
              <a:ext cx="340158" cy="461665"/>
            </a:xfrm>
            <a:prstGeom prst="rect">
              <a:avLst/>
            </a:prstGeom>
            <a:noFill/>
          </p:spPr>
          <p:txBody>
            <a:bodyPr wrap="none" rtlCol="0">
              <a:spAutoFit/>
            </a:bodyPr>
            <a:lstStyle/>
            <a:p>
              <a:r>
                <a:rPr lang="en-US" sz="2400" dirty="0"/>
                <a:t>1</a:t>
              </a:r>
            </a:p>
          </p:txBody>
        </p:sp>
        <p:sp>
          <p:nvSpPr>
            <p:cNvPr id="88" name="TextBox 87">
              <a:extLst>
                <a:ext uri="{FF2B5EF4-FFF2-40B4-BE49-F238E27FC236}">
                  <a16:creationId xmlns:a16="http://schemas.microsoft.com/office/drawing/2014/main" id="{64832A1B-8294-B74D-A91D-A14BFFE02974}"/>
                </a:ext>
              </a:extLst>
            </p:cNvPr>
            <p:cNvSpPr txBox="1"/>
            <p:nvPr/>
          </p:nvSpPr>
          <p:spPr>
            <a:xfrm>
              <a:off x="6421390" y="4929219"/>
              <a:ext cx="340158" cy="461665"/>
            </a:xfrm>
            <a:prstGeom prst="rect">
              <a:avLst/>
            </a:prstGeom>
            <a:noFill/>
          </p:spPr>
          <p:txBody>
            <a:bodyPr wrap="none" rtlCol="0">
              <a:spAutoFit/>
            </a:bodyPr>
            <a:lstStyle/>
            <a:p>
              <a:r>
                <a:rPr lang="en-US" sz="2400" dirty="0"/>
                <a:t>0</a:t>
              </a:r>
            </a:p>
          </p:txBody>
        </p:sp>
        <p:sp>
          <p:nvSpPr>
            <p:cNvPr id="98" name="TextBox 97">
              <a:extLst>
                <a:ext uri="{FF2B5EF4-FFF2-40B4-BE49-F238E27FC236}">
                  <a16:creationId xmlns:a16="http://schemas.microsoft.com/office/drawing/2014/main" id="{40E5AA8B-5E49-F748-8172-B20150DBFAE5}"/>
                </a:ext>
              </a:extLst>
            </p:cNvPr>
            <p:cNvSpPr txBox="1"/>
            <p:nvPr/>
          </p:nvSpPr>
          <p:spPr>
            <a:xfrm>
              <a:off x="6414531" y="6025352"/>
              <a:ext cx="340158" cy="461665"/>
            </a:xfrm>
            <a:prstGeom prst="rect">
              <a:avLst/>
            </a:prstGeom>
            <a:noFill/>
          </p:spPr>
          <p:txBody>
            <a:bodyPr wrap="none" rtlCol="0">
              <a:spAutoFit/>
            </a:bodyPr>
            <a:lstStyle/>
            <a:p>
              <a:r>
                <a:rPr lang="en-US" sz="2400" dirty="0"/>
                <a:t>1</a:t>
              </a:r>
            </a:p>
          </p:txBody>
        </p:sp>
        <p:sp>
          <p:nvSpPr>
            <p:cNvPr id="114" name="TextBox 113">
              <a:extLst>
                <a:ext uri="{FF2B5EF4-FFF2-40B4-BE49-F238E27FC236}">
                  <a16:creationId xmlns:a16="http://schemas.microsoft.com/office/drawing/2014/main" id="{F56414D1-5014-ED4F-8828-ECC822762F50}"/>
                </a:ext>
              </a:extLst>
            </p:cNvPr>
            <p:cNvSpPr txBox="1"/>
            <p:nvPr/>
          </p:nvSpPr>
          <p:spPr>
            <a:xfrm>
              <a:off x="6757504" y="5414057"/>
              <a:ext cx="429926" cy="461665"/>
            </a:xfrm>
            <a:prstGeom prst="rect">
              <a:avLst/>
            </a:prstGeom>
            <a:noFill/>
          </p:spPr>
          <p:txBody>
            <a:bodyPr wrap="none" rtlCol="0">
              <a:spAutoFit/>
            </a:bodyPr>
            <a:lstStyle/>
            <a:p>
              <a:r>
                <a:rPr lang="en-US" sz="2400" dirty="0"/>
                <a:t>S</a:t>
              </a:r>
              <a:r>
                <a:rPr lang="en-US" sz="2400" baseline="-25000" dirty="0"/>
                <a:t>2</a:t>
              </a:r>
            </a:p>
          </p:txBody>
        </p:sp>
        <p:sp>
          <p:nvSpPr>
            <p:cNvPr id="116" name="TextBox 115">
              <a:extLst>
                <a:ext uri="{FF2B5EF4-FFF2-40B4-BE49-F238E27FC236}">
                  <a16:creationId xmlns:a16="http://schemas.microsoft.com/office/drawing/2014/main" id="{AECEF406-52A7-8F4B-AB57-3747E6CC3CAE}"/>
                </a:ext>
              </a:extLst>
            </p:cNvPr>
            <p:cNvSpPr txBox="1"/>
            <p:nvPr/>
          </p:nvSpPr>
          <p:spPr>
            <a:xfrm>
              <a:off x="4223151" y="3521415"/>
              <a:ext cx="2000355" cy="842988"/>
            </a:xfrm>
            <a:prstGeom prst="rect">
              <a:avLst/>
            </a:prstGeom>
            <a:noFill/>
          </p:spPr>
          <p:txBody>
            <a:bodyPr wrap="none" tIns="0" bIns="0" rtlCol="0" anchor="ctr" anchorCtr="0">
              <a:spAutoFit/>
            </a:bodyPr>
            <a:lstStyle/>
            <a:p>
              <a:pPr algn="ctr">
                <a:lnSpc>
                  <a:spcPct val="75000"/>
                </a:lnSpc>
              </a:pPr>
              <a:r>
                <a:rPr lang="en-ZA" sz="2400" dirty="0"/>
                <a:t>syndrome </a:t>
              </a:r>
            </a:p>
            <a:p>
              <a:pPr algn="ctr">
                <a:lnSpc>
                  <a:spcPct val="75000"/>
                </a:lnSpc>
              </a:pPr>
              <a:r>
                <a:rPr lang="en-ZA" sz="2400" dirty="0"/>
                <a:t>measurement </a:t>
              </a:r>
            </a:p>
            <a:p>
              <a:pPr algn="ctr">
                <a:lnSpc>
                  <a:spcPct val="75000"/>
                </a:lnSpc>
              </a:pPr>
              <a:r>
                <a:rPr lang="en-US" sz="2400" dirty="0"/>
                <a:t>S</a:t>
              </a:r>
              <a:r>
                <a:rPr lang="en-US" sz="2400" baseline="-25000" dirty="0"/>
                <a:t>1</a:t>
              </a:r>
            </a:p>
          </p:txBody>
        </p:sp>
      </p:grpSp>
      <mc:AlternateContent xmlns:mc="http://schemas.openxmlformats.org/markup-compatibility/2006" xmlns:a14="http://schemas.microsoft.com/office/drawing/2010/main">
        <mc:Choice Requires="a14">
          <p:graphicFrame>
            <p:nvGraphicFramePr>
              <p:cNvPr id="33" name="Table 32">
                <a:extLst>
                  <a:ext uri="{FF2B5EF4-FFF2-40B4-BE49-F238E27FC236}">
                    <a16:creationId xmlns:a16="http://schemas.microsoft.com/office/drawing/2014/main" id="{292F6DFA-2E9C-0341-9C6F-7DA53E7FC34A}"/>
                  </a:ext>
                </a:extLst>
              </p:cNvPr>
              <p:cNvGraphicFramePr>
                <a:graphicFrameLocks noGrp="1"/>
              </p:cNvGraphicFramePr>
              <p:nvPr>
                <p:extLst/>
              </p:nvPr>
            </p:nvGraphicFramePr>
            <p:xfrm>
              <a:off x="7572394" y="4486554"/>
              <a:ext cx="3512032" cy="2286000"/>
            </p:xfrm>
            <a:graphic>
              <a:graphicData uri="http://schemas.openxmlformats.org/drawingml/2006/table">
                <a:tbl>
                  <a:tblPr firstRow="1" bandRow="1">
                    <a:tableStyleId>{5C22544A-7EE6-4342-B048-85BDC9FD1C3A}</a:tableStyleId>
                  </a:tblPr>
                  <a:tblGrid>
                    <a:gridCol w="660336">
                      <a:extLst>
                        <a:ext uri="{9D8B030D-6E8A-4147-A177-3AD203B41FA5}">
                          <a16:colId xmlns:a16="http://schemas.microsoft.com/office/drawing/2014/main" val="3670628882"/>
                        </a:ext>
                      </a:extLst>
                    </a:gridCol>
                    <a:gridCol w="448574">
                      <a:extLst>
                        <a:ext uri="{9D8B030D-6E8A-4147-A177-3AD203B41FA5}">
                          <a16:colId xmlns:a16="http://schemas.microsoft.com/office/drawing/2014/main" val="3523517998"/>
                        </a:ext>
                      </a:extLst>
                    </a:gridCol>
                    <a:gridCol w="2403122">
                      <a:extLst>
                        <a:ext uri="{9D8B030D-6E8A-4147-A177-3AD203B41FA5}">
                          <a16:colId xmlns:a16="http://schemas.microsoft.com/office/drawing/2014/main" val="2329982660"/>
                        </a:ext>
                      </a:extLst>
                    </a:gridCol>
                  </a:tblGrid>
                  <a:tr h="370840">
                    <a:tc>
                      <a:txBody>
                        <a:bodyPr/>
                        <a:lstStyle/>
                        <a:p>
                          <a:pPr algn="ctr"/>
                          <a:r>
                            <a:rPr lang="en-US" sz="2400" dirty="0"/>
                            <a:t>S</a:t>
                          </a:r>
                          <a:r>
                            <a:rPr lang="en-US" sz="2400" baseline="-25000" dirty="0"/>
                            <a:t>1</a:t>
                          </a:r>
                        </a:p>
                      </a:txBody>
                      <a:tcPr/>
                    </a:tc>
                    <a:tc>
                      <a:txBody>
                        <a:bodyPr/>
                        <a:lstStyle/>
                        <a:p>
                          <a:pPr algn="ctr"/>
                          <a:r>
                            <a:rPr lang="en-US" sz="2400" dirty="0"/>
                            <a:t>S</a:t>
                          </a:r>
                          <a:r>
                            <a:rPr lang="en-US" sz="2400" baseline="-25000" dirty="0"/>
                            <a:t>2</a:t>
                          </a:r>
                        </a:p>
                      </a:txBody>
                      <a:tcPr/>
                    </a:tc>
                    <a:tc>
                      <a:txBody>
                        <a:bodyPr/>
                        <a:lstStyle/>
                        <a:p>
                          <a:pPr algn="ctr"/>
                          <a:r>
                            <a:rPr lang="en-US" sz="2400" dirty="0"/>
                            <a:t>correction</a:t>
                          </a:r>
                        </a:p>
                      </a:txBody>
                      <a:tcPr/>
                    </a:tc>
                    <a:extLst>
                      <a:ext uri="{0D108BD9-81ED-4DB2-BD59-A6C34878D82A}">
                        <a16:rowId xmlns:a16="http://schemas.microsoft.com/office/drawing/2014/main" val="714321964"/>
                      </a:ext>
                    </a:extLst>
                  </a:tr>
                  <a:tr h="370840">
                    <a:tc>
                      <a:txBody>
                        <a:bodyPr/>
                        <a:lstStyle/>
                        <a:p>
                          <a:pPr algn="ctr"/>
                          <a:r>
                            <a:rPr lang="en-US" sz="2400" dirty="0"/>
                            <a:t>0</a:t>
                          </a:r>
                        </a:p>
                      </a:txBody>
                      <a:tcPr/>
                    </a:tc>
                    <a:tc>
                      <a:txBody>
                        <a:bodyPr/>
                        <a:lstStyle/>
                        <a:p>
                          <a:pPr algn="ctr"/>
                          <a:r>
                            <a:rPr lang="en-US" sz="2400" dirty="0"/>
                            <a:t>0</a:t>
                          </a:r>
                        </a:p>
                      </a:txBody>
                      <a:tcPr/>
                    </a:tc>
                    <a:tc>
                      <a:txBody>
                        <a:bodyPr/>
                        <a:lstStyle/>
                        <a:p>
                          <a:pPr algn="ct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ea typeface="Cambria Math" panose="02040503050406030204" pitchFamily="18" charset="0"/>
                                  </a:rPr>
                                  <m:t>𝐼</m:t>
                                </m:r>
                                <m:r>
                                  <a:rPr lang="sr-Latn-RS" sz="2400" b="0" i="1" smtClean="0">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i="1">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b="0" i="1" smtClean="0">
                                    <a:latin typeface="Cambria Math" panose="02040503050406030204" pitchFamily="18" charset="0"/>
                                    <a:ea typeface="Cambria Math" panose="02040503050406030204" pitchFamily="18" charset="0"/>
                                  </a:rPr>
                                  <m:t> </m:t>
                                </m:r>
                              </m:oMath>
                            </m:oMathPara>
                          </a14:m>
                          <a:endParaRPr lang="en-US" sz="2400" dirty="0"/>
                        </a:p>
                      </a:txBody>
                      <a:tcPr/>
                    </a:tc>
                    <a:extLst>
                      <a:ext uri="{0D108BD9-81ED-4DB2-BD59-A6C34878D82A}">
                        <a16:rowId xmlns:a16="http://schemas.microsoft.com/office/drawing/2014/main" val="2619518790"/>
                      </a:ext>
                    </a:extLst>
                  </a:tr>
                  <a:tr h="370840">
                    <a:tc>
                      <a:txBody>
                        <a:bodyPr/>
                        <a:lstStyle/>
                        <a:p>
                          <a:pPr algn="ctr"/>
                          <a:r>
                            <a:rPr lang="en-US" sz="2400" dirty="0"/>
                            <a:t>0</a:t>
                          </a:r>
                        </a:p>
                      </a:txBody>
                      <a:tcPr/>
                    </a:tc>
                    <a:tc>
                      <a:txBody>
                        <a:bodyPr/>
                        <a:lstStyle/>
                        <a:p>
                          <a:pPr algn="ctr"/>
                          <a:r>
                            <a:rPr lang="en-US" sz="24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ea typeface="Cambria Math" panose="02040503050406030204" pitchFamily="18" charset="0"/>
                                  </a:rPr>
                                  <m:t>𝐼</m:t>
                                </m:r>
                                <m:r>
                                  <a:rPr lang="sr-Latn-RS" sz="2400" b="0" i="1" smtClean="0">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i="1">
                                    <a:latin typeface="Cambria Math" panose="02040503050406030204" pitchFamily="18" charset="0"/>
                                    <a:ea typeface="Cambria Math" panose="02040503050406030204" pitchFamily="18" charset="0"/>
                                  </a:rPr>
                                  <m:t>⨂</m:t>
                                </m:r>
                                <m:r>
                                  <a:rPr lang="sr-Latn-RS" sz="2400" b="0" i="1" smtClean="0">
                                    <a:solidFill>
                                      <a:srgbClr val="FF0000"/>
                                    </a:solidFill>
                                    <a:latin typeface="Cambria Math" panose="02040503050406030204" pitchFamily="18" charset="0"/>
                                    <a:ea typeface="Cambria Math" panose="02040503050406030204" pitchFamily="18" charset="0"/>
                                  </a:rPr>
                                  <m:t>𝑋</m:t>
                                </m:r>
                              </m:oMath>
                            </m:oMathPara>
                          </a14:m>
                          <a:endParaRPr lang="en-US" sz="2400" dirty="0"/>
                        </a:p>
                      </a:txBody>
                      <a:tcPr/>
                    </a:tc>
                    <a:extLst>
                      <a:ext uri="{0D108BD9-81ED-4DB2-BD59-A6C34878D82A}">
                        <a16:rowId xmlns:a16="http://schemas.microsoft.com/office/drawing/2014/main" val="1111230535"/>
                      </a:ext>
                    </a:extLst>
                  </a:tr>
                  <a:tr h="370840">
                    <a:tc>
                      <a:txBody>
                        <a:bodyPr/>
                        <a:lstStyle/>
                        <a:p>
                          <a:pPr algn="ctr"/>
                          <a:r>
                            <a:rPr lang="en-US" sz="2400" dirty="0"/>
                            <a:t>1</a:t>
                          </a:r>
                        </a:p>
                      </a:txBody>
                      <a:tcPr/>
                    </a:tc>
                    <a:tc>
                      <a:txBody>
                        <a:bodyPr/>
                        <a:lstStyle/>
                        <a:p>
                          <a:pPr algn="ctr"/>
                          <a:r>
                            <a:rPr lang="en-US" sz="24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r-Latn-RS" sz="2400" b="0" i="1" smtClean="0">
                                    <a:solidFill>
                                      <a:srgbClr val="FF0000"/>
                                    </a:solidFill>
                                    <a:latin typeface="Cambria Math" panose="02040503050406030204" pitchFamily="18" charset="0"/>
                                    <a:ea typeface="Cambria Math" panose="02040503050406030204" pitchFamily="18" charset="0"/>
                                  </a:rPr>
                                  <m:t>𝑋</m:t>
                                </m:r>
                                <m:r>
                                  <a:rPr lang="sr-Latn-RS" sz="2400" b="0" i="1" smtClean="0">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i="1">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b="0" i="1" smtClean="0">
                                    <a:latin typeface="Cambria Math" panose="02040503050406030204" pitchFamily="18" charset="0"/>
                                    <a:ea typeface="Cambria Math" panose="02040503050406030204" pitchFamily="18" charset="0"/>
                                  </a:rPr>
                                  <m:t> </m:t>
                                </m:r>
                              </m:oMath>
                            </m:oMathPara>
                          </a14:m>
                          <a:endParaRPr lang="en-US" sz="2400" dirty="0"/>
                        </a:p>
                      </a:txBody>
                      <a:tcPr/>
                    </a:tc>
                    <a:extLst>
                      <a:ext uri="{0D108BD9-81ED-4DB2-BD59-A6C34878D82A}">
                        <a16:rowId xmlns:a16="http://schemas.microsoft.com/office/drawing/2014/main" val="1416899177"/>
                      </a:ext>
                    </a:extLst>
                  </a:tr>
                  <a:tr h="370840">
                    <a:tc>
                      <a:txBody>
                        <a:bodyPr/>
                        <a:lstStyle/>
                        <a:p>
                          <a:pPr algn="ctr"/>
                          <a:r>
                            <a:rPr lang="en-US" sz="2400" dirty="0"/>
                            <a:t>1</a:t>
                          </a:r>
                        </a:p>
                      </a:txBody>
                      <a:tcPr/>
                    </a:tc>
                    <a:tc>
                      <a:txBody>
                        <a:bodyPr/>
                        <a:lstStyle/>
                        <a:p>
                          <a:pPr algn="ctr"/>
                          <a:r>
                            <a:rPr lang="en-US" sz="24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ea typeface="Cambria Math" panose="02040503050406030204" pitchFamily="18" charset="0"/>
                                  </a:rPr>
                                  <m:t>𝐼</m:t>
                                </m:r>
                                <m:r>
                                  <a:rPr lang="sr-Latn-RS" sz="2400" b="0" i="1" smtClean="0">
                                    <a:latin typeface="Cambria Math" panose="02040503050406030204" pitchFamily="18" charset="0"/>
                                    <a:ea typeface="Cambria Math" panose="02040503050406030204" pitchFamily="18" charset="0"/>
                                  </a:rPr>
                                  <m:t>⨂</m:t>
                                </m:r>
                                <m:r>
                                  <a:rPr lang="sr-Latn-RS" sz="2400" b="0" i="1" smtClean="0">
                                    <a:solidFill>
                                      <a:srgbClr val="FF0000"/>
                                    </a:solidFill>
                                    <a:latin typeface="Cambria Math" panose="02040503050406030204" pitchFamily="18" charset="0"/>
                                    <a:ea typeface="Cambria Math" panose="02040503050406030204" pitchFamily="18" charset="0"/>
                                  </a:rPr>
                                  <m:t>𝑋</m:t>
                                </m:r>
                                <m:r>
                                  <a:rPr lang="sr-Latn-RS" sz="2400" i="1">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b="0" i="1" smtClean="0">
                                    <a:latin typeface="Cambria Math" panose="02040503050406030204" pitchFamily="18" charset="0"/>
                                    <a:ea typeface="Cambria Math" panose="02040503050406030204" pitchFamily="18" charset="0"/>
                                  </a:rPr>
                                  <m:t> </m:t>
                                </m:r>
                              </m:oMath>
                            </m:oMathPara>
                          </a14:m>
                          <a:endParaRPr lang="en-US" sz="2400" dirty="0"/>
                        </a:p>
                      </a:txBody>
                      <a:tcPr/>
                    </a:tc>
                    <a:extLst>
                      <a:ext uri="{0D108BD9-81ED-4DB2-BD59-A6C34878D82A}">
                        <a16:rowId xmlns:a16="http://schemas.microsoft.com/office/drawing/2014/main" val="2542036436"/>
                      </a:ext>
                    </a:extLst>
                  </a:tr>
                </a:tbl>
              </a:graphicData>
            </a:graphic>
          </p:graphicFrame>
        </mc:Choice>
        <mc:Fallback xmlns="">
          <p:graphicFrame>
            <p:nvGraphicFramePr>
              <p:cNvPr id="33" name="Table 32">
                <a:extLst>
                  <a:ext uri="{FF2B5EF4-FFF2-40B4-BE49-F238E27FC236}">
                    <a16:creationId xmlns:a16="http://schemas.microsoft.com/office/drawing/2014/main" id="{292F6DFA-2E9C-0341-9C6F-7DA53E7FC34A}"/>
                  </a:ext>
                </a:extLst>
              </p:cNvPr>
              <p:cNvGraphicFramePr>
                <a:graphicFrameLocks noGrp="1"/>
              </p:cNvGraphicFramePr>
              <p:nvPr>
                <p:extLst>
                  <p:ext uri="{D42A27DB-BD31-4B8C-83A1-F6EECF244321}">
                    <p14:modId xmlns:p14="http://schemas.microsoft.com/office/powerpoint/2010/main" val="1515700804"/>
                  </p:ext>
                </p:extLst>
              </p:nvPr>
            </p:nvGraphicFramePr>
            <p:xfrm>
              <a:off x="7572394" y="4486554"/>
              <a:ext cx="3512032" cy="2286000"/>
            </p:xfrm>
            <a:graphic>
              <a:graphicData uri="http://schemas.openxmlformats.org/drawingml/2006/table">
                <a:tbl>
                  <a:tblPr firstRow="1" bandRow="1">
                    <a:tableStyleId>{5C22544A-7EE6-4342-B048-85BDC9FD1C3A}</a:tableStyleId>
                  </a:tblPr>
                  <a:tblGrid>
                    <a:gridCol w="660336">
                      <a:extLst>
                        <a:ext uri="{9D8B030D-6E8A-4147-A177-3AD203B41FA5}">
                          <a16:colId xmlns:a16="http://schemas.microsoft.com/office/drawing/2014/main" val="3670628882"/>
                        </a:ext>
                      </a:extLst>
                    </a:gridCol>
                    <a:gridCol w="448574">
                      <a:extLst>
                        <a:ext uri="{9D8B030D-6E8A-4147-A177-3AD203B41FA5}">
                          <a16:colId xmlns:a16="http://schemas.microsoft.com/office/drawing/2014/main" val="3523517998"/>
                        </a:ext>
                      </a:extLst>
                    </a:gridCol>
                    <a:gridCol w="2403122">
                      <a:extLst>
                        <a:ext uri="{9D8B030D-6E8A-4147-A177-3AD203B41FA5}">
                          <a16:colId xmlns:a16="http://schemas.microsoft.com/office/drawing/2014/main" val="2329982660"/>
                        </a:ext>
                      </a:extLst>
                    </a:gridCol>
                  </a:tblGrid>
                  <a:tr h="457200">
                    <a:tc>
                      <a:txBody>
                        <a:bodyPr/>
                        <a:lstStyle/>
                        <a:p>
                          <a:pPr algn="ctr"/>
                          <a:r>
                            <a:rPr lang="en-US" sz="2400" dirty="0"/>
                            <a:t>S</a:t>
                          </a:r>
                          <a:r>
                            <a:rPr lang="en-US" sz="2400" baseline="-25000" dirty="0"/>
                            <a:t>1</a:t>
                          </a:r>
                        </a:p>
                      </a:txBody>
                      <a:tcPr/>
                    </a:tc>
                    <a:tc>
                      <a:txBody>
                        <a:bodyPr/>
                        <a:lstStyle/>
                        <a:p>
                          <a:pPr algn="ctr"/>
                          <a:r>
                            <a:rPr lang="en-US" sz="2400" dirty="0"/>
                            <a:t>S</a:t>
                          </a:r>
                          <a:r>
                            <a:rPr lang="en-US" sz="2400" baseline="-25000" dirty="0"/>
                            <a:t>2</a:t>
                          </a:r>
                        </a:p>
                      </a:txBody>
                      <a:tcPr/>
                    </a:tc>
                    <a:tc>
                      <a:txBody>
                        <a:bodyPr/>
                        <a:lstStyle/>
                        <a:p>
                          <a:pPr algn="ctr"/>
                          <a:r>
                            <a:rPr lang="en-US" sz="2400" dirty="0"/>
                            <a:t>correction</a:t>
                          </a:r>
                        </a:p>
                      </a:txBody>
                      <a:tcPr/>
                    </a:tc>
                    <a:extLst>
                      <a:ext uri="{0D108BD9-81ED-4DB2-BD59-A6C34878D82A}">
                        <a16:rowId xmlns:a16="http://schemas.microsoft.com/office/drawing/2014/main" val="714321964"/>
                      </a:ext>
                    </a:extLst>
                  </a:tr>
                  <a:tr h="457200">
                    <a:tc>
                      <a:txBody>
                        <a:bodyPr/>
                        <a:lstStyle/>
                        <a:p>
                          <a:pPr algn="ctr"/>
                          <a:r>
                            <a:rPr lang="en-US" sz="2400" dirty="0"/>
                            <a:t>0</a:t>
                          </a:r>
                        </a:p>
                      </a:txBody>
                      <a:tcPr/>
                    </a:tc>
                    <a:tc>
                      <a:txBody>
                        <a:bodyPr/>
                        <a:lstStyle/>
                        <a:p>
                          <a:pPr algn="ctr"/>
                          <a:r>
                            <a:rPr lang="en-US" sz="2400" dirty="0"/>
                            <a:t>0</a:t>
                          </a:r>
                        </a:p>
                      </a:txBody>
                      <a:tcPr/>
                    </a:tc>
                    <a:tc>
                      <a:txBody>
                        <a:bodyPr/>
                        <a:lstStyle/>
                        <a:p>
                          <a:endParaRPr lang="en-US"/>
                        </a:p>
                      </a:txBody>
                      <a:tcPr>
                        <a:blipFill>
                          <a:blip r:embed="rId11"/>
                          <a:stretch>
                            <a:fillRect l="-46316" t="-111111" r="-1053" b="-327778"/>
                          </a:stretch>
                        </a:blipFill>
                      </a:tcPr>
                    </a:tc>
                    <a:extLst>
                      <a:ext uri="{0D108BD9-81ED-4DB2-BD59-A6C34878D82A}">
                        <a16:rowId xmlns:a16="http://schemas.microsoft.com/office/drawing/2014/main" val="2619518790"/>
                      </a:ext>
                    </a:extLst>
                  </a:tr>
                  <a:tr h="457200">
                    <a:tc>
                      <a:txBody>
                        <a:bodyPr/>
                        <a:lstStyle/>
                        <a:p>
                          <a:pPr algn="ctr"/>
                          <a:r>
                            <a:rPr lang="en-US" sz="2400" dirty="0"/>
                            <a:t>0</a:t>
                          </a:r>
                        </a:p>
                      </a:txBody>
                      <a:tcPr/>
                    </a:tc>
                    <a:tc>
                      <a:txBody>
                        <a:bodyPr/>
                        <a:lstStyle/>
                        <a:p>
                          <a:pPr algn="ctr"/>
                          <a:r>
                            <a:rPr lang="en-US" sz="2400" dirty="0"/>
                            <a:t>1</a:t>
                          </a:r>
                        </a:p>
                      </a:txBody>
                      <a:tcPr/>
                    </a:tc>
                    <a:tc>
                      <a:txBody>
                        <a:bodyPr/>
                        <a:lstStyle/>
                        <a:p>
                          <a:endParaRPr lang="en-US"/>
                        </a:p>
                      </a:txBody>
                      <a:tcPr>
                        <a:blipFill>
                          <a:blip r:embed="rId11"/>
                          <a:stretch>
                            <a:fillRect l="-46316" t="-205405" r="-1053" b="-218919"/>
                          </a:stretch>
                        </a:blipFill>
                      </a:tcPr>
                    </a:tc>
                    <a:extLst>
                      <a:ext uri="{0D108BD9-81ED-4DB2-BD59-A6C34878D82A}">
                        <a16:rowId xmlns:a16="http://schemas.microsoft.com/office/drawing/2014/main" val="1111230535"/>
                      </a:ext>
                    </a:extLst>
                  </a:tr>
                  <a:tr h="457200">
                    <a:tc>
                      <a:txBody>
                        <a:bodyPr/>
                        <a:lstStyle/>
                        <a:p>
                          <a:pPr algn="ctr"/>
                          <a:r>
                            <a:rPr lang="en-US" sz="2400" dirty="0"/>
                            <a:t>1</a:t>
                          </a:r>
                        </a:p>
                      </a:txBody>
                      <a:tcPr/>
                    </a:tc>
                    <a:tc>
                      <a:txBody>
                        <a:bodyPr/>
                        <a:lstStyle/>
                        <a:p>
                          <a:pPr algn="ctr"/>
                          <a:r>
                            <a:rPr lang="en-US" sz="2400" dirty="0"/>
                            <a:t>0</a:t>
                          </a:r>
                        </a:p>
                      </a:txBody>
                      <a:tcPr/>
                    </a:tc>
                    <a:tc>
                      <a:txBody>
                        <a:bodyPr/>
                        <a:lstStyle/>
                        <a:p>
                          <a:endParaRPr lang="en-US"/>
                        </a:p>
                      </a:txBody>
                      <a:tcPr>
                        <a:blipFill>
                          <a:blip r:embed="rId11"/>
                          <a:stretch>
                            <a:fillRect l="-46316" t="-313889" r="-1053" b="-125000"/>
                          </a:stretch>
                        </a:blipFill>
                      </a:tcPr>
                    </a:tc>
                    <a:extLst>
                      <a:ext uri="{0D108BD9-81ED-4DB2-BD59-A6C34878D82A}">
                        <a16:rowId xmlns:a16="http://schemas.microsoft.com/office/drawing/2014/main" val="1416899177"/>
                      </a:ext>
                    </a:extLst>
                  </a:tr>
                  <a:tr h="457200">
                    <a:tc>
                      <a:txBody>
                        <a:bodyPr/>
                        <a:lstStyle/>
                        <a:p>
                          <a:pPr algn="ctr"/>
                          <a:r>
                            <a:rPr lang="en-US" sz="2400" dirty="0"/>
                            <a:t>1</a:t>
                          </a:r>
                        </a:p>
                      </a:txBody>
                      <a:tcPr/>
                    </a:tc>
                    <a:tc>
                      <a:txBody>
                        <a:bodyPr/>
                        <a:lstStyle/>
                        <a:p>
                          <a:pPr algn="ctr"/>
                          <a:r>
                            <a:rPr lang="en-US" sz="2400" dirty="0"/>
                            <a:t>1</a:t>
                          </a:r>
                        </a:p>
                      </a:txBody>
                      <a:tcPr/>
                    </a:tc>
                    <a:tc>
                      <a:txBody>
                        <a:bodyPr/>
                        <a:lstStyle/>
                        <a:p>
                          <a:endParaRPr lang="en-US"/>
                        </a:p>
                      </a:txBody>
                      <a:tcPr>
                        <a:blipFill>
                          <a:blip r:embed="rId11"/>
                          <a:stretch>
                            <a:fillRect l="-46316" t="-413889" r="-1053" b="-25000"/>
                          </a:stretch>
                        </a:blipFill>
                      </a:tcPr>
                    </a:tc>
                    <a:extLst>
                      <a:ext uri="{0D108BD9-81ED-4DB2-BD59-A6C34878D82A}">
                        <a16:rowId xmlns:a16="http://schemas.microsoft.com/office/drawing/2014/main" val="2542036436"/>
                      </a:ext>
                    </a:extLst>
                  </a:tr>
                </a:tbl>
              </a:graphicData>
            </a:graphic>
          </p:graphicFrame>
        </mc:Fallback>
      </mc:AlternateContent>
      <p:sp>
        <p:nvSpPr>
          <p:cNvPr id="34" name="Right Arrow 33">
            <a:extLst>
              <a:ext uri="{FF2B5EF4-FFF2-40B4-BE49-F238E27FC236}">
                <a16:creationId xmlns:a16="http://schemas.microsoft.com/office/drawing/2014/main" id="{6FA67A33-92AE-D544-A72A-A3B3EA3EF33A}"/>
              </a:ext>
            </a:extLst>
          </p:cNvPr>
          <p:cNvSpPr/>
          <p:nvPr/>
        </p:nvSpPr>
        <p:spPr>
          <a:xfrm>
            <a:off x="7037870" y="5436158"/>
            <a:ext cx="317225" cy="592319"/>
          </a:xfrm>
          <a:prstGeom prst="right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4245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dissolv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dissolv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dissolve">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4"/>
                                        </p:tgtEl>
                                        <p:attrNameLst>
                                          <p:attrName>style.visibility</p:attrName>
                                        </p:attrNameLst>
                                      </p:cBhvr>
                                      <p:to>
                                        <p:strVal val="visible"/>
                                      </p:to>
                                    </p:set>
                                  </p:childTnLst>
                                </p:cTn>
                              </p:par>
                            </p:childTnLst>
                          </p:cTn>
                        </p:par>
                        <p:par>
                          <p:cTn id="32" fill="hold">
                            <p:stCondLst>
                              <p:cond delay="0"/>
                            </p:stCondLst>
                            <p:childTnLst>
                              <p:par>
                                <p:cTn id="33" presetID="9" presetClass="entr" presetSubtype="0" fill="hold" nodeType="after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dissolve">
                                      <p:cBhvr>
                                        <p:cTn id="35" dur="500"/>
                                        <p:tgtEl>
                                          <p:spTgt spid="3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dissolve">
                                      <p:cBhvr>
                                        <p:cTn id="40" dur="500"/>
                                        <p:tgtEl>
                                          <p:spTgt spid="40"/>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42"/>
                                        </p:tgtEl>
                                        <p:attrNameLst>
                                          <p:attrName>style.visibility</p:attrName>
                                        </p:attrNameLst>
                                      </p:cBhvr>
                                      <p:to>
                                        <p:strVal val="visible"/>
                                      </p:to>
                                    </p:set>
                                    <p:animEffect transition="in" filter="dissolve">
                                      <p:cBhvr>
                                        <p:cTn id="45"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8" name="Straight Connector 147">
            <a:extLst>
              <a:ext uri="{FF2B5EF4-FFF2-40B4-BE49-F238E27FC236}">
                <a16:creationId xmlns:a16="http://schemas.microsoft.com/office/drawing/2014/main" id="{32BBFE7A-17AD-3441-ACBE-D73F23ABE46C}"/>
              </a:ext>
            </a:extLst>
          </p:cNvPr>
          <p:cNvCxnSpPr>
            <a:cxnSpLocks/>
          </p:cNvCxnSpPr>
          <p:nvPr/>
        </p:nvCxnSpPr>
        <p:spPr>
          <a:xfrm>
            <a:off x="223288" y="1586424"/>
            <a:ext cx="11347000" cy="1"/>
          </a:xfrm>
          <a:prstGeom prst="line">
            <a:avLst/>
          </a:prstGeom>
          <a:ln w="12700">
            <a:solidFill>
              <a:schemeClr val="tx1"/>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3D8C986-6A4F-374E-9556-E2490AA40B70}"/>
              </a:ext>
            </a:extLst>
          </p:cNvPr>
          <p:cNvSpPr>
            <a:spLocks noGrp="1"/>
          </p:cNvSpPr>
          <p:nvPr>
            <p:ph type="title"/>
          </p:nvPr>
        </p:nvSpPr>
        <p:spPr/>
        <p:txBody>
          <a:bodyPr/>
          <a:lstStyle/>
          <a:p>
            <a:r>
              <a:rPr lang="en-ZA" dirty="0"/>
              <a:t>Phase-Flip Error Detection and Correction</a:t>
            </a:r>
            <a:endParaRPr lang="en-US" dirty="0"/>
          </a:p>
        </p:txBody>
      </p:sp>
      <p:sp>
        <p:nvSpPr>
          <p:cNvPr id="3" name="Slide Number Placeholder 2">
            <a:extLst>
              <a:ext uri="{FF2B5EF4-FFF2-40B4-BE49-F238E27FC236}">
                <a16:creationId xmlns:a16="http://schemas.microsoft.com/office/drawing/2014/main" id="{B1C23E26-1A55-A944-9573-554004475C28}"/>
              </a:ext>
            </a:extLst>
          </p:cNvPr>
          <p:cNvSpPr>
            <a:spLocks noGrp="1"/>
          </p:cNvSpPr>
          <p:nvPr>
            <p:ph type="sldNum" sz="quarter" idx="12"/>
          </p:nvPr>
        </p:nvSpPr>
        <p:spPr/>
        <p:txBody>
          <a:bodyPr/>
          <a:lstStyle/>
          <a:p>
            <a:fld id="{591A223C-FA10-BC46-A853-03BA373D023C}" type="slidenum">
              <a:rPr lang="en-US" smtClean="0"/>
              <a:t>46</a:t>
            </a:fld>
            <a:endParaRPr lang="en-US"/>
          </a:p>
        </p:txBody>
      </p:sp>
      <p:cxnSp>
        <p:nvCxnSpPr>
          <p:cNvPr id="13" name="Straight Connector 12">
            <a:extLst>
              <a:ext uri="{FF2B5EF4-FFF2-40B4-BE49-F238E27FC236}">
                <a16:creationId xmlns:a16="http://schemas.microsoft.com/office/drawing/2014/main" id="{CBF6FBB7-3308-F04C-9CE0-DE4FBCE7B89C}"/>
              </a:ext>
            </a:extLst>
          </p:cNvPr>
          <p:cNvCxnSpPr>
            <a:cxnSpLocks/>
          </p:cNvCxnSpPr>
          <p:nvPr/>
        </p:nvCxnSpPr>
        <p:spPr>
          <a:xfrm>
            <a:off x="770288" y="2211312"/>
            <a:ext cx="10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0DB772D-FC63-0D47-AB81-83A6CB0973D1}"/>
              </a:ext>
            </a:extLst>
          </p:cNvPr>
          <p:cNvCxnSpPr>
            <a:cxnSpLocks/>
          </p:cNvCxnSpPr>
          <p:nvPr/>
        </p:nvCxnSpPr>
        <p:spPr>
          <a:xfrm flipV="1">
            <a:off x="770287" y="2801864"/>
            <a:ext cx="10800000" cy="11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BC1956AE-860B-084E-934B-7CBF805996D3}"/>
              </a:ext>
            </a:extLst>
          </p:cNvPr>
          <p:cNvSpPr txBox="1"/>
          <p:nvPr/>
        </p:nvSpPr>
        <p:spPr>
          <a:xfrm>
            <a:off x="223288" y="2076063"/>
            <a:ext cx="468219" cy="365241"/>
          </a:xfrm>
          <a:prstGeom prst="rect">
            <a:avLst/>
          </a:prstGeom>
          <a:noFill/>
        </p:spPr>
        <p:txBody>
          <a:bodyPr wrap="none" rtlCol="0">
            <a:spAutoFit/>
          </a:bodyPr>
          <a:lstStyle/>
          <a:p>
            <a:r>
              <a:rPr lang="en-US" sz="2400" dirty="0"/>
              <a:t>|0⟩</a:t>
            </a:r>
            <a:endParaRPr lang="en-US" sz="2400" baseline="-25000" dirty="0"/>
          </a:p>
        </p:txBody>
      </p:sp>
      <p:sp>
        <p:nvSpPr>
          <p:cNvPr id="132" name="TextBox 131">
            <a:extLst>
              <a:ext uri="{FF2B5EF4-FFF2-40B4-BE49-F238E27FC236}">
                <a16:creationId xmlns:a16="http://schemas.microsoft.com/office/drawing/2014/main" id="{8663B749-F58C-4349-B02F-2FF35FEC73A6}"/>
              </a:ext>
            </a:extLst>
          </p:cNvPr>
          <p:cNvSpPr txBox="1"/>
          <p:nvPr/>
        </p:nvSpPr>
        <p:spPr>
          <a:xfrm>
            <a:off x="224284" y="2658256"/>
            <a:ext cx="468219" cy="365241"/>
          </a:xfrm>
          <a:prstGeom prst="rect">
            <a:avLst/>
          </a:prstGeom>
          <a:noFill/>
        </p:spPr>
        <p:txBody>
          <a:bodyPr wrap="none" rtlCol="0">
            <a:spAutoFit/>
          </a:bodyPr>
          <a:lstStyle/>
          <a:p>
            <a:r>
              <a:rPr lang="en-US" sz="2400" dirty="0"/>
              <a:t>|0⟩</a:t>
            </a:r>
            <a:endParaRPr lang="en-US" sz="2400" baseline="-25000" dirty="0"/>
          </a:p>
        </p:txBody>
      </p:sp>
      <mc:AlternateContent xmlns:mc="http://schemas.openxmlformats.org/markup-compatibility/2006" xmlns:a14="http://schemas.microsoft.com/office/drawing/2010/main">
        <mc:Choice Requires="a14">
          <p:sp>
            <p:nvSpPr>
              <p:cNvPr id="134" name="Rectangle 133">
                <a:extLst>
                  <a:ext uri="{FF2B5EF4-FFF2-40B4-BE49-F238E27FC236}">
                    <a16:creationId xmlns:a16="http://schemas.microsoft.com/office/drawing/2014/main" id="{351F3C9C-92FB-154B-BC41-5D8B335ED3D3}"/>
                  </a:ext>
                </a:extLst>
              </p:cNvPr>
              <p:cNvSpPr/>
              <p:nvPr/>
            </p:nvSpPr>
            <p:spPr>
              <a:xfrm>
                <a:off x="42126" y="950870"/>
                <a:ext cx="1694784" cy="461665"/>
              </a:xfrm>
              <a:prstGeom prst="rect">
                <a:avLst/>
              </a:prstGeom>
              <a:solidFill>
                <a:schemeClr val="accent4">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𝑎</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0</m:t>
                          </m:r>
                        </m:e>
                      </m:d>
                      <m:r>
                        <a:rPr lang="en-US" sz="2400" b="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𝑏</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m:t>
                          </m:r>
                        </m:e>
                      </m:d>
                    </m:oMath>
                  </m:oMathPara>
                </a14:m>
                <a:endParaRPr lang="en-US" sz="2400" dirty="0"/>
              </a:p>
            </p:txBody>
          </p:sp>
        </mc:Choice>
        <mc:Fallback xmlns="">
          <p:sp>
            <p:nvSpPr>
              <p:cNvPr id="134" name="Rectangle 133">
                <a:extLst>
                  <a:ext uri="{FF2B5EF4-FFF2-40B4-BE49-F238E27FC236}">
                    <a16:creationId xmlns:a16="http://schemas.microsoft.com/office/drawing/2014/main" id="{351F3C9C-92FB-154B-BC41-5D8B335ED3D3}"/>
                  </a:ext>
                </a:extLst>
              </p:cNvPr>
              <p:cNvSpPr>
                <a:spLocks noRot="1" noChangeAspect="1" noMove="1" noResize="1" noEditPoints="1" noAdjustHandles="1" noChangeArrowheads="1" noChangeShapeType="1" noTextEdit="1"/>
              </p:cNvSpPr>
              <p:nvPr/>
            </p:nvSpPr>
            <p:spPr>
              <a:xfrm>
                <a:off x="42126" y="950870"/>
                <a:ext cx="1694784" cy="461665"/>
              </a:xfrm>
              <a:prstGeom prst="rect">
                <a:avLst/>
              </a:prstGeom>
              <a:blipFill>
                <a:blip r:embed="rId3"/>
                <a:stretch>
                  <a:fillRect t="-124324" r="-19259" b="-191892"/>
                </a:stretch>
              </a:blipFill>
            </p:spPr>
            <p:txBody>
              <a:bodyPr/>
              <a:lstStyle/>
              <a:p>
                <a:r>
                  <a:rPr lang="en-US">
                    <a:noFill/>
                  </a:rPr>
                  <a:t> </a:t>
                </a:r>
              </a:p>
            </p:txBody>
          </p:sp>
        </mc:Fallback>
      </mc:AlternateContent>
      <p:grpSp>
        <p:nvGrpSpPr>
          <p:cNvPr id="39" name="Group 38">
            <a:extLst>
              <a:ext uri="{FF2B5EF4-FFF2-40B4-BE49-F238E27FC236}">
                <a16:creationId xmlns:a16="http://schemas.microsoft.com/office/drawing/2014/main" id="{62980AC0-8419-9D40-B8B9-C0D3FDB2C608}"/>
              </a:ext>
            </a:extLst>
          </p:cNvPr>
          <p:cNvGrpSpPr/>
          <p:nvPr/>
        </p:nvGrpSpPr>
        <p:grpSpPr>
          <a:xfrm>
            <a:off x="5795995" y="1084181"/>
            <a:ext cx="4059670" cy="3221710"/>
            <a:chOff x="5795995" y="1084181"/>
            <a:chExt cx="4059670" cy="3221710"/>
          </a:xfrm>
        </p:grpSpPr>
        <p:grpSp>
          <p:nvGrpSpPr>
            <p:cNvPr id="38" name="Group 37">
              <a:extLst>
                <a:ext uri="{FF2B5EF4-FFF2-40B4-BE49-F238E27FC236}">
                  <a16:creationId xmlns:a16="http://schemas.microsoft.com/office/drawing/2014/main" id="{CE0C5880-A34C-3F49-A267-62E3D40FCC51}"/>
                </a:ext>
              </a:extLst>
            </p:cNvPr>
            <p:cNvGrpSpPr/>
            <p:nvPr/>
          </p:nvGrpSpPr>
          <p:grpSpPr>
            <a:xfrm>
              <a:off x="5795995" y="1528641"/>
              <a:ext cx="4059670" cy="2777250"/>
              <a:chOff x="5795995" y="1528641"/>
              <a:chExt cx="4059670" cy="2777250"/>
            </a:xfrm>
          </p:grpSpPr>
          <p:cxnSp>
            <p:nvCxnSpPr>
              <p:cNvPr id="29" name="Straight Connector 28">
                <a:extLst>
                  <a:ext uri="{FF2B5EF4-FFF2-40B4-BE49-F238E27FC236}">
                    <a16:creationId xmlns:a16="http://schemas.microsoft.com/office/drawing/2014/main" id="{4B143E4F-F76C-CE4E-942A-D5C129F487C7}"/>
                  </a:ext>
                </a:extLst>
              </p:cNvPr>
              <p:cNvCxnSpPr>
                <a:cxnSpLocks/>
              </p:cNvCxnSpPr>
              <p:nvPr/>
            </p:nvCxnSpPr>
            <p:spPr>
              <a:xfrm>
                <a:off x="6163558" y="3404938"/>
                <a:ext cx="293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4ABFCFF3-1121-BF4D-B388-F7FD251F0A2A}"/>
                  </a:ext>
                </a:extLst>
              </p:cNvPr>
              <p:cNvGrpSpPr/>
              <p:nvPr/>
            </p:nvGrpSpPr>
            <p:grpSpPr>
              <a:xfrm>
                <a:off x="5795995" y="1528641"/>
                <a:ext cx="4059670" cy="2777250"/>
                <a:chOff x="5795995" y="1528641"/>
                <a:chExt cx="4059670" cy="2777250"/>
              </a:xfrm>
            </p:grpSpPr>
            <p:sp>
              <p:nvSpPr>
                <p:cNvPr id="111" name="TextBox 110">
                  <a:extLst>
                    <a:ext uri="{FF2B5EF4-FFF2-40B4-BE49-F238E27FC236}">
                      <a16:creationId xmlns:a16="http://schemas.microsoft.com/office/drawing/2014/main" id="{E7981B4F-AEDA-4949-B042-CD122080A801}"/>
                    </a:ext>
                  </a:extLst>
                </p:cNvPr>
                <p:cNvSpPr txBox="1"/>
                <p:nvPr/>
              </p:nvSpPr>
              <p:spPr>
                <a:xfrm>
                  <a:off x="9446579" y="3875004"/>
                  <a:ext cx="409086" cy="430887"/>
                </a:xfrm>
                <a:prstGeom prst="rect">
                  <a:avLst/>
                </a:prstGeom>
                <a:noFill/>
              </p:spPr>
              <p:txBody>
                <a:bodyPr wrap="none" rtlCol="0">
                  <a:spAutoFit/>
                </a:bodyPr>
                <a:lstStyle/>
                <a:p>
                  <a:r>
                    <a:rPr lang="en-US" sz="2200" dirty="0"/>
                    <a:t>S</a:t>
                  </a:r>
                  <a:r>
                    <a:rPr lang="en-US" sz="2200" baseline="-25000" dirty="0"/>
                    <a:t>2</a:t>
                  </a:r>
                </a:p>
              </p:txBody>
            </p:sp>
            <p:cxnSp>
              <p:nvCxnSpPr>
                <p:cNvPr id="30" name="Straight Connector 29">
                  <a:extLst>
                    <a:ext uri="{FF2B5EF4-FFF2-40B4-BE49-F238E27FC236}">
                      <a16:creationId xmlns:a16="http://schemas.microsoft.com/office/drawing/2014/main" id="{02BDB9B5-4A56-6049-A058-0526F7513665}"/>
                    </a:ext>
                  </a:extLst>
                </p:cNvPr>
                <p:cNvCxnSpPr>
                  <a:cxnSpLocks/>
                </p:cNvCxnSpPr>
                <p:nvPr/>
              </p:nvCxnSpPr>
              <p:spPr>
                <a:xfrm>
                  <a:off x="6163558" y="3995491"/>
                  <a:ext cx="328302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DC8AB1FE-DA9C-E546-8C1D-8F088E8542AA}"/>
                    </a:ext>
                  </a:extLst>
                </p:cNvPr>
                <p:cNvSpPr txBox="1"/>
                <p:nvPr/>
              </p:nvSpPr>
              <p:spPr>
                <a:xfrm>
                  <a:off x="9031169" y="3386956"/>
                  <a:ext cx="409086" cy="430887"/>
                </a:xfrm>
                <a:prstGeom prst="rect">
                  <a:avLst/>
                </a:prstGeom>
                <a:noFill/>
              </p:spPr>
              <p:txBody>
                <a:bodyPr wrap="none" rtlCol="0">
                  <a:spAutoFit/>
                </a:bodyPr>
                <a:lstStyle/>
                <a:p>
                  <a:r>
                    <a:rPr lang="en-US" sz="2200" dirty="0"/>
                    <a:t>S</a:t>
                  </a:r>
                  <a:r>
                    <a:rPr lang="en-US" sz="2200" baseline="-25000" dirty="0"/>
                    <a:t>1</a:t>
                  </a:r>
                </a:p>
              </p:txBody>
            </p:sp>
            <p:grpSp>
              <p:nvGrpSpPr>
                <p:cNvPr id="76" name="Group 75">
                  <a:extLst>
                    <a:ext uri="{FF2B5EF4-FFF2-40B4-BE49-F238E27FC236}">
                      <a16:creationId xmlns:a16="http://schemas.microsoft.com/office/drawing/2014/main" id="{C31F95C8-1842-564C-8C3A-4782A758538F}"/>
                    </a:ext>
                  </a:extLst>
                </p:cNvPr>
                <p:cNvGrpSpPr/>
                <p:nvPr/>
              </p:nvGrpSpPr>
              <p:grpSpPr>
                <a:xfrm>
                  <a:off x="7828222" y="2733270"/>
                  <a:ext cx="427215" cy="1461826"/>
                  <a:chOff x="1328178" y="510560"/>
                  <a:chExt cx="540000" cy="1847748"/>
                </a:xfrm>
              </p:grpSpPr>
              <p:cxnSp>
                <p:nvCxnSpPr>
                  <p:cNvPr id="77" name="Straight Connector 76">
                    <a:extLst>
                      <a:ext uri="{FF2B5EF4-FFF2-40B4-BE49-F238E27FC236}">
                        <a16:creationId xmlns:a16="http://schemas.microsoft.com/office/drawing/2014/main" id="{C4611995-2EE2-694E-AB5B-8E749D31FC44}"/>
                      </a:ext>
                    </a:extLst>
                  </p:cNvPr>
                  <p:cNvCxnSpPr>
                    <a:cxnSpLocks/>
                    <a:stCxn id="79" idx="0"/>
                    <a:endCxn id="78" idx="4"/>
                  </p:cNvCxnSpPr>
                  <p:nvPr/>
                </p:nvCxnSpPr>
                <p:spPr>
                  <a:xfrm flipV="1">
                    <a:off x="1598179" y="690560"/>
                    <a:ext cx="0" cy="11277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Oval 77">
                    <a:extLst>
                      <a:ext uri="{FF2B5EF4-FFF2-40B4-BE49-F238E27FC236}">
                        <a16:creationId xmlns:a16="http://schemas.microsoft.com/office/drawing/2014/main" id="{2F2E70E1-B820-AE4D-BFD2-F289789C9180}"/>
                      </a:ext>
                    </a:extLst>
                  </p:cNvPr>
                  <p:cNvSpPr/>
                  <p:nvPr/>
                </p:nvSpPr>
                <p:spPr>
                  <a:xfrm>
                    <a:off x="1508178" y="510560"/>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000"/>
                  </a:p>
                </p:txBody>
              </p:sp>
              <p:sp>
                <p:nvSpPr>
                  <p:cNvPr id="79" name="Oval 78">
                    <a:extLst>
                      <a:ext uri="{FF2B5EF4-FFF2-40B4-BE49-F238E27FC236}">
                        <a16:creationId xmlns:a16="http://schemas.microsoft.com/office/drawing/2014/main" id="{1BC5A187-DBC3-4F4B-B201-0710D55AE977}"/>
                      </a:ext>
                    </a:extLst>
                  </p:cNvPr>
                  <p:cNvSpPr>
                    <a:spLocks noChangeAspect="1"/>
                  </p:cNvSpPr>
                  <p:nvPr/>
                </p:nvSpPr>
                <p:spPr>
                  <a:xfrm>
                    <a:off x="1328178" y="1818308"/>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latin typeface="Times" pitchFamily="2" charset="0"/>
                      </a:rPr>
                      <a:t>+</a:t>
                    </a:r>
                  </a:p>
                </p:txBody>
              </p:sp>
            </p:grpSp>
            <p:grpSp>
              <p:nvGrpSpPr>
                <p:cNvPr id="82" name="Group 81">
                  <a:extLst>
                    <a:ext uri="{FF2B5EF4-FFF2-40B4-BE49-F238E27FC236}">
                      <a16:creationId xmlns:a16="http://schemas.microsoft.com/office/drawing/2014/main" id="{FBA7FA4B-580F-AA44-A1BC-B4E88148904C}"/>
                    </a:ext>
                  </a:extLst>
                </p:cNvPr>
                <p:cNvGrpSpPr/>
                <p:nvPr/>
              </p:nvGrpSpPr>
              <p:grpSpPr>
                <a:xfrm>
                  <a:off x="7329805" y="2141616"/>
                  <a:ext cx="427215" cy="2055655"/>
                  <a:chOff x="1328178" y="-253964"/>
                  <a:chExt cx="540000" cy="2598348"/>
                </a:xfrm>
              </p:grpSpPr>
              <p:cxnSp>
                <p:nvCxnSpPr>
                  <p:cNvPr id="83" name="Straight Connector 82">
                    <a:extLst>
                      <a:ext uri="{FF2B5EF4-FFF2-40B4-BE49-F238E27FC236}">
                        <a16:creationId xmlns:a16="http://schemas.microsoft.com/office/drawing/2014/main" id="{DA802F9B-B98E-BB44-AEAF-7DEB8F75380E}"/>
                      </a:ext>
                    </a:extLst>
                  </p:cNvPr>
                  <p:cNvCxnSpPr>
                    <a:cxnSpLocks/>
                    <a:stCxn id="85" idx="0"/>
                    <a:endCxn id="84" idx="4"/>
                  </p:cNvCxnSpPr>
                  <p:nvPr/>
                </p:nvCxnSpPr>
                <p:spPr>
                  <a:xfrm flipV="1">
                    <a:off x="1598179" y="-73964"/>
                    <a:ext cx="0" cy="18783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Oval 83">
                    <a:extLst>
                      <a:ext uri="{FF2B5EF4-FFF2-40B4-BE49-F238E27FC236}">
                        <a16:creationId xmlns:a16="http://schemas.microsoft.com/office/drawing/2014/main" id="{6F994A80-B435-264B-BB4C-C0097F2258AD}"/>
                      </a:ext>
                    </a:extLst>
                  </p:cNvPr>
                  <p:cNvSpPr/>
                  <p:nvPr/>
                </p:nvSpPr>
                <p:spPr>
                  <a:xfrm>
                    <a:off x="1508178" y="-253964"/>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000"/>
                  </a:p>
                </p:txBody>
              </p:sp>
              <p:sp>
                <p:nvSpPr>
                  <p:cNvPr id="85" name="Oval 84">
                    <a:extLst>
                      <a:ext uri="{FF2B5EF4-FFF2-40B4-BE49-F238E27FC236}">
                        <a16:creationId xmlns:a16="http://schemas.microsoft.com/office/drawing/2014/main" id="{217E2C49-D855-EF44-A6CB-9604BF3C2F32}"/>
                      </a:ext>
                    </a:extLst>
                  </p:cNvPr>
                  <p:cNvSpPr>
                    <a:spLocks noChangeAspect="1"/>
                  </p:cNvSpPr>
                  <p:nvPr/>
                </p:nvSpPr>
                <p:spPr>
                  <a:xfrm>
                    <a:off x="1328178" y="1804384"/>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latin typeface="Times" pitchFamily="2" charset="0"/>
                      </a:rPr>
                      <a:t>+</a:t>
                    </a:r>
                  </a:p>
                </p:txBody>
              </p:sp>
            </p:grpSp>
            <p:grpSp>
              <p:nvGrpSpPr>
                <p:cNvPr id="89" name="Group 88">
                  <a:extLst>
                    <a:ext uri="{FF2B5EF4-FFF2-40B4-BE49-F238E27FC236}">
                      <a16:creationId xmlns:a16="http://schemas.microsoft.com/office/drawing/2014/main" id="{8434EF05-7762-054A-B5E2-E5AD749E074D}"/>
                    </a:ext>
                  </a:extLst>
                </p:cNvPr>
                <p:cNvGrpSpPr/>
                <p:nvPr/>
              </p:nvGrpSpPr>
              <p:grpSpPr>
                <a:xfrm>
                  <a:off x="6868121" y="2142327"/>
                  <a:ext cx="427215" cy="1472842"/>
                  <a:chOff x="1328178" y="524484"/>
                  <a:chExt cx="540000" cy="1861672"/>
                </a:xfrm>
              </p:grpSpPr>
              <p:cxnSp>
                <p:nvCxnSpPr>
                  <p:cNvPr id="90" name="Straight Connector 89">
                    <a:extLst>
                      <a:ext uri="{FF2B5EF4-FFF2-40B4-BE49-F238E27FC236}">
                        <a16:creationId xmlns:a16="http://schemas.microsoft.com/office/drawing/2014/main" id="{30C4F1CC-1350-2641-A850-5842B0F5F70D}"/>
                      </a:ext>
                    </a:extLst>
                  </p:cNvPr>
                  <p:cNvCxnSpPr>
                    <a:cxnSpLocks/>
                    <a:stCxn id="92" idx="0"/>
                    <a:endCxn id="91" idx="4"/>
                  </p:cNvCxnSpPr>
                  <p:nvPr/>
                </p:nvCxnSpPr>
                <p:spPr>
                  <a:xfrm flipV="1">
                    <a:off x="1598179" y="704484"/>
                    <a:ext cx="0" cy="114167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BD68C736-2E79-1C4B-AB20-1648C3DBF9DA}"/>
                      </a:ext>
                    </a:extLst>
                  </p:cNvPr>
                  <p:cNvSpPr/>
                  <p:nvPr/>
                </p:nvSpPr>
                <p:spPr>
                  <a:xfrm>
                    <a:off x="1508178" y="524484"/>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000"/>
                  </a:p>
                </p:txBody>
              </p:sp>
              <p:sp>
                <p:nvSpPr>
                  <p:cNvPr id="92" name="Oval 91">
                    <a:extLst>
                      <a:ext uri="{FF2B5EF4-FFF2-40B4-BE49-F238E27FC236}">
                        <a16:creationId xmlns:a16="http://schemas.microsoft.com/office/drawing/2014/main" id="{ED7BB535-C04B-2240-85CA-8187F91C363C}"/>
                      </a:ext>
                    </a:extLst>
                  </p:cNvPr>
                  <p:cNvSpPr>
                    <a:spLocks noChangeAspect="1"/>
                  </p:cNvSpPr>
                  <p:nvPr/>
                </p:nvSpPr>
                <p:spPr>
                  <a:xfrm>
                    <a:off x="1328178" y="1846156"/>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latin typeface="Times" pitchFamily="2" charset="0"/>
                      </a:rPr>
                      <a:t>+</a:t>
                    </a:r>
                  </a:p>
                </p:txBody>
              </p:sp>
            </p:grpSp>
            <p:grpSp>
              <p:nvGrpSpPr>
                <p:cNvPr id="93" name="Group 92">
                  <a:extLst>
                    <a:ext uri="{FF2B5EF4-FFF2-40B4-BE49-F238E27FC236}">
                      <a16:creationId xmlns:a16="http://schemas.microsoft.com/office/drawing/2014/main" id="{762D64F4-5855-5B44-92B5-D5A9118D7137}"/>
                    </a:ext>
                  </a:extLst>
                </p:cNvPr>
                <p:cNvGrpSpPr/>
                <p:nvPr/>
              </p:nvGrpSpPr>
              <p:grpSpPr>
                <a:xfrm>
                  <a:off x="6369704" y="1528641"/>
                  <a:ext cx="427215" cy="2083195"/>
                  <a:chOff x="1328178" y="-267888"/>
                  <a:chExt cx="540000" cy="2633158"/>
                </a:xfrm>
              </p:grpSpPr>
              <p:cxnSp>
                <p:nvCxnSpPr>
                  <p:cNvPr id="94" name="Straight Connector 93">
                    <a:extLst>
                      <a:ext uri="{FF2B5EF4-FFF2-40B4-BE49-F238E27FC236}">
                        <a16:creationId xmlns:a16="http://schemas.microsoft.com/office/drawing/2014/main" id="{1CC2FB86-6A49-6A46-88FB-6658B74A4C36}"/>
                      </a:ext>
                    </a:extLst>
                  </p:cNvPr>
                  <p:cNvCxnSpPr>
                    <a:cxnSpLocks/>
                    <a:stCxn id="96" idx="0"/>
                    <a:endCxn id="95" idx="4"/>
                  </p:cNvCxnSpPr>
                  <p:nvPr/>
                </p:nvCxnSpPr>
                <p:spPr>
                  <a:xfrm flipV="1">
                    <a:off x="1598179" y="-87888"/>
                    <a:ext cx="0" cy="19131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Oval 94">
                    <a:extLst>
                      <a:ext uri="{FF2B5EF4-FFF2-40B4-BE49-F238E27FC236}">
                        <a16:creationId xmlns:a16="http://schemas.microsoft.com/office/drawing/2014/main" id="{58CE85E7-E3A0-864F-BC48-66803C9FFC0A}"/>
                      </a:ext>
                    </a:extLst>
                  </p:cNvPr>
                  <p:cNvSpPr/>
                  <p:nvPr/>
                </p:nvSpPr>
                <p:spPr>
                  <a:xfrm>
                    <a:off x="1508178" y="-267888"/>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000" dirty="0"/>
                  </a:p>
                </p:txBody>
              </p:sp>
              <p:sp>
                <p:nvSpPr>
                  <p:cNvPr id="96" name="Oval 95">
                    <a:extLst>
                      <a:ext uri="{FF2B5EF4-FFF2-40B4-BE49-F238E27FC236}">
                        <a16:creationId xmlns:a16="http://schemas.microsoft.com/office/drawing/2014/main" id="{CB2E0700-0C89-6540-9B9D-C548F58C8502}"/>
                      </a:ext>
                    </a:extLst>
                  </p:cNvPr>
                  <p:cNvSpPr>
                    <a:spLocks noChangeAspect="1"/>
                  </p:cNvSpPr>
                  <p:nvPr/>
                </p:nvSpPr>
                <p:spPr>
                  <a:xfrm>
                    <a:off x="1328178" y="1825270"/>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latin typeface="Times" pitchFamily="2" charset="0"/>
                      </a:rPr>
                      <a:t>+</a:t>
                    </a:r>
                  </a:p>
                </p:txBody>
              </p:sp>
            </p:grpSp>
            <p:grpSp>
              <p:nvGrpSpPr>
                <p:cNvPr id="99" name="Group 98">
                  <a:extLst>
                    <a:ext uri="{FF2B5EF4-FFF2-40B4-BE49-F238E27FC236}">
                      <a16:creationId xmlns:a16="http://schemas.microsoft.com/office/drawing/2014/main" id="{B81EE213-8908-B74D-8E97-4E80D6ED198F}"/>
                    </a:ext>
                  </a:extLst>
                </p:cNvPr>
                <p:cNvGrpSpPr>
                  <a:grpSpLocks noChangeAspect="1"/>
                </p:cNvGrpSpPr>
                <p:nvPr/>
              </p:nvGrpSpPr>
              <p:grpSpPr>
                <a:xfrm>
                  <a:off x="8487046" y="3721488"/>
                  <a:ext cx="484177" cy="484177"/>
                  <a:chOff x="8665028" y="849762"/>
                  <a:chExt cx="720000" cy="720000"/>
                </a:xfrm>
              </p:grpSpPr>
              <p:sp>
                <p:nvSpPr>
                  <p:cNvPr id="100" name="Rectangle 99">
                    <a:extLst>
                      <a:ext uri="{FF2B5EF4-FFF2-40B4-BE49-F238E27FC236}">
                        <a16:creationId xmlns:a16="http://schemas.microsoft.com/office/drawing/2014/main" id="{FA9BDCCA-392A-274F-93BE-2237BA2F962F}"/>
                      </a:ext>
                    </a:extLst>
                  </p:cNvPr>
                  <p:cNvSpPr>
                    <a:spLocks noChangeAspect="1"/>
                  </p:cNvSpPr>
                  <p:nvPr/>
                </p:nvSpPr>
                <p:spPr>
                  <a:xfrm>
                    <a:off x="8665028" y="849762"/>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cxnSp>
                <p:nvCxnSpPr>
                  <p:cNvPr id="101" name="Straight Connector 100">
                    <a:extLst>
                      <a:ext uri="{FF2B5EF4-FFF2-40B4-BE49-F238E27FC236}">
                        <a16:creationId xmlns:a16="http://schemas.microsoft.com/office/drawing/2014/main" id="{E239352C-7FF0-B84F-A7D8-AE81830CD332}"/>
                      </a:ext>
                    </a:extLst>
                  </p:cNvPr>
                  <p:cNvCxnSpPr>
                    <a:cxnSpLocks/>
                  </p:cNvCxnSpPr>
                  <p:nvPr/>
                </p:nvCxnSpPr>
                <p:spPr>
                  <a:xfrm flipV="1">
                    <a:off x="9023348" y="979487"/>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102" name="Arc 101">
                    <a:extLst>
                      <a:ext uri="{FF2B5EF4-FFF2-40B4-BE49-F238E27FC236}">
                        <a16:creationId xmlns:a16="http://schemas.microsoft.com/office/drawing/2014/main" id="{5A75DAC8-1746-2142-8A62-4C73BCDD0B55}"/>
                      </a:ext>
                    </a:extLst>
                  </p:cNvPr>
                  <p:cNvSpPr/>
                  <p:nvPr/>
                </p:nvSpPr>
                <p:spPr>
                  <a:xfrm>
                    <a:off x="8745179" y="981197"/>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06" name="Group 105">
                  <a:extLst>
                    <a:ext uri="{FF2B5EF4-FFF2-40B4-BE49-F238E27FC236}">
                      <a16:creationId xmlns:a16="http://schemas.microsoft.com/office/drawing/2014/main" id="{0D2E9CF3-D706-964C-A8FA-3B19B88CD7CC}"/>
                    </a:ext>
                  </a:extLst>
                </p:cNvPr>
                <p:cNvGrpSpPr>
                  <a:grpSpLocks noChangeAspect="1"/>
                </p:cNvGrpSpPr>
                <p:nvPr/>
              </p:nvGrpSpPr>
              <p:grpSpPr>
                <a:xfrm>
                  <a:off x="8495259" y="3148246"/>
                  <a:ext cx="484177" cy="484177"/>
                  <a:chOff x="8665028" y="849762"/>
                  <a:chExt cx="720000" cy="720000"/>
                </a:xfrm>
              </p:grpSpPr>
              <p:sp>
                <p:nvSpPr>
                  <p:cNvPr id="107" name="Rectangle 106">
                    <a:extLst>
                      <a:ext uri="{FF2B5EF4-FFF2-40B4-BE49-F238E27FC236}">
                        <a16:creationId xmlns:a16="http://schemas.microsoft.com/office/drawing/2014/main" id="{4185A1F1-3815-9F48-B506-5F4757B290FD}"/>
                      </a:ext>
                    </a:extLst>
                  </p:cNvPr>
                  <p:cNvSpPr>
                    <a:spLocks noChangeAspect="1"/>
                  </p:cNvSpPr>
                  <p:nvPr/>
                </p:nvSpPr>
                <p:spPr>
                  <a:xfrm>
                    <a:off x="8665028" y="849762"/>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cxnSp>
                <p:nvCxnSpPr>
                  <p:cNvPr id="108" name="Straight Connector 107">
                    <a:extLst>
                      <a:ext uri="{FF2B5EF4-FFF2-40B4-BE49-F238E27FC236}">
                        <a16:creationId xmlns:a16="http://schemas.microsoft.com/office/drawing/2014/main" id="{A0199A70-28F1-344F-890D-4C1D3CAFC8DD}"/>
                      </a:ext>
                    </a:extLst>
                  </p:cNvPr>
                  <p:cNvCxnSpPr>
                    <a:cxnSpLocks/>
                  </p:cNvCxnSpPr>
                  <p:nvPr/>
                </p:nvCxnSpPr>
                <p:spPr>
                  <a:xfrm flipV="1">
                    <a:off x="9023348" y="979487"/>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109" name="Arc 108">
                    <a:extLst>
                      <a:ext uri="{FF2B5EF4-FFF2-40B4-BE49-F238E27FC236}">
                        <a16:creationId xmlns:a16="http://schemas.microsoft.com/office/drawing/2014/main" id="{23CA4022-85AE-F140-A3C1-3366086B0B15}"/>
                      </a:ext>
                    </a:extLst>
                  </p:cNvPr>
                  <p:cNvSpPr/>
                  <p:nvPr/>
                </p:nvSpPr>
                <p:spPr>
                  <a:xfrm>
                    <a:off x="8745179" y="981197"/>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10" name="TextBox 109">
                  <a:extLst>
                    <a:ext uri="{FF2B5EF4-FFF2-40B4-BE49-F238E27FC236}">
                      <a16:creationId xmlns:a16="http://schemas.microsoft.com/office/drawing/2014/main" id="{149265D4-7F49-F14B-985F-BDF1BC26BA47}"/>
                    </a:ext>
                  </a:extLst>
                </p:cNvPr>
                <p:cNvSpPr txBox="1"/>
                <p:nvPr/>
              </p:nvSpPr>
              <p:spPr>
                <a:xfrm>
                  <a:off x="5795995" y="2991224"/>
                  <a:ext cx="558166" cy="430887"/>
                </a:xfrm>
                <a:prstGeom prst="rect">
                  <a:avLst/>
                </a:prstGeom>
                <a:noFill/>
              </p:spPr>
              <p:txBody>
                <a:bodyPr wrap="none" rtlCol="0">
                  <a:spAutoFit/>
                </a:bodyPr>
                <a:lstStyle/>
                <a:p>
                  <a:r>
                    <a:rPr lang="en-US" sz="2200" dirty="0"/>
                    <a:t>|0⟩</a:t>
                  </a:r>
                  <a:endParaRPr lang="en-US" sz="2200" baseline="-25000" dirty="0"/>
                </a:p>
              </p:txBody>
            </p:sp>
            <p:sp>
              <p:nvSpPr>
                <p:cNvPr id="127" name="TextBox 126">
                  <a:extLst>
                    <a:ext uri="{FF2B5EF4-FFF2-40B4-BE49-F238E27FC236}">
                      <a16:creationId xmlns:a16="http://schemas.microsoft.com/office/drawing/2014/main" id="{B6AD88A8-9DAD-FC42-B4FE-3F241D2330C3}"/>
                    </a:ext>
                  </a:extLst>
                </p:cNvPr>
                <p:cNvSpPr txBox="1"/>
                <p:nvPr/>
              </p:nvSpPr>
              <p:spPr>
                <a:xfrm>
                  <a:off x="5796991" y="3573417"/>
                  <a:ext cx="558166" cy="430887"/>
                </a:xfrm>
                <a:prstGeom prst="rect">
                  <a:avLst/>
                </a:prstGeom>
                <a:noFill/>
              </p:spPr>
              <p:txBody>
                <a:bodyPr wrap="none" rtlCol="0">
                  <a:spAutoFit/>
                </a:bodyPr>
                <a:lstStyle/>
                <a:p>
                  <a:r>
                    <a:rPr lang="en-US" sz="2200" dirty="0"/>
                    <a:t>|0⟩</a:t>
                  </a:r>
                  <a:endParaRPr lang="en-US" sz="2200" baseline="-25000" dirty="0"/>
                </a:p>
              </p:txBody>
            </p:sp>
          </p:grpSp>
        </p:grpSp>
        <p:sp>
          <p:nvSpPr>
            <p:cNvPr id="139" name="TextBox 138">
              <a:extLst>
                <a:ext uri="{FF2B5EF4-FFF2-40B4-BE49-F238E27FC236}">
                  <a16:creationId xmlns:a16="http://schemas.microsoft.com/office/drawing/2014/main" id="{D0471B0B-AB76-3045-9069-FCB3DD6B5518}"/>
                </a:ext>
              </a:extLst>
            </p:cNvPr>
            <p:cNvSpPr txBox="1"/>
            <p:nvPr/>
          </p:nvSpPr>
          <p:spPr>
            <a:xfrm>
              <a:off x="6551124" y="1084181"/>
              <a:ext cx="1378711" cy="461665"/>
            </a:xfrm>
            <a:prstGeom prst="rect">
              <a:avLst/>
            </a:prstGeom>
            <a:noFill/>
          </p:spPr>
          <p:txBody>
            <a:bodyPr wrap="none" rtlCol="0">
              <a:spAutoFit/>
            </a:bodyPr>
            <a:lstStyle/>
            <a:p>
              <a:r>
                <a:rPr lang="en-US" sz="2400" dirty="0"/>
                <a:t>detection</a:t>
              </a:r>
              <a:endParaRPr lang="en-US" sz="2400" baseline="-25000" dirty="0"/>
            </a:p>
          </p:txBody>
        </p:sp>
      </p:grpSp>
      <p:grpSp>
        <p:nvGrpSpPr>
          <p:cNvPr id="40" name="Group 39">
            <a:extLst>
              <a:ext uri="{FF2B5EF4-FFF2-40B4-BE49-F238E27FC236}">
                <a16:creationId xmlns:a16="http://schemas.microsoft.com/office/drawing/2014/main" id="{2C6A5D83-8D0F-9444-95FC-017D5C6E7EEF}"/>
              </a:ext>
            </a:extLst>
          </p:cNvPr>
          <p:cNvGrpSpPr/>
          <p:nvPr/>
        </p:nvGrpSpPr>
        <p:grpSpPr>
          <a:xfrm>
            <a:off x="8987876" y="1275677"/>
            <a:ext cx="548716" cy="2719814"/>
            <a:chOff x="8987876" y="1275677"/>
            <a:chExt cx="548716" cy="2719814"/>
          </a:xfrm>
        </p:grpSpPr>
        <p:sp>
          <p:nvSpPr>
            <p:cNvPr id="112" name="Rounded Rectangle 111">
              <a:extLst>
                <a:ext uri="{FF2B5EF4-FFF2-40B4-BE49-F238E27FC236}">
                  <a16:creationId xmlns:a16="http://schemas.microsoft.com/office/drawing/2014/main" id="{9E82141E-A50C-F44A-B583-31DA6090585D}"/>
                </a:ext>
              </a:extLst>
            </p:cNvPr>
            <p:cNvSpPr/>
            <p:nvPr/>
          </p:nvSpPr>
          <p:spPr>
            <a:xfrm>
              <a:off x="8987876" y="1332016"/>
              <a:ext cx="548716" cy="1713589"/>
            </a:xfrm>
            <a:prstGeom prst="roundRect">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400" i="1" dirty="0">
                <a:solidFill>
                  <a:schemeClr val="tx1"/>
                </a:solidFill>
                <a:latin typeface="Times New Roman" panose="02020603050405020304" pitchFamily="18" charset="0"/>
                <a:cs typeface="Times New Roman" panose="02020603050405020304" pitchFamily="18" charset="0"/>
              </a:endParaRPr>
            </a:p>
          </p:txBody>
        </p:sp>
        <p:cxnSp>
          <p:nvCxnSpPr>
            <p:cNvPr id="118" name="Straight Connector 117">
              <a:extLst>
                <a:ext uri="{FF2B5EF4-FFF2-40B4-BE49-F238E27FC236}">
                  <a16:creationId xmlns:a16="http://schemas.microsoft.com/office/drawing/2014/main" id="{53AF16BA-94A7-2748-AF44-A60B04708743}"/>
                </a:ext>
              </a:extLst>
            </p:cNvPr>
            <p:cNvCxnSpPr>
              <a:cxnSpLocks/>
            </p:cNvCxnSpPr>
            <p:nvPr/>
          </p:nvCxnSpPr>
          <p:spPr>
            <a:xfrm flipV="1">
              <a:off x="9446579" y="3058127"/>
              <a:ext cx="0" cy="9373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3E59601-F578-484E-8B27-4BBAA335DBAD}"/>
                </a:ext>
              </a:extLst>
            </p:cNvPr>
            <p:cNvCxnSpPr>
              <a:cxnSpLocks/>
            </p:cNvCxnSpPr>
            <p:nvPr/>
          </p:nvCxnSpPr>
          <p:spPr>
            <a:xfrm flipV="1">
              <a:off x="9094431" y="3050227"/>
              <a:ext cx="0" cy="354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0" name="TextBox 139">
              <a:extLst>
                <a:ext uri="{FF2B5EF4-FFF2-40B4-BE49-F238E27FC236}">
                  <a16:creationId xmlns:a16="http://schemas.microsoft.com/office/drawing/2014/main" id="{3F9468A0-6FAD-D449-AA07-508FF4904A44}"/>
                </a:ext>
              </a:extLst>
            </p:cNvPr>
            <p:cNvSpPr txBox="1"/>
            <p:nvPr/>
          </p:nvSpPr>
          <p:spPr>
            <a:xfrm rot="16200000">
              <a:off x="8318772" y="1995906"/>
              <a:ext cx="1840568" cy="400110"/>
            </a:xfrm>
            <a:prstGeom prst="rect">
              <a:avLst/>
            </a:prstGeom>
            <a:noFill/>
          </p:spPr>
          <p:txBody>
            <a:bodyPr wrap="none" rtlCol="0">
              <a:spAutoFit/>
            </a:bodyPr>
            <a:lstStyle/>
            <a:p>
              <a:r>
                <a:rPr lang="en-US" sz="2000" dirty="0"/>
                <a:t>error correction</a:t>
              </a:r>
              <a:endParaRPr lang="en-US" sz="2000" baseline="-25000" dirty="0"/>
            </a:p>
          </p:txBody>
        </p:sp>
      </p:grpSp>
      <p:grpSp>
        <p:nvGrpSpPr>
          <p:cNvPr id="23" name="Group 22">
            <a:extLst>
              <a:ext uri="{FF2B5EF4-FFF2-40B4-BE49-F238E27FC236}">
                <a16:creationId xmlns:a16="http://schemas.microsoft.com/office/drawing/2014/main" id="{E31DDD46-E26F-2740-A3C2-391FD6DB25EC}"/>
              </a:ext>
            </a:extLst>
          </p:cNvPr>
          <p:cNvGrpSpPr/>
          <p:nvPr/>
        </p:nvGrpSpPr>
        <p:grpSpPr>
          <a:xfrm>
            <a:off x="3162202" y="1428451"/>
            <a:ext cx="1779522" cy="1761426"/>
            <a:chOff x="3225699" y="1428451"/>
            <a:chExt cx="2239500" cy="1761426"/>
          </a:xfrm>
        </p:grpSpPr>
        <p:sp>
          <p:nvSpPr>
            <p:cNvPr id="122" name="Freeform 121">
              <a:extLst>
                <a:ext uri="{FF2B5EF4-FFF2-40B4-BE49-F238E27FC236}">
                  <a16:creationId xmlns:a16="http://schemas.microsoft.com/office/drawing/2014/main" id="{D4E8B6B8-92EF-7342-9148-EBB611659956}"/>
                </a:ext>
              </a:extLst>
            </p:cNvPr>
            <p:cNvSpPr/>
            <p:nvPr/>
          </p:nvSpPr>
          <p:spPr>
            <a:xfrm>
              <a:off x="3225699" y="1428451"/>
              <a:ext cx="2239500" cy="1761426"/>
            </a:xfrm>
            <a:custGeom>
              <a:avLst/>
              <a:gdLst>
                <a:gd name="connsiteX0" fmla="*/ 24493 w 1232807"/>
                <a:gd name="connsiteY0" fmla="*/ 293914 h 3020786"/>
                <a:gd name="connsiteX1" fmla="*/ 57150 w 1232807"/>
                <a:gd name="connsiteY1" fmla="*/ 155121 h 3020786"/>
                <a:gd name="connsiteX2" fmla="*/ 146957 w 1232807"/>
                <a:gd name="connsiteY2" fmla="*/ 8164 h 3020786"/>
                <a:gd name="connsiteX3" fmla="*/ 465365 w 1232807"/>
                <a:gd name="connsiteY3" fmla="*/ 0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83822 w 1232807"/>
                <a:gd name="connsiteY9" fmla="*/ 922564 h 3020786"/>
                <a:gd name="connsiteX10" fmla="*/ 1183822 w 1232807"/>
                <a:gd name="connsiteY10" fmla="*/ 1257300 h 3020786"/>
                <a:gd name="connsiteX11" fmla="*/ 1208315 w 1232807"/>
                <a:gd name="connsiteY11" fmla="*/ 1600200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65315 w 1232807"/>
                <a:gd name="connsiteY24" fmla="*/ 2032907 h 3020786"/>
                <a:gd name="connsiteX25" fmla="*/ 16329 w 1232807"/>
                <a:gd name="connsiteY25" fmla="*/ 1559378 h 3020786"/>
                <a:gd name="connsiteX26" fmla="*/ 40822 w 1232807"/>
                <a:gd name="connsiteY26" fmla="*/ 1191986 h 3020786"/>
                <a:gd name="connsiteX27" fmla="*/ 89807 w 1232807"/>
                <a:gd name="connsiteY27" fmla="*/ 930728 h 3020786"/>
                <a:gd name="connsiteX28" fmla="*/ 57150 w 1232807"/>
                <a:gd name="connsiteY28" fmla="*/ 620486 h 3020786"/>
                <a:gd name="connsiteX29" fmla="*/ 0 w 1232807"/>
                <a:gd name="connsiteY29" fmla="*/ 432707 h 3020786"/>
                <a:gd name="connsiteX30" fmla="*/ 24493 w 1232807"/>
                <a:gd name="connsiteY30" fmla="*/ 293914 h 3020786"/>
                <a:gd name="connsiteX0" fmla="*/ 24493 w 1232807"/>
                <a:gd name="connsiteY0" fmla="*/ 293914 h 3020786"/>
                <a:gd name="connsiteX1" fmla="*/ 57150 w 1232807"/>
                <a:gd name="connsiteY1" fmla="*/ 155121 h 3020786"/>
                <a:gd name="connsiteX2" fmla="*/ 146957 w 1232807"/>
                <a:gd name="connsiteY2" fmla="*/ 8164 h 3020786"/>
                <a:gd name="connsiteX3" fmla="*/ 465365 w 1232807"/>
                <a:gd name="connsiteY3" fmla="*/ 0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83822 w 1232807"/>
                <a:gd name="connsiteY9" fmla="*/ 922564 h 3020786"/>
                <a:gd name="connsiteX10" fmla="*/ 1183822 w 1232807"/>
                <a:gd name="connsiteY10" fmla="*/ 1257300 h 3020786"/>
                <a:gd name="connsiteX11" fmla="*/ 1208315 w 1232807"/>
                <a:gd name="connsiteY11" fmla="*/ 1600200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65315 w 1232807"/>
                <a:gd name="connsiteY24" fmla="*/ 2032907 h 3020786"/>
                <a:gd name="connsiteX25" fmla="*/ 16329 w 1232807"/>
                <a:gd name="connsiteY25" fmla="*/ 1559378 h 3020786"/>
                <a:gd name="connsiteX26" fmla="*/ 40822 w 1232807"/>
                <a:gd name="connsiteY26" fmla="*/ 1191986 h 3020786"/>
                <a:gd name="connsiteX27" fmla="*/ 40821 w 1232807"/>
                <a:gd name="connsiteY27" fmla="*/ 881742 h 3020786"/>
                <a:gd name="connsiteX28" fmla="*/ 57150 w 1232807"/>
                <a:gd name="connsiteY28" fmla="*/ 620486 h 3020786"/>
                <a:gd name="connsiteX29" fmla="*/ 0 w 1232807"/>
                <a:gd name="connsiteY29" fmla="*/ 432707 h 3020786"/>
                <a:gd name="connsiteX30" fmla="*/ 24493 w 1232807"/>
                <a:gd name="connsiteY30" fmla="*/ 293914 h 3020786"/>
                <a:gd name="connsiteX0" fmla="*/ 24493 w 1232807"/>
                <a:gd name="connsiteY0" fmla="*/ 293914 h 3020786"/>
                <a:gd name="connsiteX1" fmla="*/ 57150 w 1232807"/>
                <a:gd name="connsiteY1" fmla="*/ 155121 h 3020786"/>
                <a:gd name="connsiteX2" fmla="*/ 146957 w 1232807"/>
                <a:gd name="connsiteY2" fmla="*/ 8164 h 3020786"/>
                <a:gd name="connsiteX3" fmla="*/ 465365 w 1232807"/>
                <a:gd name="connsiteY3" fmla="*/ 0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83822 w 1232807"/>
                <a:gd name="connsiteY9" fmla="*/ 922564 h 3020786"/>
                <a:gd name="connsiteX10" fmla="*/ 1183822 w 1232807"/>
                <a:gd name="connsiteY10" fmla="*/ 1257300 h 3020786"/>
                <a:gd name="connsiteX11" fmla="*/ 1208315 w 1232807"/>
                <a:gd name="connsiteY11" fmla="*/ 1600200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65315 w 1232807"/>
                <a:gd name="connsiteY24" fmla="*/ 2032907 h 3020786"/>
                <a:gd name="connsiteX25" fmla="*/ 16329 w 1232807"/>
                <a:gd name="connsiteY25" fmla="*/ 1559378 h 3020786"/>
                <a:gd name="connsiteX26" fmla="*/ 40822 w 1232807"/>
                <a:gd name="connsiteY26" fmla="*/ 1191986 h 3020786"/>
                <a:gd name="connsiteX27" fmla="*/ 40821 w 1232807"/>
                <a:gd name="connsiteY27" fmla="*/ 881742 h 3020786"/>
                <a:gd name="connsiteX28" fmla="*/ 24493 w 1232807"/>
                <a:gd name="connsiteY28" fmla="*/ 612322 h 3020786"/>
                <a:gd name="connsiteX29" fmla="*/ 0 w 1232807"/>
                <a:gd name="connsiteY29" fmla="*/ 432707 h 3020786"/>
                <a:gd name="connsiteX30" fmla="*/ 24493 w 1232807"/>
                <a:gd name="connsiteY30" fmla="*/ 293914 h 3020786"/>
                <a:gd name="connsiteX0" fmla="*/ 24493 w 1232807"/>
                <a:gd name="connsiteY0" fmla="*/ 293914 h 3020786"/>
                <a:gd name="connsiteX1" fmla="*/ 57150 w 1232807"/>
                <a:gd name="connsiteY1" fmla="*/ 155121 h 3020786"/>
                <a:gd name="connsiteX2" fmla="*/ 146957 w 1232807"/>
                <a:gd name="connsiteY2" fmla="*/ 8164 h 3020786"/>
                <a:gd name="connsiteX3" fmla="*/ 465365 w 1232807"/>
                <a:gd name="connsiteY3" fmla="*/ 0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26672 w 1232807"/>
                <a:gd name="connsiteY9" fmla="*/ 898071 h 3020786"/>
                <a:gd name="connsiteX10" fmla="*/ 1183822 w 1232807"/>
                <a:gd name="connsiteY10" fmla="*/ 1257300 h 3020786"/>
                <a:gd name="connsiteX11" fmla="*/ 1208315 w 1232807"/>
                <a:gd name="connsiteY11" fmla="*/ 1600200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65315 w 1232807"/>
                <a:gd name="connsiteY24" fmla="*/ 2032907 h 3020786"/>
                <a:gd name="connsiteX25" fmla="*/ 16329 w 1232807"/>
                <a:gd name="connsiteY25" fmla="*/ 1559378 h 3020786"/>
                <a:gd name="connsiteX26" fmla="*/ 40822 w 1232807"/>
                <a:gd name="connsiteY26" fmla="*/ 1191986 h 3020786"/>
                <a:gd name="connsiteX27" fmla="*/ 40821 w 1232807"/>
                <a:gd name="connsiteY27" fmla="*/ 881742 h 3020786"/>
                <a:gd name="connsiteX28" fmla="*/ 24493 w 1232807"/>
                <a:gd name="connsiteY28" fmla="*/ 612322 h 3020786"/>
                <a:gd name="connsiteX29" fmla="*/ 0 w 1232807"/>
                <a:gd name="connsiteY29" fmla="*/ 432707 h 3020786"/>
                <a:gd name="connsiteX30" fmla="*/ 24493 w 1232807"/>
                <a:gd name="connsiteY30" fmla="*/ 293914 h 3020786"/>
                <a:gd name="connsiteX0" fmla="*/ 24493 w 1232807"/>
                <a:gd name="connsiteY0" fmla="*/ 293914 h 3020786"/>
                <a:gd name="connsiteX1" fmla="*/ 57150 w 1232807"/>
                <a:gd name="connsiteY1" fmla="*/ 155121 h 3020786"/>
                <a:gd name="connsiteX2" fmla="*/ 146957 w 1232807"/>
                <a:gd name="connsiteY2" fmla="*/ 8164 h 3020786"/>
                <a:gd name="connsiteX3" fmla="*/ 481693 w 1232807"/>
                <a:gd name="connsiteY3" fmla="*/ 73479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26672 w 1232807"/>
                <a:gd name="connsiteY9" fmla="*/ 898071 h 3020786"/>
                <a:gd name="connsiteX10" fmla="*/ 1183822 w 1232807"/>
                <a:gd name="connsiteY10" fmla="*/ 1257300 h 3020786"/>
                <a:gd name="connsiteX11" fmla="*/ 1208315 w 1232807"/>
                <a:gd name="connsiteY11" fmla="*/ 1600200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65315 w 1232807"/>
                <a:gd name="connsiteY24" fmla="*/ 2032907 h 3020786"/>
                <a:gd name="connsiteX25" fmla="*/ 16329 w 1232807"/>
                <a:gd name="connsiteY25" fmla="*/ 1559378 h 3020786"/>
                <a:gd name="connsiteX26" fmla="*/ 40822 w 1232807"/>
                <a:gd name="connsiteY26" fmla="*/ 1191986 h 3020786"/>
                <a:gd name="connsiteX27" fmla="*/ 40821 w 1232807"/>
                <a:gd name="connsiteY27" fmla="*/ 881742 h 3020786"/>
                <a:gd name="connsiteX28" fmla="*/ 24493 w 1232807"/>
                <a:gd name="connsiteY28" fmla="*/ 612322 h 3020786"/>
                <a:gd name="connsiteX29" fmla="*/ 0 w 1232807"/>
                <a:gd name="connsiteY29" fmla="*/ 432707 h 3020786"/>
                <a:gd name="connsiteX30" fmla="*/ 24493 w 1232807"/>
                <a:gd name="connsiteY30" fmla="*/ 293914 h 3020786"/>
                <a:gd name="connsiteX0" fmla="*/ 24493 w 1257301"/>
                <a:gd name="connsiteY0" fmla="*/ 293914 h 3020786"/>
                <a:gd name="connsiteX1" fmla="*/ 57150 w 1257301"/>
                <a:gd name="connsiteY1" fmla="*/ 155121 h 3020786"/>
                <a:gd name="connsiteX2" fmla="*/ 146957 w 1257301"/>
                <a:gd name="connsiteY2" fmla="*/ 8164 h 3020786"/>
                <a:gd name="connsiteX3" fmla="*/ 481693 w 1257301"/>
                <a:gd name="connsiteY3" fmla="*/ 73479 h 3020786"/>
                <a:gd name="connsiteX4" fmla="*/ 718457 w 1257301"/>
                <a:gd name="connsiteY4" fmla="*/ 24493 h 3020786"/>
                <a:gd name="connsiteX5" fmla="*/ 987879 w 1257301"/>
                <a:gd name="connsiteY5" fmla="*/ 0 h 3020786"/>
                <a:gd name="connsiteX6" fmla="*/ 1167493 w 1257301"/>
                <a:gd name="connsiteY6" fmla="*/ 89807 h 3020786"/>
                <a:gd name="connsiteX7" fmla="*/ 1191986 w 1257301"/>
                <a:gd name="connsiteY7" fmla="*/ 195943 h 3020786"/>
                <a:gd name="connsiteX8" fmla="*/ 1183822 w 1257301"/>
                <a:gd name="connsiteY8" fmla="*/ 579664 h 3020786"/>
                <a:gd name="connsiteX9" fmla="*/ 1126672 w 1257301"/>
                <a:gd name="connsiteY9" fmla="*/ 898071 h 3020786"/>
                <a:gd name="connsiteX10" fmla="*/ 1183822 w 1257301"/>
                <a:gd name="connsiteY10" fmla="*/ 1257300 h 3020786"/>
                <a:gd name="connsiteX11" fmla="*/ 1257301 w 1257301"/>
                <a:gd name="connsiteY11" fmla="*/ 1608365 h 3020786"/>
                <a:gd name="connsiteX12" fmla="*/ 1183822 w 1257301"/>
                <a:gd name="connsiteY12" fmla="*/ 1975757 h 3020786"/>
                <a:gd name="connsiteX13" fmla="*/ 1151165 w 1257301"/>
                <a:gd name="connsiteY13" fmla="*/ 2228850 h 3020786"/>
                <a:gd name="connsiteX14" fmla="*/ 1175657 w 1257301"/>
                <a:gd name="connsiteY14" fmla="*/ 2481943 h 3020786"/>
                <a:gd name="connsiteX15" fmla="*/ 1232807 w 1257301"/>
                <a:gd name="connsiteY15" fmla="*/ 2792186 h 3020786"/>
                <a:gd name="connsiteX16" fmla="*/ 1175657 w 1257301"/>
                <a:gd name="connsiteY16" fmla="*/ 2988128 h 3020786"/>
                <a:gd name="connsiteX17" fmla="*/ 979715 w 1257301"/>
                <a:gd name="connsiteY17" fmla="*/ 2996293 h 3020786"/>
                <a:gd name="connsiteX18" fmla="*/ 865415 w 1257301"/>
                <a:gd name="connsiteY18" fmla="*/ 2955471 h 3020786"/>
                <a:gd name="connsiteX19" fmla="*/ 498022 w 1257301"/>
                <a:gd name="connsiteY19" fmla="*/ 2963636 h 3020786"/>
                <a:gd name="connsiteX20" fmla="*/ 236765 w 1257301"/>
                <a:gd name="connsiteY20" fmla="*/ 3020786 h 3020786"/>
                <a:gd name="connsiteX21" fmla="*/ 57150 w 1257301"/>
                <a:gd name="connsiteY21" fmla="*/ 2906486 h 3020786"/>
                <a:gd name="connsiteX22" fmla="*/ 16329 w 1257301"/>
                <a:gd name="connsiteY22" fmla="*/ 2726871 h 3020786"/>
                <a:gd name="connsiteX23" fmla="*/ 73479 w 1257301"/>
                <a:gd name="connsiteY23" fmla="*/ 2432957 h 3020786"/>
                <a:gd name="connsiteX24" fmla="*/ 65315 w 1257301"/>
                <a:gd name="connsiteY24" fmla="*/ 2032907 h 3020786"/>
                <a:gd name="connsiteX25" fmla="*/ 16329 w 1257301"/>
                <a:gd name="connsiteY25" fmla="*/ 1559378 h 3020786"/>
                <a:gd name="connsiteX26" fmla="*/ 40822 w 1257301"/>
                <a:gd name="connsiteY26" fmla="*/ 1191986 h 3020786"/>
                <a:gd name="connsiteX27" fmla="*/ 40821 w 1257301"/>
                <a:gd name="connsiteY27" fmla="*/ 881742 h 3020786"/>
                <a:gd name="connsiteX28" fmla="*/ 24493 w 1257301"/>
                <a:gd name="connsiteY28" fmla="*/ 612322 h 3020786"/>
                <a:gd name="connsiteX29" fmla="*/ 0 w 1257301"/>
                <a:gd name="connsiteY29" fmla="*/ 432707 h 3020786"/>
                <a:gd name="connsiteX30" fmla="*/ 24493 w 1257301"/>
                <a:gd name="connsiteY30" fmla="*/ 293914 h 3020786"/>
                <a:gd name="connsiteX0" fmla="*/ 24493 w 1257301"/>
                <a:gd name="connsiteY0" fmla="*/ 293914 h 3020786"/>
                <a:gd name="connsiteX1" fmla="*/ 57150 w 1257301"/>
                <a:gd name="connsiteY1" fmla="*/ 155121 h 3020786"/>
                <a:gd name="connsiteX2" fmla="*/ 146957 w 1257301"/>
                <a:gd name="connsiteY2" fmla="*/ 8164 h 3020786"/>
                <a:gd name="connsiteX3" fmla="*/ 481693 w 1257301"/>
                <a:gd name="connsiteY3" fmla="*/ 73479 h 3020786"/>
                <a:gd name="connsiteX4" fmla="*/ 718457 w 1257301"/>
                <a:gd name="connsiteY4" fmla="*/ 24493 h 3020786"/>
                <a:gd name="connsiteX5" fmla="*/ 987879 w 1257301"/>
                <a:gd name="connsiteY5" fmla="*/ 0 h 3020786"/>
                <a:gd name="connsiteX6" fmla="*/ 1167493 w 1257301"/>
                <a:gd name="connsiteY6" fmla="*/ 89807 h 3020786"/>
                <a:gd name="connsiteX7" fmla="*/ 1191986 w 1257301"/>
                <a:gd name="connsiteY7" fmla="*/ 195943 h 3020786"/>
                <a:gd name="connsiteX8" fmla="*/ 1183822 w 1257301"/>
                <a:gd name="connsiteY8" fmla="*/ 579664 h 3020786"/>
                <a:gd name="connsiteX9" fmla="*/ 1126672 w 1257301"/>
                <a:gd name="connsiteY9" fmla="*/ 898071 h 3020786"/>
                <a:gd name="connsiteX10" fmla="*/ 1183822 w 1257301"/>
                <a:gd name="connsiteY10" fmla="*/ 1257300 h 3020786"/>
                <a:gd name="connsiteX11" fmla="*/ 1257301 w 1257301"/>
                <a:gd name="connsiteY11" fmla="*/ 1608365 h 3020786"/>
                <a:gd name="connsiteX12" fmla="*/ 1183822 w 1257301"/>
                <a:gd name="connsiteY12" fmla="*/ 1975757 h 3020786"/>
                <a:gd name="connsiteX13" fmla="*/ 1151165 w 1257301"/>
                <a:gd name="connsiteY13" fmla="*/ 2228850 h 3020786"/>
                <a:gd name="connsiteX14" fmla="*/ 1175657 w 1257301"/>
                <a:gd name="connsiteY14" fmla="*/ 2481943 h 3020786"/>
                <a:gd name="connsiteX15" fmla="*/ 1232807 w 1257301"/>
                <a:gd name="connsiteY15" fmla="*/ 2792186 h 3020786"/>
                <a:gd name="connsiteX16" fmla="*/ 1175657 w 1257301"/>
                <a:gd name="connsiteY16" fmla="*/ 2988128 h 3020786"/>
                <a:gd name="connsiteX17" fmla="*/ 979715 w 1257301"/>
                <a:gd name="connsiteY17" fmla="*/ 2996293 h 3020786"/>
                <a:gd name="connsiteX18" fmla="*/ 865415 w 1257301"/>
                <a:gd name="connsiteY18" fmla="*/ 2955471 h 3020786"/>
                <a:gd name="connsiteX19" fmla="*/ 498022 w 1257301"/>
                <a:gd name="connsiteY19" fmla="*/ 2963636 h 3020786"/>
                <a:gd name="connsiteX20" fmla="*/ 236765 w 1257301"/>
                <a:gd name="connsiteY20" fmla="*/ 3020786 h 3020786"/>
                <a:gd name="connsiteX21" fmla="*/ 57150 w 1257301"/>
                <a:gd name="connsiteY21" fmla="*/ 2906486 h 3020786"/>
                <a:gd name="connsiteX22" fmla="*/ 16329 w 1257301"/>
                <a:gd name="connsiteY22" fmla="*/ 2726871 h 3020786"/>
                <a:gd name="connsiteX23" fmla="*/ 73479 w 1257301"/>
                <a:gd name="connsiteY23" fmla="*/ 2432957 h 3020786"/>
                <a:gd name="connsiteX24" fmla="*/ 130629 w 1257301"/>
                <a:gd name="connsiteY24" fmla="*/ 2049236 h 3020786"/>
                <a:gd name="connsiteX25" fmla="*/ 16329 w 1257301"/>
                <a:gd name="connsiteY25" fmla="*/ 1559378 h 3020786"/>
                <a:gd name="connsiteX26" fmla="*/ 40822 w 1257301"/>
                <a:gd name="connsiteY26" fmla="*/ 1191986 h 3020786"/>
                <a:gd name="connsiteX27" fmla="*/ 40821 w 1257301"/>
                <a:gd name="connsiteY27" fmla="*/ 881742 h 3020786"/>
                <a:gd name="connsiteX28" fmla="*/ 24493 w 1257301"/>
                <a:gd name="connsiteY28" fmla="*/ 612322 h 3020786"/>
                <a:gd name="connsiteX29" fmla="*/ 0 w 1257301"/>
                <a:gd name="connsiteY29" fmla="*/ 432707 h 3020786"/>
                <a:gd name="connsiteX30" fmla="*/ 24493 w 1257301"/>
                <a:gd name="connsiteY30" fmla="*/ 293914 h 3020786"/>
                <a:gd name="connsiteX0" fmla="*/ 24493 w 1257301"/>
                <a:gd name="connsiteY0" fmla="*/ 293914 h 3020786"/>
                <a:gd name="connsiteX1" fmla="*/ 57150 w 1257301"/>
                <a:gd name="connsiteY1" fmla="*/ 155121 h 3020786"/>
                <a:gd name="connsiteX2" fmla="*/ 146957 w 1257301"/>
                <a:gd name="connsiteY2" fmla="*/ 8164 h 3020786"/>
                <a:gd name="connsiteX3" fmla="*/ 481693 w 1257301"/>
                <a:gd name="connsiteY3" fmla="*/ 73479 h 3020786"/>
                <a:gd name="connsiteX4" fmla="*/ 718457 w 1257301"/>
                <a:gd name="connsiteY4" fmla="*/ 24493 h 3020786"/>
                <a:gd name="connsiteX5" fmla="*/ 987879 w 1257301"/>
                <a:gd name="connsiteY5" fmla="*/ 0 h 3020786"/>
                <a:gd name="connsiteX6" fmla="*/ 1167493 w 1257301"/>
                <a:gd name="connsiteY6" fmla="*/ 89807 h 3020786"/>
                <a:gd name="connsiteX7" fmla="*/ 1191986 w 1257301"/>
                <a:gd name="connsiteY7" fmla="*/ 195943 h 3020786"/>
                <a:gd name="connsiteX8" fmla="*/ 1183822 w 1257301"/>
                <a:gd name="connsiteY8" fmla="*/ 579664 h 3020786"/>
                <a:gd name="connsiteX9" fmla="*/ 1126672 w 1257301"/>
                <a:gd name="connsiteY9" fmla="*/ 898071 h 3020786"/>
                <a:gd name="connsiteX10" fmla="*/ 1183822 w 1257301"/>
                <a:gd name="connsiteY10" fmla="*/ 1257300 h 3020786"/>
                <a:gd name="connsiteX11" fmla="*/ 1257301 w 1257301"/>
                <a:gd name="connsiteY11" fmla="*/ 1608365 h 3020786"/>
                <a:gd name="connsiteX12" fmla="*/ 1183822 w 1257301"/>
                <a:gd name="connsiteY12" fmla="*/ 1975757 h 3020786"/>
                <a:gd name="connsiteX13" fmla="*/ 1151165 w 1257301"/>
                <a:gd name="connsiteY13" fmla="*/ 2228850 h 3020786"/>
                <a:gd name="connsiteX14" fmla="*/ 1175657 w 1257301"/>
                <a:gd name="connsiteY14" fmla="*/ 2481943 h 3020786"/>
                <a:gd name="connsiteX15" fmla="*/ 1232807 w 1257301"/>
                <a:gd name="connsiteY15" fmla="*/ 2792186 h 3020786"/>
                <a:gd name="connsiteX16" fmla="*/ 1175657 w 1257301"/>
                <a:gd name="connsiteY16" fmla="*/ 2988128 h 3020786"/>
                <a:gd name="connsiteX17" fmla="*/ 979715 w 1257301"/>
                <a:gd name="connsiteY17" fmla="*/ 2996293 h 3020786"/>
                <a:gd name="connsiteX18" fmla="*/ 865415 w 1257301"/>
                <a:gd name="connsiteY18" fmla="*/ 2955471 h 3020786"/>
                <a:gd name="connsiteX19" fmla="*/ 498022 w 1257301"/>
                <a:gd name="connsiteY19" fmla="*/ 2963636 h 3020786"/>
                <a:gd name="connsiteX20" fmla="*/ 236765 w 1257301"/>
                <a:gd name="connsiteY20" fmla="*/ 3020786 h 3020786"/>
                <a:gd name="connsiteX21" fmla="*/ 57150 w 1257301"/>
                <a:gd name="connsiteY21" fmla="*/ 2906486 h 3020786"/>
                <a:gd name="connsiteX22" fmla="*/ 16329 w 1257301"/>
                <a:gd name="connsiteY22" fmla="*/ 2726871 h 3020786"/>
                <a:gd name="connsiteX23" fmla="*/ 73479 w 1257301"/>
                <a:gd name="connsiteY23" fmla="*/ 2432957 h 3020786"/>
                <a:gd name="connsiteX24" fmla="*/ 97972 w 1257301"/>
                <a:gd name="connsiteY24" fmla="*/ 2057401 h 3020786"/>
                <a:gd name="connsiteX25" fmla="*/ 16329 w 1257301"/>
                <a:gd name="connsiteY25" fmla="*/ 1559378 h 3020786"/>
                <a:gd name="connsiteX26" fmla="*/ 40822 w 1257301"/>
                <a:gd name="connsiteY26" fmla="*/ 1191986 h 3020786"/>
                <a:gd name="connsiteX27" fmla="*/ 40821 w 1257301"/>
                <a:gd name="connsiteY27" fmla="*/ 881742 h 3020786"/>
                <a:gd name="connsiteX28" fmla="*/ 24493 w 1257301"/>
                <a:gd name="connsiteY28" fmla="*/ 612322 h 3020786"/>
                <a:gd name="connsiteX29" fmla="*/ 0 w 1257301"/>
                <a:gd name="connsiteY29" fmla="*/ 432707 h 3020786"/>
                <a:gd name="connsiteX30" fmla="*/ 24493 w 1257301"/>
                <a:gd name="connsiteY30" fmla="*/ 293914 h 3020786"/>
                <a:gd name="connsiteX0" fmla="*/ 24493 w 1257301"/>
                <a:gd name="connsiteY0" fmla="*/ 293914 h 3020786"/>
                <a:gd name="connsiteX1" fmla="*/ 57150 w 1257301"/>
                <a:gd name="connsiteY1" fmla="*/ 155121 h 3020786"/>
                <a:gd name="connsiteX2" fmla="*/ 163286 w 1257301"/>
                <a:gd name="connsiteY2" fmla="*/ 48986 h 3020786"/>
                <a:gd name="connsiteX3" fmla="*/ 481693 w 1257301"/>
                <a:gd name="connsiteY3" fmla="*/ 73479 h 3020786"/>
                <a:gd name="connsiteX4" fmla="*/ 718457 w 1257301"/>
                <a:gd name="connsiteY4" fmla="*/ 24493 h 3020786"/>
                <a:gd name="connsiteX5" fmla="*/ 987879 w 1257301"/>
                <a:gd name="connsiteY5" fmla="*/ 0 h 3020786"/>
                <a:gd name="connsiteX6" fmla="*/ 1167493 w 1257301"/>
                <a:gd name="connsiteY6" fmla="*/ 89807 h 3020786"/>
                <a:gd name="connsiteX7" fmla="*/ 1191986 w 1257301"/>
                <a:gd name="connsiteY7" fmla="*/ 195943 h 3020786"/>
                <a:gd name="connsiteX8" fmla="*/ 1183822 w 1257301"/>
                <a:gd name="connsiteY8" fmla="*/ 579664 h 3020786"/>
                <a:gd name="connsiteX9" fmla="*/ 1126672 w 1257301"/>
                <a:gd name="connsiteY9" fmla="*/ 898071 h 3020786"/>
                <a:gd name="connsiteX10" fmla="*/ 1183822 w 1257301"/>
                <a:gd name="connsiteY10" fmla="*/ 1257300 h 3020786"/>
                <a:gd name="connsiteX11" fmla="*/ 1257301 w 1257301"/>
                <a:gd name="connsiteY11" fmla="*/ 1608365 h 3020786"/>
                <a:gd name="connsiteX12" fmla="*/ 1183822 w 1257301"/>
                <a:gd name="connsiteY12" fmla="*/ 1975757 h 3020786"/>
                <a:gd name="connsiteX13" fmla="*/ 1151165 w 1257301"/>
                <a:gd name="connsiteY13" fmla="*/ 2228850 h 3020786"/>
                <a:gd name="connsiteX14" fmla="*/ 1175657 w 1257301"/>
                <a:gd name="connsiteY14" fmla="*/ 2481943 h 3020786"/>
                <a:gd name="connsiteX15" fmla="*/ 1232807 w 1257301"/>
                <a:gd name="connsiteY15" fmla="*/ 2792186 h 3020786"/>
                <a:gd name="connsiteX16" fmla="*/ 1175657 w 1257301"/>
                <a:gd name="connsiteY16" fmla="*/ 2988128 h 3020786"/>
                <a:gd name="connsiteX17" fmla="*/ 979715 w 1257301"/>
                <a:gd name="connsiteY17" fmla="*/ 2996293 h 3020786"/>
                <a:gd name="connsiteX18" fmla="*/ 865415 w 1257301"/>
                <a:gd name="connsiteY18" fmla="*/ 2955471 h 3020786"/>
                <a:gd name="connsiteX19" fmla="*/ 498022 w 1257301"/>
                <a:gd name="connsiteY19" fmla="*/ 2963636 h 3020786"/>
                <a:gd name="connsiteX20" fmla="*/ 236765 w 1257301"/>
                <a:gd name="connsiteY20" fmla="*/ 3020786 h 3020786"/>
                <a:gd name="connsiteX21" fmla="*/ 57150 w 1257301"/>
                <a:gd name="connsiteY21" fmla="*/ 2906486 h 3020786"/>
                <a:gd name="connsiteX22" fmla="*/ 16329 w 1257301"/>
                <a:gd name="connsiteY22" fmla="*/ 2726871 h 3020786"/>
                <a:gd name="connsiteX23" fmla="*/ 73479 w 1257301"/>
                <a:gd name="connsiteY23" fmla="*/ 2432957 h 3020786"/>
                <a:gd name="connsiteX24" fmla="*/ 97972 w 1257301"/>
                <a:gd name="connsiteY24" fmla="*/ 2057401 h 3020786"/>
                <a:gd name="connsiteX25" fmla="*/ 16329 w 1257301"/>
                <a:gd name="connsiteY25" fmla="*/ 1559378 h 3020786"/>
                <a:gd name="connsiteX26" fmla="*/ 40822 w 1257301"/>
                <a:gd name="connsiteY26" fmla="*/ 1191986 h 3020786"/>
                <a:gd name="connsiteX27" fmla="*/ 40821 w 1257301"/>
                <a:gd name="connsiteY27" fmla="*/ 881742 h 3020786"/>
                <a:gd name="connsiteX28" fmla="*/ 24493 w 1257301"/>
                <a:gd name="connsiteY28" fmla="*/ 612322 h 3020786"/>
                <a:gd name="connsiteX29" fmla="*/ 0 w 1257301"/>
                <a:gd name="connsiteY29" fmla="*/ 432707 h 3020786"/>
                <a:gd name="connsiteX30" fmla="*/ 24493 w 1257301"/>
                <a:gd name="connsiteY30" fmla="*/ 293914 h 3020786"/>
                <a:gd name="connsiteX0" fmla="*/ 24493 w 1232807"/>
                <a:gd name="connsiteY0" fmla="*/ 293914 h 3020786"/>
                <a:gd name="connsiteX1" fmla="*/ 57150 w 1232807"/>
                <a:gd name="connsiteY1" fmla="*/ 155121 h 3020786"/>
                <a:gd name="connsiteX2" fmla="*/ 163286 w 1232807"/>
                <a:gd name="connsiteY2" fmla="*/ 48986 h 3020786"/>
                <a:gd name="connsiteX3" fmla="*/ 481693 w 1232807"/>
                <a:gd name="connsiteY3" fmla="*/ 73479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26672 w 1232807"/>
                <a:gd name="connsiteY9" fmla="*/ 898071 h 3020786"/>
                <a:gd name="connsiteX10" fmla="*/ 1183822 w 1232807"/>
                <a:gd name="connsiteY10" fmla="*/ 1257300 h 3020786"/>
                <a:gd name="connsiteX11" fmla="*/ 1156883 w 1232807"/>
                <a:gd name="connsiteY11" fmla="*/ 1600268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97972 w 1232807"/>
                <a:gd name="connsiteY24" fmla="*/ 2057401 h 3020786"/>
                <a:gd name="connsiteX25" fmla="*/ 16329 w 1232807"/>
                <a:gd name="connsiteY25" fmla="*/ 1559378 h 3020786"/>
                <a:gd name="connsiteX26" fmla="*/ 40822 w 1232807"/>
                <a:gd name="connsiteY26" fmla="*/ 1191986 h 3020786"/>
                <a:gd name="connsiteX27" fmla="*/ 40821 w 1232807"/>
                <a:gd name="connsiteY27" fmla="*/ 881742 h 3020786"/>
                <a:gd name="connsiteX28" fmla="*/ 24493 w 1232807"/>
                <a:gd name="connsiteY28" fmla="*/ 612322 h 3020786"/>
                <a:gd name="connsiteX29" fmla="*/ 0 w 1232807"/>
                <a:gd name="connsiteY29" fmla="*/ 432707 h 3020786"/>
                <a:gd name="connsiteX30" fmla="*/ 24493 w 1232807"/>
                <a:gd name="connsiteY30" fmla="*/ 293914 h 3020786"/>
                <a:gd name="connsiteX0" fmla="*/ 24493 w 1232807"/>
                <a:gd name="connsiteY0" fmla="*/ 293914 h 3020786"/>
                <a:gd name="connsiteX1" fmla="*/ 57150 w 1232807"/>
                <a:gd name="connsiteY1" fmla="*/ 155121 h 3020786"/>
                <a:gd name="connsiteX2" fmla="*/ 163286 w 1232807"/>
                <a:gd name="connsiteY2" fmla="*/ 48986 h 3020786"/>
                <a:gd name="connsiteX3" fmla="*/ 481693 w 1232807"/>
                <a:gd name="connsiteY3" fmla="*/ 73479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26672 w 1232807"/>
                <a:gd name="connsiteY9" fmla="*/ 898071 h 3020786"/>
                <a:gd name="connsiteX10" fmla="*/ 1143027 w 1232807"/>
                <a:gd name="connsiteY10" fmla="*/ 1233009 h 3020786"/>
                <a:gd name="connsiteX11" fmla="*/ 1156883 w 1232807"/>
                <a:gd name="connsiteY11" fmla="*/ 1600268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232807 w 1232807"/>
                <a:gd name="connsiteY15" fmla="*/ 2792186 h 3020786"/>
                <a:gd name="connsiteX16" fmla="*/ 1175657 w 1232807"/>
                <a:gd name="connsiteY16" fmla="*/ 2988128 h 3020786"/>
                <a:gd name="connsiteX17" fmla="*/ 979715 w 1232807"/>
                <a:gd name="connsiteY17" fmla="*/ 2996293 h 3020786"/>
                <a:gd name="connsiteX18" fmla="*/ 865415 w 1232807"/>
                <a:gd name="connsiteY18" fmla="*/ 2955471 h 3020786"/>
                <a:gd name="connsiteX19" fmla="*/ 498022 w 1232807"/>
                <a:gd name="connsiteY19" fmla="*/ 2963636 h 3020786"/>
                <a:gd name="connsiteX20" fmla="*/ 236765 w 1232807"/>
                <a:gd name="connsiteY20" fmla="*/ 3020786 h 3020786"/>
                <a:gd name="connsiteX21" fmla="*/ 57150 w 1232807"/>
                <a:gd name="connsiteY21" fmla="*/ 2906486 h 3020786"/>
                <a:gd name="connsiteX22" fmla="*/ 16329 w 1232807"/>
                <a:gd name="connsiteY22" fmla="*/ 2726871 h 3020786"/>
                <a:gd name="connsiteX23" fmla="*/ 73479 w 1232807"/>
                <a:gd name="connsiteY23" fmla="*/ 2432957 h 3020786"/>
                <a:gd name="connsiteX24" fmla="*/ 97972 w 1232807"/>
                <a:gd name="connsiteY24" fmla="*/ 2057401 h 3020786"/>
                <a:gd name="connsiteX25" fmla="*/ 16329 w 1232807"/>
                <a:gd name="connsiteY25" fmla="*/ 1559378 h 3020786"/>
                <a:gd name="connsiteX26" fmla="*/ 40822 w 1232807"/>
                <a:gd name="connsiteY26" fmla="*/ 1191986 h 3020786"/>
                <a:gd name="connsiteX27" fmla="*/ 40821 w 1232807"/>
                <a:gd name="connsiteY27" fmla="*/ 881742 h 3020786"/>
                <a:gd name="connsiteX28" fmla="*/ 24493 w 1232807"/>
                <a:gd name="connsiteY28" fmla="*/ 612322 h 3020786"/>
                <a:gd name="connsiteX29" fmla="*/ 0 w 1232807"/>
                <a:gd name="connsiteY29" fmla="*/ 432707 h 3020786"/>
                <a:gd name="connsiteX30" fmla="*/ 24493 w 1232807"/>
                <a:gd name="connsiteY30" fmla="*/ 293914 h 3020786"/>
                <a:gd name="connsiteX0" fmla="*/ 24493 w 1232807"/>
                <a:gd name="connsiteY0" fmla="*/ 293914 h 3020786"/>
                <a:gd name="connsiteX1" fmla="*/ 57150 w 1232807"/>
                <a:gd name="connsiteY1" fmla="*/ 155121 h 3020786"/>
                <a:gd name="connsiteX2" fmla="*/ 163286 w 1232807"/>
                <a:gd name="connsiteY2" fmla="*/ 48986 h 3020786"/>
                <a:gd name="connsiteX3" fmla="*/ 481693 w 1232807"/>
                <a:gd name="connsiteY3" fmla="*/ 73479 h 3020786"/>
                <a:gd name="connsiteX4" fmla="*/ 718457 w 1232807"/>
                <a:gd name="connsiteY4" fmla="*/ 24493 h 3020786"/>
                <a:gd name="connsiteX5" fmla="*/ 987879 w 1232807"/>
                <a:gd name="connsiteY5" fmla="*/ 0 h 3020786"/>
                <a:gd name="connsiteX6" fmla="*/ 1167493 w 1232807"/>
                <a:gd name="connsiteY6" fmla="*/ 89807 h 3020786"/>
                <a:gd name="connsiteX7" fmla="*/ 1191986 w 1232807"/>
                <a:gd name="connsiteY7" fmla="*/ 195943 h 3020786"/>
                <a:gd name="connsiteX8" fmla="*/ 1183822 w 1232807"/>
                <a:gd name="connsiteY8" fmla="*/ 579664 h 3020786"/>
                <a:gd name="connsiteX9" fmla="*/ 1126672 w 1232807"/>
                <a:gd name="connsiteY9" fmla="*/ 898071 h 3020786"/>
                <a:gd name="connsiteX10" fmla="*/ 1143027 w 1232807"/>
                <a:gd name="connsiteY10" fmla="*/ 1233009 h 3020786"/>
                <a:gd name="connsiteX11" fmla="*/ 1156883 w 1232807"/>
                <a:gd name="connsiteY11" fmla="*/ 1600268 h 3020786"/>
                <a:gd name="connsiteX12" fmla="*/ 1183822 w 1232807"/>
                <a:gd name="connsiteY12" fmla="*/ 1975757 h 3020786"/>
                <a:gd name="connsiteX13" fmla="*/ 1151165 w 1232807"/>
                <a:gd name="connsiteY13" fmla="*/ 2228850 h 3020786"/>
                <a:gd name="connsiteX14" fmla="*/ 1175657 w 1232807"/>
                <a:gd name="connsiteY14" fmla="*/ 2481943 h 3020786"/>
                <a:gd name="connsiteX15" fmla="*/ 1184826 w 1232807"/>
                <a:gd name="connsiteY15" fmla="*/ 2755098 h 3020786"/>
                <a:gd name="connsiteX16" fmla="*/ 1232807 w 1232807"/>
                <a:gd name="connsiteY16" fmla="*/ 2792186 h 3020786"/>
                <a:gd name="connsiteX17" fmla="*/ 1175657 w 1232807"/>
                <a:gd name="connsiteY17" fmla="*/ 2988128 h 3020786"/>
                <a:gd name="connsiteX18" fmla="*/ 979715 w 1232807"/>
                <a:gd name="connsiteY18" fmla="*/ 2996293 h 3020786"/>
                <a:gd name="connsiteX19" fmla="*/ 865415 w 1232807"/>
                <a:gd name="connsiteY19" fmla="*/ 2955471 h 3020786"/>
                <a:gd name="connsiteX20" fmla="*/ 498022 w 1232807"/>
                <a:gd name="connsiteY20" fmla="*/ 2963636 h 3020786"/>
                <a:gd name="connsiteX21" fmla="*/ 236765 w 1232807"/>
                <a:gd name="connsiteY21" fmla="*/ 3020786 h 3020786"/>
                <a:gd name="connsiteX22" fmla="*/ 57150 w 1232807"/>
                <a:gd name="connsiteY22" fmla="*/ 2906486 h 3020786"/>
                <a:gd name="connsiteX23" fmla="*/ 16329 w 1232807"/>
                <a:gd name="connsiteY23" fmla="*/ 2726871 h 3020786"/>
                <a:gd name="connsiteX24" fmla="*/ 73479 w 1232807"/>
                <a:gd name="connsiteY24" fmla="*/ 2432957 h 3020786"/>
                <a:gd name="connsiteX25" fmla="*/ 97972 w 1232807"/>
                <a:gd name="connsiteY25" fmla="*/ 2057401 h 3020786"/>
                <a:gd name="connsiteX26" fmla="*/ 16329 w 1232807"/>
                <a:gd name="connsiteY26" fmla="*/ 1559378 h 3020786"/>
                <a:gd name="connsiteX27" fmla="*/ 40822 w 1232807"/>
                <a:gd name="connsiteY27" fmla="*/ 1191986 h 3020786"/>
                <a:gd name="connsiteX28" fmla="*/ 40821 w 1232807"/>
                <a:gd name="connsiteY28" fmla="*/ 881742 h 3020786"/>
                <a:gd name="connsiteX29" fmla="*/ 24493 w 1232807"/>
                <a:gd name="connsiteY29" fmla="*/ 612322 h 3020786"/>
                <a:gd name="connsiteX30" fmla="*/ 0 w 1232807"/>
                <a:gd name="connsiteY30" fmla="*/ 432707 h 3020786"/>
                <a:gd name="connsiteX31" fmla="*/ 24493 w 1232807"/>
                <a:gd name="connsiteY31" fmla="*/ 293914 h 3020786"/>
                <a:gd name="connsiteX0" fmla="*/ 24493 w 1191986"/>
                <a:gd name="connsiteY0" fmla="*/ 293914 h 3020786"/>
                <a:gd name="connsiteX1" fmla="*/ 57150 w 1191986"/>
                <a:gd name="connsiteY1" fmla="*/ 155121 h 3020786"/>
                <a:gd name="connsiteX2" fmla="*/ 163286 w 1191986"/>
                <a:gd name="connsiteY2" fmla="*/ 48986 h 3020786"/>
                <a:gd name="connsiteX3" fmla="*/ 481693 w 1191986"/>
                <a:gd name="connsiteY3" fmla="*/ 73479 h 3020786"/>
                <a:gd name="connsiteX4" fmla="*/ 718457 w 1191986"/>
                <a:gd name="connsiteY4" fmla="*/ 24493 h 3020786"/>
                <a:gd name="connsiteX5" fmla="*/ 987879 w 1191986"/>
                <a:gd name="connsiteY5" fmla="*/ 0 h 3020786"/>
                <a:gd name="connsiteX6" fmla="*/ 1167493 w 1191986"/>
                <a:gd name="connsiteY6" fmla="*/ 89807 h 3020786"/>
                <a:gd name="connsiteX7" fmla="*/ 1191986 w 1191986"/>
                <a:gd name="connsiteY7" fmla="*/ 195943 h 3020786"/>
                <a:gd name="connsiteX8" fmla="*/ 1183822 w 1191986"/>
                <a:gd name="connsiteY8" fmla="*/ 579664 h 3020786"/>
                <a:gd name="connsiteX9" fmla="*/ 1126672 w 1191986"/>
                <a:gd name="connsiteY9" fmla="*/ 898071 h 3020786"/>
                <a:gd name="connsiteX10" fmla="*/ 1143027 w 1191986"/>
                <a:gd name="connsiteY10" fmla="*/ 1233009 h 3020786"/>
                <a:gd name="connsiteX11" fmla="*/ 1156883 w 1191986"/>
                <a:gd name="connsiteY11" fmla="*/ 1600268 h 3020786"/>
                <a:gd name="connsiteX12" fmla="*/ 1183822 w 1191986"/>
                <a:gd name="connsiteY12" fmla="*/ 1975757 h 3020786"/>
                <a:gd name="connsiteX13" fmla="*/ 1151165 w 1191986"/>
                <a:gd name="connsiteY13" fmla="*/ 2228850 h 3020786"/>
                <a:gd name="connsiteX14" fmla="*/ 1175657 w 1191986"/>
                <a:gd name="connsiteY14" fmla="*/ 2481943 h 3020786"/>
                <a:gd name="connsiteX15" fmla="*/ 1184826 w 1191986"/>
                <a:gd name="connsiteY15" fmla="*/ 2755098 h 3020786"/>
                <a:gd name="connsiteX16" fmla="*/ 1175657 w 1191986"/>
                <a:gd name="connsiteY16" fmla="*/ 2988128 h 3020786"/>
                <a:gd name="connsiteX17" fmla="*/ 979715 w 1191986"/>
                <a:gd name="connsiteY17" fmla="*/ 2996293 h 3020786"/>
                <a:gd name="connsiteX18" fmla="*/ 865415 w 1191986"/>
                <a:gd name="connsiteY18" fmla="*/ 2955471 h 3020786"/>
                <a:gd name="connsiteX19" fmla="*/ 498022 w 1191986"/>
                <a:gd name="connsiteY19" fmla="*/ 2963636 h 3020786"/>
                <a:gd name="connsiteX20" fmla="*/ 236765 w 1191986"/>
                <a:gd name="connsiteY20" fmla="*/ 3020786 h 3020786"/>
                <a:gd name="connsiteX21" fmla="*/ 57150 w 1191986"/>
                <a:gd name="connsiteY21" fmla="*/ 2906486 h 3020786"/>
                <a:gd name="connsiteX22" fmla="*/ 16329 w 1191986"/>
                <a:gd name="connsiteY22" fmla="*/ 2726871 h 3020786"/>
                <a:gd name="connsiteX23" fmla="*/ 73479 w 1191986"/>
                <a:gd name="connsiteY23" fmla="*/ 2432957 h 3020786"/>
                <a:gd name="connsiteX24" fmla="*/ 97972 w 1191986"/>
                <a:gd name="connsiteY24" fmla="*/ 2057401 h 3020786"/>
                <a:gd name="connsiteX25" fmla="*/ 16329 w 1191986"/>
                <a:gd name="connsiteY25" fmla="*/ 1559378 h 3020786"/>
                <a:gd name="connsiteX26" fmla="*/ 40822 w 1191986"/>
                <a:gd name="connsiteY26" fmla="*/ 1191986 h 3020786"/>
                <a:gd name="connsiteX27" fmla="*/ 40821 w 1191986"/>
                <a:gd name="connsiteY27" fmla="*/ 881742 h 3020786"/>
                <a:gd name="connsiteX28" fmla="*/ 24493 w 1191986"/>
                <a:gd name="connsiteY28" fmla="*/ 612322 h 3020786"/>
                <a:gd name="connsiteX29" fmla="*/ 0 w 1191986"/>
                <a:gd name="connsiteY29" fmla="*/ 432707 h 3020786"/>
                <a:gd name="connsiteX30" fmla="*/ 24493 w 1191986"/>
                <a:gd name="connsiteY30" fmla="*/ 293914 h 3020786"/>
                <a:gd name="connsiteX0" fmla="*/ 24493 w 1191986"/>
                <a:gd name="connsiteY0" fmla="*/ 293914 h 3020786"/>
                <a:gd name="connsiteX1" fmla="*/ 57150 w 1191986"/>
                <a:gd name="connsiteY1" fmla="*/ 155121 h 3020786"/>
                <a:gd name="connsiteX2" fmla="*/ 163286 w 1191986"/>
                <a:gd name="connsiteY2" fmla="*/ 48986 h 3020786"/>
                <a:gd name="connsiteX3" fmla="*/ 481693 w 1191986"/>
                <a:gd name="connsiteY3" fmla="*/ 73479 h 3020786"/>
                <a:gd name="connsiteX4" fmla="*/ 718457 w 1191986"/>
                <a:gd name="connsiteY4" fmla="*/ 24493 h 3020786"/>
                <a:gd name="connsiteX5" fmla="*/ 987879 w 1191986"/>
                <a:gd name="connsiteY5" fmla="*/ 0 h 3020786"/>
                <a:gd name="connsiteX6" fmla="*/ 1167493 w 1191986"/>
                <a:gd name="connsiteY6" fmla="*/ 89807 h 3020786"/>
                <a:gd name="connsiteX7" fmla="*/ 1191986 w 1191986"/>
                <a:gd name="connsiteY7" fmla="*/ 195943 h 3020786"/>
                <a:gd name="connsiteX8" fmla="*/ 1183822 w 1191986"/>
                <a:gd name="connsiteY8" fmla="*/ 579664 h 3020786"/>
                <a:gd name="connsiteX9" fmla="*/ 1126672 w 1191986"/>
                <a:gd name="connsiteY9" fmla="*/ 898071 h 3020786"/>
                <a:gd name="connsiteX10" fmla="*/ 1143027 w 1191986"/>
                <a:gd name="connsiteY10" fmla="*/ 1233009 h 3020786"/>
                <a:gd name="connsiteX11" fmla="*/ 1156883 w 1191986"/>
                <a:gd name="connsiteY11" fmla="*/ 1600268 h 3020786"/>
                <a:gd name="connsiteX12" fmla="*/ 1183822 w 1191986"/>
                <a:gd name="connsiteY12" fmla="*/ 1975757 h 3020786"/>
                <a:gd name="connsiteX13" fmla="*/ 1151165 w 1191986"/>
                <a:gd name="connsiteY13" fmla="*/ 2228850 h 3020786"/>
                <a:gd name="connsiteX14" fmla="*/ 1175657 w 1191986"/>
                <a:gd name="connsiteY14" fmla="*/ 2481943 h 3020786"/>
                <a:gd name="connsiteX15" fmla="*/ 1184826 w 1191986"/>
                <a:gd name="connsiteY15" fmla="*/ 2755098 h 3020786"/>
                <a:gd name="connsiteX16" fmla="*/ 1175657 w 1191986"/>
                <a:gd name="connsiteY16" fmla="*/ 2988128 h 3020786"/>
                <a:gd name="connsiteX17" fmla="*/ 979715 w 1191986"/>
                <a:gd name="connsiteY17" fmla="*/ 2996293 h 3020786"/>
                <a:gd name="connsiteX18" fmla="*/ 865415 w 1191986"/>
                <a:gd name="connsiteY18" fmla="*/ 2955471 h 3020786"/>
                <a:gd name="connsiteX19" fmla="*/ 498022 w 1191986"/>
                <a:gd name="connsiteY19" fmla="*/ 2963636 h 3020786"/>
                <a:gd name="connsiteX20" fmla="*/ 236765 w 1191986"/>
                <a:gd name="connsiteY20" fmla="*/ 3020786 h 3020786"/>
                <a:gd name="connsiteX21" fmla="*/ 57150 w 1191986"/>
                <a:gd name="connsiteY21" fmla="*/ 2906486 h 3020786"/>
                <a:gd name="connsiteX22" fmla="*/ 73479 w 1191986"/>
                <a:gd name="connsiteY22" fmla="*/ 2432957 h 3020786"/>
                <a:gd name="connsiteX23" fmla="*/ 97972 w 1191986"/>
                <a:gd name="connsiteY23" fmla="*/ 2057401 h 3020786"/>
                <a:gd name="connsiteX24" fmla="*/ 16329 w 1191986"/>
                <a:gd name="connsiteY24" fmla="*/ 1559378 h 3020786"/>
                <a:gd name="connsiteX25" fmla="*/ 40822 w 1191986"/>
                <a:gd name="connsiteY25" fmla="*/ 1191986 h 3020786"/>
                <a:gd name="connsiteX26" fmla="*/ 40821 w 1191986"/>
                <a:gd name="connsiteY26" fmla="*/ 881742 h 3020786"/>
                <a:gd name="connsiteX27" fmla="*/ 24493 w 1191986"/>
                <a:gd name="connsiteY27" fmla="*/ 612322 h 3020786"/>
                <a:gd name="connsiteX28" fmla="*/ 0 w 1191986"/>
                <a:gd name="connsiteY28" fmla="*/ 432707 h 3020786"/>
                <a:gd name="connsiteX29" fmla="*/ 24493 w 1191986"/>
                <a:gd name="connsiteY29" fmla="*/ 293914 h 3020786"/>
                <a:gd name="connsiteX0" fmla="*/ 24493 w 1191986"/>
                <a:gd name="connsiteY0" fmla="*/ 293914 h 3020786"/>
                <a:gd name="connsiteX1" fmla="*/ 57150 w 1191986"/>
                <a:gd name="connsiteY1" fmla="*/ 155121 h 3020786"/>
                <a:gd name="connsiteX2" fmla="*/ 163286 w 1191986"/>
                <a:gd name="connsiteY2" fmla="*/ 48986 h 3020786"/>
                <a:gd name="connsiteX3" fmla="*/ 481693 w 1191986"/>
                <a:gd name="connsiteY3" fmla="*/ 73479 h 3020786"/>
                <a:gd name="connsiteX4" fmla="*/ 718457 w 1191986"/>
                <a:gd name="connsiteY4" fmla="*/ 24493 h 3020786"/>
                <a:gd name="connsiteX5" fmla="*/ 987879 w 1191986"/>
                <a:gd name="connsiteY5" fmla="*/ 0 h 3020786"/>
                <a:gd name="connsiteX6" fmla="*/ 1167493 w 1191986"/>
                <a:gd name="connsiteY6" fmla="*/ 89807 h 3020786"/>
                <a:gd name="connsiteX7" fmla="*/ 1191986 w 1191986"/>
                <a:gd name="connsiteY7" fmla="*/ 195943 h 3020786"/>
                <a:gd name="connsiteX8" fmla="*/ 1183822 w 1191986"/>
                <a:gd name="connsiteY8" fmla="*/ 579664 h 3020786"/>
                <a:gd name="connsiteX9" fmla="*/ 1126672 w 1191986"/>
                <a:gd name="connsiteY9" fmla="*/ 898071 h 3020786"/>
                <a:gd name="connsiteX10" fmla="*/ 1143027 w 1191986"/>
                <a:gd name="connsiteY10" fmla="*/ 1233009 h 3020786"/>
                <a:gd name="connsiteX11" fmla="*/ 1156883 w 1191986"/>
                <a:gd name="connsiteY11" fmla="*/ 1600268 h 3020786"/>
                <a:gd name="connsiteX12" fmla="*/ 1183822 w 1191986"/>
                <a:gd name="connsiteY12" fmla="*/ 1975757 h 3020786"/>
                <a:gd name="connsiteX13" fmla="*/ 1151165 w 1191986"/>
                <a:gd name="connsiteY13" fmla="*/ 2228850 h 3020786"/>
                <a:gd name="connsiteX14" fmla="*/ 1175657 w 1191986"/>
                <a:gd name="connsiteY14" fmla="*/ 2481943 h 3020786"/>
                <a:gd name="connsiteX15" fmla="*/ 1184826 w 1191986"/>
                <a:gd name="connsiteY15" fmla="*/ 2755098 h 3020786"/>
                <a:gd name="connsiteX16" fmla="*/ 1175657 w 1191986"/>
                <a:gd name="connsiteY16" fmla="*/ 2988128 h 3020786"/>
                <a:gd name="connsiteX17" fmla="*/ 979715 w 1191986"/>
                <a:gd name="connsiteY17" fmla="*/ 2996293 h 3020786"/>
                <a:gd name="connsiteX18" fmla="*/ 865415 w 1191986"/>
                <a:gd name="connsiteY18" fmla="*/ 2955471 h 3020786"/>
                <a:gd name="connsiteX19" fmla="*/ 498022 w 1191986"/>
                <a:gd name="connsiteY19" fmla="*/ 2963636 h 3020786"/>
                <a:gd name="connsiteX20" fmla="*/ 236765 w 1191986"/>
                <a:gd name="connsiteY20" fmla="*/ 3020786 h 3020786"/>
                <a:gd name="connsiteX21" fmla="*/ 57150 w 1191986"/>
                <a:gd name="connsiteY21" fmla="*/ 2906486 h 3020786"/>
                <a:gd name="connsiteX22" fmla="*/ 73479 w 1191986"/>
                <a:gd name="connsiteY22" fmla="*/ 2432957 h 3020786"/>
                <a:gd name="connsiteX23" fmla="*/ 97972 w 1191986"/>
                <a:gd name="connsiteY23" fmla="*/ 2057401 h 3020786"/>
                <a:gd name="connsiteX24" fmla="*/ 60262 w 1191986"/>
                <a:gd name="connsiteY24" fmla="*/ 1567474 h 3020786"/>
                <a:gd name="connsiteX25" fmla="*/ 40822 w 1191986"/>
                <a:gd name="connsiteY25" fmla="*/ 1191986 h 3020786"/>
                <a:gd name="connsiteX26" fmla="*/ 40821 w 1191986"/>
                <a:gd name="connsiteY26" fmla="*/ 881742 h 3020786"/>
                <a:gd name="connsiteX27" fmla="*/ 24493 w 1191986"/>
                <a:gd name="connsiteY27" fmla="*/ 612322 h 3020786"/>
                <a:gd name="connsiteX28" fmla="*/ 0 w 1191986"/>
                <a:gd name="connsiteY28" fmla="*/ 432707 h 3020786"/>
                <a:gd name="connsiteX29" fmla="*/ 24493 w 1191986"/>
                <a:gd name="connsiteY29" fmla="*/ 293914 h 3020786"/>
                <a:gd name="connsiteX0" fmla="*/ 0 w 1167493"/>
                <a:gd name="connsiteY0" fmla="*/ 293914 h 3020786"/>
                <a:gd name="connsiteX1" fmla="*/ 32657 w 1167493"/>
                <a:gd name="connsiteY1" fmla="*/ 155121 h 3020786"/>
                <a:gd name="connsiteX2" fmla="*/ 138793 w 1167493"/>
                <a:gd name="connsiteY2" fmla="*/ 48986 h 3020786"/>
                <a:gd name="connsiteX3" fmla="*/ 457200 w 1167493"/>
                <a:gd name="connsiteY3" fmla="*/ 73479 h 3020786"/>
                <a:gd name="connsiteX4" fmla="*/ 693964 w 1167493"/>
                <a:gd name="connsiteY4" fmla="*/ 24493 h 3020786"/>
                <a:gd name="connsiteX5" fmla="*/ 963386 w 1167493"/>
                <a:gd name="connsiteY5" fmla="*/ 0 h 3020786"/>
                <a:gd name="connsiteX6" fmla="*/ 1143000 w 1167493"/>
                <a:gd name="connsiteY6" fmla="*/ 89807 h 3020786"/>
                <a:gd name="connsiteX7" fmla="*/ 1167493 w 1167493"/>
                <a:gd name="connsiteY7" fmla="*/ 195943 h 3020786"/>
                <a:gd name="connsiteX8" fmla="*/ 1159329 w 1167493"/>
                <a:gd name="connsiteY8" fmla="*/ 579664 h 3020786"/>
                <a:gd name="connsiteX9" fmla="*/ 1102179 w 1167493"/>
                <a:gd name="connsiteY9" fmla="*/ 898071 h 3020786"/>
                <a:gd name="connsiteX10" fmla="*/ 1118534 w 1167493"/>
                <a:gd name="connsiteY10" fmla="*/ 1233009 h 3020786"/>
                <a:gd name="connsiteX11" fmla="*/ 1132390 w 1167493"/>
                <a:gd name="connsiteY11" fmla="*/ 1600268 h 3020786"/>
                <a:gd name="connsiteX12" fmla="*/ 1159329 w 1167493"/>
                <a:gd name="connsiteY12" fmla="*/ 1975757 h 3020786"/>
                <a:gd name="connsiteX13" fmla="*/ 1126672 w 1167493"/>
                <a:gd name="connsiteY13" fmla="*/ 2228850 h 3020786"/>
                <a:gd name="connsiteX14" fmla="*/ 1151164 w 1167493"/>
                <a:gd name="connsiteY14" fmla="*/ 2481943 h 3020786"/>
                <a:gd name="connsiteX15" fmla="*/ 1160333 w 1167493"/>
                <a:gd name="connsiteY15" fmla="*/ 2755098 h 3020786"/>
                <a:gd name="connsiteX16" fmla="*/ 1151164 w 1167493"/>
                <a:gd name="connsiteY16" fmla="*/ 2988128 h 3020786"/>
                <a:gd name="connsiteX17" fmla="*/ 955222 w 1167493"/>
                <a:gd name="connsiteY17" fmla="*/ 2996293 h 3020786"/>
                <a:gd name="connsiteX18" fmla="*/ 840922 w 1167493"/>
                <a:gd name="connsiteY18" fmla="*/ 2955471 h 3020786"/>
                <a:gd name="connsiteX19" fmla="*/ 473529 w 1167493"/>
                <a:gd name="connsiteY19" fmla="*/ 2963636 h 3020786"/>
                <a:gd name="connsiteX20" fmla="*/ 212272 w 1167493"/>
                <a:gd name="connsiteY20" fmla="*/ 3020786 h 3020786"/>
                <a:gd name="connsiteX21" fmla="*/ 32657 w 1167493"/>
                <a:gd name="connsiteY21" fmla="*/ 2906486 h 3020786"/>
                <a:gd name="connsiteX22" fmla="*/ 48986 w 1167493"/>
                <a:gd name="connsiteY22" fmla="*/ 2432957 h 3020786"/>
                <a:gd name="connsiteX23" fmla="*/ 73479 w 1167493"/>
                <a:gd name="connsiteY23" fmla="*/ 2057401 h 3020786"/>
                <a:gd name="connsiteX24" fmla="*/ 35769 w 1167493"/>
                <a:gd name="connsiteY24" fmla="*/ 1567474 h 3020786"/>
                <a:gd name="connsiteX25" fmla="*/ 16329 w 1167493"/>
                <a:gd name="connsiteY25" fmla="*/ 1191986 h 3020786"/>
                <a:gd name="connsiteX26" fmla="*/ 16328 w 1167493"/>
                <a:gd name="connsiteY26" fmla="*/ 881742 h 3020786"/>
                <a:gd name="connsiteX27" fmla="*/ 0 w 1167493"/>
                <a:gd name="connsiteY27" fmla="*/ 612322 h 3020786"/>
                <a:gd name="connsiteX28" fmla="*/ 0 w 1167493"/>
                <a:gd name="connsiteY28" fmla="*/ 293914 h 3020786"/>
                <a:gd name="connsiteX0" fmla="*/ 18829 w 1167493"/>
                <a:gd name="connsiteY0" fmla="*/ 302012 h 3020786"/>
                <a:gd name="connsiteX1" fmla="*/ 32657 w 1167493"/>
                <a:gd name="connsiteY1" fmla="*/ 155121 h 3020786"/>
                <a:gd name="connsiteX2" fmla="*/ 138793 w 1167493"/>
                <a:gd name="connsiteY2" fmla="*/ 48986 h 3020786"/>
                <a:gd name="connsiteX3" fmla="*/ 457200 w 1167493"/>
                <a:gd name="connsiteY3" fmla="*/ 73479 h 3020786"/>
                <a:gd name="connsiteX4" fmla="*/ 693964 w 1167493"/>
                <a:gd name="connsiteY4" fmla="*/ 24493 h 3020786"/>
                <a:gd name="connsiteX5" fmla="*/ 963386 w 1167493"/>
                <a:gd name="connsiteY5" fmla="*/ 0 h 3020786"/>
                <a:gd name="connsiteX6" fmla="*/ 1143000 w 1167493"/>
                <a:gd name="connsiteY6" fmla="*/ 89807 h 3020786"/>
                <a:gd name="connsiteX7" fmla="*/ 1167493 w 1167493"/>
                <a:gd name="connsiteY7" fmla="*/ 195943 h 3020786"/>
                <a:gd name="connsiteX8" fmla="*/ 1159329 w 1167493"/>
                <a:gd name="connsiteY8" fmla="*/ 579664 h 3020786"/>
                <a:gd name="connsiteX9" fmla="*/ 1102179 w 1167493"/>
                <a:gd name="connsiteY9" fmla="*/ 898071 h 3020786"/>
                <a:gd name="connsiteX10" fmla="*/ 1118534 w 1167493"/>
                <a:gd name="connsiteY10" fmla="*/ 1233009 h 3020786"/>
                <a:gd name="connsiteX11" fmla="*/ 1132390 w 1167493"/>
                <a:gd name="connsiteY11" fmla="*/ 1600268 h 3020786"/>
                <a:gd name="connsiteX12" fmla="*/ 1159329 w 1167493"/>
                <a:gd name="connsiteY12" fmla="*/ 1975757 h 3020786"/>
                <a:gd name="connsiteX13" fmla="*/ 1126672 w 1167493"/>
                <a:gd name="connsiteY13" fmla="*/ 2228850 h 3020786"/>
                <a:gd name="connsiteX14" fmla="*/ 1151164 w 1167493"/>
                <a:gd name="connsiteY14" fmla="*/ 2481943 h 3020786"/>
                <a:gd name="connsiteX15" fmla="*/ 1160333 w 1167493"/>
                <a:gd name="connsiteY15" fmla="*/ 2755098 h 3020786"/>
                <a:gd name="connsiteX16" fmla="*/ 1151164 w 1167493"/>
                <a:gd name="connsiteY16" fmla="*/ 2988128 h 3020786"/>
                <a:gd name="connsiteX17" fmla="*/ 955222 w 1167493"/>
                <a:gd name="connsiteY17" fmla="*/ 2996293 h 3020786"/>
                <a:gd name="connsiteX18" fmla="*/ 840922 w 1167493"/>
                <a:gd name="connsiteY18" fmla="*/ 2955471 h 3020786"/>
                <a:gd name="connsiteX19" fmla="*/ 473529 w 1167493"/>
                <a:gd name="connsiteY19" fmla="*/ 2963636 h 3020786"/>
                <a:gd name="connsiteX20" fmla="*/ 212272 w 1167493"/>
                <a:gd name="connsiteY20" fmla="*/ 3020786 h 3020786"/>
                <a:gd name="connsiteX21" fmla="*/ 32657 w 1167493"/>
                <a:gd name="connsiteY21" fmla="*/ 2906486 h 3020786"/>
                <a:gd name="connsiteX22" fmla="*/ 48986 w 1167493"/>
                <a:gd name="connsiteY22" fmla="*/ 2432957 h 3020786"/>
                <a:gd name="connsiteX23" fmla="*/ 73479 w 1167493"/>
                <a:gd name="connsiteY23" fmla="*/ 2057401 h 3020786"/>
                <a:gd name="connsiteX24" fmla="*/ 35769 w 1167493"/>
                <a:gd name="connsiteY24" fmla="*/ 1567474 h 3020786"/>
                <a:gd name="connsiteX25" fmla="*/ 16329 w 1167493"/>
                <a:gd name="connsiteY25" fmla="*/ 1191986 h 3020786"/>
                <a:gd name="connsiteX26" fmla="*/ 16328 w 1167493"/>
                <a:gd name="connsiteY26" fmla="*/ 881742 h 3020786"/>
                <a:gd name="connsiteX27" fmla="*/ 0 w 1167493"/>
                <a:gd name="connsiteY27" fmla="*/ 612322 h 3020786"/>
                <a:gd name="connsiteX28" fmla="*/ 18829 w 1167493"/>
                <a:gd name="connsiteY28" fmla="*/ 302012 h 3020786"/>
                <a:gd name="connsiteX0" fmla="*/ 18829 w 1167493"/>
                <a:gd name="connsiteY0" fmla="*/ 302012 h 3020786"/>
                <a:gd name="connsiteX1" fmla="*/ 32657 w 1167493"/>
                <a:gd name="connsiteY1" fmla="*/ 155121 h 3020786"/>
                <a:gd name="connsiteX2" fmla="*/ 138793 w 1167493"/>
                <a:gd name="connsiteY2" fmla="*/ 48986 h 3020786"/>
                <a:gd name="connsiteX3" fmla="*/ 457200 w 1167493"/>
                <a:gd name="connsiteY3" fmla="*/ 73479 h 3020786"/>
                <a:gd name="connsiteX4" fmla="*/ 693964 w 1167493"/>
                <a:gd name="connsiteY4" fmla="*/ 24493 h 3020786"/>
                <a:gd name="connsiteX5" fmla="*/ 963386 w 1167493"/>
                <a:gd name="connsiteY5" fmla="*/ 0 h 3020786"/>
                <a:gd name="connsiteX6" fmla="*/ 1143000 w 1167493"/>
                <a:gd name="connsiteY6" fmla="*/ 89807 h 3020786"/>
                <a:gd name="connsiteX7" fmla="*/ 1167493 w 1167493"/>
                <a:gd name="connsiteY7" fmla="*/ 195943 h 3020786"/>
                <a:gd name="connsiteX8" fmla="*/ 1159329 w 1167493"/>
                <a:gd name="connsiteY8" fmla="*/ 579664 h 3020786"/>
                <a:gd name="connsiteX9" fmla="*/ 1102179 w 1167493"/>
                <a:gd name="connsiteY9" fmla="*/ 898071 h 3020786"/>
                <a:gd name="connsiteX10" fmla="*/ 1118534 w 1167493"/>
                <a:gd name="connsiteY10" fmla="*/ 1233009 h 3020786"/>
                <a:gd name="connsiteX11" fmla="*/ 1132390 w 1167493"/>
                <a:gd name="connsiteY11" fmla="*/ 1600268 h 3020786"/>
                <a:gd name="connsiteX12" fmla="*/ 1159329 w 1167493"/>
                <a:gd name="connsiteY12" fmla="*/ 1975757 h 3020786"/>
                <a:gd name="connsiteX13" fmla="*/ 1126672 w 1167493"/>
                <a:gd name="connsiteY13" fmla="*/ 2228850 h 3020786"/>
                <a:gd name="connsiteX14" fmla="*/ 1151164 w 1167493"/>
                <a:gd name="connsiteY14" fmla="*/ 2481943 h 3020786"/>
                <a:gd name="connsiteX15" fmla="*/ 1160333 w 1167493"/>
                <a:gd name="connsiteY15" fmla="*/ 2755098 h 3020786"/>
                <a:gd name="connsiteX16" fmla="*/ 1151164 w 1167493"/>
                <a:gd name="connsiteY16" fmla="*/ 2988128 h 3020786"/>
                <a:gd name="connsiteX17" fmla="*/ 955222 w 1167493"/>
                <a:gd name="connsiteY17" fmla="*/ 2996293 h 3020786"/>
                <a:gd name="connsiteX18" fmla="*/ 840922 w 1167493"/>
                <a:gd name="connsiteY18" fmla="*/ 2955471 h 3020786"/>
                <a:gd name="connsiteX19" fmla="*/ 473529 w 1167493"/>
                <a:gd name="connsiteY19" fmla="*/ 2963636 h 3020786"/>
                <a:gd name="connsiteX20" fmla="*/ 212272 w 1167493"/>
                <a:gd name="connsiteY20" fmla="*/ 3020786 h 3020786"/>
                <a:gd name="connsiteX21" fmla="*/ 32657 w 1167493"/>
                <a:gd name="connsiteY21" fmla="*/ 2906486 h 3020786"/>
                <a:gd name="connsiteX22" fmla="*/ 48986 w 1167493"/>
                <a:gd name="connsiteY22" fmla="*/ 2432957 h 3020786"/>
                <a:gd name="connsiteX23" fmla="*/ 48375 w 1167493"/>
                <a:gd name="connsiteY23" fmla="*/ 2065499 h 3020786"/>
                <a:gd name="connsiteX24" fmla="*/ 35769 w 1167493"/>
                <a:gd name="connsiteY24" fmla="*/ 1567474 h 3020786"/>
                <a:gd name="connsiteX25" fmla="*/ 16329 w 1167493"/>
                <a:gd name="connsiteY25" fmla="*/ 1191986 h 3020786"/>
                <a:gd name="connsiteX26" fmla="*/ 16328 w 1167493"/>
                <a:gd name="connsiteY26" fmla="*/ 881742 h 3020786"/>
                <a:gd name="connsiteX27" fmla="*/ 0 w 1167493"/>
                <a:gd name="connsiteY27" fmla="*/ 612322 h 3020786"/>
                <a:gd name="connsiteX28" fmla="*/ 18829 w 1167493"/>
                <a:gd name="connsiteY28" fmla="*/ 302012 h 3020786"/>
                <a:gd name="connsiteX0" fmla="*/ 18829 w 1167493"/>
                <a:gd name="connsiteY0" fmla="*/ 302012 h 3020786"/>
                <a:gd name="connsiteX1" fmla="*/ 32657 w 1167493"/>
                <a:gd name="connsiteY1" fmla="*/ 155121 h 3020786"/>
                <a:gd name="connsiteX2" fmla="*/ 138793 w 1167493"/>
                <a:gd name="connsiteY2" fmla="*/ 48986 h 3020786"/>
                <a:gd name="connsiteX3" fmla="*/ 457200 w 1167493"/>
                <a:gd name="connsiteY3" fmla="*/ 73479 h 3020786"/>
                <a:gd name="connsiteX4" fmla="*/ 693964 w 1167493"/>
                <a:gd name="connsiteY4" fmla="*/ 24493 h 3020786"/>
                <a:gd name="connsiteX5" fmla="*/ 963386 w 1167493"/>
                <a:gd name="connsiteY5" fmla="*/ 0 h 3020786"/>
                <a:gd name="connsiteX6" fmla="*/ 1143000 w 1167493"/>
                <a:gd name="connsiteY6" fmla="*/ 89807 h 3020786"/>
                <a:gd name="connsiteX7" fmla="*/ 1167493 w 1167493"/>
                <a:gd name="connsiteY7" fmla="*/ 195943 h 3020786"/>
                <a:gd name="connsiteX8" fmla="*/ 1159329 w 1167493"/>
                <a:gd name="connsiteY8" fmla="*/ 579664 h 3020786"/>
                <a:gd name="connsiteX9" fmla="*/ 1102179 w 1167493"/>
                <a:gd name="connsiteY9" fmla="*/ 898071 h 3020786"/>
                <a:gd name="connsiteX10" fmla="*/ 1118534 w 1167493"/>
                <a:gd name="connsiteY10" fmla="*/ 1233009 h 3020786"/>
                <a:gd name="connsiteX11" fmla="*/ 1132390 w 1167493"/>
                <a:gd name="connsiteY11" fmla="*/ 1600268 h 3020786"/>
                <a:gd name="connsiteX12" fmla="*/ 1159329 w 1167493"/>
                <a:gd name="connsiteY12" fmla="*/ 1975757 h 3020786"/>
                <a:gd name="connsiteX13" fmla="*/ 1145501 w 1167493"/>
                <a:gd name="connsiteY13" fmla="*/ 2236945 h 3020786"/>
                <a:gd name="connsiteX14" fmla="*/ 1151164 w 1167493"/>
                <a:gd name="connsiteY14" fmla="*/ 2481943 h 3020786"/>
                <a:gd name="connsiteX15" fmla="*/ 1160333 w 1167493"/>
                <a:gd name="connsiteY15" fmla="*/ 2755098 h 3020786"/>
                <a:gd name="connsiteX16" fmla="*/ 1151164 w 1167493"/>
                <a:gd name="connsiteY16" fmla="*/ 2988128 h 3020786"/>
                <a:gd name="connsiteX17" fmla="*/ 955222 w 1167493"/>
                <a:gd name="connsiteY17" fmla="*/ 2996293 h 3020786"/>
                <a:gd name="connsiteX18" fmla="*/ 840922 w 1167493"/>
                <a:gd name="connsiteY18" fmla="*/ 2955471 h 3020786"/>
                <a:gd name="connsiteX19" fmla="*/ 473529 w 1167493"/>
                <a:gd name="connsiteY19" fmla="*/ 2963636 h 3020786"/>
                <a:gd name="connsiteX20" fmla="*/ 212272 w 1167493"/>
                <a:gd name="connsiteY20" fmla="*/ 3020786 h 3020786"/>
                <a:gd name="connsiteX21" fmla="*/ 32657 w 1167493"/>
                <a:gd name="connsiteY21" fmla="*/ 2906486 h 3020786"/>
                <a:gd name="connsiteX22" fmla="*/ 48986 w 1167493"/>
                <a:gd name="connsiteY22" fmla="*/ 2432957 h 3020786"/>
                <a:gd name="connsiteX23" fmla="*/ 48375 w 1167493"/>
                <a:gd name="connsiteY23" fmla="*/ 2065499 h 3020786"/>
                <a:gd name="connsiteX24" fmla="*/ 35769 w 1167493"/>
                <a:gd name="connsiteY24" fmla="*/ 1567474 h 3020786"/>
                <a:gd name="connsiteX25" fmla="*/ 16329 w 1167493"/>
                <a:gd name="connsiteY25" fmla="*/ 1191986 h 3020786"/>
                <a:gd name="connsiteX26" fmla="*/ 16328 w 1167493"/>
                <a:gd name="connsiteY26" fmla="*/ 881742 h 3020786"/>
                <a:gd name="connsiteX27" fmla="*/ 0 w 1167493"/>
                <a:gd name="connsiteY27" fmla="*/ 612322 h 3020786"/>
                <a:gd name="connsiteX28" fmla="*/ 18829 w 1167493"/>
                <a:gd name="connsiteY28" fmla="*/ 302012 h 3020786"/>
                <a:gd name="connsiteX0" fmla="*/ 18829 w 1167493"/>
                <a:gd name="connsiteY0" fmla="*/ 302012 h 3020786"/>
                <a:gd name="connsiteX1" fmla="*/ 32657 w 1167493"/>
                <a:gd name="connsiteY1" fmla="*/ 155121 h 3020786"/>
                <a:gd name="connsiteX2" fmla="*/ 138793 w 1167493"/>
                <a:gd name="connsiteY2" fmla="*/ 48986 h 3020786"/>
                <a:gd name="connsiteX3" fmla="*/ 457200 w 1167493"/>
                <a:gd name="connsiteY3" fmla="*/ 73479 h 3020786"/>
                <a:gd name="connsiteX4" fmla="*/ 693964 w 1167493"/>
                <a:gd name="connsiteY4" fmla="*/ 24493 h 3020786"/>
                <a:gd name="connsiteX5" fmla="*/ 963386 w 1167493"/>
                <a:gd name="connsiteY5" fmla="*/ 0 h 3020786"/>
                <a:gd name="connsiteX6" fmla="*/ 1143000 w 1167493"/>
                <a:gd name="connsiteY6" fmla="*/ 89807 h 3020786"/>
                <a:gd name="connsiteX7" fmla="*/ 1167493 w 1167493"/>
                <a:gd name="connsiteY7" fmla="*/ 195943 h 3020786"/>
                <a:gd name="connsiteX8" fmla="*/ 1099706 w 1167493"/>
                <a:gd name="connsiteY8" fmla="*/ 579664 h 3020786"/>
                <a:gd name="connsiteX9" fmla="*/ 1102179 w 1167493"/>
                <a:gd name="connsiteY9" fmla="*/ 898071 h 3020786"/>
                <a:gd name="connsiteX10" fmla="*/ 1118534 w 1167493"/>
                <a:gd name="connsiteY10" fmla="*/ 1233009 h 3020786"/>
                <a:gd name="connsiteX11" fmla="*/ 1132390 w 1167493"/>
                <a:gd name="connsiteY11" fmla="*/ 1600268 h 3020786"/>
                <a:gd name="connsiteX12" fmla="*/ 1159329 w 1167493"/>
                <a:gd name="connsiteY12" fmla="*/ 1975757 h 3020786"/>
                <a:gd name="connsiteX13" fmla="*/ 1145501 w 1167493"/>
                <a:gd name="connsiteY13" fmla="*/ 2236945 h 3020786"/>
                <a:gd name="connsiteX14" fmla="*/ 1151164 w 1167493"/>
                <a:gd name="connsiteY14" fmla="*/ 2481943 h 3020786"/>
                <a:gd name="connsiteX15" fmla="*/ 1160333 w 1167493"/>
                <a:gd name="connsiteY15" fmla="*/ 2755098 h 3020786"/>
                <a:gd name="connsiteX16" fmla="*/ 1151164 w 1167493"/>
                <a:gd name="connsiteY16" fmla="*/ 2988128 h 3020786"/>
                <a:gd name="connsiteX17" fmla="*/ 955222 w 1167493"/>
                <a:gd name="connsiteY17" fmla="*/ 2996293 h 3020786"/>
                <a:gd name="connsiteX18" fmla="*/ 840922 w 1167493"/>
                <a:gd name="connsiteY18" fmla="*/ 2955471 h 3020786"/>
                <a:gd name="connsiteX19" fmla="*/ 473529 w 1167493"/>
                <a:gd name="connsiteY19" fmla="*/ 2963636 h 3020786"/>
                <a:gd name="connsiteX20" fmla="*/ 212272 w 1167493"/>
                <a:gd name="connsiteY20" fmla="*/ 3020786 h 3020786"/>
                <a:gd name="connsiteX21" fmla="*/ 32657 w 1167493"/>
                <a:gd name="connsiteY21" fmla="*/ 2906486 h 3020786"/>
                <a:gd name="connsiteX22" fmla="*/ 48986 w 1167493"/>
                <a:gd name="connsiteY22" fmla="*/ 2432957 h 3020786"/>
                <a:gd name="connsiteX23" fmla="*/ 48375 w 1167493"/>
                <a:gd name="connsiteY23" fmla="*/ 2065499 h 3020786"/>
                <a:gd name="connsiteX24" fmla="*/ 35769 w 1167493"/>
                <a:gd name="connsiteY24" fmla="*/ 1567474 h 3020786"/>
                <a:gd name="connsiteX25" fmla="*/ 16329 w 1167493"/>
                <a:gd name="connsiteY25" fmla="*/ 1191986 h 3020786"/>
                <a:gd name="connsiteX26" fmla="*/ 16328 w 1167493"/>
                <a:gd name="connsiteY26" fmla="*/ 881742 h 3020786"/>
                <a:gd name="connsiteX27" fmla="*/ 0 w 1167493"/>
                <a:gd name="connsiteY27" fmla="*/ 612322 h 3020786"/>
                <a:gd name="connsiteX28" fmla="*/ 18829 w 1167493"/>
                <a:gd name="connsiteY28" fmla="*/ 302012 h 3020786"/>
                <a:gd name="connsiteX0" fmla="*/ 18829 w 1160333"/>
                <a:gd name="connsiteY0" fmla="*/ 302012 h 3020786"/>
                <a:gd name="connsiteX1" fmla="*/ 32657 w 1160333"/>
                <a:gd name="connsiteY1" fmla="*/ 155121 h 3020786"/>
                <a:gd name="connsiteX2" fmla="*/ 138793 w 1160333"/>
                <a:gd name="connsiteY2" fmla="*/ 48986 h 3020786"/>
                <a:gd name="connsiteX3" fmla="*/ 457200 w 1160333"/>
                <a:gd name="connsiteY3" fmla="*/ 73479 h 3020786"/>
                <a:gd name="connsiteX4" fmla="*/ 693964 w 1160333"/>
                <a:gd name="connsiteY4" fmla="*/ 24493 h 3020786"/>
                <a:gd name="connsiteX5" fmla="*/ 963386 w 1160333"/>
                <a:gd name="connsiteY5" fmla="*/ 0 h 3020786"/>
                <a:gd name="connsiteX6" fmla="*/ 1143000 w 1160333"/>
                <a:gd name="connsiteY6" fmla="*/ 89807 h 3020786"/>
                <a:gd name="connsiteX7" fmla="*/ 1099706 w 1160333"/>
                <a:gd name="connsiteY7" fmla="*/ 579664 h 3020786"/>
                <a:gd name="connsiteX8" fmla="*/ 1102179 w 1160333"/>
                <a:gd name="connsiteY8" fmla="*/ 898071 h 3020786"/>
                <a:gd name="connsiteX9" fmla="*/ 1118534 w 1160333"/>
                <a:gd name="connsiteY9" fmla="*/ 1233009 h 3020786"/>
                <a:gd name="connsiteX10" fmla="*/ 1132390 w 1160333"/>
                <a:gd name="connsiteY10" fmla="*/ 1600268 h 3020786"/>
                <a:gd name="connsiteX11" fmla="*/ 1159329 w 1160333"/>
                <a:gd name="connsiteY11" fmla="*/ 1975757 h 3020786"/>
                <a:gd name="connsiteX12" fmla="*/ 1145501 w 1160333"/>
                <a:gd name="connsiteY12" fmla="*/ 2236945 h 3020786"/>
                <a:gd name="connsiteX13" fmla="*/ 1151164 w 1160333"/>
                <a:gd name="connsiteY13" fmla="*/ 2481943 h 3020786"/>
                <a:gd name="connsiteX14" fmla="*/ 1160333 w 1160333"/>
                <a:gd name="connsiteY14" fmla="*/ 2755098 h 3020786"/>
                <a:gd name="connsiteX15" fmla="*/ 1151164 w 1160333"/>
                <a:gd name="connsiteY15" fmla="*/ 2988128 h 3020786"/>
                <a:gd name="connsiteX16" fmla="*/ 955222 w 1160333"/>
                <a:gd name="connsiteY16" fmla="*/ 2996293 h 3020786"/>
                <a:gd name="connsiteX17" fmla="*/ 840922 w 1160333"/>
                <a:gd name="connsiteY17" fmla="*/ 2955471 h 3020786"/>
                <a:gd name="connsiteX18" fmla="*/ 473529 w 1160333"/>
                <a:gd name="connsiteY18" fmla="*/ 2963636 h 3020786"/>
                <a:gd name="connsiteX19" fmla="*/ 212272 w 1160333"/>
                <a:gd name="connsiteY19" fmla="*/ 3020786 h 3020786"/>
                <a:gd name="connsiteX20" fmla="*/ 32657 w 1160333"/>
                <a:gd name="connsiteY20" fmla="*/ 2906486 h 3020786"/>
                <a:gd name="connsiteX21" fmla="*/ 48986 w 1160333"/>
                <a:gd name="connsiteY21" fmla="*/ 2432957 h 3020786"/>
                <a:gd name="connsiteX22" fmla="*/ 48375 w 1160333"/>
                <a:gd name="connsiteY22" fmla="*/ 2065499 h 3020786"/>
                <a:gd name="connsiteX23" fmla="*/ 35769 w 1160333"/>
                <a:gd name="connsiteY23" fmla="*/ 1567474 h 3020786"/>
                <a:gd name="connsiteX24" fmla="*/ 16329 w 1160333"/>
                <a:gd name="connsiteY24" fmla="*/ 1191986 h 3020786"/>
                <a:gd name="connsiteX25" fmla="*/ 16328 w 1160333"/>
                <a:gd name="connsiteY25" fmla="*/ 881742 h 3020786"/>
                <a:gd name="connsiteX26" fmla="*/ 0 w 1160333"/>
                <a:gd name="connsiteY26" fmla="*/ 612322 h 3020786"/>
                <a:gd name="connsiteX27" fmla="*/ 18829 w 1160333"/>
                <a:gd name="connsiteY27" fmla="*/ 302012 h 3020786"/>
                <a:gd name="connsiteX0" fmla="*/ 18829 w 1160333"/>
                <a:gd name="connsiteY0" fmla="*/ 302012 h 3020786"/>
                <a:gd name="connsiteX1" fmla="*/ 32657 w 1160333"/>
                <a:gd name="connsiteY1" fmla="*/ 155121 h 3020786"/>
                <a:gd name="connsiteX2" fmla="*/ 138793 w 1160333"/>
                <a:gd name="connsiteY2" fmla="*/ 48986 h 3020786"/>
                <a:gd name="connsiteX3" fmla="*/ 457200 w 1160333"/>
                <a:gd name="connsiteY3" fmla="*/ 73479 h 3020786"/>
                <a:gd name="connsiteX4" fmla="*/ 693964 w 1160333"/>
                <a:gd name="connsiteY4" fmla="*/ 24493 h 3020786"/>
                <a:gd name="connsiteX5" fmla="*/ 963386 w 1160333"/>
                <a:gd name="connsiteY5" fmla="*/ 0 h 3020786"/>
                <a:gd name="connsiteX6" fmla="*/ 1095930 w 1160333"/>
                <a:gd name="connsiteY6" fmla="*/ 97905 h 3020786"/>
                <a:gd name="connsiteX7" fmla="*/ 1099706 w 1160333"/>
                <a:gd name="connsiteY7" fmla="*/ 579664 h 3020786"/>
                <a:gd name="connsiteX8" fmla="*/ 1102179 w 1160333"/>
                <a:gd name="connsiteY8" fmla="*/ 898071 h 3020786"/>
                <a:gd name="connsiteX9" fmla="*/ 1118534 w 1160333"/>
                <a:gd name="connsiteY9" fmla="*/ 1233009 h 3020786"/>
                <a:gd name="connsiteX10" fmla="*/ 1132390 w 1160333"/>
                <a:gd name="connsiteY10" fmla="*/ 1600268 h 3020786"/>
                <a:gd name="connsiteX11" fmla="*/ 1159329 w 1160333"/>
                <a:gd name="connsiteY11" fmla="*/ 1975757 h 3020786"/>
                <a:gd name="connsiteX12" fmla="*/ 1145501 w 1160333"/>
                <a:gd name="connsiteY12" fmla="*/ 2236945 h 3020786"/>
                <a:gd name="connsiteX13" fmla="*/ 1151164 w 1160333"/>
                <a:gd name="connsiteY13" fmla="*/ 2481943 h 3020786"/>
                <a:gd name="connsiteX14" fmla="*/ 1160333 w 1160333"/>
                <a:gd name="connsiteY14" fmla="*/ 2755098 h 3020786"/>
                <a:gd name="connsiteX15" fmla="*/ 1151164 w 1160333"/>
                <a:gd name="connsiteY15" fmla="*/ 2988128 h 3020786"/>
                <a:gd name="connsiteX16" fmla="*/ 955222 w 1160333"/>
                <a:gd name="connsiteY16" fmla="*/ 2996293 h 3020786"/>
                <a:gd name="connsiteX17" fmla="*/ 840922 w 1160333"/>
                <a:gd name="connsiteY17" fmla="*/ 2955471 h 3020786"/>
                <a:gd name="connsiteX18" fmla="*/ 473529 w 1160333"/>
                <a:gd name="connsiteY18" fmla="*/ 2963636 h 3020786"/>
                <a:gd name="connsiteX19" fmla="*/ 212272 w 1160333"/>
                <a:gd name="connsiteY19" fmla="*/ 3020786 h 3020786"/>
                <a:gd name="connsiteX20" fmla="*/ 32657 w 1160333"/>
                <a:gd name="connsiteY20" fmla="*/ 2906486 h 3020786"/>
                <a:gd name="connsiteX21" fmla="*/ 48986 w 1160333"/>
                <a:gd name="connsiteY21" fmla="*/ 2432957 h 3020786"/>
                <a:gd name="connsiteX22" fmla="*/ 48375 w 1160333"/>
                <a:gd name="connsiteY22" fmla="*/ 2065499 h 3020786"/>
                <a:gd name="connsiteX23" fmla="*/ 35769 w 1160333"/>
                <a:gd name="connsiteY23" fmla="*/ 1567474 h 3020786"/>
                <a:gd name="connsiteX24" fmla="*/ 16329 w 1160333"/>
                <a:gd name="connsiteY24" fmla="*/ 1191986 h 3020786"/>
                <a:gd name="connsiteX25" fmla="*/ 16328 w 1160333"/>
                <a:gd name="connsiteY25" fmla="*/ 881742 h 3020786"/>
                <a:gd name="connsiteX26" fmla="*/ 0 w 1160333"/>
                <a:gd name="connsiteY26" fmla="*/ 612322 h 3020786"/>
                <a:gd name="connsiteX27" fmla="*/ 18829 w 1160333"/>
                <a:gd name="connsiteY27" fmla="*/ 302012 h 3020786"/>
                <a:gd name="connsiteX0" fmla="*/ 18829 w 1160333"/>
                <a:gd name="connsiteY0" fmla="*/ 277519 h 2996293"/>
                <a:gd name="connsiteX1" fmla="*/ 32657 w 1160333"/>
                <a:gd name="connsiteY1" fmla="*/ 130628 h 2996293"/>
                <a:gd name="connsiteX2" fmla="*/ 138793 w 1160333"/>
                <a:gd name="connsiteY2" fmla="*/ 24493 h 2996293"/>
                <a:gd name="connsiteX3" fmla="*/ 457200 w 1160333"/>
                <a:gd name="connsiteY3" fmla="*/ 48986 h 2996293"/>
                <a:gd name="connsiteX4" fmla="*/ 693964 w 1160333"/>
                <a:gd name="connsiteY4" fmla="*/ 0 h 2996293"/>
                <a:gd name="connsiteX5" fmla="*/ 963386 w 1160333"/>
                <a:gd name="connsiteY5" fmla="*/ 64574 h 2996293"/>
                <a:gd name="connsiteX6" fmla="*/ 1095930 w 1160333"/>
                <a:gd name="connsiteY6" fmla="*/ 73412 h 2996293"/>
                <a:gd name="connsiteX7" fmla="*/ 1099706 w 1160333"/>
                <a:gd name="connsiteY7" fmla="*/ 555171 h 2996293"/>
                <a:gd name="connsiteX8" fmla="*/ 1102179 w 1160333"/>
                <a:gd name="connsiteY8" fmla="*/ 873578 h 2996293"/>
                <a:gd name="connsiteX9" fmla="*/ 1118534 w 1160333"/>
                <a:gd name="connsiteY9" fmla="*/ 1208516 h 2996293"/>
                <a:gd name="connsiteX10" fmla="*/ 1132390 w 1160333"/>
                <a:gd name="connsiteY10" fmla="*/ 1575775 h 2996293"/>
                <a:gd name="connsiteX11" fmla="*/ 1159329 w 1160333"/>
                <a:gd name="connsiteY11" fmla="*/ 1951264 h 2996293"/>
                <a:gd name="connsiteX12" fmla="*/ 1145501 w 1160333"/>
                <a:gd name="connsiteY12" fmla="*/ 2212452 h 2996293"/>
                <a:gd name="connsiteX13" fmla="*/ 1151164 w 1160333"/>
                <a:gd name="connsiteY13" fmla="*/ 2457450 h 2996293"/>
                <a:gd name="connsiteX14" fmla="*/ 1160333 w 1160333"/>
                <a:gd name="connsiteY14" fmla="*/ 2730605 h 2996293"/>
                <a:gd name="connsiteX15" fmla="*/ 1151164 w 1160333"/>
                <a:gd name="connsiteY15" fmla="*/ 2963635 h 2996293"/>
                <a:gd name="connsiteX16" fmla="*/ 955222 w 1160333"/>
                <a:gd name="connsiteY16" fmla="*/ 2971800 h 2996293"/>
                <a:gd name="connsiteX17" fmla="*/ 840922 w 1160333"/>
                <a:gd name="connsiteY17" fmla="*/ 2930978 h 2996293"/>
                <a:gd name="connsiteX18" fmla="*/ 473529 w 1160333"/>
                <a:gd name="connsiteY18" fmla="*/ 2939143 h 2996293"/>
                <a:gd name="connsiteX19" fmla="*/ 212272 w 1160333"/>
                <a:gd name="connsiteY19" fmla="*/ 2996293 h 2996293"/>
                <a:gd name="connsiteX20" fmla="*/ 32657 w 1160333"/>
                <a:gd name="connsiteY20" fmla="*/ 2881993 h 2996293"/>
                <a:gd name="connsiteX21" fmla="*/ 48986 w 1160333"/>
                <a:gd name="connsiteY21" fmla="*/ 2408464 h 2996293"/>
                <a:gd name="connsiteX22" fmla="*/ 48375 w 1160333"/>
                <a:gd name="connsiteY22" fmla="*/ 2041006 h 2996293"/>
                <a:gd name="connsiteX23" fmla="*/ 35769 w 1160333"/>
                <a:gd name="connsiteY23" fmla="*/ 1542981 h 2996293"/>
                <a:gd name="connsiteX24" fmla="*/ 16329 w 1160333"/>
                <a:gd name="connsiteY24" fmla="*/ 1167493 h 2996293"/>
                <a:gd name="connsiteX25" fmla="*/ 16328 w 1160333"/>
                <a:gd name="connsiteY25" fmla="*/ 857249 h 2996293"/>
                <a:gd name="connsiteX26" fmla="*/ 0 w 1160333"/>
                <a:gd name="connsiteY26" fmla="*/ 587829 h 2996293"/>
                <a:gd name="connsiteX27" fmla="*/ 18829 w 1160333"/>
                <a:gd name="connsiteY27" fmla="*/ 277519 h 2996293"/>
                <a:gd name="connsiteX0" fmla="*/ 18829 w 1160333"/>
                <a:gd name="connsiteY0" fmla="*/ 253026 h 2971800"/>
                <a:gd name="connsiteX1" fmla="*/ 32657 w 1160333"/>
                <a:gd name="connsiteY1" fmla="*/ 106135 h 2971800"/>
                <a:gd name="connsiteX2" fmla="*/ 138793 w 1160333"/>
                <a:gd name="connsiteY2" fmla="*/ 0 h 2971800"/>
                <a:gd name="connsiteX3" fmla="*/ 457200 w 1160333"/>
                <a:gd name="connsiteY3" fmla="*/ 24493 h 2971800"/>
                <a:gd name="connsiteX4" fmla="*/ 690826 w 1160333"/>
                <a:gd name="connsiteY4" fmla="*/ 48380 h 2971800"/>
                <a:gd name="connsiteX5" fmla="*/ 963386 w 1160333"/>
                <a:gd name="connsiteY5" fmla="*/ 40081 h 2971800"/>
                <a:gd name="connsiteX6" fmla="*/ 1095930 w 1160333"/>
                <a:gd name="connsiteY6" fmla="*/ 48919 h 2971800"/>
                <a:gd name="connsiteX7" fmla="*/ 1099706 w 1160333"/>
                <a:gd name="connsiteY7" fmla="*/ 530678 h 2971800"/>
                <a:gd name="connsiteX8" fmla="*/ 1102179 w 1160333"/>
                <a:gd name="connsiteY8" fmla="*/ 849085 h 2971800"/>
                <a:gd name="connsiteX9" fmla="*/ 1118534 w 1160333"/>
                <a:gd name="connsiteY9" fmla="*/ 1184023 h 2971800"/>
                <a:gd name="connsiteX10" fmla="*/ 1132390 w 1160333"/>
                <a:gd name="connsiteY10" fmla="*/ 1551282 h 2971800"/>
                <a:gd name="connsiteX11" fmla="*/ 1159329 w 1160333"/>
                <a:gd name="connsiteY11" fmla="*/ 1926771 h 2971800"/>
                <a:gd name="connsiteX12" fmla="*/ 1145501 w 1160333"/>
                <a:gd name="connsiteY12" fmla="*/ 2187959 h 2971800"/>
                <a:gd name="connsiteX13" fmla="*/ 1151164 w 1160333"/>
                <a:gd name="connsiteY13" fmla="*/ 2432957 h 2971800"/>
                <a:gd name="connsiteX14" fmla="*/ 1160333 w 1160333"/>
                <a:gd name="connsiteY14" fmla="*/ 2706112 h 2971800"/>
                <a:gd name="connsiteX15" fmla="*/ 1151164 w 1160333"/>
                <a:gd name="connsiteY15" fmla="*/ 2939142 h 2971800"/>
                <a:gd name="connsiteX16" fmla="*/ 955222 w 1160333"/>
                <a:gd name="connsiteY16" fmla="*/ 2947307 h 2971800"/>
                <a:gd name="connsiteX17" fmla="*/ 840922 w 1160333"/>
                <a:gd name="connsiteY17" fmla="*/ 2906485 h 2971800"/>
                <a:gd name="connsiteX18" fmla="*/ 473529 w 1160333"/>
                <a:gd name="connsiteY18" fmla="*/ 2914650 h 2971800"/>
                <a:gd name="connsiteX19" fmla="*/ 212272 w 1160333"/>
                <a:gd name="connsiteY19" fmla="*/ 2971800 h 2971800"/>
                <a:gd name="connsiteX20" fmla="*/ 32657 w 1160333"/>
                <a:gd name="connsiteY20" fmla="*/ 2857500 h 2971800"/>
                <a:gd name="connsiteX21" fmla="*/ 48986 w 1160333"/>
                <a:gd name="connsiteY21" fmla="*/ 2383971 h 2971800"/>
                <a:gd name="connsiteX22" fmla="*/ 48375 w 1160333"/>
                <a:gd name="connsiteY22" fmla="*/ 2016513 h 2971800"/>
                <a:gd name="connsiteX23" fmla="*/ 35769 w 1160333"/>
                <a:gd name="connsiteY23" fmla="*/ 1518488 h 2971800"/>
                <a:gd name="connsiteX24" fmla="*/ 16329 w 1160333"/>
                <a:gd name="connsiteY24" fmla="*/ 1143000 h 2971800"/>
                <a:gd name="connsiteX25" fmla="*/ 16328 w 1160333"/>
                <a:gd name="connsiteY25" fmla="*/ 832756 h 2971800"/>
                <a:gd name="connsiteX26" fmla="*/ 0 w 1160333"/>
                <a:gd name="connsiteY26" fmla="*/ 563336 h 2971800"/>
                <a:gd name="connsiteX27" fmla="*/ 18829 w 1160333"/>
                <a:gd name="connsiteY27" fmla="*/ 253026 h 2971800"/>
                <a:gd name="connsiteX0" fmla="*/ 18829 w 1160333"/>
                <a:gd name="connsiteY0" fmla="*/ 228533 h 2947307"/>
                <a:gd name="connsiteX1" fmla="*/ 32657 w 1160333"/>
                <a:gd name="connsiteY1" fmla="*/ 81642 h 2947307"/>
                <a:gd name="connsiteX2" fmla="*/ 201554 w 1160333"/>
                <a:gd name="connsiteY2" fmla="*/ 24089 h 2947307"/>
                <a:gd name="connsiteX3" fmla="*/ 457200 w 1160333"/>
                <a:gd name="connsiteY3" fmla="*/ 0 h 2947307"/>
                <a:gd name="connsiteX4" fmla="*/ 690826 w 1160333"/>
                <a:gd name="connsiteY4" fmla="*/ 23887 h 2947307"/>
                <a:gd name="connsiteX5" fmla="*/ 963386 w 1160333"/>
                <a:gd name="connsiteY5" fmla="*/ 15588 h 2947307"/>
                <a:gd name="connsiteX6" fmla="*/ 1095930 w 1160333"/>
                <a:gd name="connsiteY6" fmla="*/ 24426 h 2947307"/>
                <a:gd name="connsiteX7" fmla="*/ 1099706 w 1160333"/>
                <a:gd name="connsiteY7" fmla="*/ 506185 h 2947307"/>
                <a:gd name="connsiteX8" fmla="*/ 1102179 w 1160333"/>
                <a:gd name="connsiteY8" fmla="*/ 824592 h 2947307"/>
                <a:gd name="connsiteX9" fmla="*/ 1118534 w 1160333"/>
                <a:gd name="connsiteY9" fmla="*/ 1159530 h 2947307"/>
                <a:gd name="connsiteX10" fmla="*/ 1132390 w 1160333"/>
                <a:gd name="connsiteY10" fmla="*/ 1526789 h 2947307"/>
                <a:gd name="connsiteX11" fmla="*/ 1159329 w 1160333"/>
                <a:gd name="connsiteY11" fmla="*/ 1902278 h 2947307"/>
                <a:gd name="connsiteX12" fmla="*/ 1145501 w 1160333"/>
                <a:gd name="connsiteY12" fmla="*/ 2163466 h 2947307"/>
                <a:gd name="connsiteX13" fmla="*/ 1151164 w 1160333"/>
                <a:gd name="connsiteY13" fmla="*/ 2408464 h 2947307"/>
                <a:gd name="connsiteX14" fmla="*/ 1160333 w 1160333"/>
                <a:gd name="connsiteY14" fmla="*/ 2681619 h 2947307"/>
                <a:gd name="connsiteX15" fmla="*/ 1151164 w 1160333"/>
                <a:gd name="connsiteY15" fmla="*/ 2914649 h 2947307"/>
                <a:gd name="connsiteX16" fmla="*/ 955222 w 1160333"/>
                <a:gd name="connsiteY16" fmla="*/ 2922814 h 2947307"/>
                <a:gd name="connsiteX17" fmla="*/ 840922 w 1160333"/>
                <a:gd name="connsiteY17" fmla="*/ 2881992 h 2947307"/>
                <a:gd name="connsiteX18" fmla="*/ 473529 w 1160333"/>
                <a:gd name="connsiteY18" fmla="*/ 2890157 h 2947307"/>
                <a:gd name="connsiteX19" fmla="*/ 212272 w 1160333"/>
                <a:gd name="connsiteY19" fmla="*/ 2947307 h 2947307"/>
                <a:gd name="connsiteX20" fmla="*/ 32657 w 1160333"/>
                <a:gd name="connsiteY20" fmla="*/ 2833007 h 2947307"/>
                <a:gd name="connsiteX21" fmla="*/ 48986 w 1160333"/>
                <a:gd name="connsiteY21" fmla="*/ 2359478 h 2947307"/>
                <a:gd name="connsiteX22" fmla="*/ 48375 w 1160333"/>
                <a:gd name="connsiteY22" fmla="*/ 1992020 h 2947307"/>
                <a:gd name="connsiteX23" fmla="*/ 35769 w 1160333"/>
                <a:gd name="connsiteY23" fmla="*/ 1493995 h 2947307"/>
                <a:gd name="connsiteX24" fmla="*/ 16329 w 1160333"/>
                <a:gd name="connsiteY24" fmla="*/ 1118507 h 2947307"/>
                <a:gd name="connsiteX25" fmla="*/ 16328 w 1160333"/>
                <a:gd name="connsiteY25" fmla="*/ 808263 h 2947307"/>
                <a:gd name="connsiteX26" fmla="*/ 0 w 1160333"/>
                <a:gd name="connsiteY26" fmla="*/ 538843 h 2947307"/>
                <a:gd name="connsiteX27" fmla="*/ 18829 w 1160333"/>
                <a:gd name="connsiteY27" fmla="*/ 228533 h 2947307"/>
                <a:gd name="connsiteX0" fmla="*/ 18829 w 1160333"/>
                <a:gd name="connsiteY0" fmla="*/ 228533 h 2922814"/>
                <a:gd name="connsiteX1" fmla="*/ 32657 w 1160333"/>
                <a:gd name="connsiteY1" fmla="*/ 81642 h 2922814"/>
                <a:gd name="connsiteX2" fmla="*/ 201554 w 1160333"/>
                <a:gd name="connsiteY2" fmla="*/ 24089 h 2922814"/>
                <a:gd name="connsiteX3" fmla="*/ 457200 w 1160333"/>
                <a:gd name="connsiteY3" fmla="*/ 0 h 2922814"/>
                <a:gd name="connsiteX4" fmla="*/ 690826 w 1160333"/>
                <a:gd name="connsiteY4" fmla="*/ 23887 h 2922814"/>
                <a:gd name="connsiteX5" fmla="*/ 963386 w 1160333"/>
                <a:gd name="connsiteY5" fmla="*/ 15588 h 2922814"/>
                <a:gd name="connsiteX6" fmla="*/ 1095930 w 1160333"/>
                <a:gd name="connsiteY6" fmla="*/ 24426 h 2922814"/>
                <a:gd name="connsiteX7" fmla="*/ 1099706 w 1160333"/>
                <a:gd name="connsiteY7" fmla="*/ 506185 h 2922814"/>
                <a:gd name="connsiteX8" fmla="*/ 1102179 w 1160333"/>
                <a:gd name="connsiteY8" fmla="*/ 824592 h 2922814"/>
                <a:gd name="connsiteX9" fmla="*/ 1118534 w 1160333"/>
                <a:gd name="connsiteY9" fmla="*/ 1159530 h 2922814"/>
                <a:gd name="connsiteX10" fmla="*/ 1132390 w 1160333"/>
                <a:gd name="connsiteY10" fmla="*/ 1526789 h 2922814"/>
                <a:gd name="connsiteX11" fmla="*/ 1159329 w 1160333"/>
                <a:gd name="connsiteY11" fmla="*/ 1902278 h 2922814"/>
                <a:gd name="connsiteX12" fmla="*/ 1145501 w 1160333"/>
                <a:gd name="connsiteY12" fmla="*/ 2163466 h 2922814"/>
                <a:gd name="connsiteX13" fmla="*/ 1151164 w 1160333"/>
                <a:gd name="connsiteY13" fmla="*/ 2408464 h 2922814"/>
                <a:gd name="connsiteX14" fmla="*/ 1160333 w 1160333"/>
                <a:gd name="connsiteY14" fmla="*/ 2681619 h 2922814"/>
                <a:gd name="connsiteX15" fmla="*/ 1151164 w 1160333"/>
                <a:gd name="connsiteY15" fmla="*/ 2914649 h 2922814"/>
                <a:gd name="connsiteX16" fmla="*/ 955222 w 1160333"/>
                <a:gd name="connsiteY16" fmla="*/ 2922814 h 2922814"/>
                <a:gd name="connsiteX17" fmla="*/ 840922 w 1160333"/>
                <a:gd name="connsiteY17" fmla="*/ 2881992 h 2922814"/>
                <a:gd name="connsiteX18" fmla="*/ 473529 w 1160333"/>
                <a:gd name="connsiteY18" fmla="*/ 2890157 h 2922814"/>
                <a:gd name="connsiteX19" fmla="*/ 249929 w 1160333"/>
                <a:gd name="connsiteY19" fmla="*/ 2882531 h 2922814"/>
                <a:gd name="connsiteX20" fmla="*/ 32657 w 1160333"/>
                <a:gd name="connsiteY20" fmla="*/ 2833007 h 2922814"/>
                <a:gd name="connsiteX21" fmla="*/ 48986 w 1160333"/>
                <a:gd name="connsiteY21" fmla="*/ 2359478 h 2922814"/>
                <a:gd name="connsiteX22" fmla="*/ 48375 w 1160333"/>
                <a:gd name="connsiteY22" fmla="*/ 1992020 h 2922814"/>
                <a:gd name="connsiteX23" fmla="*/ 35769 w 1160333"/>
                <a:gd name="connsiteY23" fmla="*/ 1493995 h 2922814"/>
                <a:gd name="connsiteX24" fmla="*/ 16329 w 1160333"/>
                <a:gd name="connsiteY24" fmla="*/ 1118507 h 2922814"/>
                <a:gd name="connsiteX25" fmla="*/ 16328 w 1160333"/>
                <a:gd name="connsiteY25" fmla="*/ 808263 h 2922814"/>
                <a:gd name="connsiteX26" fmla="*/ 0 w 1160333"/>
                <a:gd name="connsiteY26" fmla="*/ 538843 h 2922814"/>
                <a:gd name="connsiteX27" fmla="*/ 18829 w 1160333"/>
                <a:gd name="connsiteY27" fmla="*/ 228533 h 2922814"/>
                <a:gd name="connsiteX0" fmla="*/ 18829 w 1160333"/>
                <a:gd name="connsiteY0" fmla="*/ 228533 h 2946769"/>
                <a:gd name="connsiteX1" fmla="*/ 32657 w 1160333"/>
                <a:gd name="connsiteY1" fmla="*/ 81642 h 2946769"/>
                <a:gd name="connsiteX2" fmla="*/ 201554 w 1160333"/>
                <a:gd name="connsiteY2" fmla="*/ 24089 h 2946769"/>
                <a:gd name="connsiteX3" fmla="*/ 457200 w 1160333"/>
                <a:gd name="connsiteY3" fmla="*/ 0 h 2946769"/>
                <a:gd name="connsiteX4" fmla="*/ 690826 w 1160333"/>
                <a:gd name="connsiteY4" fmla="*/ 23887 h 2946769"/>
                <a:gd name="connsiteX5" fmla="*/ 963386 w 1160333"/>
                <a:gd name="connsiteY5" fmla="*/ 15588 h 2946769"/>
                <a:gd name="connsiteX6" fmla="*/ 1095930 w 1160333"/>
                <a:gd name="connsiteY6" fmla="*/ 24426 h 2946769"/>
                <a:gd name="connsiteX7" fmla="*/ 1099706 w 1160333"/>
                <a:gd name="connsiteY7" fmla="*/ 506185 h 2946769"/>
                <a:gd name="connsiteX8" fmla="*/ 1102179 w 1160333"/>
                <a:gd name="connsiteY8" fmla="*/ 824592 h 2946769"/>
                <a:gd name="connsiteX9" fmla="*/ 1118534 w 1160333"/>
                <a:gd name="connsiteY9" fmla="*/ 1159530 h 2946769"/>
                <a:gd name="connsiteX10" fmla="*/ 1132390 w 1160333"/>
                <a:gd name="connsiteY10" fmla="*/ 1526789 h 2946769"/>
                <a:gd name="connsiteX11" fmla="*/ 1159329 w 1160333"/>
                <a:gd name="connsiteY11" fmla="*/ 1902278 h 2946769"/>
                <a:gd name="connsiteX12" fmla="*/ 1145501 w 1160333"/>
                <a:gd name="connsiteY12" fmla="*/ 2163466 h 2946769"/>
                <a:gd name="connsiteX13" fmla="*/ 1151164 w 1160333"/>
                <a:gd name="connsiteY13" fmla="*/ 2408464 h 2946769"/>
                <a:gd name="connsiteX14" fmla="*/ 1160333 w 1160333"/>
                <a:gd name="connsiteY14" fmla="*/ 2681619 h 2946769"/>
                <a:gd name="connsiteX15" fmla="*/ 1151164 w 1160333"/>
                <a:gd name="connsiteY15" fmla="*/ 2914649 h 2946769"/>
                <a:gd name="connsiteX16" fmla="*/ 955222 w 1160333"/>
                <a:gd name="connsiteY16" fmla="*/ 2922814 h 2946769"/>
                <a:gd name="connsiteX17" fmla="*/ 768746 w 1160333"/>
                <a:gd name="connsiteY17" fmla="*/ 2946769 h 2946769"/>
                <a:gd name="connsiteX18" fmla="*/ 473529 w 1160333"/>
                <a:gd name="connsiteY18" fmla="*/ 2890157 h 2946769"/>
                <a:gd name="connsiteX19" fmla="*/ 249929 w 1160333"/>
                <a:gd name="connsiteY19" fmla="*/ 2882531 h 2946769"/>
                <a:gd name="connsiteX20" fmla="*/ 32657 w 1160333"/>
                <a:gd name="connsiteY20" fmla="*/ 2833007 h 2946769"/>
                <a:gd name="connsiteX21" fmla="*/ 48986 w 1160333"/>
                <a:gd name="connsiteY21" fmla="*/ 2359478 h 2946769"/>
                <a:gd name="connsiteX22" fmla="*/ 48375 w 1160333"/>
                <a:gd name="connsiteY22" fmla="*/ 1992020 h 2946769"/>
                <a:gd name="connsiteX23" fmla="*/ 35769 w 1160333"/>
                <a:gd name="connsiteY23" fmla="*/ 1493995 h 2946769"/>
                <a:gd name="connsiteX24" fmla="*/ 16329 w 1160333"/>
                <a:gd name="connsiteY24" fmla="*/ 1118507 h 2946769"/>
                <a:gd name="connsiteX25" fmla="*/ 16328 w 1160333"/>
                <a:gd name="connsiteY25" fmla="*/ 808263 h 2946769"/>
                <a:gd name="connsiteX26" fmla="*/ 0 w 1160333"/>
                <a:gd name="connsiteY26" fmla="*/ 538843 h 2946769"/>
                <a:gd name="connsiteX27" fmla="*/ 18829 w 1160333"/>
                <a:gd name="connsiteY27" fmla="*/ 228533 h 2946769"/>
                <a:gd name="connsiteX0" fmla="*/ 18829 w 1160333"/>
                <a:gd name="connsiteY0" fmla="*/ 228533 h 2963030"/>
                <a:gd name="connsiteX1" fmla="*/ 32657 w 1160333"/>
                <a:gd name="connsiteY1" fmla="*/ 81642 h 2963030"/>
                <a:gd name="connsiteX2" fmla="*/ 201554 w 1160333"/>
                <a:gd name="connsiteY2" fmla="*/ 24089 h 2963030"/>
                <a:gd name="connsiteX3" fmla="*/ 457200 w 1160333"/>
                <a:gd name="connsiteY3" fmla="*/ 0 h 2963030"/>
                <a:gd name="connsiteX4" fmla="*/ 690826 w 1160333"/>
                <a:gd name="connsiteY4" fmla="*/ 23887 h 2963030"/>
                <a:gd name="connsiteX5" fmla="*/ 963386 w 1160333"/>
                <a:gd name="connsiteY5" fmla="*/ 15588 h 2963030"/>
                <a:gd name="connsiteX6" fmla="*/ 1095930 w 1160333"/>
                <a:gd name="connsiteY6" fmla="*/ 24426 h 2963030"/>
                <a:gd name="connsiteX7" fmla="*/ 1099706 w 1160333"/>
                <a:gd name="connsiteY7" fmla="*/ 506185 h 2963030"/>
                <a:gd name="connsiteX8" fmla="*/ 1102179 w 1160333"/>
                <a:gd name="connsiteY8" fmla="*/ 824592 h 2963030"/>
                <a:gd name="connsiteX9" fmla="*/ 1118534 w 1160333"/>
                <a:gd name="connsiteY9" fmla="*/ 1159530 h 2963030"/>
                <a:gd name="connsiteX10" fmla="*/ 1132390 w 1160333"/>
                <a:gd name="connsiteY10" fmla="*/ 1526789 h 2963030"/>
                <a:gd name="connsiteX11" fmla="*/ 1159329 w 1160333"/>
                <a:gd name="connsiteY11" fmla="*/ 1902278 h 2963030"/>
                <a:gd name="connsiteX12" fmla="*/ 1145501 w 1160333"/>
                <a:gd name="connsiteY12" fmla="*/ 2163466 h 2963030"/>
                <a:gd name="connsiteX13" fmla="*/ 1151164 w 1160333"/>
                <a:gd name="connsiteY13" fmla="*/ 2408464 h 2963030"/>
                <a:gd name="connsiteX14" fmla="*/ 1160333 w 1160333"/>
                <a:gd name="connsiteY14" fmla="*/ 2681619 h 2963030"/>
                <a:gd name="connsiteX15" fmla="*/ 1151164 w 1160333"/>
                <a:gd name="connsiteY15" fmla="*/ 2914649 h 2963030"/>
                <a:gd name="connsiteX16" fmla="*/ 955222 w 1160333"/>
                <a:gd name="connsiteY16" fmla="*/ 2922814 h 2963030"/>
                <a:gd name="connsiteX17" fmla="*/ 768746 w 1160333"/>
                <a:gd name="connsiteY17" fmla="*/ 2946769 h 2963030"/>
                <a:gd name="connsiteX18" fmla="*/ 423320 w 1160333"/>
                <a:gd name="connsiteY18" fmla="*/ 2963030 h 2963030"/>
                <a:gd name="connsiteX19" fmla="*/ 249929 w 1160333"/>
                <a:gd name="connsiteY19" fmla="*/ 2882531 h 2963030"/>
                <a:gd name="connsiteX20" fmla="*/ 32657 w 1160333"/>
                <a:gd name="connsiteY20" fmla="*/ 2833007 h 2963030"/>
                <a:gd name="connsiteX21" fmla="*/ 48986 w 1160333"/>
                <a:gd name="connsiteY21" fmla="*/ 2359478 h 2963030"/>
                <a:gd name="connsiteX22" fmla="*/ 48375 w 1160333"/>
                <a:gd name="connsiteY22" fmla="*/ 1992020 h 2963030"/>
                <a:gd name="connsiteX23" fmla="*/ 35769 w 1160333"/>
                <a:gd name="connsiteY23" fmla="*/ 1493995 h 2963030"/>
                <a:gd name="connsiteX24" fmla="*/ 16329 w 1160333"/>
                <a:gd name="connsiteY24" fmla="*/ 1118507 h 2963030"/>
                <a:gd name="connsiteX25" fmla="*/ 16328 w 1160333"/>
                <a:gd name="connsiteY25" fmla="*/ 808263 h 2963030"/>
                <a:gd name="connsiteX26" fmla="*/ 0 w 1160333"/>
                <a:gd name="connsiteY26" fmla="*/ 538843 h 2963030"/>
                <a:gd name="connsiteX27" fmla="*/ 18829 w 1160333"/>
                <a:gd name="connsiteY27" fmla="*/ 228533 h 2963030"/>
                <a:gd name="connsiteX0" fmla="*/ 18829 w 1160333"/>
                <a:gd name="connsiteY0" fmla="*/ 228533 h 2963501"/>
                <a:gd name="connsiteX1" fmla="*/ 32657 w 1160333"/>
                <a:gd name="connsiteY1" fmla="*/ 81642 h 2963501"/>
                <a:gd name="connsiteX2" fmla="*/ 201554 w 1160333"/>
                <a:gd name="connsiteY2" fmla="*/ 24089 h 2963501"/>
                <a:gd name="connsiteX3" fmla="*/ 457200 w 1160333"/>
                <a:gd name="connsiteY3" fmla="*/ 0 h 2963501"/>
                <a:gd name="connsiteX4" fmla="*/ 690826 w 1160333"/>
                <a:gd name="connsiteY4" fmla="*/ 23887 h 2963501"/>
                <a:gd name="connsiteX5" fmla="*/ 963386 w 1160333"/>
                <a:gd name="connsiteY5" fmla="*/ 15588 h 2963501"/>
                <a:gd name="connsiteX6" fmla="*/ 1095930 w 1160333"/>
                <a:gd name="connsiteY6" fmla="*/ 24426 h 2963501"/>
                <a:gd name="connsiteX7" fmla="*/ 1099706 w 1160333"/>
                <a:gd name="connsiteY7" fmla="*/ 506185 h 2963501"/>
                <a:gd name="connsiteX8" fmla="*/ 1102179 w 1160333"/>
                <a:gd name="connsiteY8" fmla="*/ 824592 h 2963501"/>
                <a:gd name="connsiteX9" fmla="*/ 1118534 w 1160333"/>
                <a:gd name="connsiteY9" fmla="*/ 1159530 h 2963501"/>
                <a:gd name="connsiteX10" fmla="*/ 1132390 w 1160333"/>
                <a:gd name="connsiteY10" fmla="*/ 1526789 h 2963501"/>
                <a:gd name="connsiteX11" fmla="*/ 1159329 w 1160333"/>
                <a:gd name="connsiteY11" fmla="*/ 1902278 h 2963501"/>
                <a:gd name="connsiteX12" fmla="*/ 1145501 w 1160333"/>
                <a:gd name="connsiteY12" fmla="*/ 2163466 h 2963501"/>
                <a:gd name="connsiteX13" fmla="*/ 1151164 w 1160333"/>
                <a:gd name="connsiteY13" fmla="*/ 2408464 h 2963501"/>
                <a:gd name="connsiteX14" fmla="*/ 1160333 w 1160333"/>
                <a:gd name="connsiteY14" fmla="*/ 2681619 h 2963501"/>
                <a:gd name="connsiteX15" fmla="*/ 1151164 w 1160333"/>
                <a:gd name="connsiteY15" fmla="*/ 2914649 h 2963501"/>
                <a:gd name="connsiteX16" fmla="*/ 955222 w 1160333"/>
                <a:gd name="connsiteY16" fmla="*/ 2922814 h 2963501"/>
                <a:gd name="connsiteX17" fmla="*/ 768746 w 1160333"/>
                <a:gd name="connsiteY17" fmla="*/ 2946769 h 2963501"/>
                <a:gd name="connsiteX18" fmla="*/ 423320 w 1160333"/>
                <a:gd name="connsiteY18" fmla="*/ 2963030 h 2963501"/>
                <a:gd name="connsiteX19" fmla="*/ 196582 w 1160333"/>
                <a:gd name="connsiteY19" fmla="*/ 2963501 h 2963501"/>
                <a:gd name="connsiteX20" fmla="*/ 32657 w 1160333"/>
                <a:gd name="connsiteY20" fmla="*/ 2833007 h 2963501"/>
                <a:gd name="connsiteX21" fmla="*/ 48986 w 1160333"/>
                <a:gd name="connsiteY21" fmla="*/ 2359478 h 2963501"/>
                <a:gd name="connsiteX22" fmla="*/ 48375 w 1160333"/>
                <a:gd name="connsiteY22" fmla="*/ 1992020 h 2963501"/>
                <a:gd name="connsiteX23" fmla="*/ 35769 w 1160333"/>
                <a:gd name="connsiteY23" fmla="*/ 1493995 h 2963501"/>
                <a:gd name="connsiteX24" fmla="*/ 16329 w 1160333"/>
                <a:gd name="connsiteY24" fmla="*/ 1118507 h 2963501"/>
                <a:gd name="connsiteX25" fmla="*/ 16328 w 1160333"/>
                <a:gd name="connsiteY25" fmla="*/ 808263 h 2963501"/>
                <a:gd name="connsiteX26" fmla="*/ 0 w 1160333"/>
                <a:gd name="connsiteY26" fmla="*/ 538843 h 2963501"/>
                <a:gd name="connsiteX27" fmla="*/ 18829 w 1160333"/>
                <a:gd name="connsiteY27" fmla="*/ 228533 h 2963501"/>
                <a:gd name="connsiteX0" fmla="*/ 18829 w 1160333"/>
                <a:gd name="connsiteY0" fmla="*/ 228533 h 2963501"/>
                <a:gd name="connsiteX1" fmla="*/ 32657 w 1160333"/>
                <a:gd name="connsiteY1" fmla="*/ 81642 h 2963501"/>
                <a:gd name="connsiteX2" fmla="*/ 201554 w 1160333"/>
                <a:gd name="connsiteY2" fmla="*/ 24089 h 2963501"/>
                <a:gd name="connsiteX3" fmla="*/ 457200 w 1160333"/>
                <a:gd name="connsiteY3" fmla="*/ 0 h 2963501"/>
                <a:gd name="connsiteX4" fmla="*/ 690826 w 1160333"/>
                <a:gd name="connsiteY4" fmla="*/ 23887 h 2963501"/>
                <a:gd name="connsiteX5" fmla="*/ 963386 w 1160333"/>
                <a:gd name="connsiteY5" fmla="*/ 15588 h 2963501"/>
                <a:gd name="connsiteX6" fmla="*/ 1095930 w 1160333"/>
                <a:gd name="connsiteY6" fmla="*/ 24426 h 2963501"/>
                <a:gd name="connsiteX7" fmla="*/ 1099706 w 1160333"/>
                <a:gd name="connsiteY7" fmla="*/ 506185 h 2963501"/>
                <a:gd name="connsiteX8" fmla="*/ 1102179 w 1160333"/>
                <a:gd name="connsiteY8" fmla="*/ 824592 h 2963501"/>
                <a:gd name="connsiteX9" fmla="*/ 1118534 w 1160333"/>
                <a:gd name="connsiteY9" fmla="*/ 1159530 h 2963501"/>
                <a:gd name="connsiteX10" fmla="*/ 1132390 w 1160333"/>
                <a:gd name="connsiteY10" fmla="*/ 1526789 h 2963501"/>
                <a:gd name="connsiteX11" fmla="*/ 1159329 w 1160333"/>
                <a:gd name="connsiteY11" fmla="*/ 1902278 h 2963501"/>
                <a:gd name="connsiteX12" fmla="*/ 1145501 w 1160333"/>
                <a:gd name="connsiteY12" fmla="*/ 2163466 h 2963501"/>
                <a:gd name="connsiteX13" fmla="*/ 1151164 w 1160333"/>
                <a:gd name="connsiteY13" fmla="*/ 2408464 h 2963501"/>
                <a:gd name="connsiteX14" fmla="*/ 1160333 w 1160333"/>
                <a:gd name="connsiteY14" fmla="*/ 2681619 h 2963501"/>
                <a:gd name="connsiteX15" fmla="*/ 1151164 w 1160333"/>
                <a:gd name="connsiteY15" fmla="*/ 2914649 h 2963501"/>
                <a:gd name="connsiteX16" fmla="*/ 955222 w 1160333"/>
                <a:gd name="connsiteY16" fmla="*/ 2922814 h 2963501"/>
                <a:gd name="connsiteX17" fmla="*/ 768746 w 1160333"/>
                <a:gd name="connsiteY17" fmla="*/ 2946769 h 2963501"/>
                <a:gd name="connsiteX18" fmla="*/ 423320 w 1160333"/>
                <a:gd name="connsiteY18" fmla="*/ 2963030 h 2963501"/>
                <a:gd name="connsiteX19" fmla="*/ 196582 w 1160333"/>
                <a:gd name="connsiteY19" fmla="*/ 2963501 h 2963501"/>
                <a:gd name="connsiteX20" fmla="*/ 38933 w 1160333"/>
                <a:gd name="connsiteY20" fmla="*/ 2946365 h 2963501"/>
                <a:gd name="connsiteX21" fmla="*/ 48986 w 1160333"/>
                <a:gd name="connsiteY21" fmla="*/ 2359478 h 2963501"/>
                <a:gd name="connsiteX22" fmla="*/ 48375 w 1160333"/>
                <a:gd name="connsiteY22" fmla="*/ 1992020 h 2963501"/>
                <a:gd name="connsiteX23" fmla="*/ 35769 w 1160333"/>
                <a:gd name="connsiteY23" fmla="*/ 1493995 h 2963501"/>
                <a:gd name="connsiteX24" fmla="*/ 16329 w 1160333"/>
                <a:gd name="connsiteY24" fmla="*/ 1118507 h 2963501"/>
                <a:gd name="connsiteX25" fmla="*/ 16328 w 1160333"/>
                <a:gd name="connsiteY25" fmla="*/ 808263 h 2963501"/>
                <a:gd name="connsiteX26" fmla="*/ 0 w 1160333"/>
                <a:gd name="connsiteY26" fmla="*/ 538843 h 2963501"/>
                <a:gd name="connsiteX27" fmla="*/ 18829 w 1160333"/>
                <a:gd name="connsiteY27" fmla="*/ 228533 h 29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60333" h="2963501">
                  <a:moveTo>
                    <a:pt x="18829" y="228533"/>
                  </a:moveTo>
                  <a:lnTo>
                    <a:pt x="32657" y="81642"/>
                  </a:lnTo>
                  <a:lnTo>
                    <a:pt x="201554" y="24089"/>
                  </a:lnTo>
                  <a:lnTo>
                    <a:pt x="457200" y="0"/>
                  </a:lnTo>
                  <a:lnTo>
                    <a:pt x="690826" y="23887"/>
                  </a:lnTo>
                  <a:lnTo>
                    <a:pt x="963386" y="15588"/>
                  </a:lnTo>
                  <a:lnTo>
                    <a:pt x="1095930" y="24426"/>
                  </a:lnTo>
                  <a:cubicBezTo>
                    <a:pt x="1097189" y="185012"/>
                    <a:pt x="1098447" y="345599"/>
                    <a:pt x="1099706" y="506185"/>
                  </a:cubicBezTo>
                  <a:cubicBezTo>
                    <a:pt x="1080656" y="612321"/>
                    <a:pt x="1099041" y="715701"/>
                    <a:pt x="1102179" y="824592"/>
                  </a:cubicBezTo>
                  <a:cubicBezTo>
                    <a:pt x="1105317" y="933483"/>
                    <a:pt x="1113082" y="1047884"/>
                    <a:pt x="1118534" y="1159530"/>
                  </a:cubicBezTo>
                  <a:lnTo>
                    <a:pt x="1132390" y="1526789"/>
                  </a:lnTo>
                  <a:lnTo>
                    <a:pt x="1159329" y="1902278"/>
                  </a:lnTo>
                  <a:lnTo>
                    <a:pt x="1145501" y="2163466"/>
                  </a:lnTo>
                  <a:lnTo>
                    <a:pt x="1151164" y="2408464"/>
                  </a:lnTo>
                  <a:cubicBezTo>
                    <a:pt x="1167819" y="2496816"/>
                    <a:pt x="1143678" y="2593267"/>
                    <a:pt x="1160333" y="2681619"/>
                  </a:cubicBezTo>
                  <a:lnTo>
                    <a:pt x="1151164" y="2914649"/>
                  </a:lnTo>
                  <a:lnTo>
                    <a:pt x="955222" y="2922814"/>
                  </a:lnTo>
                  <a:lnTo>
                    <a:pt x="768746" y="2946769"/>
                  </a:lnTo>
                  <a:lnTo>
                    <a:pt x="423320" y="2963030"/>
                  </a:lnTo>
                  <a:lnTo>
                    <a:pt x="196582" y="2963501"/>
                  </a:lnTo>
                  <a:lnTo>
                    <a:pt x="38933" y="2946365"/>
                  </a:lnTo>
                  <a:lnTo>
                    <a:pt x="48986" y="2359478"/>
                  </a:lnTo>
                  <a:cubicBezTo>
                    <a:pt x="48782" y="2236992"/>
                    <a:pt x="48579" y="2114506"/>
                    <a:pt x="48375" y="1992020"/>
                  </a:cubicBezTo>
                  <a:lnTo>
                    <a:pt x="35769" y="1493995"/>
                  </a:lnTo>
                  <a:lnTo>
                    <a:pt x="16329" y="1118507"/>
                  </a:lnTo>
                  <a:cubicBezTo>
                    <a:pt x="16329" y="1015092"/>
                    <a:pt x="16328" y="911678"/>
                    <a:pt x="16328" y="808263"/>
                  </a:cubicBezTo>
                  <a:lnTo>
                    <a:pt x="0" y="538843"/>
                  </a:lnTo>
                  <a:lnTo>
                    <a:pt x="18829" y="228533"/>
                  </a:lnTo>
                  <a:close/>
                </a:path>
              </a:pathLst>
            </a:custGeom>
            <a:solidFill>
              <a:schemeClr val="accent2">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400" i="1" dirty="0">
                <a:solidFill>
                  <a:schemeClr val="tx1"/>
                </a:solidFill>
              </a:endParaRPr>
            </a:p>
          </p:txBody>
        </p:sp>
        <mc:AlternateContent xmlns:mc="http://schemas.openxmlformats.org/markup-compatibility/2006" xmlns:a14="http://schemas.microsoft.com/office/drawing/2010/main">
          <mc:Choice Requires="a14">
            <p:sp>
              <p:nvSpPr>
                <p:cNvPr id="141" name="Rectangle 140">
                  <a:extLst>
                    <a:ext uri="{FF2B5EF4-FFF2-40B4-BE49-F238E27FC236}">
                      <a16:creationId xmlns:a16="http://schemas.microsoft.com/office/drawing/2014/main" id="{D19EEF1B-C442-AB4C-8D4B-B93384C5D3C2}"/>
                    </a:ext>
                  </a:extLst>
                </p:cNvPr>
                <p:cNvSpPr/>
                <p:nvPr/>
              </p:nvSpPr>
              <p:spPr>
                <a:xfrm>
                  <a:off x="3309913" y="1674776"/>
                  <a:ext cx="1953053" cy="12738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000" i="1" smtClean="0">
                                <a:latin typeface="Cambria Math" panose="02040503050406030204" pitchFamily="18" charset="0"/>
                                <a:ea typeface="Cambria Math" panose="02040503050406030204" pitchFamily="18" charset="0"/>
                              </a:rPr>
                            </m:ctrlPr>
                          </m:mPr>
                          <m:mr>
                            <m:e>
                              <m:sSub>
                                <m:sSubPr>
                                  <m:ctrlPr>
                                    <a:rPr lang="en-US" sz="2000" i="1">
                                      <a:latin typeface="Cambria Math" panose="02040503050406030204" pitchFamily="18" charset="0"/>
                                      <a:ea typeface="Cambria Math" panose="02040503050406030204" pitchFamily="18" charset="0"/>
                                    </a:rPr>
                                  </m:ctrlPr>
                                </m:sSubPr>
                                <m:e>
                                  <m:r>
                                    <a:rPr lang="sr-Latn-RS" sz="2000" i="1">
                                      <a:latin typeface="Cambria Math" panose="02040503050406030204" pitchFamily="18" charset="0"/>
                                      <a:ea typeface="Cambria Math" panose="02040503050406030204" pitchFamily="18" charset="0"/>
                                    </a:rPr>
                                    <m:t>𝐸</m:t>
                                  </m:r>
                                </m:e>
                                <m:sub>
                                  <m:r>
                                    <a:rPr lang="sr-Latn-RS" sz="2000" i="1">
                                      <a:latin typeface="Cambria Math" panose="02040503050406030204" pitchFamily="18" charset="0"/>
                                      <a:ea typeface="Cambria Math" panose="02040503050406030204" pitchFamily="18" charset="0"/>
                                    </a:rPr>
                                    <m:t>0</m:t>
                                  </m:r>
                                </m:sub>
                              </m:sSub>
                              <m:r>
                                <m:rPr>
                                  <m:brk m:alnAt="7"/>
                                </m:rPr>
                                <a:rPr lang="sr-Latn-RS" sz="2000" i="1">
                                  <a:latin typeface="Cambria Math" panose="02040503050406030204" pitchFamily="18" charset="0"/>
                                  <a:ea typeface="Cambria Math" panose="02040503050406030204" pitchFamily="18" charset="0"/>
                                </a:rPr>
                                <m:t>=</m:t>
                              </m:r>
                              <m:r>
                                <a:rPr lang="sr-Latn-RS" sz="2000" b="0" i="1" smtClean="0">
                                  <a:latin typeface="Cambria Math" panose="02040503050406030204" pitchFamily="18" charset="0"/>
                                  <a:ea typeface="Cambria Math" panose="02040503050406030204" pitchFamily="18" charset="0"/>
                                </a:rPr>
                                <m:t>𝐼</m:t>
                              </m:r>
                              <m:r>
                                <a:rPr lang="sr-Latn-RS" sz="2000" b="0" i="1" smtClean="0">
                                  <a:latin typeface="Cambria Math" panose="02040503050406030204" pitchFamily="18" charset="0"/>
                                  <a:ea typeface="Cambria Math" panose="02040503050406030204" pitchFamily="18" charset="0"/>
                                </a:rPr>
                                <m:t>⨂</m:t>
                              </m:r>
                              <m:r>
                                <a:rPr lang="sr-Latn-RS" sz="2000" i="1">
                                  <a:latin typeface="Cambria Math" panose="02040503050406030204" pitchFamily="18" charset="0"/>
                                  <a:ea typeface="Cambria Math" panose="02040503050406030204" pitchFamily="18" charset="0"/>
                                </a:rPr>
                                <m:t>𝐼</m:t>
                              </m:r>
                              <m:r>
                                <a:rPr lang="sr-Latn-RS" sz="2000" i="1">
                                  <a:latin typeface="Cambria Math" panose="02040503050406030204" pitchFamily="18" charset="0"/>
                                  <a:ea typeface="Cambria Math" panose="02040503050406030204" pitchFamily="18" charset="0"/>
                                </a:rPr>
                                <m:t>⨂</m:t>
                              </m:r>
                              <m:r>
                                <a:rPr lang="sr-Latn-RS" sz="2000" i="1">
                                  <a:latin typeface="Cambria Math" panose="02040503050406030204" pitchFamily="18" charset="0"/>
                                  <a:ea typeface="Cambria Math" panose="02040503050406030204" pitchFamily="18" charset="0"/>
                                </a:rPr>
                                <m:t>𝐼</m:t>
                              </m:r>
                              <m:r>
                                <a:rPr lang="sr-Latn-RS" sz="2000" b="0" i="1" smtClean="0">
                                  <a:latin typeface="Cambria Math" panose="02040503050406030204" pitchFamily="18" charset="0"/>
                                  <a:ea typeface="Cambria Math" panose="02040503050406030204" pitchFamily="18" charset="0"/>
                                </a:rPr>
                                <m:t> </m:t>
                              </m:r>
                            </m:e>
                          </m:mr>
                          <m:mr>
                            <m:e>
                              <m:sSub>
                                <m:sSubPr>
                                  <m:ctrlPr>
                                    <a:rPr lang="en-US" sz="2000" i="1">
                                      <a:latin typeface="Cambria Math" panose="02040503050406030204" pitchFamily="18" charset="0"/>
                                      <a:ea typeface="Cambria Math" panose="02040503050406030204" pitchFamily="18" charset="0"/>
                                    </a:rPr>
                                  </m:ctrlPr>
                                </m:sSubPr>
                                <m:e>
                                  <m:r>
                                    <a:rPr lang="sr-Latn-RS" sz="2000" i="1">
                                      <a:latin typeface="Cambria Math" panose="02040503050406030204" pitchFamily="18" charset="0"/>
                                      <a:ea typeface="Cambria Math" panose="02040503050406030204" pitchFamily="18" charset="0"/>
                                    </a:rPr>
                                    <m:t>𝐸</m:t>
                                  </m:r>
                                </m:e>
                                <m:sub>
                                  <m:r>
                                    <a:rPr lang="sr-Latn-RS" sz="2000" b="0" i="1" smtClean="0">
                                      <a:latin typeface="Cambria Math" panose="02040503050406030204" pitchFamily="18" charset="0"/>
                                      <a:ea typeface="Cambria Math" panose="02040503050406030204" pitchFamily="18" charset="0"/>
                                    </a:rPr>
                                    <m:t>1</m:t>
                                  </m:r>
                                </m:sub>
                              </m:sSub>
                              <m:r>
                                <m:rPr>
                                  <m:brk m:alnAt="7"/>
                                </m:rPr>
                                <a:rPr lang="sr-Latn-RS" sz="2000" i="1">
                                  <a:latin typeface="Cambria Math" panose="02040503050406030204" pitchFamily="18" charset="0"/>
                                  <a:ea typeface="Cambria Math" panose="02040503050406030204" pitchFamily="18" charset="0"/>
                                </a:rPr>
                                <m:t>=</m:t>
                              </m:r>
                              <m:r>
                                <a:rPr lang="sr-Latn-RS" sz="2000" b="0" i="1" smtClean="0">
                                  <a:solidFill>
                                    <a:srgbClr val="FF0000"/>
                                  </a:solidFill>
                                  <a:latin typeface="Cambria Math" panose="02040503050406030204" pitchFamily="18" charset="0"/>
                                  <a:ea typeface="Cambria Math" panose="02040503050406030204" pitchFamily="18" charset="0"/>
                                </a:rPr>
                                <m:t>𝑋</m:t>
                              </m:r>
                              <m:r>
                                <a:rPr lang="sr-Latn-RS" sz="2000" i="1">
                                  <a:latin typeface="Cambria Math" panose="02040503050406030204" pitchFamily="18" charset="0"/>
                                  <a:ea typeface="Cambria Math" panose="02040503050406030204" pitchFamily="18" charset="0"/>
                                </a:rPr>
                                <m:t>⨂</m:t>
                              </m:r>
                              <m:r>
                                <a:rPr lang="sr-Latn-RS" sz="2000" i="1">
                                  <a:latin typeface="Cambria Math" panose="02040503050406030204" pitchFamily="18" charset="0"/>
                                  <a:ea typeface="Cambria Math" panose="02040503050406030204" pitchFamily="18" charset="0"/>
                                </a:rPr>
                                <m:t>𝐼</m:t>
                              </m:r>
                              <m:r>
                                <a:rPr lang="sr-Latn-RS" sz="2000" i="1">
                                  <a:latin typeface="Cambria Math" panose="02040503050406030204" pitchFamily="18" charset="0"/>
                                  <a:ea typeface="Cambria Math" panose="02040503050406030204" pitchFamily="18" charset="0"/>
                                </a:rPr>
                                <m:t>⨂</m:t>
                              </m:r>
                              <m:r>
                                <a:rPr lang="sr-Latn-RS" sz="2000" i="1">
                                  <a:latin typeface="Cambria Math" panose="02040503050406030204" pitchFamily="18" charset="0"/>
                                  <a:ea typeface="Cambria Math" panose="02040503050406030204" pitchFamily="18" charset="0"/>
                                </a:rPr>
                                <m:t>𝐼</m:t>
                              </m:r>
                              <m:r>
                                <a:rPr lang="sr-Latn-RS" sz="2000" b="0" i="1" smtClean="0">
                                  <a:latin typeface="Cambria Math" panose="02040503050406030204" pitchFamily="18" charset="0"/>
                                  <a:ea typeface="Cambria Math" panose="02040503050406030204" pitchFamily="18" charset="0"/>
                                </a:rPr>
                                <m:t> </m:t>
                              </m:r>
                            </m:e>
                          </m:mr>
                          <m:mr>
                            <m:e>
                              <m:sSub>
                                <m:sSubPr>
                                  <m:ctrlPr>
                                    <a:rPr lang="en-US" sz="2000" i="1">
                                      <a:latin typeface="Cambria Math" panose="02040503050406030204" pitchFamily="18" charset="0"/>
                                      <a:ea typeface="Cambria Math" panose="02040503050406030204" pitchFamily="18" charset="0"/>
                                    </a:rPr>
                                  </m:ctrlPr>
                                </m:sSubPr>
                                <m:e>
                                  <m:r>
                                    <a:rPr lang="sr-Latn-RS" sz="2000" i="1">
                                      <a:latin typeface="Cambria Math" panose="02040503050406030204" pitchFamily="18" charset="0"/>
                                      <a:ea typeface="Cambria Math" panose="02040503050406030204" pitchFamily="18" charset="0"/>
                                    </a:rPr>
                                    <m:t>𝐸</m:t>
                                  </m:r>
                                </m:e>
                                <m:sub>
                                  <m:r>
                                    <a:rPr lang="sr-Latn-RS" sz="2000" b="0" i="1" smtClean="0">
                                      <a:latin typeface="Cambria Math" panose="02040503050406030204" pitchFamily="18" charset="0"/>
                                      <a:ea typeface="Cambria Math" panose="02040503050406030204" pitchFamily="18" charset="0"/>
                                    </a:rPr>
                                    <m:t>2</m:t>
                                  </m:r>
                                </m:sub>
                              </m:sSub>
                              <m:r>
                                <m:rPr>
                                  <m:brk m:alnAt="7"/>
                                </m:rPr>
                                <a:rPr lang="sr-Latn-RS" sz="2000" i="1">
                                  <a:latin typeface="Cambria Math" panose="02040503050406030204" pitchFamily="18" charset="0"/>
                                  <a:ea typeface="Cambria Math" panose="02040503050406030204" pitchFamily="18" charset="0"/>
                                </a:rPr>
                                <m:t>=</m:t>
                              </m:r>
                              <m:r>
                                <a:rPr lang="sr-Latn-RS" sz="2000" i="1">
                                  <a:latin typeface="Cambria Math" panose="02040503050406030204" pitchFamily="18" charset="0"/>
                                  <a:ea typeface="Cambria Math" panose="02040503050406030204" pitchFamily="18" charset="0"/>
                                </a:rPr>
                                <m:t>𝐼</m:t>
                              </m:r>
                              <m:r>
                                <a:rPr lang="sr-Latn-RS" sz="2000" i="1">
                                  <a:latin typeface="Cambria Math" panose="02040503050406030204" pitchFamily="18" charset="0"/>
                                  <a:ea typeface="Cambria Math" panose="02040503050406030204" pitchFamily="18" charset="0"/>
                                </a:rPr>
                                <m:t>⨂</m:t>
                              </m:r>
                              <m:r>
                                <a:rPr lang="sr-Latn-RS" sz="2000" b="0" i="1" smtClean="0">
                                  <a:solidFill>
                                    <a:srgbClr val="FF0000"/>
                                  </a:solidFill>
                                  <a:latin typeface="Cambria Math" panose="02040503050406030204" pitchFamily="18" charset="0"/>
                                  <a:ea typeface="Cambria Math" panose="02040503050406030204" pitchFamily="18" charset="0"/>
                                </a:rPr>
                                <m:t>𝑋</m:t>
                              </m:r>
                              <m:r>
                                <a:rPr lang="sr-Latn-RS" sz="2000" i="1">
                                  <a:latin typeface="Cambria Math" panose="02040503050406030204" pitchFamily="18" charset="0"/>
                                  <a:ea typeface="Cambria Math" panose="02040503050406030204" pitchFamily="18" charset="0"/>
                                </a:rPr>
                                <m:t>⨂</m:t>
                              </m:r>
                              <m:r>
                                <a:rPr lang="sr-Latn-RS" sz="2000" i="1">
                                  <a:latin typeface="Cambria Math" panose="02040503050406030204" pitchFamily="18" charset="0"/>
                                  <a:ea typeface="Cambria Math" panose="02040503050406030204" pitchFamily="18" charset="0"/>
                                </a:rPr>
                                <m:t>𝐼</m:t>
                              </m:r>
                            </m:e>
                          </m:mr>
                          <m:mr>
                            <m:e>
                              <m:sSub>
                                <m:sSubPr>
                                  <m:ctrlPr>
                                    <a:rPr lang="en-US" sz="2000" i="1">
                                      <a:latin typeface="Cambria Math" panose="02040503050406030204" pitchFamily="18" charset="0"/>
                                      <a:ea typeface="Cambria Math" panose="02040503050406030204" pitchFamily="18" charset="0"/>
                                    </a:rPr>
                                  </m:ctrlPr>
                                </m:sSubPr>
                                <m:e>
                                  <m:r>
                                    <a:rPr lang="sr-Latn-RS" sz="2000" i="1">
                                      <a:latin typeface="Cambria Math" panose="02040503050406030204" pitchFamily="18" charset="0"/>
                                      <a:ea typeface="Cambria Math" panose="02040503050406030204" pitchFamily="18" charset="0"/>
                                    </a:rPr>
                                    <m:t>𝐸</m:t>
                                  </m:r>
                                </m:e>
                                <m:sub>
                                  <m:r>
                                    <a:rPr lang="sr-Latn-RS" sz="2000" b="0" i="1" smtClean="0">
                                      <a:latin typeface="Cambria Math" panose="02040503050406030204" pitchFamily="18" charset="0"/>
                                      <a:ea typeface="Cambria Math" panose="02040503050406030204" pitchFamily="18" charset="0"/>
                                    </a:rPr>
                                    <m:t>3</m:t>
                                  </m:r>
                                </m:sub>
                              </m:sSub>
                              <m:r>
                                <m:rPr>
                                  <m:brk m:alnAt="7"/>
                                </m:rPr>
                                <a:rPr lang="sr-Latn-RS" sz="2000" i="1">
                                  <a:latin typeface="Cambria Math" panose="02040503050406030204" pitchFamily="18" charset="0"/>
                                  <a:ea typeface="Cambria Math" panose="02040503050406030204" pitchFamily="18" charset="0"/>
                                </a:rPr>
                                <m:t>=</m:t>
                              </m:r>
                              <m:r>
                                <a:rPr lang="sr-Latn-RS" sz="2000" i="1">
                                  <a:latin typeface="Cambria Math" panose="02040503050406030204" pitchFamily="18" charset="0"/>
                                  <a:ea typeface="Cambria Math" panose="02040503050406030204" pitchFamily="18" charset="0"/>
                                </a:rPr>
                                <m:t>𝐼</m:t>
                              </m:r>
                              <m:r>
                                <a:rPr lang="sr-Latn-RS" sz="2000" i="1">
                                  <a:latin typeface="Cambria Math" panose="02040503050406030204" pitchFamily="18" charset="0"/>
                                  <a:ea typeface="Cambria Math" panose="02040503050406030204" pitchFamily="18" charset="0"/>
                                </a:rPr>
                                <m:t>⨂</m:t>
                              </m:r>
                              <m:r>
                                <a:rPr lang="sr-Latn-RS" sz="2000" i="1">
                                  <a:latin typeface="Cambria Math" panose="02040503050406030204" pitchFamily="18" charset="0"/>
                                  <a:ea typeface="Cambria Math" panose="02040503050406030204" pitchFamily="18" charset="0"/>
                                </a:rPr>
                                <m:t>𝐼</m:t>
                              </m:r>
                              <m:r>
                                <a:rPr lang="sr-Latn-RS" sz="2000" i="1">
                                  <a:latin typeface="Cambria Math" panose="02040503050406030204" pitchFamily="18" charset="0"/>
                                  <a:ea typeface="Cambria Math" panose="02040503050406030204" pitchFamily="18" charset="0"/>
                                </a:rPr>
                                <m:t>⨂</m:t>
                              </m:r>
                              <m:r>
                                <a:rPr lang="sr-Latn-RS" sz="2000" b="0" i="1" smtClean="0">
                                  <a:solidFill>
                                    <a:srgbClr val="FF0000"/>
                                  </a:solidFill>
                                  <a:latin typeface="Cambria Math" panose="02040503050406030204" pitchFamily="18" charset="0"/>
                                  <a:ea typeface="Cambria Math" panose="02040503050406030204" pitchFamily="18" charset="0"/>
                                </a:rPr>
                                <m:t>𝑋</m:t>
                              </m:r>
                            </m:e>
                          </m:mr>
                        </m:m>
                      </m:oMath>
                    </m:oMathPara>
                  </a14:m>
                  <a:endParaRPr lang="en-US" sz="2000" dirty="0"/>
                </a:p>
              </p:txBody>
            </p:sp>
          </mc:Choice>
          <mc:Fallback xmlns="">
            <p:sp>
              <p:nvSpPr>
                <p:cNvPr id="141" name="Rectangle 140">
                  <a:extLst>
                    <a:ext uri="{FF2B5EF4-FFF2-40B4-BE49-F238E27FC236}">
                      <a16:creationId xmlns:a16="http://schemas.microsoft.com/office/drawing/2014/main" id="{D19EEF1B-C442-AB4C-8D4B-B93384C5D3C2}"/>
                    </a:ext>
                  </a:extLst>
                </p:cNvPr>
                <p:cNvSpPr>
                  <a:spLocks noRot="1" noChangeAspect="1" noMove="1" noResize="1" noEditPoints="1" noAdjustHandles="1" noChangeArrowheads="1" noChangeShapeType="1" noTextEdit="1"/>
                </p:cNvSpPr>
                <p:nvPr/>
              </p:nvSpPr>
              <p:spPr>
                <a:xfrm>
                  <a:off x="3309913" y="1674776"/>
                  <a:ext cx="1953053" cy="1273810"/>
                </a:xfrm>
                <a:prstGeom prst="rect">
                  <a:avLst/>
                </a:prstGeom>
                <a:blipFill>
                  <a:blip r:embed="rId4"/>
                  <a:stretch>
                    <a:fillRect t="-2000" r="-8130"/>
                  </a:stretch>
                </a:blipFill>
              </p:spPr>
              <p:txBody>
                <a:bodyPr/>
                <a:lstStyle/>
                <a:p>
                  <a:r>
                    <a:rPr lang="en-US">
                      <a:noFill/>
                    </a:rPr>
                    <a:t> </a:t>
                  </a:r>
                </a:p>
              </p:txBody>
            </p:sp>
          </mc:Fallback>
        </mc:AlternateContent>
      </p:grpSp>
      <p:sp>
        <p:nvSpPr>
          <p:cNvPr id="75" name="Rectangle 74">
            <a:extLst>
              <a:ext uri="{FF2B5EF4-FFF2-40B4-BE49-F238E27FC236}">
                <a16:creationId xmlns:a16="http://schemas.microsoft.com/office/drawing/2014/main" id="{F9D6D4C9-3771-B642-B403-F34FFEE36237}"/>
              </a:ext>
            </a:extLst>
          </p:cNvPr>
          <p:cNvSpPr/>
          <p:nvPr/>
        </p:nvSpPr>
        <p:spPr>
          <a:xfrm>
            <a:off x="879897" y="1335755"/>
            <a:ext cx="1190305" cy="1860808"/>
          </a:xfrm>
          <a:prstGeom prst="rect">
            <a:avLst/>
          </a:prstGeom>
          <a:noFill/>
          <a:ln>
            <a:solidFill>
              <a:schemeClr val="accent1">
                <a:shade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TextBox 135">
            <a:extLst>
              <a:ext uri="{FF2B5EF4-FFF2-40B4-BE49-F238E27FC236}">
                <a16:creationId xmlns:a16="http://schemas.microsoft.com/office/drawing/2014/main" id="{37B2B352-C515-FE43-9610-B4665C30E1BD}"/>
              </a:ext>
            </a:extLst>
          </p:cNvPr>
          <p:cNvSpPr txBox="1"/>
          <p:nvPr/>
        </p:nvSpPr>
        <p:spPr>
          <a:xfrm>
            <a:off x="817545" y="3186860"/>
            <a:ext cx="1328249" cy="461665"/>
          </a:xfrm>
          <a:prstGeom prst="rect">
            <a:avLst/>
          </a:prstGeom>
          <a:noFill/>
        </p:spPr>
        <p:txBody>
          <a:bodyPr wrap="none" rtlCol="0">
            <a:spAutoFit/>
          </a:bodyPr>
          <a:lstStyle/>
          <a:p>
            <a:r>
              <a:rPr lang="en-US" sz="2400" dirty="0"/>
              <a:t>encoding</a:t>
            </a:r>
            <a:endParaRPr lang="en-US" sz="2400" baseline="-25000" dirty="0"/>
          </a:p>
        </p:txBody>
      </p:sp>
      <p:grpSp>
        <p:nvGrpSpPr>
          <p:cNvPr id="59" name="Group 58">
            <a:extLst>
              <a:ext uri="{FF2B5EF4-FFF2-40B4-BE49-F238E27FC236}">
                <a16:creationId xmlns:a16="http://schemas.microsoft.com/office/drawing/2014/main" id="{450FDB76-FDBA-1A49-9A9A-3AB0A6AD6802}"/>
              </a:ext>
            </a:extLst>
          </p:cNvPr>
          <p:cNvGrpSpPr/>
          <p:nvPr/>
        </p:nvGrpSpPr>
        <p:grpSpPr>
          <a:xfrm>
            <a:off x="1054455" y="1544279"/>
            <a:ext cx="427215" cy="855401"/>
            <a:chOff x="1328178" y="1242270"/>
            <a:chExt cx="540000" cy="1081228"/>
          </a:xfrm>
        </p:grpSpPr>
        <p:cxnSp>
          <p:nvCxnSpPr>
            <p:cNvPr id="10" name="Straight Connector 9">
              <a:extLst>
                <a:ext uri="{FF2B5EF4-FFF2-40B4-BE49-F238E27FC236}">
                  <a16:creationId xmlns:a16="http://schemas.microsoft.com/office/drawing/2014/main" id="{CFF000E6-B11A-774F-B1FA-CFFC48CDF33F}"/>
                </a:ext>
              </a:extLst>
            </p:cNvPr>
            <p:cNvCxnSpPr>
              <a:cxnSpLocks/>
              <a:stCxn id="12" idx="0"/>
              <a:endCxn id="11" idx="4"/>
            </p:cNvCxnSpPr>
            <p:nvPr/>
          </p:nvCxnSpPr>
          <p:spPr>
            <a:xfrm flipV="1">
              <a:off x="1598178" y="1422270"/>
              <a:ext cx="5329" cy="36122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465065AA-7970-CC4A-90E1-F74D3E2EDEBE}"/>
                </a:ext>
              </a:extLst>
            </p:cNvPr>
            <p:cNvSpPr/>
            <p:nvPr/>
          </p:nvSpPr>
          <p:spPr>
            <a:xfrm>
              <a:off x="1513507" y="1242270"/>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12" name="Oval 11">
              <a:extLst>
                <a:ext uri="{FF2B5EF4-FFF2-40B4-BE49-F238E27FC236}">
                  <a16:creationId xmlns:a16="http://schemas.microsoft.com/office/drawing/2014/main" id="{66FCC10D-266E-9249-940B-12348E8EE753}"/>
                </a:ext>
              </a:extLst>
            </p:cNvPr>
            <p:cNvSpPr>
              <a:spLocks noChangeAspect="1"/>
            </p:cNvSpPr>
            <p:nvPr/>
          </p:nvSpPr>
          <p:spPr>
            <a:xfrm>
              <a:off x="1328178" y="1783498"/>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grpSp>
      <p:grpSp>
        <p:nvGrpSpPr>
          <p:cNvPr id="60" name="Group 59">
            <a:extLst>
              <a:ext uri="{FF2B5EF4-FFF2-40B4-BE49-F238E27FC236}">
                <a16:creationId xmlns:a16="http://schemas.microsoft.com/office/drawing/2014/main" id="{2CE055B1-1432-E747-ADAE-E2C26705B954}"/>
              </a:ext>
            </a:extLst>
          </p:cNvPr>
          <p:cNvGrpSpPr/>
          <p:nvPr/>
        </p:nvGrpSpPr>
        <p:grpSpPr>
          <a:xfrm>
            <a:off x="1523302" y="1543588"/>
            <a:ext cx="427215" cy="1442606"/>
            <a:chOff x="1328178" y="500043"/>
            <a:chExt cx="540000" cy="1823455"/>
          </a:xfrm>
        </p:grpSpPr>
        <p:cxnSp>
          <p:nvCxnSpPr>
            <p:cNvPr id="61" name="Straight Connector 60">
              <a:extLst>
                <a:ext uri="{FF2B5EF4-FFF2-40B4-BE49-F238E27FC236}">
                  <a16:creationId xmlns:a16="http://schemas.microsoft.com/office/drawing/2014/main" id="{327985ED-C1F0-4048-835B-4CC5EAEDB07B}"/>
                </a:ext>
              </a:extLst>
            </p:cNvPr>
            <p:cNvCxnSpPr>
              <a:cxnSpLocks/>
              <a:stCxn id="63" idx="0"/>
              <a:endCxn id="62" idx="4"/>
            </p:cNvCxnSpPr>
            <p:nvPr/>
          </p:nvCxnSpPr>
          <p:spPr>
            <a:xfrm flipV="1">
              <a:off x="1598179" y="680043"/>
              <a:ext cx="5329" cy="110345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Oval 61">
              <a:extLst>
                <a:ext uri="{FF2B5EF4-FFF2-40B4-BE49-F238E27FC236}">
                  <a16:creationId xmlns:a16="http://schemas.microsoft.com/office/drawing/2014/main" id="{3C5E5F56-0817-CB4A-8BFE-BE0DB404F4A4}"/>
                </a:ext>
              </a:extLst>
            </p:cNvPr>
            <p:cNvSpPr/>
            <p:nvPr/>
          </p:nvSpPr>
          <p:spPr>
            <a:xfrm>
              <a:off x="1513507" y="500043"/>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63" name="Oval 62">
              <a:extLst>
                <a:ext uri="{FF2B5EF4-FFF2-40B4-BE49-F238E27FC236}">
                  <a16:creationId xmlns:a16="http://schemas.microsoft.com/office/drawing/2014/main" id="{9D503B65-BF19-5144-AAE4-920408B9AA5F}"/>
                </a:ext>
              </a:extLst>
            </p:cNvPr>
            <p:cNvSpPr>
              <a:spLocks noChangeAspect="1"/>
            </p:cNvSpPr>
            <p:nvPr/>
          </p:nvSpPr>
          <p:spPr>
            <a:xfrm>
              <a:off x="1328178" y="1783498"/>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grpSp>
      <p:grpSp>
        <p:nvGrpSpPr>
          <p:cNvPr id="41" name="Group 40">
            <a:extLst>
              <a:ext uri="{FF2B5EF4-FFF2-40B4-BE49-F238E27FC236}">
                <a16:creationId xmlns:a16="http://schemas.microsoft.com/office/drawing/2014/main" id="{1DBC56F1-ADE5-1E4D-86CF-4C73D0182184}"/>
              </a:ext>
            </a:extLst>
          </p:cNvPr>
          <p:cNvGrpSpPr/>
          <p:nvPr/>
        </p:nvGrpSpPr>
        <p:grpSpPr>
          <a:xfrm>
            <a:off x="9740210" y="829340"/>
            <a:ext cx="2275536" cy="2861854"/>
            <a:chOff x="9740210" y="829340"/>
            <a:chExt cx="2275536" cy="2861854"/>
          </a:xfrm>
        </p:grpSpPr>
        <p:sp>
          <p:nvSpPr>
            <p:cNvPr id="36" name="Rectangle 35">
              <a:extLst>
                <a:ext uri="{FF2B5EF4-FFF2-40B4-BE49-F238E27FC236}">
                  <a16:creationId xmlns:a16="http://schemas.microsoft.com/office/drawing/2014/main" id="{8899D5BA-DFC9-4D4F-891B-809F6FBCC999}"/>
                </a:ext>
              </a:extLst>
            </p:cNvPr>
            <p:cNvSpPr/>
            <p:nvPr/>
          </p:nvSpPr>
          <p:spPr>
            <a:xfrm>
              <a:off x="9740210" y="1352110"/>
              <a:ext cx="1190305" cy="1860809"/>
            </a:xfrm>
            <a:prstGeom prst="rect">
              <a:avLst/>
            </a:prstGeom>
            <a:noFill/>
            <a:ln>
              <a:solidFill>
                <a:schemeClr val="accent1">
                  <a:shade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Rectangle 134">
                  <a:extLst>
                    <a:ext uri="{FF2B5EF4-FFF2-40B4-BE49-F238E27FC236}">
                      <a16:creationId xmlns:a16="http://schemas.microsoft.com/office/drawing/2014/main" id="{B416D723-5D8A-674C-83D0-99F75924C327}"/>
                    </a:ext>
                  </a:extLst>
                </p:cNvPr>
                <p:cNvSpPr/>
                <p:nvPr/>
              </p:nvSpPr>
              <p:spPr>
                <a:xfrm>
                  <a:off x="10309069" y="829340"/>
                  <a:ext cx="1706677" cy="461665"/>
                </a:xfrm>
                <a:prstGeom prst="rect">
                  <a:avLst/>
                </a:prstGeom>
                <a:solidFill>
                  <a:schemeClr val="accent4">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𝑎</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0</m:t>
                            </m:r>
                          </m:e>
                        </m:d>
                        <m:r>
                          <a:rPr lang="en-US" sz="2400" b="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𝑏</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m:t>
                            </m:r>
                          </m:e>
                        </m:d>
                      </m:oMath>
                    </m:oMathPara>
                  </a14:m>
                  <a:endParaRPr lang="en-US" sz="2400" dirty="0"/>
                </a:p>
              </p:txBody>
            </p:sp>
          </mc:Choice>
          <mc:Fallback xmlns="">
            <p:sp>
              <p:nvSpPr>
                <p:cNvPr id="135" name="Rectangle 134">
                  <a:extLst>
                    <a:ext uri="{FF2B5EF4-FFF2-40B4-BE49-F238E27FC236}">
                      <a16:creationId xmlns:a16="http://schemas.microsoft.com/office/drawing/2014/main" id="{B416D723-5D8A-674C-83D0-99F75924C327}"/>
                    </a:ext>
                  </a:extLst>
                </p:cNvPr>
                <p:cNvSpPr>
                  <a:spLocks noRot="1" noChangeAspect="1" noMove="1" noResize="1" noEditPoints="1" noAdjustHandles="1" noChangeArrowheads="1" noChangeShapeType="1" noTextEdit="1"/>
                </p:cNvSpPr>
                <p:nvPr/>
              </p:nvSpPr>
              <p:spPr>
                <a:xfrm>
                  <a:off x="10309069" y="829340"/>
                  <a:ext cx="1706677" cy="461665"/>
                </a:xfrm>
                <a:prstGeom prst="rect">
                  <a:avLst/>
                </a:prstGeom>
                <a:blipFill>
                  <a:blip r:embed="rId5"/>
                  <a:stretch>
                    <a:fillRect t="-121053" r="-19259" b="-186842"/>
                  </a:stretch>
                </a:blipFill>
              </p:spPr>
              <p:txBody>
                <a:bodyPr/>
                <a:lstStyle/>
                <a:p>
                  <a:r>
                    <a:rPr lang="en-US">
                      <a:noFill/>
                    </a:rPr>
                    <a:t> </a:t>
                  </a:r>
                </a:p>
              </p:txBody>
            </p:sp>
          </mc:Fallback>
        </mc:AlternateContent>
        <p:sp>
          <p:nvSpPr>
            <p:cNvPr id="137" name="TextBox 136">
              <a:extLst>
                <a:ext uri="{FF2B5EF4-FFF2-40B4-BE49-F238E27FC236}">
                  <a16:creationId xmlns:a16="http://schemas.microsoft.com/office/drawing/2014/main" id="{46B0A05D-8EC2-0B43-A86F-499A66938D3F}"/>
                </a:ext>
              </a:extLst>
            </p:cNvPr>
            <p:cNvSpPr txBox="1"/>
            <p:nvPr/>
          </p:nvSpPr>
          <p:spPr>
            <a:xfrm>
              <a:off x="9740210" y="3260307"/>
              <a:ext cx="1676088" cy="430887"/>
            </a:xfrm>
            <a:prstGeom prst="rect">
              <a:avLst/>
            </a:prstGeom>
            <a:noFill/>
          </p:spPr>
          <p:txBody>
            <a:bodyPr wrap="square" rtlCol="0">
              <a:spAutoFit/>
            </a:bodyPr>
            <a:lstStyle/>
            <a:p>
              <a:r>
                <a:rPr lang="en-US" sz="2200" dirty="0"/>
                <a:t>decoding</a:t>
              </a:r>
              <a:endParaRPr lang="en-US" sz="2200" baseline="-25000" dirty="0"/>
            </a:p>
          </p:txBody>
        </p:sp>
      </p:grpSp>
      <p:grpSp>
        <p:nvGrpSpPr>
          <p:cNvPr id="65" name="Group 64">
            <a:extLst>
              <a:ext uri="{FF2B5EF4-FFF2-40B4-BE49-F238E27FC236}">
                <a16:creationId xmlns:a16="http://schemas.microsoft.com/office/drawing/2014/main" id="{32D0FEC7-845A-824C-BE41-1856BA5AEEE7}"/>
              </a:ext>
            </a:extLst>
          </p:cNvPr>
          <p:cNvGrpSpPr/>
          <p:nvPr/>
        </p:nvGrpSpPr>
        <p:grpSpPr>
          <a:xfrm>
            <a:off x="9893134" y="1518589"/>
            <a:ext cx="427215" cy="871994"/>
            <a:chOff x="1342436" y="449255"/>
            <a:chExt cx="540000" cy="1102201"/>
          </a:xfrm>
        </p:grpSpPr>
        <p:cxnSp>
          <p:nvCxnSpPr>
            <p:cNvPr id="66" name="Straight Connector 65">
              <a:extLst>
                <a:ext uri="{FF2B5EF4-FFF2-40B4-BE49-F238E27FC236}">
                  <a16:creationId xmlns:a16="http://schemas.microsoft.com/office/drawing/2014/main" id="{8444B726-EF49-D74E-B68B-3462394D8BF7}"/>
                </a:ext>
              </a:extLst>
            </p:cNvPr>
            <p:cNvCxnSpPr>
              <a:cxnSpLocks/>
              <a:stCxn id="68" idx="0"/>
              <a:endCxn id="67" idx="4"/>
            </p:cNvCxnSpPr>
            <p:nvPr/>
          </p:nvCxnSpPr>
          <p:spPr>
            <a:xfrm flipH="1" flipV="1">
              <a:off x="1603508" y="629255"/>
              <a:ext cx="8929" cy="38220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4A61A121-7347-C345-A3DD-B7D7F5A1D834}"/>
                </a:ext>
              </a:extLst>
            </p:cNvPr>
            <p:cNvSpPr/>
            <p:nvPr/>
          </p:nvSpPr>
          <p:spPr>
            <a:xfrm>
              <a:off x="1513507" y="449255"/>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1CC8BBF1-52F9-1F4D-BF90-083879D21EE3}"/>
                </a:ext>
              </a:extLst>
            </p:cNvPr>
            <p:cNvSpPr>
              <a:spLocks noChangeAspect="1"/>
            </p:cNvSpPr>
            <p:nvPr/>
          </p:nvSpPr>
          <p:spPr>
            <a:xfrm>
              <a:off x="1342436" y="1011456"/>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grpSp>
      <p:grpSp>
        <p:nvGrpSpPr>
          <p:cNvPr id="69" name="Group 68">
            <a:extLst>
              <a:ext uri="{FF2B5EF4-FFF2-40B4-BE49-F238E27FC236}">
                <a16:creationId xmlns:a16="http://schemas.microsoft.com/office/drawing/2014/main" id="{99BE3E63-8827-9E4E-B4F8-3B1528983FB4}"/>
              </a:ext>
            </a:extLst>
          </p:cNvPr>
          <p:cNvGrpSpPr/>
          <p:nvPr/>
        </p:nvGrpSpPr>
        <p:grpSpPr>
          <a:xfrm>
            <a:off x="10373929" y="1524078"/>
            <a:ext cx="427215" cy="1465151"/>
            <a:chOff x="1328178" y="1183594"/>
            <a:chExt cx="540000" cy="1851945"/>
          </a:xfrm>
        </p:grpSpPr>
        <p:cxnSp>
          <p:nvCxnSpPr>
            <p:cNvPr id="70" name="Straight Connector 69">
              <a:extLst>
                <a:ext uri="{FF2B5EF4-FFF2-40B4-BE49-F238E27FC236}">
                  <a16:creationId xmlns:a16="http://schemas.microsoft.com/office/drawing/2014/main" id="{AC5E7D5E-D538-104B-9FED-F0143621837A}"/>
                </a:ext>
              </a:extLst>
            </p:cNvPr>
            <p:cNvCxnSpPr>
              <a:cxnSpLocks/>
              <a:stCxn id="72" idx="0"/>
              <a:endCxn id="71" idx="4"/>
            </p:cNvCxnSpPr>
            <p:nvPr/>
          </p:nvCxnSpPr>
          <p:spPr>
            <a:xfrm flipV="1">
              <a:off x="1598179" y="1363593"/>
              <a:ext cx="17714" cy="11319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BC500D9F-326F-7B48-92C6-9166D7F96738}"/>
                </a:ext>
              </a:extLst>
            </p:cNvPr>
            <p:cNvSpPr/>
            <p:nvPr/>
          </p:nvSpPr>
          <p:spPr>
            <a:xfrm>
              <a:off x="1525892" y="1183594"/>
              <a:ext cx="180000" cy="179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C8A56794-758C-C746-95D0-55F33FC26A3B}"/>
                </a:ext>
              </a:extLst>
            </p:cNvPr>
            <p:cNvSpPr>
              <a:spLocks noChangeAspect="1"/>
            </p:cNvSpPr>
            <p:nvPr/>
          </p:nvSpPr>
          <p:spPr>
            <a:xfrm>
              <a:off x="1328178" y="2495538"/>
              <a:ext cx="540000" cy="5400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grpSp>
      <mc:AlternateContent xmlns:mc="http://schemas.openxmlformats.org/markup-compatibility/2006" xmlns:a14="http://schemas.microsoft.com/office/drawing/2010/main">
        <mc:Choice Requires="a14">
          <p:graphicFrame>
            <p:nvGraphicFramePr>
              <p:cNvPr id="33" name="Table 32">
                <a:extLst>
                  <a:ext uri="{FF2B5EF4-FFF2-40B4-BE49-F238E27FC236}">
                    <a16:creationId xmlns:a16="http://schemas.microsoft.com/office/drawing/2014/main" id="{292F6DFA-2E9C-0341-9C6F-7DA53E7FC34A}"/>
                  </a:ext>
                </a:extLst>
              </p:cNvPr>
              <p:cNvGraphicFramePr>
                <a:graphicFrameLocks noGrp="1"/>
              </p:cNvGraphicFramePr>
              <p:nvPr>
                <p:extLst/>
              </p:nvPr>
            </p:nvGraphicFramePr>
            <p:xfrm>
              <a:off x="8510679" y="4486554"/>
              <a:ext cx="3512032" cy="2286000"/>
            </p:xfrm>
            <a:graphic>
              <a:graphicData uri="http://schemas.openxmlformats.org/drawingml/2006/table">
                <a:tbl>
                  <a:tblPr firstRow="1" bandRow="1">
                    <a:tableStyleId>{5C22544A-7EE6-4342-B048-85BDC9FD1C3A}</a:tableStyleId>
                  </a:tblPr>
                  <a:tblGrid>
                    <a:gridCol w="660336">
                      <a:extLst>
                        <a:ext uri="{9D8B030D-6E8A-4147-A177-3AD203B41FA5}">
                          <a16:colId xmlns:a16="http://schemas.microsoft.com/office/drawing/2014/main" val="3670628882"/>
                        </a:ext>
                      </a:extLst>
                    </a:gridCol>
                    <a:gridCol w="448574">
                      <a:extLst>
                        <a:ext uri="{9D8B030D-6E8A-4147-A177-3AD203B41FA5}">
                          <a16:colId xmlns:a16="http://schemas.microsoft.com/office/drawing/2014/main" val="3523517998"/>
                        </a:ext>
                      </a:extLst>
                    </a:gridCol>
                    <a:gridCol w="2403122">
                      <a:extLst>
                        <a:ext uri="{9D8B030D-6E8A-4147-A177-3AD203B41FA5}">
                          <a16:colId xmlns:a16="http://schemas.microsoft.com/office/drawing/2014/main" val="2329982660"/>
                        </a:ext>
                      </a:extLst>
                    </a:gridCol>
                  </a:tblGrid>
                  <a:tr h="370840">
                    <a:tc>
                      <a:txBody>
                        <a:bodyPr/>
                        <a:lstStyle/>
                        <a:p>
                          <a:pPr algn="ctr"/>
                          <a:r>
                            <a:rPr lang="en-US" sz="2400" dirty="0"/>
                            <a:t>S</a:t>
                          </a:r>
                          <a:r>
                            <a:rPr lang="en-US" sz="2400" baseline="-25000" dirty="0"/>
                            <a:t>1</a:t>
                          </a:r>
                        </a:p>
                      </a:txBody>
                      <a:tcPr/>
                    </a:tc>
                    <a:tc>
                      <a:txBody>
                        <a:bodyPr/>
                        <a:lstStyle/>
                        <a:p>
                          <a:pPr algn="ctr"/>
                          <a:r>
                            <a:rPr lang="en-US" sz="2400" dirty="0"/>
                            <a:t>S</a:t>
                          </a:r>
                          <a:r>
                            <a:rPr lang="en-US" sz="2400" baseline="-25000" dirty="0"/>
                            <a:t>2</a:t>
                          </a:r>
                        </a:p>
                      </a:txBody>
                      <a:tcPr/>
                    </a:tc>
                    <a:tc>
                      <a:txBody>
                        <a:bodyPr/>
                        <a:lstStyle/>
                        <a:p>
                          <a:pPr algn="ctr"/>
                          <a:r>
                            <a:rPr lang="en-US" sz="2400" dirty="0"/>
                            <a:t>correction</a:t>
                          </a:r>
                        </a:p>
                      </a:txBody>
                      <a:tcPr/>
                    </a:tc>
                    <a:extLst>
                      <a:ext uri="{0D108BD9-81ED-4DB2-BD59-A6C34878D82A}">
                        <a16:rowId xmlns:a16="http://schemas.microsoft.com/office/drawing/2014/main" val="714321964"/>
                      </a:ext>
                    </a:extLst>
                  </a:tr>
                  <a:tr h="370840">
                    <a:tc>
                      <a:txBody>
                        <a:bodyPr/>
                        <a:lstStyle/>
                        <a:p>
                          <a:pPr algn="ctr"/>
                          <a:r>
                            <a:rPr lang="en-US" sz="2400" dirty="0"/>
                            <a:t>0</a:t>
                          </a:r>
                        </a:p>
                      </a:txBody>
                      <a:tcPr/>
                    </a:tc>
                    <a:tc>
                      <a:txBody>
                        <a:bodyPr/>
                        <a:lstStyle/>
                        <a:p>
                          <a:pPr algn="ctr"/>
                          <a:r>
                            <a:rPr lang="en-US" sz="2400" dirty="0"/>
                            <a:t>0</a:t>
                          </a:r>
                        </a:p>
                      </a:txBody>
                      <a:tcPr/>
                    </a:tc>
                    <a:tc>
                      <a:txBody>
                        <a:bodyPr/>
                        <a:lstStyle/>
                        <a:p>
                          <a:pPr algn="ct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ea typeface="Cambria Math" panose="02040503050406030204" pitchFamily="18" charset="0"/>
                                  </a:rPr>
                                  <m:t>𝐼</m:t>
                                </m:r>
                                <m:r>
                                  <a:rPr lang="sr-Latn-RS" sz="2400" b="0" i="1" smtClean="0">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i="1">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b="0" i="1" smtClean="0">
                                    <a:latin typeface="Cambria Math" panose="02040503050406030204" pitchFamily="18" charset="0"/>
                                    <a:ea typeface="Cambria Math" panose="02040503050406030204" pitchFamily="18" charset="0"/>
                                  </a:rPr>
                                  <m:t> </m:t>
                                </m:r>
                              </m:oMath>
                            </m:oMathPara>
                          </a14:m>
                          <a:endParaRPr lang="en-US" sz="2400" dirty="0"/>
                        </a:p>
                      </a:txBody>
                      <a:tcPr/>
                    </a:tc>
                    <a:extLst>
                      <a:ext uri="{0D108BD9-81ED-4DB2-BD59-A6C34878D82A}">
                        <a16:rowId xmlns:a16="http://schemas.microsoft.com/office/drawing/2014/main" val="2619518790"/>
                      </a:ext>
                    </a:extLst>
                  </a:tr>
                  <a:tr h="370840">
                    <a:tc>
                      <a:txBody>
                        <a:bodyPr/>
                        <a:lstStyle/>
                        <a:p>
                          <a:pPr algn="ctr"/>
                          <a:r>
                            <a:rPr lang="en-US" sz="2400" dirty="0"/>
                            <a:t>0</a:t>
                          </a:r>
                        </a:p>
                      </a:txBody>
                      <a:tcPr/>
                    </a:tc>
                    <a:tc>
                      <a:txBody>
                        <a:bodyPr/>
                        <a:lstStyle/>
                        <a:p>
                          <a:pPr algn="ctr"/>
                          <a:r>
                            <a:rPr lang="en-US" sz="24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ea typeface="Cambria Math" panose="02040503050406030204" pitchFamily="18" charset="0"/>
                                  </a:rPr>
                                  <m:t>𝐼</m:t>
                                </m:r>
                                <m:r>
                                  <a:rPr lang="sr-Latn-RS" sz="2400" b="0" i="1" smtClean="0">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i="1">
                                    <a:latin typeface="Cambria Math" panose="02040503050406030204" pitchFamily="18" charset="0"/>
                                    <a:ea typeface="Cambria Math" panose="02040503050406030204" pitchFamily="18" charset="0"/>
                                  </a:rPr>
                                  <m:t>⨂</m:t>
                                </m:r>
                                <m:r>
                                  <a:rPr lang="sr-Latn-RS" sz="2400" b="0" i="1" smtClean="0">
                                    <a:solidFill>
                                      <a:srgbClr val="FF0000"/>
                                    </a:solidFill>
                                    <a:latin typeface="Cambria Math" panose="02040503050406030204" pitchFamily="18" charset="0"/>
                                    <a:ea typeface="Cambria Math" panose="02040503050406030204" pitchFamily="18" charset="0"/>
                                  </a:rPr>
                                  <m:t>𝑋</m:t>
                                </m:r>
                              </m:oMath>
                            </m:oMathPara>
                          </a14:m>
                          <a:endParaRPr lang="en-US" sz="2400" dirty="0"/>
                        </a:p>
                      </a:txBody>
                      <a:tcPr/>
                    </a:tc>
                    <a:extLst>
                      <a:ext uri="{0D108BD9-81ED-4DB2-BD59-A6C34878D82A}">
                        <a16:rowId xmlns:a16="http://schemas.microsoft.com/office/drawing/2014/main" val="1111230535"/>
                      </a:ext>
                    </a:extLst>
                  </a:tr>
                  <a:tr h="370840">
                    <a:tc>
                      <a:txBody>
                        <a:bodyPr/>
                        <a:lstStyle/>
                        <a:p>
                          <a:pPr algn="ctr"/>
                          <a:r>
                            <a:rPr lang="en-US" sz="2400" dirty="0"/>
                            <a:t>1</a:t>
                          </a:r>
                        </a:p>
                      </a:txBody>
                      <a:tcPr/>
                    </a:tc>
                    <a:tc>
                      <a:txBody>
                        <a:bodyPr/>
                        <a:lstStyle/>
                        <a:p>
                          <a:pPr algn="ctr"/>
                          <a:r>
                            <a:rPr lang="en-US" sz="24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r-Latn-RS" sz="2400" b="0" i="1" smtClean="0">
                                    <a:solidFill>
                                      <a:srgbClr val="FF0000"/>
                                    </a:solidFill>
                                    <a:latin typeface="Cambria Math" panose="02040503050406030204" pitchFamily="18" charset="0"/>
                                    <a:ea typeface="Cambria Math" panose="02040503050406030204" pitchFamily="18" charset="0"/>
                                  </a:rPr>
                                  <m:t>𝑋</m:t>
                                </m:r>
                                <m:r>
                                  <a:rPr lang="sr-Latn-RS" sz="2400" b="0" i="1" smtClean="0">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i="1">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b="0" i="1" smtClean="0">
                                    <a:latin typeface="Cambria Math" panose="02040503050406030204" pitchFamily="18" charset="0"/>
                                    <a:ea typeface="Cambria Math" panose="02040503050406030204" pitchFamily="18" charset="0"/>
                                  </a:rPr>
                                  <m:t> </m:t>
                                </m:r>
                              </m:oMath>
                            </m:oMathPara>
                          </a14:m>
                          <a:endParaRPr lang="en-US" sz="2400" dirty="0"/>
                        </a:p>
                      </a:txBody>
                      <a:tcPr/>
                    </a:tc>
                    <a:extLst>
                      <a:ext uri="{0D108BD9-81ED-4DB2-BD59-A6C34878D82A}">
                        <a16:rowId xmlns:a16="http://schemas.microsoft.com/office/drawing/2014/main" val="1416899177"/>
                      </a:ext>
                    </a:extLst>
                  </a:tr>
                  <a:tr h="370840">
                    <a:tc>
                      <a:txBody>
                        <a:bodyPr/>
                        <a:lstStyle/>
                        <a:p>
                          <a:pPr algn="ctr"/>
                          <a:r>
                            <a:rPr lang="en-US" sz="2400" dirty="0"/>
                            <a:t>1</a:t>
                          </a:r>
                        </a:p>
                      </a:txBody>
                      <a:tcPr/>
                    </a:tc>
                    <a:tc>
                      <a:txBody>
                        <a:bodyPr/>
                        <a:lstStyle/>
                        <a:p>
                          <a:pPr algn="ctr"/>
                          <a:r>
                            <a:rPr lang="en-US" sz="24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ea typeface="Cambria Math" panose="02040503050406030204" pitchFamily="18" charset="0"/>
                                  </a:rPr>
                                  <m:t>𝐼</m:t>
                                </m:r>
                                <m:r>
                                  <a:rPr lang="sr-Latn-RS" sz="2400" b="0" i="1" smtClean="0">
                                    <a:latin typeface="Cambria Math" panose="02040503050406030204" pitchFamily="18" charset="0"/>
                                    <a:ea typeface="Cambria Math" panose="02040503050406030204" pitchFamily="18" charset="0"/>
                                  </a:rPr>
                                  <m:t>⨂</m:t>
                                </m:r>
                                <m:r>
                                  <a:rPr lang="sr-Latn-RS" sz="2400" b="0" i="1" smtClean="0">
                                    <a:solidFill>
                                      <a:srgbClr val="FF0000"/>
                                    </a:solidFill>
                                    <a:latin typeface="Cambria Math" panose="02040503050406030204" pitchFamily="18" charset="0"/>
                                    <a:ea typeface="Cambria Math" panose="02040503050406030204" pitchFamily="18" charset="0"/>
                                  </a:rPr>
                                  <m:t>𝑋</m:t>
                                </m:r>
                                <m:r>
                                  <a:rPr lang="sr-Latn-RS" sz="2400" i="1">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𝐼</m:t>
                                </m:r>
                                <m:r>
                                  <a:rPr lang="sr-Latn-RS" sz="2400" b="0" i="1" smtClean="0">
                                    <a:latin typeface="Cambria Math" panose="02040503050406030204" pitchFamily="18" charset="0"/>
                                    <a:ea typeface="Cambria Math" panose="02040503050406030204" pitchFamily="18" charset="0"/>
                                  </a:rPr>
                                  <m:t> </m:t>
                                </m:r>
                              </m:oMath>
                            </m:oMathPara>
                          </a14:m>
                          <a:endParaRPr lang="en-US" sz="2400" dirty="0"/>
                        </a:p>
                      </a:txBody>
                      <a:tcPr/>
                    </a:tc>
                    <a:extLst>
                      <a:ext uri="{0D108BD9-81ED-4DB2-BD59-A6C34878D82A}">
                        <a16:rowId xmlns:a16="http://schemas.microsoft.com/office/drawing/2014/main" val="2542036436"/>
                      </a:ext>
                    </a:extLst>
                  </a:tr>
                </a:tbl>
              </a:graphicData>
            </a:graphic>
          </p:graphicFrame>
        </mc:Choice>
        <mc:Fallback xmlns="">
          <p:graphicFrame>
            <p:nvGraphicFramePr>
              <p:cNvPr id="33" name="Table 32">
                <a:extLst>
                  <a:ext uri="{FF2B5EF4-FFF2-40B4-BE49-F238E27FC236}">
                    <a16:creationId xmlns:a16="http://schemas.microsoft.com/office/drawing/2014/main" id="{292F6DFA-2E9C-0341-9C6F-7DA53E7FC34A}"/>
                  </a:ext>
                </a:extLst>
              </p:cNvPr>
              <p:cNvGraphicFramePr>
                <a:graphicFrameLocks noGrp="1"/>
              </p:cNvGraphicFramePr>
              <p:nvPr>
                <p:extLst>
                  <p:ext uri="{D42A27DB-BD31-4B8C-83A1-F6EECF244321}">
                    <p14:modId xmlns:p14="http://schemas.microsoft.com/office/powerpoint/2010/main" val="1702035298"/>
                  </p:ext>
                </p:extLst>
              </p:nvPr>
            </p:nvGraphicFramePr>
            <p:xfrm>
              <a:off x="8510679" y="4486554"/>
              <a:ext cx="3512032" cy="2286000"/>
            </p:xfrm>
            <a:graphic>
              <a:graphicData uri="http://schemas.openxmlformats.org/drawingml/2006/table">
                <a:tbl>
                  <a:tblPr firstRow="1" bandRow="1">
                    <a:tableStyleId>{5C22544A-7EE6-4342-B048-85BDC9FD1C3A}</a:tableStyleId>
                  </a:tblPr>
                  <a:tblGrid>
                    <a:gridCol w="660336">
                      <a:extLst>
                        <a:ext uri="{9D8B030D-6E8A-4147-A177-3AD203B41FA5}">
                          <a16:colId xmlns:a16="http://schemas.microsoft.com/office/drawing/2014/main" val="3670628882"/>
                        </a:ext>
                      </a:extLst>
                    </a:gridCol>
                    <a:gridCol w="448574">
                      <a:extLst>
                        <a:ext uri="{9D8B030D-6E8A-4147-A177-3AD203B41FA5}">
                          <a16:colId xmlns:a16="http://schemas.microsoft.com/office/drawing/2014/main" val="3523517998"/>
                        </a:ext>
                      </a:extLst>
                    </a:gridCol>
                    <a:gridCol w="2403122">
                      <a:extLst>
                        <a:ext uri="{9D8B030D-6E8A-4147-A177-3AD203B41FA5}">
                          <a16:colId xmlns:a16="http://schemas.microsoft.com/office/drawing/2014/main" val="2329982660"/>
                        </a:ext>
                      </a:extLst>
                    </a:gridCol>
                  </a:tblGrid>
                  <a:tr h="457200">
                    <a:tc>
                      <a:txBody>
                        <a:bodyPr/>
                        <a:lstStyle/>
                        <a:p>
                          <a:pPr algn="ctr"/>
                          <a:r>
                            <a:rPr lang="en-US" sz="2400" dirty="0"/>
                            <a:t>S</a:t>
                          </a:r>
                          <a:r>
                            <a:rPr lang="en-US" sz="2400" baseline="-25000" dirty="0"/>
                            <a:t>1</a:t>
                          </a:r>
                        </a:p>
                      </a:txBody>
                      <a:tcPr/>
                    </a:tc>
                    <a:tc>
                      <a:txBody>
                        <a:bodyPr/>
                        <a:lstStyle/>
                        <a:p>
                          <a:pPr algn="ctr"/>
                          <a:r>
                            <a:rPr lang="en-US" sz="2400" dirty="0"/>
                            <a:t>S</a:t>
                          </a:r>
                          <a:r>
                            <a:rPr lang="en-US" sz="2400" baseline="-25000" dirty="0"/>
                            <a:t>2</a:t>
                          </a:r>
                        </a:p>
                      </a:txBody>
                      <a:tcPr/>
                    </a:tc>
                    <a:tc>
                      <a:txBody>
                        <a:bodyPr/>
                        <a:lstStyle/>
                        <a:p>
                          <a:pPr algn="ctr"/>
                          <a:r>
                            <a:rPr lang="en-US" sz="2400" dirty="0"/>
                            <a:t>correction</a:t>
                          </a:r>
                        </a:p>
                      </a:txBody>
                      <a:tcPr/>
                    </a:tc>
                    <a:extLst>
                      <a:ext uri="{0D108BD9-81ED-4DB2-BD59-A6C34878D82A}">
                        <a16:rowId xmlns:a16="http://schemas.microsoft.com/office/drawing/2014/main" val="714321964"/>
                      </a:ext>
                    </a:extLst>
                  </a:tr>
                  <a:tr h="457200">
                    <a:tc>
                      <a:txBody>
                        <a:bodyPr/>
                        <a:lstStyle/>
                        <a:p>
                          <a:pPr algn="ctr"/>
                          <a:r>
                            <a:rPr lang="en-US" sz="2400" dirty="0"/>
                            <a:t>0</a:t>
                          </a:r>
                        </a:p>
                      </a:txBody>
                      <a:tcPr/>
                    </a:tc>
                    <a:tc>
                      <a:txBody>
                        <a:bodyPr/>
                        <a:lstStyle/>
                        <a:p>
                          <a:pPr algn="ctr"/>
                          <a:r>
                            <a:rPr lang="en-US" sz="2400" dirty="0"/>
                            <a:t>0</a:t>
                          </a:r>
                        </a:p>
                      </a:txBody>
                      <a:tcPr/>
                    </a:tc>
                    <a:tc>
                      <a:txBody>
                        <a:bodyPr/>
                        <a:lstStyle/>
                        <a:p>
                          <a:endParaRPr lang="en-US"/>
                        </a:p>
                      </a:txBody>
                      <a:tcPr>
                        <a:blipFill>
                          <a:blip r:embed="rId6"/>
                          <a:stretch>
                            <a:fillRect l="-46316" t="-111111" r="-526" b="-327778"/>
                          </a:stretch>
                        </a:blipFill>
                      </a:tcPr>
                    </a:tc>
                    <a:extLst>
                      <a:ext uri="{0D108BD9-81ED-4DB2-BD59-A6C34878D82A}">
                        <a16:rowId xmlns:a16="http://schemas.microsoft.com/office/drawing/2014/main" val="2619518790"/>
                      </a:ext>
                    </a:extLst>
                  </a:tr>
                  <a:tr h="457200">
                    <a:tc>
                      <a:txBody>
                        <a:bodyPr/>
                        <a:lstStyle/>
                        <a:p>
                          <a:pPr algn="ctr"/>
                          <a:r>
                            <a:rPr lang="en-US" sz="2400" dirty="0"/>
                            <a:t>0</a:t>
                          </a:r>
                        </a:p>
                      </a:txBody>
                      <a:tcPr/>
                    </a:tc>
                    <a:tc>
                      <a:txBody>
                        <a:bodyPr/>
                        <a:lstStyle/>
                        <a:p>
                          <a:pPr algn="ctr"/>
                          <a:r>
                            <a:rPr lang="en-US" sz="2400" dirty="0"/>
                            <a:t>1</a:t>
                          </a:r>
                        </a:p>
                      </a:txBody>
                      <a:tcPr/>
                    </a:tc>
                    <a:tc>
                      <a:txBody>
                        <a:bodyPr/>
                        <a:lstStyle/>
                        <a:p>
                          <a:endParaRPr lang="en-US"/>
                        </a:p>
                      </a:txBody>
                      <a:tcPr>
                        <a:blipFill>
                          <a:blip r:embed="rId6"/>
                          <a:stretch>
                            <a:fillRect l="-46316" t="-205405" r="-526" b="-218919"/>
                          </a:stretch>
                        </a:blipFill>
                      </a:tcPr>
                    </a:tc>
                    <a:extLst>
                      <a:ext uri="{0D108BD9-81ED-4DB2-BD59-A6C34878D82A}">
                        <a16:rowId xmlns:a16="http://schemas.microsoft.com/office/drawing/2014/main" val="1111230535"/>
                      </a:ext>
                    </a:extLst>
                  </a:tr>
                  <a:tr h="457200">
                    <a:tc>
                      <a:txBody>
                        <a:bodyPr/>
                        <a:lstStyle/>
                        <a:p>
                          <a:pPr algn="ctr"/>
                          <a:r>
                            <a:rPr lang="en-US" sz="2400" dirty="0"/>
                            <a:t>1</a:t>
                          </a:r>
                        </a:p>
                      </a:txBody>
                      <a:tcPr/>
                    </a:tc>
                    <a:tc>
                      <a:txBody>
                        <a:bodyPr/>
                        <a:lstStyle/>
                        <a:p>
                          <a:pPr algn="ctr"/>
                          <a:r>
                            <a:rPr lang="en-US" sz="2400" dirty="0"/>
                            <a:t>0</a:t>
                          </a:r>
                        </a:p>
                      </a:txBody>
                      <a:tcPr/>
                    </a:tc>
                    <a:tc>
                      <a:txBody>
                        <a:bodyPr/>
                        <a:lstStyle/>
                        <a:p>
                          <a:endParaRPr lang="en-US"/>
                        </a:p>
                      </a:txBody>
                      <a:tcPr>
                        <a:blipFill>
                          <a:blip r:embed="rId6"/>
                          <a:stretch>
                            <a:fillRect l="-46316" t="-313889" r="-526" b="-125000"/>
                          </a:stretch>
                        </a:blipFill>
                      </a:tcPr>
                    </a:tc>
                    <a:extLst>
                      <a:ext uri="{0D108BD9-81ED-4DB2-BD59-A6C34878D82A}">
                        <a16:rowId xmlns:a16="http://schemas.microsoft.com/office/drawing/2014/main" val="1416899177"/>
                      </a:ext>
                    </a:extLst>
                  </a:tr>
                  <a:tr h="457200">
                    <a:tc>
                      <a:txBody>
                        <a:bodyPr/>
                        <a:lstStyle/>
                        <a:p>
                          <a:pPr algn="ctr"/>
                          <a:r>
                            <a:rPr lang="en-US" sz="2400" dirty="0"/>
                            <a:t>1</a:t>
                          </a:r>
                        </a:p>
                      </a:txBody>
                      <a:tcPr/>
                    </a:tc>
                    <a:tc>
                      <a:txBody>
                        <a:bodyPr/>
                        <a:lstStyle/>
                        <a:p>
                          <a:pPr algn="ctr"/>
                          <a:r>
                            <a:rPr lang="en-US" sz="2400" dirty="0"/>
                            <a:t>1</a:t>
                          </a:r>
                        </a:p>
                      </a:txBody>
                      <a:tcPr/>
                    </a:tc>
                    <a:tc>
                      <a:txBody>
                        <a:bodyPr/>
                        <a:lstStyle/>
                        <a:p>
                          <a:endParaRPr lang="en-US"/>
                        </a:p>
                      </a:txBody>
                      <a:tcPr>
                        <a:blipFill>
                          <a:blip r:embed="rId6"/>
                          <a:stretch>
                            <a:fillRect l="-46316" t="-413889" r="-526" b="-25000"/>
                          </a:stretch>
                        </a:blipFill>
                      </a:tcPr>
                    </a:tc>
                    <a:extLst>
                      <a:ext uri="{0D108BD9-81ED-4DB2-BD59-A6C34878D82A}">
                        <a16:rowId xmlns:a16="http://schemas.microsoft.com/office/drawing/2014/main" val="2542036436"/>
                      </a:ext>
                    </a:extLst>
                  </a:tr>
                </a:tbl>
              </a:graphicData>
            </a:graphic>
          </p:graphicFrame>
        </mc:Fallback>
      </mc:AlternateContent>
      <p:grpSp>
        <p:nvGrpSpPr>
          <p:cNvPr id="52" name="Group 51">
            <a:extLst>
              <a:ext uri="{FF2B5EF4-FFF2-40B4-BE49-F238E27FC236}">
                <a16:creationId xmlns:a16="http://schemas.microsoft.com/office/drawing/2014/main" id="{6A376A44-15C7-1F42-BE6B-57A88E2B1887}"/>
              </a:ext>
            </a:extLst>
          </p:cNvPr>
          <p:cNvGrpSpPr/>
          <p:nvPr/>
        </p:nvGrpSpPr>
        <p:grpSpPr>
          <a:xfrm>
            <a:off x="4581803" y="3915321"/>
            <a:ext cx="3637201" cy="2928553"/>
            <a:chOff x="4581803" y="3915321"/>
            <a:chExt cx="3637201" cy="2928553"/>
          </a:xfrm>
        </p:grpSpPr>
        <p:grpSp>
          <p:nvGrpSpPr>
            <p:cNvPr id="28" name="Group 27">
              <a:extLst>
                <a:ext uri="{FF2B5EF4-FFF2-40B4-BE49-F238E27FC236}">
                  <a16:creationId xmlns:a16="http://schemas.microsoft.com/office/drawing/2014/main" id="{38011E91-6604-5C40-9B81-A2BE1A854453}"/>
                </a:ext>
              </a:extLst>
            </p:cNvPr>
            <p:cNvGrpSpPr/>
            <p:nvPr/>
          </p:nvGrpSpPr>
          <p:grpSpPr>
            <a:xfrm>
              <a:off x="5071829" y="3915321"/>
              <a:ext cx="2726960" cy="2574821"/>
              <a:chOff x="4460470" y="3912196"/>
              <a:chExt cx="2726960" cy="2574821"/>
            </a:xfrm>
          </p:grpSpPr>
          <p:sp>
            <p:nvSpPr>
              <p:cNvPr id="21" name="TextBox 20">
                <a:extLst>
                  <a:ext uri="{FF2B5EF4-FFF2-40B4-BE49-F238E27FC236}">
                    <a16:creationId xmlns:a16="http://schemas.microsoft.com/office/drawing/2014/main" id="{641A97B6-0E68-6941-956A-E28972246622}"/>
                  </a:ext>
                </a:extLst>
              </p:cNvPr>
              <p:cNvSpPr txBox="1"/>
              <p:nvPr/>
            </p:nvSpPr>
            <p:spPr>
              <a:xfrm>
                <a:off x="4460470" y="4182818"/>
                <a:ext cx="340158" cy="461665"/>
              </a:xfrm>
              <a:prstGeom prst="rect">
                <a:avLst/>
              </a:prstGeom>
              <a:noFill/>
            </p:spPr>
            <p:txBody>
              <a:bodyPr wrap="none" rtlCol="0">
                <a:spAutoFit/>
              </a:bodyPr>
              <a:lstStyle/>
              <a:p>
                <a:r>
                  <a:rPr lang="en-US" sz="2400" dirty="0"/>
                  <a:t>0</a:t>
                </a:r>
              </a:p>
            </p:txBody>
          </p:sp>
          <p:sp>
            <p:nvSpPr>
              <p:cNvPr id="87" name="TextBox 86">
                <a:extLst>
                  <a:ext uri="{FF2B5EF4-FFF2-40B4-BE49-F238E27FC236}">
                    <a16:creationId xmlns:a16="http://schemas.microsoft.com/office/drawing/2014/main" id="{FB75B8EC-F834-154A-856E-2E7760AC65C4}"/>
                  </a:ext>
                </a:extLst>
              </p:cNvPr>
              <p:cNvSpPr txBox="1"/>
              <p:nvPr/>
            </p:nvSpPr>
            <p:spPr>
              <a:xfrm>
                <a:off x="5582781" y="4182818"/>
                <a:ext cx="340158" cy="461665"/>
              </a:xfrm>
              <a:prstGeom prst="rect">
                <a:avLst/>
              </a:prstGeom>
              <a:noFill/>
            </p:spPr>
            <p:txBody>
              <a:bodyPr wrap="none" rtlCol="0">
                <a:spAutoFit/>
              </a:bodyPr>
              <a:lstStyle/>
              <a:p>
                <a:r>
                  <a:rPr lang="en-US" sz="2400" dirty="0"/>
                  <a:t>1</a:t>
                </a:r>
              </a:p>
            </p:txBody>
          </p:sp>
          <p:sp>
            <p:nvSpPr>
              <p:cNvPr id="88" name="TextBox 87">
                <a:extLst>
                  <a:ext uri="{FF2B5EF4-FFF2-40B4-BE49-F238E27FC236}">
                    <a16:creationId xmlns:a16="http://schemas.microsoft.com/office/drawing/2014/main" id="{64832A1B-8294-B74D-A91D-A14BFFE02974}"/>
                  </a:ext>
                </a:extLst>
              </p:cNvPr>
              <p:cNvSpPr txBox="1"/>
              <p:nvPr/>
            </p:nvSpPr>
            <p:spPr>
              <a:xfrm>
                <a:off x="6421390" y="4929219"/>
                <a:ext cx="340158" cy="461665"/>
              </a:xfrm>
              <a:prstGeom prst="rect">
                <a:avLst/>
              </a:prstGeom>
              <a:noFill/>
            </p:spPr>
            <p:txBody>
              <a:bodyPr wrap="none" rtlCol="0">
                <a:spAutoFit/>
              </a:bodyPr>
              <a:lstStyle/>
              <a:p>
                <a:r>
                  <a:rPr lang="en-US" sz="2400" dirty="0"/>
                  <a:t>0</a:t>
                </a:r>
              </a:p>
            </p:txBody>
          </p:sp>
          <p:sp>
            <p:nvSpPr>
              <p:cNvPr id="98" name="TextBox 97">
                <a:extLst>
                  <a:ext uri="{FF2B5EF4-FFF2-40B4-BE49-F238E27FC236}">
                    <a16:creationId xmlns:a16="http://schemas.microsoft.com/office/drawing/2014/main" id="{40E5AA8B-5E49-F748-8172-B20150DBFAE5}"/>
                  </a:ext>
                </a:extLst>
              </p:cNvPr>
              <p:cNvSpPr txBox="1"/>
              <p:nvPr/>
            </p:nvSpPr>
            <p:spPr>
              <a:xfrm>
                <a:off x="6414531" y="6025352"/>
                <a:ext cx="340158" cy="461665"/>
              </a:xfrm>
              <a:prstGeom prst="rect">
                <a:avLst/>
              </a:prstGeom>
              <a:noFill/>
            </p:spPr>
            <p:txBody>
              <a:bodyPr wrap="none" rtlCol="0">
                <a:spAutoFit/>
              </a:bodyPr>
              <a:lstStyle/>
              <a:p>
                <a:r>
                  <a:rPr lang="en-US" sz="2400" dirty="0"/>
                  <a:t>1</a:t>
                </a:r>
              </a:p>
            </p:txBody>
          </p:sp>
          <p:sp>
            <p:nvSpPr>
              <p:cNvPr id="114" name="TextBox 113">
                <a:extLst>
                  <a:ext uri="{FF2B5EF4-FFF2-40B4-BE49-F238E27FC236}">
                    <a16:creationId xmlns:a16="http://schemas.microsoft.com/office/drawing/2014/main" id="{F56414D1-5014-ED4F-8828-ECC822762F50}"/>
                  </a:ext>
                </a:extLst>
              </p:cNvPr>
              <p:cNvSpPr txBox="1"/>
              <p:nvPr/>
            </p:nvSpPr>
            <p:spPr>
              <a:xfrm>
                <a:off x="6757504" y="5414057"/>
                <a:ext cx="429926" cy="461665"/>
              </a:xfrm>
              <a:prstGeom prst="rect">
                <a:avLst/>
              </a:prstGeom>
              <a:noFill/>
            </p:spPr>
            <p:txBody>
              <a:bodyPr wrap="none" rtlCol="0">
                <a:spAutoFit/>
              </a:bodyPr>
              <a:lstStyle/>
              <a:p>
                <a:r>
                  <a:rPr lang="en-US" sz="2400" dirty="0"/>
                  <a:t>S</a:t>
                </a:r>
                <a:r>
                  <a:rPr lang="en-US" sz="2400" baseline="-25000" dirty="0"/>
                  <a:t>2</a:t>
                </a:r>
              </a:p>
            </p:txBody>
          </p:sp>
          <p:sp>
            <p:nvSpPr>
              <p:cNvPr id="116" name="TextBox 115">
                <a:extLst>
                  <a:ext uri="{FF2B5EF4-FFF2-40B4-BE49-F238E27FC236}">
                    <a16:creationId xmlns:a16="http://schemas.microsoft.com/office/drawing/2014/main" id="{AECEF406-52A7-8F4B-AB57-3747E6CC3CAE}"/>
                  </a:ext>
                </a:extLst>
              </p:cNvPr>
              <p:cNvSpPr txBox="1"/>
              <p:nvPr/>
            </p:nvSpPr>
            <p:spPr>
              <a:xfrm>
                <a:off x="5010451" y="3912196"/>
                <a:ext cx="429926" cy="461665"/>
              </a:xfrm>
              <a:prstGeom prst="rect">
                <a:avLst/>
              </a:prstGeom>
              <a:noFill/>
            </p:spPr>
            <p:txBody>
              <a:bodyPr wrap="none" rtlCol="0">
                <a:spAutoFit/>
              </a:bodyPr>
              <a:lstStyle/>
              <a:p>
                <a:r>
                  <a:rPr lang="en-US" sz="2400" dirty="0"/>
                  <a:t>S</a:t>
                </a:r>
                <a:r>
                  <a:rPr lang="en-US" sz="2400" baseline="-25000" dirty="0"/>
                  <a:t>1</a:t>
                </a:r>
              </a:p>
            </p:txBody>
          </p:sp>
        </p:grpSp>
        <p:sp>
          <p:nvSpPr>
            <p:cNvPr id="9" name="Rectangle 8">
              <a:extLst>
                <a:ext uri="{FF2B5EF4-FFF2-40B4-BE49-F238E27FC236}">
                  <a16:creationId xmlns:a16="http://schemas.microsoft.com/office/drawing/2014/main" id="{974BEA8A-E9B0-7E4C-ACD2-E641AEFB4F13}"/>
                </a:ext>
              </a:extLst>
            </p:cNvPr>
            <p:cNvSpPr/>
            <p:nvPr/>
          </p:nvSpPr>
          <p:spPr>
            <a:xfrm>
              <a:off x="4658426" y="4669032"/>
              <a:ext cx="2322637" cy="212037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0ED94C29-E070-F844-80FE-2F0F661C8EA7}"/>
                </a:ext>
              </a:extLst>
            </p:cNvPr>
            <p:cNvCxnSpPr>
              <a:cxnSpLocks/>
            </p:cNvCxnSpPr>
            <p:nvPr/>
          </p:nvCxnSpPr>
          <p:spPr>
            <a:xfrm>
              <a:off x="4658426" y="5729217"/>
              <a:ext cx="26074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83311DC2-C2FD-0D4D-8F03-7498DC59EF67}"/>
                </a:ext>
              </a:extLst>
            </p:cNvPr>
            <p:cNvCxnSpPr>
              <a:cxnSpLocks/>
            </p:cNvCxnSpPr>
            <p:nvPr/>
          </p:nvCxnSpPr>
          <p:spPr>
            <a:xfrm flipV="1">
              <a:off x="5819744" y="4416775"/>
              <a:ext cx="0" cy="240427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9F5D8B7-AA3E-CC44-86C1-B685434C870E}"/>
                    </a:ext>
                  </a:extLst>
                </p:cNvPr>
                <p:cNvSpPr txBox="1"/>
                <p:nvPr/>
              </p:nvSpPr>
              <p:spPr>
                <a:xfrm>
                  <a:off x="4595321" y="4790355"/>
                  <a:ext cx="1290160" cy="9722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ea typeface="Cambria Math" panose="02040503050406030204" pitchFamily="18" charset="0"/>
                              </a:rPr>
                            </m:ctrlPr>
                          </m:sSubPr>
                          <m:e>
                            <m:r>
                              <a:rPr lang="sr-Latn-RS" sz="2400" i="1">
                                <a:latin typeface="Cambria Math" panose="02040503050406030204" pitchFamily="18" charset="0"/>
                                <a:ea typeface="Cambria Math" panose="02040503050406030204" pitchFamily="18" charset="0"/>
                              </a:rPr>
                              <m:t>𝐸</m:t>
                            </m:r>
                          </m:e>
                          <m:sub>
                            <m:r>
                              <a:rPr lang="sr-Latn-RS" sz="2400" i="1">
                                <a:latin typeface="Cambria Math" panose="02040503050406030204" pitchFamily="18" charset="0"/>
                                <a:ea typeface="Cambria Math" panose="02040503050406030204" pitchFamily="18" charset="0"/>
                              </a:rPr>
                              <m:t>0</m:t>
                            </m:r>
                          </m:sub>
                        </m:sSub>
                        <m:m>
                          <m:mPr>
                            <m:mcs>
                              <m:mc>
                                <m:mcPr>
                                  <m:count m:val="1"/>
                                  <m:mcJc m:val="center"/>
                                </m:mcPr>
                              </m:mc>
                            </m:mcs>
                            <m:ctrlPr>
                              <a:rPr lang="sr-Latn-RS" sz="2400" i="1" smtClean="0">
                                <a:latin typeface="Cambria Math" panose="02040503050406030204" pitchFamily="18" charset="0"/>
                                <a:ea typeface="Cambria Math" panose="02040503050406030204" pitchFamily="18" charset="0"/>
                              </a:rPr>
                            </m:ctrlPr>
                          </m:mPr>
                          <m:m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acc>
                                    <m:accPr>
                                      <m:chr m:val="̂"/>
                                      <m:ctrlPr>
                                        <a:rPr lang="en-US" sz="2400" i="1" smtClean="0">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0</m:t>
                                      </m:r>
                                    </m:e>
                                  </m:acc>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0</m:t>
                                      </m:r>
                                    </m:e>
                                  </m:acc>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0</m:t>
                                      </m:r>
                                    </m:e>
                                  </m:acc>
                                </m:e>
                              </m:d>
                            </m:e>
                          </m:mr>
                          <m:m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1</m:t>
                                      </m:r>
                                    </m:e>
                                  </m:acc>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1</m:t>
                                      </m:r>
                                    </m:e>
                                  </m:acc>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1</m:t>
                                      </m:r>
                                    </m:e>
                                  </m:acc>
                                </m:e>
                              </m:d>
                            </m:e>
                          </m:mr>
                        </m:m>
                      </m:oMath>
                    </m:oMathPara>
                  </a14:m>
                  <a:endParaRPr lang="en-US" sz="2400" dirty="0"/>
                </a:p>
              </p:txBody>
            </p:sp>
          </mc:Choice>
          <mc:Fallback xmlns="">
            <p:sp>
              <p:nvSpPr>
                <p:cNvPr id="20" name="TextBox 19">
                  <a:extLst>
                    <a:ext uri="{FF2B5EF4-FFF2-40B4-BE49-F238E27FC236}">
                      <a16:creationId xmlns:a16="http://schemas.microsoft.com/office/drawing/2014/main" id="{E9F5D8B7-AA3E-CC44-86C1-B685434C870E}"/>
                    </a:ext>
                  </a:extLst>
                </p:cNvPr>
                <p:cNvSpPr txBox="1">
                  <a:spLocks noRot="1" noChangeAspect="1" noMove="1" noResize="1" noEditPoints="1" noAdjustHandles="1" noChangeArrowheads="1" noChangeShapeType="1" noTextEdit="1"/>
                </p:cNvSpPr>
                <p:nvPr/>
              </p:nvSpPr>
              <p:spPr>
                <a:xfrm>
                  <a:off x="4595321" y="4790355"/>
                  <a:ext cx="1290160" cy="972254"/>
                </a:xfrm>
                <a:prstGeom prst="rect">
                  <a:avLst/>
                </a:prstGeom>
                <a:blipFill>
                  <a:blip r:embed="rId7"/>
                  <a:stretch>
                    <a:fillRect t="-82051" r="-38235" b="-1256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6206482D-9911-6E42-89F3-420A5A6D1D43}"/>
                    </a:ext>
                  </a:extLst>
                </p:cNvPr>
                <p:cNvSpPr txBox="1"/>
                <p:nvPr/>
              </p:nvSpPr>
              <p:spPr>
                <a:xfrm>
                  <a:off x="5774642" y="4805088"/>
                  <a:ext cx="1283044" cy="9722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ea typeface="Cambria Math" panose="02040503050406030204" pitchFamily="18" charset="0"/>
                              </a:rPr>
                            </m:ctrlPr>
                          </m:sSubPr>
                          <m:e>
                            <m:r>
                              <a:rPr lang="sr-Latn-RS" sz="2400" i="1">
                                <a:latin typeface="Cambria Math" panose="02040503050406030204" pitchFamily="18" charset="0"/>
                                <a:ea typeface="Cambria Math" panose="02040503050406030204" pitchFamily="18" charset="0"/>
                              </a:rPr>
                              <m:t>𝐸</m:t>
                            </m:r>
                          </m:e>
                          <m:sub>
                            <m:r>
                              <a:rPr lang="sr-Latn-RS" sz="2400" b="0" i="1" smtClean="0">
                                <a:latin typeface="Cambria Math" panose="02040503050406030204" pitchFamily="18" charset="0"/>
                                <a:ea typeface="Cambria Math" panose="02040503050406030204" pitchFamily="18" charset="0"/>
                              </a:rPr>
                              <m:t>1</m:t>
                            </m:r>
                          </m:sub>
                        </m:sSub>
                        <m:m>
                          <m:mPr>
                            <m:mcs>
                              <m:mc>
                                <m:mcPr>
                                  <m:count m:val="1"/>
                                  <m:mcJc m:val="center"/>
                                </m:mcPr>
                              </m:mc>
                            </m:mcs>
                            <m:ctrlPr>
                              <a:rPr lang="sr-Latn-RS" sz="2400" i="1" smtClean="0">
                                <a:latin typeface="Cambria Math" panose="02040503050406030204" pitchFamily="18" charset="0"/>
                                <a:ea typeface="Cambria Math" panose="02040503050406030204" pitchFamily="18" charset="0"/>
                              </a:rPr>
                            </m:ctrlPr>
                          </m:mPr>
                          <m:m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1</m:t>
                                      </m:r>
                                    </m:e>
                                  </m:acc>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0</m:t>
                                      </m:r>
                                    </m:e>
                                  </m:acc>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0</m:t>
                                      </m:r>
                                    </m:e>
                                  </m:acc>
                                </m:e>
                              </m:d>
                            </m:e>
                          </m:mr>
                          <m:m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0</m:t>
                                      </m:r>
                                    </m:e>
                                  </m:acc>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1</m:t>
                                      </m:r>
                                    </m:e>
                                  </m:acc>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1</m:t>
                                      </m:r>
                                    </m:e>
                                  </m:acc>
                                </m:e>
                              </m:d>
                            </m:e>
                          </m:mr>
                        </m:m>
                      </m:oMath>
                    </m:oMathPara>
                  </a14:m>
                  <a:endParaRPr lang="en-US" sz="2400" dirty="0"/>
                </a:p>
              </p:txBody>
            </p:sp>
          </mc:Choice>
          <mc:Fallback xmlns="">
            <p:sp>
              <p:nvSpPr>
                <p:cNvPr id="103" name="TextBox 102">
                  <a:extLst>
                    <a:ext uri="{FF2B5EF4-FFF2-40B4-BE49-F238E27FC236}">
                      <a16:creationId xmlns:a16="http://schemas.microsoft.com/office/drawing/2014/main" id="{6206482D-9911-6E42-89F3-420A5A6D1D43}"/>
                    </a:ext>
                  </a:extLst>
                </p:cNvPr>
                <p:cNvSpPr txBox="1">
                  <a:spLocks noRot="1" noChangeAspect="1" noMove="1" noResize="1" noEditPoints="1" noAdjustHandles="1" noChangeArrowheads="1" noChangeShapeType="1" noTextEdit="1"/>
                </p:cNvSpPr>
                <p:nvPr/>
              </p:nvSpPr>
              <p:spPr>
                <a:xfrm>
                  <a:off x="5774642" y="4805088"/>
                  <a:ext cx="1283044" cy="972254"/>
                </a:xfrm>
                <a:prstGeom prst="rect">
                  <a:avLst/>
                </a:prstGeom>
                <a:blipFill>
                  <a:blip r:embed="rId8"/>
                  <a:stretch>
                    <a:fillRect t="-82051" r="-38235" b="-1256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83EB4084-FB84-0D4A-B41B-34124F6408D9}"/>
                    </a:ext>
                  </a:extLst>
                </p:cNvPr>
                <p:cNvSpPr txBox="1"/>
                <p:nvPr/>
              </p:nvSpPr>
              <p:spPr>
                <a:xfrm>
                  <a:off x="5749705" y="5871620"/>
                  <a:ext cx="1290160" cy="9722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sr-Latn-RS" sz="2400" i="1">
                                <a:solidFill>
                                  <a:schemeClr val="tx1"/>
                                </a:solidFill>
                                <a:latin typeface="Cambria Math" panose="02040503050406030204" pitchFamily="18" charset="0"/>
                                <a:ea typeface="Cambria Math" panose="02040503050406030204" pitchFamily="18" charset="0"/>
                              </a:rPr>
                              <m:t>𝐸</m:t>
                            </m:r>
                          </m:e>
                          <m:sub>
                            <m:r>
                              <a:rPr lang="sr-Latn-RS" sz="2400" b="0" i="1" smtClean="0">
                                <a:solidFill>
                                  <a:schemeClr val="tx1"/>
                                </a:solidFill>
                                <a:latin typeface="Cambria Math" panose="02040503050406030204" pitchFamily="18" charset="0"/>
                                <a:ea typeface="Cambria Math" panose="02040503050406030204" pitchFamily="18" charset="0"/>
                              </a:rPr>
                              <m:t>2</m:t>
                            </m:r>
                          </m:sub>
                        </m:sSub>
                        <m:m>
                          <m:mPr>
                            <m:mcs>
                              <m:mc>
                                <m:mcPr>
                                  <m:count m:val="1"/>
                                  <m:mcJc m:val="center"/>
                                </m:mcPr>
                              </m:mc>
                            </m:mcs>
                            <m:ctrlPr>
                              <a:rPr lang="sr-Latn-RS" sz="2400" i="1" smtClean="0">
                                <a:solidFill>
                                  <a:schemeClr val="tx1"/>
                                </a:solidFill>
                                <a:latin typeface="Cambria Math" panose="02040503050406030204" pitchFamily="18" charset="0"/>
                                <a:ea typeface="Cambria Math" panose="02040503050406030204" pitchFamily="18" charset="0"/>
                              </a:rPr>
                            </m:ctrlPr>
                          </m:mPr>
                          <m:mr>
                            <m:e>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i="1">
                                      <a:solidFill>
                                        <a:schemeClr val="tx1"/>
                                      </a:solidFill>
                                      <a:latin typeface="Cambria Math" panose="02040503050406030204" pitchFamily="18" charset="0"/>
                                      <a:ea typeface="Cambria Math" panose="02040503050406030204" pitchFamily="18" charset="0"/>
                                    </a:rPr>
                                    <m:t>|</m:t>
                                  </m:r>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0</m:t>
                                      </m:r>
                                    </m:e>
                                  </m:acc>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1</m:t>
                                      </m:r>
                                    </m:e>
                                  </m:acc>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0</m:t>
                                      </m:r>
                                    </m:e>
                                  </m:acc>
                                </m:e>
                              </m:d>
                            </m:e>
                          </m:mr>
                          <m:mr>
                            <m:e>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i="1">
                                      <a:solidFill>
                                        <a:schemeClr val="tx1"/>
                                      </a:solidFill>
                                      <a:latin typeface="Cambria Math" panose="02040503050406030204" pitchFamily="18" charset="0"/>
                                      <a:ea typeface="Cambria Math" panose="02040503050406030204" pitchFamily="18" charset="0"/>
                                    </a:rPr>
                                    <m:t>|</m:t>
                                  </m:r>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1</m:t>
                                      </m:r>
                                    </m:e>
                                  </m:acc>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0</m:t>
                                      </m:r>
                                    </m:e>
                                  </m:acc>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1</m:t>
                                      </m:r>
                                    </m:e>
                                  </m:acc>
                                </m:e>
                              </m:d>
                            </m:e>
                          </m:mr>
                        </m:m>
                      </m:oMath>
                    </m:oMathPara>
                  </a14:m>
                  <a:endParaRPr lang="en-US" sz="2400" dirty="0">
                    <a:solidFill>
                      <a:schemeClr val="tx1"/>
                    </a:solidFill>
                  </a:endParaRPr>
                </a:p>
              </p:txBody>
            </p:sp>
          </mc:Choice>
          <mc:Fallback xmlns="">
            <p:sp>
              <p:nvSpPr>
                <p:cNvPr id="104" name="TextBox 103">
                  <a:extLst>
                    <a:ext uri="{FF2B5EF4-FFF2-40B4-BE49-F238E27FC236}">
                      <a16:creationId xmlns:a16="http://schemas.microsoft.com/office/drawing/2014/main" id="{83EB4084-FB84-0D4A-B41B-34124F6408D9}"/>
                    </a:ext>
                  </a:extLst>
                </p:cNvPr>
                <p:cNvSpPr txBox="1">
                  <a:spLocks noRot="1" noChangeAspect="1" noMove="1" noResize="1" noEditPoints="1" noAdjustHandles="1" noChangeArrowheads="1" noChangeShapeType="1" noTextEdit="1"/>
                </p:cNvSpPr>
                <p:nvPr/>
              </p:nvSpPr>
              <p:spPr>
                <a:xfrm>
                  <a:off x="5749705" y="5871620"/>
                  <a:ext cx="1290160" cy="972254"/>
                </a:xfrm>
                <a:prstGeom prst="rect">
                  <a:avLst/>
                </a:prstGeom>
                <a:blipFill>
                  <a:blip r:embed="rId9"/>
                  <a:stretch>
                    <a:fillRect t="-82051" r="-38235" b="-1256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F84F56C9-DAC7-0E45-8BAD-DD15AC1C11F4}"/>
                    </a:ext>
                  </a:extLst>
                </p:cNvPr>
                <p:cNvSpPr txBox="1"/>
                <p:nvPr/>
              </p:nvSpPr>
              <p:spPr>
                <a:xfrm>
                  <a:off x="4581803" y="5842280"/>
                  <a:ext cx="1290160" cy="9722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sr-Latn-RS" sz="2400" i="1">
                                <a:solidFill>
                                  <a:schemeClr val="tx1"/>
                                </a:solidFill>
                                <a:latin typeface="Cambria Math" panose="02040503050406030204" pitchFamily="18" charset="0"/>
                                <a:ea typeface="Cambria Math" panose="02040503050406030204" pitchFamily="18" charset="0"/>
                              </a:rPr>
                              <m:t>𝐸</m:t>
                            </m:r>
                          </m:e>
                          <m:sub>
                            <m:r>
                              <a:rPr lang="sr-Latn-RS" sz="2400" b="0" i="1" smtClean="0">
                                <a:solidFill>
                                  <a:schemeClr val="tx1"/>
                                </a:solidFill>
                                <a:latin typeface="Cambria Math" panose="02040503050406030204" pitchFamily="18" charset="0"/>
                                <a:ea typeface="Cambria Math" panose="02040503050406030204" pitchFamily="18" charset="0"/>
                              </a:rPr>
                              <m:t>3</m:t>
                            </m:r>
                          </m:sub>
                        </m:sSub>
                        <m:m>
                          <m:mPr>
                            <m:mcs>
                              <m:mc>
                                <m:mcPr>
                                  <m:count m:val="1"/>
                                  <m:mcJc m:val="center"/>
                                </m:mcPr>
                              </m:mc>
                            </m:mcs>
                            <m:ctrlPr>
                              <a:rPr lang="sr-Latn-RS" sz="2400" i="1" smtClean="0">
                                <a:solidFill>
                                  <a:schemeClr val="tx1"/>
                                </a:solidFill>
                                <a:latin typeface="Cambria Math" panose="02040503050406030204" pitchFamily="18" charset="0"/>
                                <a:ea typeface="Cambria Math" panose="02040503050406030204" pitchFamily="18" charset="0"/>
                              </a:rPr>
                            </m:ctrlPr>
                          </m:mPr>
                          <m:mr>
                            <m:e>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i="1">
                                      <a:solidFill>
                                        <a:schemeClr val="tx1"/>
                                      </a:solidFill>
                                      <a:latin typeface="Cambria Math" panose="02040503050406030204" pitchFamily="18" charset="0"/>
                                      <a:ea typeface="Cambria Math" panose="02040503050406030204" pitchFamily="18" charset="0"/>
                                    </a:rPr>
                                    <m:t>|</m:t>
                                  </m:r>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0</m:t>
                                      </m:r>
                                    </m:e>
                                  </m:acc>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0</m:t>
                                      </m:r>
                                    </m:e>
                                  </m:acc>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1</m:t>
                                      </m:r>
                                    </m:e>
                                  </m:acc>
                                </m:e>
                              </m:d>
                            </m:e>
                          </m:mr>
                          <m:mr>
                            <m:e>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i="1">
                                      <a:solidFill>
                                        <a:schemeClr val="tx1"/>
                                      </a:solidFill>
                                      <a:latin typeface="Cambria Math" panose="02040503050406030204" pitchFamily="18" charset="0"/>
                                      <a:ea typeface="Cambria Math" panose="02040503050406030204" pitchFamily="18" charset="0"/>
                                    </a:rPr>
                                    <m:t>|</m:t>
                                  </m:r>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1</m:t>
                                      </m:r>
                                    </m:e>
                                  </m:acc>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1</m:t>
                                      </m:r>
                                    </m:e>
                                  </m:acc>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0</m:t>
                                      </m:r>
                                    </m:e>
                                  </m:acc>
                                </m:e>
                              </m:d>
                            </m:e>
                          </m:mr>
                        </m:m>
                      </m:oMath>
                    </m:oMathPara>
                  </a14:m>
                  <a:endParaRPr lang="en-US" sz="2400" dirty="0">
                    <a:solidFill>
                      <a:schemeClr val="tx1"/>
                    </a:solidFill>
                  </a:endParaRPr>
                </a:p>
              </p:txBody>
            </p:sp>
          </mc:Choice>
          <mc:Fallback xmlns="">
            <p:sp>
              <p:nvSpPr>
                <p:cNvPr id="105" name="TextBox 104">
                  <a:extLst>
                    <a:ext uri="{FF2B5EF4-FFF2-40B4-BE49-F238E27FC236}">
                      <a16:creationId xmlns:a16="http://schemas.microsoft.com/office/drawing/2014/main" id="{F84F56C9-DAC7-0E45-8BAD-DD15AC1C11F4}"/>
                    </a:ext>
                  </a:extLst>
                </p:cNvPr>
                <p:cNvSpPr txBox="1">
                  <a:spLocks noRot="1" noChangeAspect="1" noMove="1" noResize="1" noEditPoints="1" noAdjustHandles="1" noChangeArrowheads="1" noChangeShapeType="1" noTextEdit="1"/>
                </p:cNvSpPr>
                <p:nvPr/>
              </p:nvSpPr>
              <p:spPr>
                <a:xfrm>
                  <a:off x="4581803" y="5842280"/>
                  <a:ext cx="1290160" cy="972254"/>
                </a:xfrm>
                <a:prstGeom prst="rect">
                  <a:avLst/>
                </a:prstGeom>
                <a:blipFill>
                  <a:blip r:embed="rId10"/>
                  <a:stretch>
                    <a:fillRect t="-82051" r="-38235" b="-125641"/>
                  </a:stretch>
                </a:blipFill>
              </p:spPr>
              <p:txBody>
                <a:bodyPr/>
                <a:lstStyle/>
                <a:p>
                  <a:r>
                    <a:rPr lang="en-US">
                      <a:noFill/>
                    </a:rPr>
                    <a:t> </a:t>
                  </a:r>
                </a:p>
              </p:txBody>
            </p:sp>
          </mc:Fallback>
        </mc:AlternateContent>
        <p:sp>
          <p:nvSpPr>
            <p:cNvPr id="34" name="Right Arrow 33">
              <a:extLst>
                <a:ext uri="{FF2B5EF4-FFF2-40B4-BE49-F238E27FC236}">
                  <a16:creationId xmlns:a16="http://schemas.microsoft.com/office/drawing/2014/main" id="{6FA67A33-92AE-D544-A72A-A3B3EA3EF33A}"/>
                </a:ext>
              </a:extLst>
            </p:cNvPr>
            <p:cNvSpPr/>
            <p:nvPr/>
          </p:nvSpPr>
          <p:spPr>
            <a:xfrm>
              <a:off x="7901779" y="5436158"/>
              <a:ext cx="317225" cy="592319"/>
            </a:xfrm>
            <a:prstGeom prst="right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a:extLst>
              <a:ext uri="{FF2B5EF4-FFF2-40B4-BE49-F238E27FC236}">
                <a16:creationId xmlns:a16="http://schemas.microsoft.com/office/drawing/2014/main" id="{A7E1C9E2-34A4-914A-A0C4-B2B832400477}"/>
              </a:ext>
            </a:extLst>
          </p:cNvPr>
          <p:cNvGrpSpPr/>
          <p:nvPr/>
        </p:nvGrpSpPr>
        <p:grpSpPr>
          <a:xfrm>
            <a:off x="294480" y="1367503"/>
            <a:ext cx="5530485" cy="2858820"/>
            <a:chOff x="294480" y="1367503"/>
            <a:chExt cx="5530485" cy="2858820"/>
          </a:xfrm>
        </p:grpSpPr>
        <p:grpSp>
          <p:nvGrpSpPr>
            <p:cNvPr id="53" name="Group 52">
              <a:extLst>
                <a:ext uri="{FF2B5EF4-FFF2-40B4-BE49-F238E27FC236}">
                  <a16:creationId xmlns:a16="http://schemas.microsoft.com/office/drawing/2014/main" id="{AEED4D44-BB9C-154A-A79B-7F8A647FCF0E}"/>
                </a:ext>
              </a:extLst>
            </p:cNvPr>
            <p:cNvGrpSpPr/>
            <p:nvPr/>
          </p:nvGrpSpPr>
          <p:grpSpPr>
            <a:xfrm>
              <a:off x="2349076" y="1367503"/>
              <a:ext cx="3475889" cy="1729861"/>
              <a:chOff x="2349076" y="1367503"/>
              <a:chExt cx="3475889" cy="1729861"/>
            </a:xfrm>
          </p:grpSpPr>
          <p:sp>
            <p:nvSpPr>
              <p:cNvPr id="97" name="Rectangle 96">
                <a:extLst>
                  <a:ext uri="{FF2B5EF4-FFF2-40B4-BE49-F238E27FC236}">
                    <a16:creationId xmlns:a16="http://schemas.microsoft.com/office/drawing/2014/main" id="{83C347D0-FCAF-FF4F-83BC-42C7B49A866B}"/>
                  </a:ext>
                </a:extLst>
              </p:cNvPr>
              <p:cNvSpPr>
                <a:spLocks/>
              </p:cNvSpPr>
              <p:nvPr/>
            </p:nvSpPr>
            <p:spPr>
              <a:xfrm>
                <a:off x="2354844" y="1367503"/>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sp>
            <p:nvSpPr>
              <p:cNvPr id="113" name="Rectangle 112">
                <a:extLst>
                  <a:ext uri="{FF2B5EF4-FFF2-40B4-BE49-F238E27FC236}">
                    <a16:creationId xmlns:a16="http://schemas.microsoft.com/office/drawing/2014/main" id="{B647B60A-982F-3448-B529-CE7EF5D3BA89}"/>
                  </a:ext>
                </a:extLst>
              </p:cNvPr>
              <p:cNvSpPr>
                <a:spLocks/>
              </p:cNvSpPr>
              <p:nvPr/>
            </p:nvSpPr>
            <p:spPr>
              <a:xfrm>
                <a:off x="2351960" y="1945952"/>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sp>
            <p:nvSpPr>
              <p:cNvPr id="117" name="Rectangle 116">
                <a:extLst>
                  <a:ext uri="{FF2B5EF4-FFF2-40B4-BE49-F238E27FC236}">
                    <a16:creationId xmlns:a16="http://schemas.microsoft.com/office/drawing/2014/main" id="{C21009D0-5DB4-2F41-AF91-B1FBD5AA9A08}"/>
                  </a:ext>
                </a:extLst>
              </p:cNvPr>
              <p:cNvSpPr>
                <a:spLocks/>
              </p:cNvSpPr>
              <p:nvPr/>
            </p:nvSpPr>
            <p:spPr>
              <a:xfrm>
                <a:off x="2349076" y="2524401"/>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sp>
            <p:nvSpPr>
              <p:cNvPr id="119" name="Rectangle 118">
                <a:extLst>
                  <a:ext uri="{FF2B5EF4-FFF2-40B4-BE49-F238E27FC236}">
                    <a16:creationId xmlns:a16="http://schemas.microsoft.com/office/drawing/2014/main" id="{A0F16DD7-2882-2C4B-96BD-A78C20D40C13}"/>
                  </a:ext>
                </a:extLst>
              </p:cNvPr>
              <p:cNvSpPr>
                <a:spLocks/>
              </p:cNvSpPr>
              <p:nvPr/>
            </p:nvSpPr>
            <p:spPr>
              <a:xfrm>
                <a:off x="5284965" y="1400466"/>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sp>
            <p:nvSpPr>
              <p:cNvPr id="120" name="Rectangle 119">
                <a:extLst>
                  <a:ext uri="{FF2B5EF4-FFF2-40B4-BE49-F238E27FC236}">
                    <a16:creationId xmlns:a16="http://schemas.microsoft.com/office/drawing/2014/main" id="{2952585C-1DA7-CA4C-AE4E-43EACCDDCE99}"/>
                  </a:ext>
                </a:extLst>
              </p:cNvPr>
              <p:cNvSpPr>
                <a:spLocks/>
              </p:cNvSpPr>
              <p:nvPr/>
            </p:nvSpPr>
            <p:spPr>
              <a:xfrm>
                <a:off x="5282081" y="1978915"/>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sp>
            <p:nvSpPr>
              <p:cNvPr id="121" name="Rectangle 120">
                <a:extLst>
                  <a:ext uri="{FF2B5EF4-FFF2-40B4-BE49-F238E27FC236}">
                    <a16:creationId xmlns:a16="http://schemas.microsoft.com/office/drawing/2014/main" id="{467722AB-D9AE-E141-83C8-A283FC968877}"/>
                  </a:ext>
                </a:extLst>
              </p:cNvPr>
              <p:cNvSpPr>
                <a:spLocks/>
              </p:cNvSpPr>
              <p:nvPr/>
            </p:nvSpPr>
            <p:spPr>
              <a:xfrm>
                <a:off x="5279197" y="2557364"/>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grpSp>
        <p:cxnSp>
          <p:nvCxnSpPr>
            <p:cNvPr id="143" name="Straight Connector 142">
              <a:extLst>
                <a:ext uri="{FF2B5EF4-FFF2-40B4-BE49-F238E27FC236}">
                  <a16:creationId xmlns:a16="http://schemas.microsoft.com/office/drawing/2014/main" id="{6538FC55-2A6B-E64D-A2D0-ECBFF3117FB8}"/>
                </a:ext>
              </a:extLst>
            </p:cNvPr>
            <p:cNvCxnSpPr>
              <a:cxnSpLocks/>
            </p:cNvCxnSpPr>
            <p:nvPr/>
          </p:nvCxnSpPr>
          <p:spPr>
            <a:xfrm flipV="1">
              <a:off x="1186892" y="4002967"/>
              <a:ext cx="1542507" cy="105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2A4AE192-DD12-CA46-967B-B260110DC22F}"/>
                </a:ext>
              </a:extLst>
            </p:cNvPr>
            <p:cNvCxnSpPr>
              <a:cxnSpLocks/>
            </p:cNvCxnSpPr>
            <p:nvPr/>
          </p:nvCxnSpPr>
          <p:spPr>
            <a:xfrm flipV="1">
              <a:off x="294480" y="3994464"/>
              <a:ext cx="598546" cy="64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Rectangle 127">
              <a:extLst>
                <a:ext uri="{FF2B5EF4-FFF2-40B4-BE49-F238E27FC236}">
                  <a16:creationId xmlns:a16="http://schemas.microsoft.com/office/drawing/2014/main" id="{D9CAA952-28AA-8543-96FA-B0F95145D696}"/>
                </a:ext>
              </a:extLst>
            </p:cNvPr>
            <p:cNvSpPr/>
            <p:nvPr/>
          </p:nvSpPr>
          <p:spPr>
            <a:xfrm>
              <a:off x="416225" y="3803243"/>
              <a:ext cx="360000" cy="36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pitchFamily="2" charset="0"/>
                </a:rPr>
                <a:t>Z</a:t>
              </a:r>
            </a:p>
          </p:txBody>
        </p:sp>
        <p:sp>
          <p:nvSpPr>
            <p:cNvPr id="130" name="Rectangle 129">
              <a:extLst>
                <a:ext uri="{FF2B5EF4-FFF2-40B4-BE49-F238E27FC236}">
                  <a16:creationId xmlns:a16="http://schemas.microsoft.com/office/drawing/2014/main" id="{88AE2751-FDC5-884C-86D0-CF04B9754BB1}"/>
                </a:ext>
              </a:extLst>
            </p:cNvPr>
            <p:cNvSpPr>
              <a:spLocks/>
            </p:cNvSpPr>
            <p:nvPr/>
          </p:nvSpPr>
          <p:spPr>
            <a:xfrm>
              <a:off x="1275081" y="3819210"/>
              <a:ext cx="360000" cy="36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pitchFamily="2" charset="0"/>
                </a:rPr>
                <a:t>H</a:t>
              </a:r>
            </a:p>
          </p:txBody>
        </p:sp>
        <p:sp>
          <p:nvSpPr>
            <p:cNvPr id="133" name="Oval 132">
              <a:extLst>
                <a:ext uri="{FF2B5EF4-FFF2-40B4-BE49-F238E27FC236}">
                  <a16:creationId xmlns:a16="http://schemas.microsoft.com/office/drawing/2014/main" id="{674F1BDA-FB78-8B46-B73C-214DD80DCA57}"/>
                </a:ext>
              </a:extLst>
            </p:cNvPr>
            <p:cNvSpPr/>
            <p:nvPr/>
          </p:nvSpPr>
          <p:spPr>
            <a:xfrm>
              <a:off x="1732827" y="3819048"/>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a:t>
              </a:r>
            </a:p>
          </p:txBody>
        </p:sp>
        <p:sp>
          <p:nvSpPr>
            <p:cNvPr id="142" name="Rectangle 141">
              <a:extLst>
                <a:ext uri="{FF2B5EF4-FFF2-40B4-BE49-F238E27FC236}">
                  <a16:creationId xmlns:a16="http://schemas.microsoft.com/office/drawing/2014/main" id="{88F51950-75D3-6547-9C28-897C1F50A5E4}"/>
                </a:ext>
              </a:extLst>
            </p:cNvPr>
            <p:cNvSpPr>
              <a:spLocks/>
            </p:cNvSpPr>
            <p:nvPr/>
          </p:nvSpPr>
          <p:spPr>
            <a:xfrm>
              <a:off x="2190573" y="3827630"/>
              <a:ext cx="360000" cy="36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pitchFamily="2" charset="0"/>
                </a:rPr>
                <a:t>H</a:t>
              </a:r>
            </a:p>
          </p:txBody>
        </p:sp>
        <p:sp>
          <p:nvSpPr>
            <p:cNvPr id="146" name="TextBox 145">
              <a:extLst>
                <a:ext uri="{FF2B5EF4-FFF2-40B4-BE49-F238E27FC236}">
                  <a16:creationId xmlns:a16="http://schemas.microsoft.com/office/drawing/2014/main" id="{27D63E9C-F9D3-C543-B81D-AE23E595AEA0}"/>
                </a:ext>
              </a:extLst>
            </p:cNvPr>
            <p:cNvSpPr txBox="1"/>
            <p:nvPr/>
          </p:nvSpPr>
          <p:spPr>
            <a:xfrm>
              <a:off x="862522" y="3764658"/>
              <a:ext cx="338554" cy="461665"/>
            </a:xfrm>
            <a:prstGeom prst="rect">
              <a:avLst/>
            </a:prstGeom>
            <a:noFill/>
          </p:spPr>
          <p:txBody>
            <a:bodyPr wrap="none" rtlCol="0">
              <a:spAutoFit/>
            </a:bodyPr>
            <a:lstStyle/>
            <a:p>
              <a:r>
                <a:rPr lang="en-US" sz="2400" dirty="0"/>
                <a:t>=</a:t>
              </a:r>
            </a:p>
          </p:txBody>
        </p:sp>
      </p:grpSp>
      <p:grpSp>
        <p:nvGrpSpPr>
          <p:cNvPr id="56" name="Group 55">
            <a:extLst>
              <a:ext uri="{FF2B5EF4-FFF2-40B4-BE49-F238E27FC236}">
                <a16:creationId xmlns:a16="http://schemas.microsoft.com/office/drawing/2014/main" id="{6DEF04FF-917B-2044-B59E-5F40043DF468}"/>
              </a:ext>
            </a:extLst>
          </p:cNvPr>
          <p:cNvGrpSpPr/>
          <p:nvPr/>
        </p:nvGrpSpPr>
        <p:grpSpPr>
          <a:xfrm>
            <a:off x="98705" y="4414984"/>
            <a:ext cx="3884525" cy="2366067"/>
            <a:chOff x="98705" y="4414984"/>
            <a:chExt cx="3884525" cy="2366067"/>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84A67DFB-54FA-EF46-BB1E-FBE2D626E33D}"/>
                    </a:ext>
                  </a:extLst>
                </p:cNvPr>
                <p:cNvSpPr/>
                <p:nvPr/>
              </p:nvSpPr>
              <p:spPr>
                <a:xfrm>
                  <a:off x="655118" y="4414984"/>
                  <a:ext cx="1599925"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𝑎</m:t>
                            </m:r>
                            <m:r>
                              <a:rPr lang="en-US" sz="2200" i="1">
                                <a:latin typeface="Cambria Math" panose="02040503050406030204" pitchFamily="18" charset="0"/>
                                <a:ea typeface="Cambria Math" panose="02040503050406030204" pitchFamily="18" charset="0"/>
                              </a:rPr>
                              <m:t>|0</m:t>
                            </m:r>
                          </m:e>
                        </m:d>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𝑏</m:t>
                            </m:r>
                            <m:r>
                              <a:rPr lang="en-US" sz="2200" i="1">
                                <a:latin typeface="Cambria Math" panose="02040503050406030204" pitchFamily="18" charset="0"/>
                                <a:ea typeface="Cambria Math" panose="02040503050406030204" pitchFamily="18" charset="0"/>
                              </a:rPr>
                              <m:t>|1</m:t>
                            </m:r>
                          </m:e>
                        </m:d>
                      </m:oMath>
                    </m:oMathPara>
                  </a14:m>
                  <a:endParaRPr lang="en-US" sz="2200" dirty="0"/>
                </a:p>
              </p:txBody>
            </p:sp>
          </mc:Choice>
          <mc:Fallback xmlns="">
            <p:sp>
              <p:nvSpPr>
                <p:cNvPr id="5" name="Rectangle 4">
                  <a:extLst>
                    <a:ext uri="{FF2B5EF4-FFF2-40B4-BE49-F238E27FC236}">
                      <a16:creationId xmlns:a16="http://schemas.microsoft.com/office/drawing/2014/main" id="{84A67DFB-54FA-EF46-BB1E-FBE2D626E33D}"/>
                    </a:ext>
                  </a:extLst>
                </p:cNvPr>
                <p:cNvSpPr>
                  <a:spLocks noRot="1" noChangeAspect="1" noMove="1" noResize="1" noEditPoints="1" noAdjustHandles="1" noChangeArrowheads="1" noChangeShapeType="1" noTextEdit="1"/>
                </p:cNvSpPr>
                <p:nvPr/>
              </p:nvSpPr>
              <p:spPr>
                <a:xfrm>
                  <a:off x="655118" y="4414984"/>
                  <a:ext cx="1599925" cy="430887"/>
                </a:xfrm>
                <a:prstGeom prst="rect">
                  <a:avLst/>
                </a:prstGeom>
                <a:blipFill>
                  <a:blip r:embed="rId11"/>
                  <a:stretch>
                    <a:fillRect t="-123529" r="-16535" b="-1882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43F95125-EB12-674D-902D-BCC5DC8A49BE}"/>
                    </a:ext>
                  </a:extLst>
                </p:cNvPr>
                <p:cNvSpPr/>
                <p:nvPr/>
              </p:nvSpPr>
              <p:spPr>
                <a:xfrm>
                  <a:off x="98705" y="5186917"/>
                  <a:ext cx="3884525" cy="8109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acc>
                              <m:accPr>
                                <m:chr m:val="̂"/>
                                <m:ctrlPr>
                                  <a:rPr lang="en-US" sz="2200" i="1" smtClean="0">
                                    <a:latin typeface="Cambria Math" panose="02040503050406030204" pitchFamily="18" charset="0"/>
                                    <a:ea typeface="Cambria Math" panose="02040503050406030204" pitchFamily="18" charset="0"/>
                                  </a:rPr>
                                </m:ctrlPr>
                              </m:accPr>
                              <m:e>
                                <m:r>
                                  <a:rPr lang="en-US" sz="2200" i="1">
                                    <a:latin typeface="Cambria Math" panose="02040503050406030204" pitchFamily="18" charset="0"/>
                                    <a:ea typeface="Cambria Math" panose="02040503050406030204" pitchFamily="18" charset="0"/>
                                  </a:rPr>
                                  <m:t>0</m:t>
                                </m:r>
                              </m:e>
                            </m:acc>
                          </m:e>
                        </m:d>
                        <m:r>
                          <a:rPr lang="en-US" sz="2200" i="1">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ea typeface="Cambria Math" panose="02040503050406030204" pitchFamily="18" charset="0"/>
                              </a:rPr>
                            </m:ctrlPr>
                          </m:fPr>
                          <m:num>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m:t>
                                </m:r>
                              </m:e>
                            </m:d>
                          </m:num>
                          <m:den>
                            <m:rad>
                              <m:radPr>
                                <m:degHide m:val="on"/>
                                <m:ctrlPr>
                                  <a:rPr lang="en-US" sz="2200" i="1">
                                    <a:latin typeface="Cambria Math" panose="02040503050406030204" pitchFamily="18" charset="0"/>
                                    <a:ea typeface="Cambria Math" panose="02040503050406030204" pitchFamily="18" charset="0"/>
                                  </a:rPr>
                                </m:ctrlPr>
                              </m:radPr>
                              <m:deg/>
                              <m:e>
                                <m:r>
                                  <a:rPr lang="en-US" sz="2200" i="1">
                                    <a:latin typeface="Cambria Math" panose="02040503050406030204" pitchFamily="18" charset="0"/>
                                    <a:ea typeface="Cambria Math" panose="02040503050406030204" pitchFamily="18" charset="0"/>
                                  </a:rPr>
                                  <m:t>2</m:t>
                                </m:r>
                              </m:e>
                            </m:rad>
                          </m:den>
                        </m:f>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acc>
                              <m:accPr>
                                <m:chr m:val="̂"/>
                                <m:ctrlPr>
                                  <a:rPr lang="en-US" sz="2200" i="1">
                                    <a:latin typeface="Cambria Math" panose="02040503050406030204" pitchFamily="18" charset="0"/>
                                    <a:ea typeface="Cambria Math" panose="02040503050406030204" pitchFamily="18" charset="0"/>
                                  </a:rPr>
                                </m:ctrlPr>
                              </m:accPr>
                              <m:e>
                                <m:r>
                                  <a:rPr lang="en-US" sz="2200" i="1">
                                    <a:latin typeface="Cambria Math" panose="02040503050406030204" pitchFamily="18" charset="0"/>
                                    <a:ea typeface="Cambria Math" panose="02040503050406030204" pitchFamily="18" charset="0"/>
                                  </a:rPr>
                                  <m:t>1</m:t>
                                </m:r>
                              </m:e>
                            </m:acc>
                          </m:e>
                        </m:d>
                        <m:r>
                          <a:rPr lang="en-US" sz="2200" i="1">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ea typeface="Cambria Math" panose="02040503050406030204" pitchFamily="18" charset="0"/>
                              </a:rPr>
                            </m:ctrlPr>
                          </m:fPr>
                          <m:num>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m:t>
                                </m:r>
                              </m:e>
                            </m:d>
                          </m:num>
                          <m:den>
                            <m:rad>
                              <m:radPr>
                                <m:degHide m:val="on"/>
                                <m:ctrlPr>
                                  <a:rPr lang="en-US" sz="2200" i="1">
                                    <a:latin typeface="Cambria Math" panose="02040503050406030204" pitchFamily="18" charset="0"/>
                                    <a:ea typeface="Cambria Math" panose="02040503050406030204" pitchFamily="18" charset="0"/>
                                  </a:rPr>
                                </m:ctrlPr>
                              </m:radPr>
                              <m:deg/>
                              <m:e>
                                <m:r>
                                  <a:rPr lang="en-US" sz="2200" i="1">
                                    <a:latin typeface="Cambria Math" panose="02040503050406030204" pitchFamily="18" charset="0"/>
                                    <a:ea typeface="Cambria Math" panose="02040503050406030204" pitchFamily="18" charset="0"/>
                                  </a:rPr>
                                  <m:t>2</m:t>
                                </m:r>
                              </m:e>
                            </m:rad>
                          </m:den>
                        </m:f>
                      </m:oMath>
                    </m:oMathPara>
                  </a14:m>
                  <a:endParaRPr lang="en-US" sz="2200" dirty="0"/>
                </a:p>
              </p:txBody>
            </p:sp>
          </mc:Choice>
          <mc:Fallback xmlns="">
            <p:sp>
              <p:nvSpPr>
                <p:cNvPr id="6" name="Rectangle 5">
                  <a:extLst>
                    <a:ext uri="{FF2B5EF4-FFF2-40B4-BE49-F238E27FC236}">
                      <a16:creationId xmlns:a16="http://schemas.microsoft.com/office/drawing/2014/main" id="{43F95125-EB12-674D-902D-BCC5DC8A49BE}"/>
                    </a:ext>
                  </a:extLst>
                </p:cNvPr>
                <p:cNvSpPr>
                  <a:spLocks noRot="1" noChangeAspect="1" noMove="1" noResize="1" noEditPoints="1" noAdjustHandles="1" noChangeArrowheads="1" noChangeShapeType="1" noTextEdit="1"/>
                </p:cNvSpPr>
                <p:nvPr/>
              </p:nvSpPr>
              <p:spPr>
                <a:xfrm>
                  <a:off x="98705" y="5186917"/>
                  <a:ext cx="3884525" cy="810991"/>
                </a:xfrm>
                <a:prstGeom prst="rect">
                  <a:avLst/>
                </a:prstGeom>
                <a:blipFill>
                  <a:blip r:embed="rId12"/>
                  <a:stretch>
                    <a:fillRect l="-6840" t="-70313" r="-6840" b="-1156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E72474A4-19B8-D74A-9017-2AE529B399BC}"/>
                    </a:ext>
                  </a:extLst>
                </p:cNvPr>
                <p:cNvSpPr/>
                <p:nvPr/>
              </p:nvSpPr>
              <p:spPr>
                <a:xfrm>
                  <a:off x="358103" y="6309704"/>
                  <a:ext cx="2221890" cy="4713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𝑎</m:t>
                            </m:r>
                            <m:r>
                              <a:rPr lang="en-US" sz="2200" i="1">
                                <a:latin typeface="Cambria Math" panose="02040503050406030204" pitchFamily="18" charset="0"/>
                                <a:ea typeface="Cambria Math" panose="02040503050406030204" pitchFamily="18" charset="0"/>
                              </a:rPr>
                              <m:t>|</m:t>
                            </m:r>
                            <m:acc>
                              <m:accPr>
                                <m:chr m:val="̂"/>
                                <m:ctrlPr>
                                  <a:rPr lang="en-US" sz="2200" i="1">
                                    <a:latin typeface="Cambria Math" panose="02040503050406030204" pitchFamily="18" charset="0"/>
                                    <a:ea typeface="Cambria Math" panose="02040503050406030204" pitchFamily="18" charset="0"/>
                                  </a:rPr>
                                </m:ctrlPr>
                              </m:accPr>
                              <m:e>
                                <m:r>
                                  <a:rPr lang="sr-Latn-RS" sz="2200" b="0" i="1" smtClean="0">
                                    <a:latin typeface="Cambria Math" panose="02040503050406030204" pitchFamily="18" charset="0"/>
                                    <a:ea typeface="Cambria Math" panose="02040503050406030204" pitchFamily="18" charset="0"/>
                                  </a:rPr>
                                  <m:t>0</m:t>
                                </m:r>
                              </m:e>
                            </m:acc>
                            <m:acc>
                              <m:accPr>
                                <m:chr m:val="̂"/>
                                <m:ctrlPr>
                                  <a:rPr lang="en-US" sz="2200" i="1">
                                    <a:latin typeface="Cambria Math" panose="02040503050406030204" pitchFamily="18" charset="0"/>
                                    <a:ea typeface="Cambria Math" panose="02040503050406030204" pitchFamily="18" charset="0"/>
                                  </a:rPr>
                                </m:ctrlPr>
                              </m:accPr>
                              <m:e>
                                <m:r>
                                  <a:rPr lang="sr-Latn-RS" sz="2200" i="1">
                                    <a:latin typeface="Cambria Math" panose="02040503050406030204" pitchFamily="18" charset="0"/>
                                    <a:ea typeface="Cambria Math" panose="02040503050406030204" pitchFamily="18" charset="0"/>
                                  </a:rPr>
                                  <m:t>0</m:t>
                                </m:r>
                              </m:e>
                            </m:acc>
                            <m:acc>
                              <m:accPr>
                                <m:chr m:val="̂"/>
                                <m:ctrlPr>
                                  <a:rPr lang="en-US" sz="2200" i="1">
                                    <a:latin typeface="Cambria Math" panose="02040503050406030204" pitchFamily="18" charset="0"/>
                                    <a:ea typeface="Cambria Math" panose="02040503050406030204" pitchFamily="18" charset="0"/>
                                  </a:rPr>
                                </m:ctrlPr>
                              </m:accPr>
                              <m:e>
                                <m:r>
                                  <a:rPr lang="sr-Latn-RS" sz="2200" i="1">
                                    <a:latin typeface="Cambria Math" panose="02040503050406030204" pitchFamily="18" charset="0"/>
                                    <a:ea typeface="Cambria Math" panose="02040503050406030204" pitchFamily="18" charset="0"/>
                                  </a:rPr>
                                  <m:t>0</m:t>
                                </m:r>
                              </m:e>
                            </m:acc>
                          </m:e>
                        </m:d>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𝑏</m:t>
                            </m:r>
                            <m:r>
                              <a:rPr lang="en-US" sz="2200" i="1">
                                <a:latin typeface="Cambria Math" panose="02040503050406030204" pitchFamily="18" charset="0"/>
                                <a:ea typeface="Cambria Math" panose="02040503050406030204" pitchFamily="18" charset="0"/>
                              </a:rPr>
                              <m:t>|</m:t>
                            </m:r>
                            <m:acc>
                              <m:accPr>
                                <m:chr m:val="̂"/>
                                <m:ctrlPr>
                                  <a:rPr lang="en-US" sz="2200" i="1" smtClean="0">
                                    <a:latin typeface="Cambria Math" panose="02040503050406030204" pitchFamily="18" charset="0"/>
                                    <a:ea typeface="Cambria Math" panose="02040503050406030204" pitchFamily="18" charset="0"/>
                                  </a:rPr>
                                </m:ctrlPr>
                              </m:accPr>
                              <m:e>
                                <m:r>
                                  <a:rPr lang="en-US" sz="2200" i="1">
                                    <a:latin typeface="Cambria Math" panose="02040503050406030204" pitchFamily="18" charset="0"/>
                                    <a:ea typeface="Cambria Math" panose="02040503050406030204" pitchFamily="18" charset="0"/>
                                  </a:rPr>
                                  <m:t>1</m:t>
                                </m:r>
                              </m:e>
                            </m:acc>
                            <m:acc>
                              <m:accPr>
                                <m:chr m:val="̂"/>
                                <m:ctrlPr>
                                  <a:rPr lang="en-US" sz="2200" i="1" smtClean="0">
                                    <a:latin typeface="Cambria Math" panose="02040503050406030204" pitchFamily="18" charset="0"/>
                                    <a:ea typeface="Cambria Math" panose="02040503050406030204" pitchFamily="18" charset="0"/>
                                  </a:rPr>
                                </m:ctrlPr>
                              </m:accPr>
                              <m:e>
                                <m:r>
                                  <a:rPr lang="en-US" sz="2200" i="1">
                                    <a:latin typeface="Cambria Math" panose="02040503050406030204" pitchFamily="18" charset="0"/>
                                    <a:ea typeface="Cambria Math" panose="02040503050406030204" pitchFamily="18" charset="0"/>
                                  </a:rPr>
                                  <m:t>1</m:t>
                                </m:r>
                              </m:e>
                            </m:acc>
                            <m:acc>
                              <m:accPr>
                                <m:chr m:val="̂"/>
                                <m:ctrlPr>
                                  <a:rPr lang="en-US" sz="2200" i="1">
                                    <a:latin typeface="Cambria Math" panose="02040503050406030204" pitchFamily="18" charset="0"/>
                                    <a:ea typeface="Cambria Math" panose="02040503050406030204" pitchFamily="18" charset="0"/>
                                  </a:rPr>
                                </m:ctrlPr>
                              </m:accPr>
                              <m:e>
                                <m:r>
                                  <a:rPr lang="en-US" sz="2200" i="1">
                                    <a:latin typeface="Cambria Math" panose="02040503050406030204" pitchFamily="18" charset="0"/>
                                    <a:ea typeface="Cambria Math" panose="02040503050406030204" pitchFamily="18" charset="0"/>
                                  </a:rPr>
                                  <m:t>1</m:t>
                                </m:r>
                              </m:e>
                            </m:acc>
                          </m:e>
                        </m:d>
                      </m:oMath>
                    </m:oMathPara>
                  </a14:m>
                  <a:endParaRPr lang="en-US" sz="2200" dirty="0"/>
                </a:p>
              </p:txBody>
            </p:sp>
          </mc:Choice>
          <mc:Fallback xmlns="">
            <p:sp>
              <p:nvSpPr>
                <p:cNvPr id="8" name="Rectangle 7">
                  <a:extLst>
                    <a:ext uri="{FF2B5EF4-FFF2-40B4-BE49-F238E27FC236}">
                      <a16:creationId xmlns:a16="http://schemas.microsoft.com/office/drawing/2014/main" id="{E72474A4-19B8-D74A-9017-2AE529B399BC}"/>
                    </a:ext>
                  </a:extLst>
                </p:cNvPr>
                <p:cNvSpPr>
                  <a:spLocks noRot="1" noChangeAspect="1" noMove="1" noResize="1" noEditPoints="1" noAdjustHandles="1" noChangeArrowheads="1" noChangeShapeType="1" noTextEdit="1"/>
                </p:cNvSpPr>
                <p:nvPr/>
              </p:nvSpPr>
              <p:spPr>
                <a:xfrm>
                  <a:off x="358103" y="6309704"/>
                  <a:ext cx="2221890" cy="471347"/>
                </a:xfrm>
                <a:prstGeom prst="rect">
                  <a:avLst/>
                </a:prstGeom>
                <a:blipFill>
                  <a:blip r:embed="rId13"/>
                  <a:stretch>
                    <a:fillRect t="-150000" r="-19318" b="-2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566BD563-1DF0-A342-AEB8-ED5A7B730F86}"/>
                    </a:ext>
                  </a:extLst>
                </p:cNvPr>
                <p:cNvSpPr/>
                <p:nvPr/>
              </p:nvSpPr>
              <p:spPr>
                <a:xfrm>
                  <a:off x="1278932" y="4760576"/>
                  <a:ext cx="380232"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ea typeface="Cambria Math" panose="02040503050406030204" pitchFamily="18" charset="0"/>
                          </a:rPr>
                          <m:t>↓</m:t>
                        </m:r>
                      </m:oMath>
                    </m:oMathPara>
                  </a14:m>
                  <a:endParaRPr lang="en-US" sz="2200" dirty="0"/>
                </a:p>
              </p:txBody>
            </p:sp>
          </mc:Choice>
          <mc:Fallback xmlns="">
            <p:sp>
              <p:nvSpPr>
                <p:cNvPr id="43" name="Rectangle 42">
                  <a:extLst>
                    <a:ext uri="{FF2B5EF4-FFF2-40B4-BE49-F238E27FC236}">
                      <a16:creationId xmlns:a16="http://schemas.microsoft.com/office/drawing/2014/main" id="{566BD563-1DF0-A342-AEB8-ED5A7B730F86}"/>
                    </a:ext>
                  </a:extLst>
                </p:cNvPr>
                <p:cNvSpPr>
                  <a:spLocks noRot="1" noChangeAspect="1" noMove="1" noResize="1" noEditPoints="1" noAdjustHandles="1" noChangeArrowheads="1" noChangeShapeType="1" noTextEdit="1"/>
                </p:cNvSpPr>
                <p:nvPr/>
              </p:nvSpPr>
              <p:spPr>
                <a:xfrm>
                  <a:off x="1278932" y="4760576"/>
                  <a:ext cx="380232" cy="430887"/>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7" name="Rectangle 146">
                  <a:extLst>
                    <a:ext uri="{FF2B5EF4-FFF2-40B4-BE49-F238E27FC236}">
                      <a16:creationId xmlns:a16="http://schemas.microsoft.com/office/drawing/2014/main" id="{0DC0F1FE-E0ED-2342-AF64-0A0DC8749A69}"/>
                    </a:ext>
                  </a:extLst>
                </p:cNvPr>
                <p:cNvSpPr/>
                <p:nvPr/>
              </p:nvSpPr>
              <p:spPr>
                <a:xfrm>
                  <a:off x="1282630" y="5931465"/>
                  <a:ext cx="380232"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ea typeface="Cambria Math" panose="02040503050406030204" pitchFamily="18" charset="0"/>
                          </a:rPr>
                          <m:t>↓</m:t>
                        </m:r>
                      </m:oMath>
                    </m:oMathPara>
                  </a14:m>
                  <a:endParaRPr lang="en-US" sz="2200" dirty="0"/>
                </a:p>
              </p:txBody>
            </p:sp>
          </mc:Choice>
          <mc:Fallback xmlns="">
            <p:sp>
              <p:nvSpPr>
                <p:cNvPr id="147" name="Rectangle 146">
                  <a:extLst>
                    <a:ext uri="{FF2B5EF4-FFF2-40B4-BE49-F238E27FC236}">
                      <a16:creationId xmlns:a16="http://schemas.microsoft.com/office/drawing/2014/main" id="{0DC0F1FE-E0ED-2342-AF64-0A0DC8749A69}"/>
                    </a:ext>
                  </a:extLst>
                </p:cNvPr>
                <p:cNvSpPr>
                  <a:spLocks noRot="1" noChangeAspect="1" noMove="1" noResize="1" noEditPoints="1" noAdjustHandles="1" noChangeArrowheads="1" noChangeShapeType="1" noTextEdit="1"/>
                </p:cNvSpPr>
                <p:nvPr/>
              </p:nvSpPr>
              <p:spPr>
                <a:xfrm>
                  <a:off x="1282630" y="5931465"/>
                  <a:ext cx="380232" cy="430887"/>
                </a:xfrm>
                <a:prstGeom prst="rect">
                  <a:avLst/>
                </a:prstGeom>
                <a:blipFill>
                  <a:blip r:embed="rId15"/>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592399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dissolve">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dissolve">
                                      <p:cBhvr>
                                        <p:cTn id="12" dur="500"/>
                                        <p:tgtEl>
                                          <p:spTgt spid="5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dissolve">
                                      <p:cBhvr>
                                        <p:cTn id="17" dur="500"/>
                                        <p:tgtEl>
                                          <p:spTgt spid="52"/>
                                        </p:tgtEl>
                                      </p:cBhvr>
                                    </p:animEffect>
                                  </p:childTnLst>
                                </p:cTn>
                              </p:par>
                              <p:par>
                                <p:cTn id="18" presetID="9" presetClass="entr" presetSubtype="0" fill="hold"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dissolve">
                                      <p:cBhvr>
                                        <p:cTn id="2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CE287-728B-7144-9E19-E38F4611DB26}"/>
              </a:ext>
            </a:extLst>
          </p:cNvPr>
          <p:cNvSpPr>
            <a:spLocks noGrp="1"/>
          </p:cNvSpPr>
          <p:nvPr>
            <p:ph type="title"/>
          </p:nvPr>
        </p:nvSpPr>
        <p:spPr/>
        <p:txBody>
          <a:bodyPr/>
          <a:lstStyle/>
          <a:p>
            <a:r>
              <a:rPr lang="en-ZA" dirty="0"/>
              <a:t>Practical Implementation of the 3-qubit Repetition Code</a:t>
            </a:r>
            <a:endParaRPr lang="en-US" dirty="0"/>
          </a:p>
        </p:txBody>
      </p:sp>
      <p:sp>
        <p:nvSpPr>
          <p:cNvPr id="3" name="Slide Number Placeholder 2">
            <a:extLst>
              <a:ext uri="{FF2B5EF4-FFF2-40B4-BE49-F238E27FC236}">
                <a16:creationId xmlns:a16="http://schemas.microsoft.com/office/drawing/2014/main" id="{CADFDD84-439C-E242-8D51-F4B38605ABB6}"/>
              </a:ext>
            </a:extLst>
          </p:cNvPr>
          <p:cNvSpPr>
            <a:spLocks noGrp="1"/>
          </p:cNvSpPr>
          <p:nvPr>
            <p:ph type="sldNum" sz="quarter" idx="12"/>
          </p:nvPr>
        </p:nvSpPr>
        <p:spPr/>
        <p:txBody>
          <a:bodyPr/>
          <a:lstStyle/>
          <a:p>
            <a:fld id="{591A223C-FA10-BC46-A853-03BA373D023C}" type="slidenum">
              <a:rPr lang="en-US" smtClean="0"/>
              <a:t>47</a:t>
            </a:fld>
            <a:endParaRPr lang="en-US"/>
          </a:p>
        </p:txBody>
      </p:sp>
      <p:cxnSp>
        <p:nvCxnSpPr>
          <p:cNvPr id="4" name="Straight Connector 3">
            <a:extLst>
              <a:ext uri="{FF2B5EF4-FFF2-40B4-BE49-F238E27FC236}">
                <a16:creationId xmlns:a16="http://schemas.microsoft.com/office/drawing/2014/main" id="{2303C062-686E-634D-A5BC-260DB866799E}"/>
              </a:ext>
            </a:extLst>
          </p:cNvPr>
          <p:cNvCxnSpPr>
            <a:cxnSpLocks/>
          </p:cNvCxnSpPr>
          <p:nvPr/>
        </p:nvCxnSpPr>
        <p:spPr>
          <a:xfrm>
            <a:off x="2608800" y="2458802"/>
            <a:ext cx="68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5F49DA-D773-DB43-931E-24168E2D80F2}"/>
              </a:ext>
            </a:extLst>
          </p:cNvPr>
          <p:cNvCxnSpPr>
            <a:cxnSpLocks/>
          </p:cNvCxnSpPr>
          <p:nvPr/>
        </p:nvCxnSpPr>
        <p:spPr>
          <a:xfrm>
            <a:off x="2190552" y="1822262"/>
            <a:ext cx="7796441" cy="12946"/>
          </a:xfrm>
          <a:prstGeom prst="line">
            <a:avLst/>
          </a:prstGeom>
          <a:ln w="12700">
            <a:solidFill>
              <a:schemeClr val="tx1"/>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B8AC8B3-3A99-9A40-8D3D-872CEF67AAC2}"/>
              </a:ext>
            </a:extLst>
          </p:cNvPr>
          <p:cNvCxnSpPr>
            <a:cxnSpLocks/>
          </p:cNvCxnSpPr>
          <p:nvPr/>
        </p:nvCxnSpPr>
        <p:spPr>
          <a:xfrm flipV="1">
            <a:off x="2608799" y="3049354"/>
            <a:ext cx="6840000" cy="11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45A490D-95C8-E44F-BF2A-783DF336FCB0}"/>
              </a:ext>
            </a:extLst>
          </p:cNvPr>
          <p:cNvSpPr txBox="1"/>
          <p:nvPr/>
        </p:nvSpPr>
        <p:spPr>
          <a:xfrm>
            <a:off x="1969561" y="2254045"/>
            <a:ext cx="468219" cy="365241"/>
          </a:xfrm>
          <a:prstGeom prst="rect">
            <a:avLst/>
          </a:prstGeom>
          <a:noFill/>
        </p:spPr>
        <p:txBody>
          <a:bodyPr wrap="none" rtlCol="0">
            <a:spAutoFit/>
          </a:bodyPr>
          <a:lstStyle/>
          <a:p>
            <a:r>
              <a:rPr lang="en-US" sz="2400" dirty="0"/>
              <a:t>|0⟩</a:t>
            </a:r>
            <a:endParaRPr lang="en-US" sz="2400" baseline="-25000" dirty="0"/>
          </a:p>
        </p:txBody>
      </p:sp>
      <p:sp>
        <p:nvSpPr>
          <p:cNvPr id="8" name="TextBox 7">
            <a:extLst>
              <a:ext uri="{FF2B5EF4-FFF2-40B4-BE49-F238E27FC236}">
                <a16:creationId xmlns:a16="http://schemas.microsoft.com/office/drawing/2014/main" id="{E9602489-9BB3-3A47-BD24-EC507B225FEA}"/>
              </a:ext>
            </a:extLst>
          </p:cNvPr>
          <p:cNvSpPr txBox="1"/>
          <p:nvPr/>
        </p:nvSpPr>
        <p:spPr>
          <a:xfrm>
            <a:off x="1997832" y="2794326"/>
            <a:ext cx="468219" cy="365241"/>
          </a:xfrm>
          <a:prstGeom prst="rect">
            <a:avLst/>
          </a:prstGeom>
          <a:noFill/>
        </p:spPr>
        <p:txBody>
          <a:bodyPr wrap="none" rtlCol="0">
            <a:spAutoFit/>
          </a:bodyPr>
          <a:lstStyle/>
          <a:p>
            <a:r>
              <a:rPr lang="en-US" sz="2400" dirty="0"/>
              <a:t>|0⟩</a:t>
            </a:r>
            <a:endParaRPr lang="en-US" sz="2400" baseline="-25000" dirty="0"/>
          </a:p>
        </p:txBody>
      </p:sp>
      <p:sp>
        <p:nvSpPr>
          <p:cNvPr id="52" name="Rectangle 51">
            <a:extLst>
              <a:ext uri="{FF2B5EF4-FFF2-40B4-BE49-F238E27FC236}">
                <a16:creationId xmlns:a16="http://schemas.microsoft.com/office/drawing/2014/main" id="{B2568315-157F-C34C-B776-DE101CEA8A37}"/>
              </a:ext>
            </a:extLst>
          </p:cNvPr>
          <p:cNvSpPr/>
          <p:nvPr/>
        </p:nvSpPr>
        <p:spPr>
          <a:xfrm>
            <a:off x="2888882" y="1586349"/>
            <a:ext cx="1190305" cy="1860808"/>
          </a:xfrm>
          <a:prstGeom prst="rect">
            <a:avLst/>
          </a:prstGeom>
          <a:noFill/>
          <a:ln>
            <a:solidFill>
              <a:schemeClr val="accent1">
                <a:shade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C17E97BD-A94D-D244-8025-8A73928B5E74}"/>
              </a:ext>
            </a:extLst>
          </p:cNvPr>
          <p:cNvGrpSpPr/>
          <p:nvPr/>
        </p:nvGrpSpPr>
        <p:grpSpPr>
          <a:xfrm>
            <a:off x="3063440" y="1794873"/>
            <a:ext cx="427215" cy="855401"/>
            <a:chOff x="1328178" y="1242270"/>
            <a:chExt cx="540000" cy="1081228"/>
          </a:xfrm>
        </p:grpSpPr>
        <p:cxnSp>
          <p:nvCxnSpPr>
            <p:cNvPr id="55" name="Straight Connector 54">
              <a:extLst>
                <a:ext uri="{FF2B5EF4-FFF2-40B4-BE49-F238E27FC236}">
                  <a16:creationId xmlns:a16="http://schemas.microsoft.com/office/drawing/2014/main" id="{23C870C1-0157-064C-8C21-C5105D44626A}"/>
                </a:ext>
              </a:extLst>
            </p:cNvPr>
            <p:cNvCxnSpPr>
              <a:cxnSpLocks/>
              <a:stCxn id="57" idx="0"/>
              <a:endCxn id="56" idx="4"/>
            </p:cNvCxnSpPr>
            <p:nvPr/>
          </p:nvCxnSpPr>
          <p:spPr>
            <a:xfrm flipV="1">
              <a:off x="1598178" y="1422270"/>
              <a:ext cx="5329" cy="36122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C865EB28-8CCE-5644-BC3C-D649CA3E862F}"/>
                </a:ext>
              </a:extLst>
            </p:cNvPr>
            <p:cNvSpPr/>
            <p:nvPr/>
          </p:nvSpPr>
          <p:spPr>
            <a:xfrm>
              <a:off x="1513507" y="1242270"/>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57" name="Oval 56">
              <a:extLst>
                <a:ext uri="{FF2B5EF4-FFF2-40B4-BE49-F238E27FC236}">
                  <a16:creationId xmlns:a16="http://schemas.microsoft.com/office/drawing/2014/main" id="{C6BC1C39-475B-3448-90B2-8F06EC6FC9C0}"/>
                </a:ext>
              </a:extLst>
            </p:cNvPr>
            <p:cNvSpPr>
              <a:spLocks noChangeAspect="1"/>
            </p:cNvSpPr>
            <p:nvPr/>
          </p:nvSpPr>
          <p:spPr>
            <a:xfrm>
              <a:off x="1328178" y="1783498"/>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grpSp>
      <p:cxnSp>
        <p:nvCxnSpPr>
          <p:cNvPr id="59" name="Straight Connector 58">
            <a:extLst>
              <a:ext uri="{FF2B5EF4-FFF2-40B4-BE49-F238E27FC236}">
                <a16:creationId xmlns:a16="http://schemas.microsoft.com/office/drawing/2014/main" id="{2DD0B3A9-4D69-0E45-A2FC-9D835C30BD87}"/>
              </a:ext>
            </a:extLst>
          </p:cNvPr>
          <p:cNvCxnSpPr>
            <a:cxnSpLocks/>
            <a:stCxn id="61" idx="0"/>
            <a:endCxn id="60" idx="4"/>
          </p:cNvCxnSpPr>
          <p:nvPr/>
        </p:nvCxnSpPr>
        <p:spPr>
          <a:xfrm flipV="1">
            <a:off x="3745895" y="1906410"/>
            <a:ext cx="4216" cy="90316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710ADB4B-DA70-FB4D-911F-8A32434A35C1}"/>
              </a:ext>
            </a:extLst>
          </p:cNvPr>
          <p:cNvSpPr/>
          <p:nvPr/>
        </p:nvSpPr>
        <p:spPr>
          <a:xfrm>
            <a:off x="3678908" y="1764005"/>
            <a:ext cx="142405" cy="142405"/>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61" name="Oval 60">
            <a:extLst>
              <a:ext uri="{FF2B5EF4-FFF2-40B4-BE49-F238E27FC236}">
                <a16:creationId xmlns:a16="http://schemas.microsoft.com/office/drawing/2014/main" id="{2F8EBF5F-653E-0D4A-B477-8C3CE7AAB5C9}"/>
              </a:ext>
            </a:extLst>
          </p:cNvPr>
          <p:cNvSpPr>
            <a:spLocks noChangeAspect="1"/>
          </p:cNvSpPr>
          <p:nvPr/>
        </p:nvSpPr>
        <p:spPr>
          <a:xfrm>
            <a:off x="3532287" y="2809573"/>
            <a:ext cx="427215" cy="4272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sp>
        <p:nvSpPr>
          <p:cNvPr id="75" name="Rectangle 74">
            <a:extLst>
              <a:ext uri="{FF2B5EF4-FFF2-40B4-BE49-F238E27FC236}">
                <a16:creationId xmlns:a16="http://schemas.microsoft.com/office/drawing/2014/main" id="{35EB1ECF-8436-4E49-9B93-9CC4BDC131B3}"/>
              </a:ext>
            </a:extLst>
          </p:cNvPr>
          <p:cNvSpPr/>
          <p:nvPr/>
        </p:nvSpPr>
        <p:spPr>
          <a:xfrm>
            <a:off x="6616540" y="1571102"/>
            <a:ext cx="1190305" cy="1860808"/>
          </a:xfrm>
          <a:prstGeom prst="rect">
            <a:avLst/>
          </a:prstGeom>
          <a:noFill/>
          <a:ln>
            <a:solidFill>
              <a:schemeClr val="accent1">
                <a:shade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25423832-291B-254B-A145-628CE0013A8F}"/>
              </a:ext>
            </a:extLst>
          </p:cNvPr>
          <p:cNvGrpSpPr/>
          <p:nvPr/>
        </p:nvGrpSpPr>
        <p:grpSpPr>
          <a:xfrm>
            <a:off x="6791098" y="1779626"/>
            <a:ext cx="427215" cy="855401"/>
            <a:chOff x="1328178" y="1242270"/>
            <a:chExt cx="540000" cy="1081228"/>
          </a:xfrm>
        </p:grpSpPr>
        <p:cxnSp>
          <p:nvCxnSpPr>
            <p:cNvPr id="77" name="Straight Connector 76">
              <a:extLst>
                <a:ext uri="{FF2B5EF4-FFF2-40B4-BE49-F238E27FC236}">
                  <a16:creationId xmlns:a16="http://schemas.microsoft.com/office/drawing/2014/main" id="{9F476E01-4205-064D-BFBE-2F7358A71F38}"/>
                </a:ext>
              </a:extLst>
            </p:cNvPr>
            <p:cNvCxnSpPr>
              <a:cxnSpLocks/>
              <a:stCxn id="79" idx="0"/>
              <a:endCxn id="78" idx="4"/>
            </p:cNvCxnSpPr>
            <p:nvPr/>
          </p:nvCxnSpPr>
          <p:spPr>
            <a:xfrm flipV="1">
              <a:off x="1598178" y="1422270"/>
              <a:ext cx="5329" cy="36122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Oval 77">
              <a:extLst>
                <a:ext uri="{FF2B5EF4-FFF2-40B4-BE49-F238E27FC236}">
                  <a16:creationId xmlns:a16="http://schemas.microsoft.com/office/drawing/2014/main" id="{92CB8B35-0010-F74F-B071-19EC6F1A5153}"/>
                </a:ext>
              </a:extLst>
            </p:cNvPr>
            <p:cNvSpPr/>
            <p:nvPr/>
          </p:nvSpPr>
          <p:spPr>
            <a:xfrm>
              <a:off x="1513507" y="1242270"/>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79" name="Oval 78">
              <a:extLst>
                <a:ext uri="{FF2B5EF4-FFF2-40B4-BE49-F238E27FC236}">
                  <a16:creationId xmlns:a16="http://schemas.microsoft.com/office/drawing/2014/main" id="{D6B7587F-C31D-594D-97AD-475AA63838E3}"/>
                </a:ext>
              </a:extLst>
            </p:cNvPr>
            <p:cNvSpPr>
              <a:spLocks noChangeAspect="1"/>
            </p:cNvSpPr>
            <p:nvPr/>
          </p:nvSpPr>
          <p:spPr>
            <a:xfrm>
              <a:off x="1328178" y="1783498"/>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grpSp>
      <p:grpSp>
        <p:nvGrpSpPr>
          <p:cNvPr id="80" name="Group 79">
            <a:extLst>
              <a:ext uri="{FF2B5EF4-FFF2-40B4-BE49-F238E27FC236}">
                <a16:creationId xmlns:a16="http://schemas.microsoft.com/office/drawing/2014/main" id="{4D15AD37-4C72-8C4D-99E0-90E23155DD90}"/>
              </a:ext>
            </a:extLst>
          </p:cNvPr>
          <p:cNvGrpSpPr/>
          <p:nvPr/>
        </p:nvGrpSpPr>
        <p:grpSpPr>
          <a:xfrm>
            <a:off x="7259945" y="1775408"/>
            <a:ext cx="427215" cy="1446133"/>
            <a:chOff x="1328178" y="495584"/>
            <a:chExt cx="540000" cy="1827914"/>
          </a:xfrm>
        </p:grpSpPr>
        <p:cxnSp>
          <p:nvCxnSpPr>
            <p:cNvPr id="81" name="Straight Connector 80">
              <a:extLst>
                <a:ext uri="{FF2B5EF4-FFF2-40B4-BE49-F238E27FC236}">
                  <a16:creationId xmlns:a16="http://schemas.microsoft.com/office/drawing/2014/main" id="{9EFD9C01-C45A-6F4E-A835-9602D1D0C67B}"/>
                </a:ext>
              </a:extLst>
            </p:cNvPr>
            <p:cNvCxnSpPr>
              <a:cxnSpLocks/>
              <a:stCxn id="83" idx="0"/>
              <a:endCxn id="82" idx="4"/>
            </p:cNvCxnSpPr>
            <p:nvPr/>
          </p:nvCxnSpPr>
          <p:spPr>
            <a:xfrm flipH="1" flipV="1">
              <a:off x="1598177" y="675584"/>
              <a:ext cx="1" cy="110791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F1221319-0D94-0641-BDF3-3F64726762C8}"/>
                </a:ext>
              </a:extLst>
            </p:cNvPr>
            <p:cNvSpPr/>
            <p:nvPr/>
          </p:nvSpPr>
          <p:spPr>
            <a:xfrm>
              <a:off x="1508177" y="495584"/>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83" name="Oval 82">
              <a:extLst>
                <a:ext uri="{FF2B5EF4-FFF2-40B4-BE49-F238E27FC236}">
                  <a16:creationId xmlns:a16="http://schemas.microsoft.com/office/drawing/2014/main" id="{16DF1D45-892E-7C47-B2A7-20920E8B7FB6}"/>
                </a:ext>
              </a:extLst>
            </p:cNvPr>
            <p:cNvSpPr>
              <a:spLocks noChangeAspect="1"/>
            </p:cNvSpPr>
            <p:nvPr/>
          </p:nvSpPr>
          <p:spPr>
            <a:xfrm>
              <a:off x="1328178" y="1783498"/>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grpSp>
      <p:cxnSp>
        <p:nvCxnSpPr>
          <p:cNvPr id="85" name="Straight Connector 84">
            <a:extLst>
              <a:ext uri="{FF2B5EF4-FFF2-40B4-BE49-F238E27FC236}">
                <a16:creationId xmlns:a16="http://schemas.microsoft.com/office/drawing/2014/main" id="{754D2696-3C3F-E145-A397-FE4C7E949F36}"/>
              </a:ext>
            </a:extLst>
          </p:cNvPr>
          <p:cNvCxnSpPr>
            <a:cxnSpLocks/>
            <a:stCxn id="87" idx="4"/>
            <a:endCxn id="86" idx="4"/>
          </p:cNvCxnSpPr>
          <p:nvPr/>
        </p:nvCxnSpPr>
        <p:spPr>
          <a:xfrm flipH="1">
            <a:off x="8480810" y="2026626"/>
            <a:ext cx="1" cy="10889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Oval 85">
            <a:extLst>
              <a:ext uri="{FF2B5EF4-FFF2-40B4-BE49-F238E27FC236}">
                <a16:creationId xmlns:a16="http://schemas.microsoft.com/office/drawing/2014/main" id="{016ED3D7-E01B-A243-825D-90437FA3674D}"/>
              </a:ext>
            </a:extLst>
          </p:cNvPr>
          <p:cNvSpPr/>
          <p:nvPr/>
        </p:nvSpPr>
        <p:spPr>
          <a:xfrm>
            <a:off x="8409607" y="2973123"/>
            <a:ext cx="142405" cy="142405"/>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87" name="Oval 86">
            <a:extLst>
              <a:ext uri="{FF2B5EF4-FFF2-40B4-BE49-F238E27FC236}">
                <a16:creationId xmlns:a16="http://schemas.microsoft.com/office/drawing/2014/main" id="{9A68C858-0FC2-2D45-A61F-87F14945CCF8}"/>
              </a:ext>
            </a:extLst>
          </p:cNvPr>
          <p:cNvSpPr>
            <a:spLocks noChangeAspect="1"/>
          </p:cNvSpPr>
          <p:nvPr/>
        </p:nvSpPr>
        <p:spPr>
          <a:xfrm>
            <a:off x="8267203" y="1599411"/>
            <a:ext cx="427215" cy="4272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sp>
        <p:nvSpPr>
          <p:cNvPr id="92" name="Oval 91">
            <a:extLst>
              <a:ext uri="{FF2B5EF4-FFF2-40B4-BE49-F238E27FC236}">
                <a16:creationId xmlns:a16="http://schemas.microsoft.com/office/drawing/2014/main" id="{017B7617-DB4E-9C46-9B3C-BEF7FC3BC211}"/>
              </a:ext>
            </a:extLst>
          </p:cNvPr>
          <p:cNvSpPr/>
          <p:nvPr/>
        </p:nvSpPr>
        <p:spPr>
          <a:xfrm>
            <a:off x="8409607" y="2382571"/>
            <a:ext cx="142405" cy="142405"/>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74" name="Rectangle 73">
            <a:extLst>
              <a:ext uri="{FF2B5EF4-FFF2-40B4-BE49-F238E27FC236}">
                <a16:creationId xmlns:a16="http://schemas.microsoft.com/office/drawing/2014/main" id="{0643A62A-3000-9643-A4AE-105E571A9649}"/>
              </a:ext>
            </a:extLst>
          </p:cNvPr>
          <p:cNvSpPr/>
          <p:nvPr/>
        </p:nvSpPr>
        <p:spPr>
          <a:xfrm>
            <a:off x="4730490" y="1594572"/>
            <a:ext cx="1190305" cy="1860808"/>
          </a:xfrm>
          <a:prstGeom prst="rect">
            <a:avLst/>
          </a:prstGeom>
          <a:noFill/>
          <a:ln>
            <a:solidFill>
              <a:schemeClr val="accent1">
                <a:shade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a:extLst>
              <a:ext uri="{FF2B5EF4-FFF2-40B4-BE49-F238E27FC236}">
                <a16:creationId xmlns:a16="http://schemas.microsoft.com/office/drawing/2014/main" id="{C8EAEBCD-E276-7D4D-8A5A-570927F4F827}"/>
              </a:ext>
            </a:extLst>
          </p:cNvPr>
          <p:cNvSpPr txBox="1"/>
          <p:nvPr/>
        </p:nvSpPr>
        <p:spPr>
          <a:xfrm>
            <a:off x="4995119" y="1072852"/>
            <a:ext cx="658642" cy="369332"/>
          </a:xfrm>
          <a:prstGeom prst="rect">
            <a:avLst/>
          </a:prstGeom>
          <a:noFill/>
        </p:spPr>
        <p:txBody>
          <a:bodyPr wrap="none" rtlCol="0">
            <a:spAutoFit/>
          </a:bodyPr>
          <a:lstStyle/>
          <a:p>
            <a:r>
              <a:rPr lang="en-US" dirty="0"/>
              <a:t>error</a:t>
            </a:r>
          </a:p>
        </p:txBody>
      </p:sp>
      <p:sp>
        <p:nvSpPr>
          <p:cNvPr id="96" name="TextBox 95">
            <a:extLst>
              <a:ext uri="{FF2B5EF4-FFF2-40B4-BE49-F238E27FC236}">
                <a16:creationId xmlns:a16="http://schemas.microsoft.com/office/drawing/2014/main" id="{51908747-ABC9-9B47-8A8C-31E9E394446F}"/>
              </a:ext>
            </a:extLst>
          </p:cNvPr>
          <p:cNvSpPr txBox="1"/>
          <p:nvPr/>
        </p:nvSpPr>
        <p:spPr>
          <a:xfrm>
            <a:off x="449214" y="1606517"/>
            <a:ext cx="1843165" cy="461665"/>
          </a:xfrm>
          <a:prstGeom prst="rect">
            <a:avLst/>
          </a:prstGeom>
          <a:noFill/>
        </p:spPr>
        <p:txBody>
          <a:bodyPr wrap="square" rtlCol="0">
            <a:spAutoFit/>
          </a:bodyPr>
          <a:lstStyle/>
          <a:p>
            <a:r>
              <a:rPr lang="en-US" sz="2400" dirty="0"/>
              <a:t>|0⟩/|1⟩/|S⟩</a:t>
            </a:r>
            <a:endParaRPr lang="en-US" sz="2400" baseline="-25000" dirty="0"/>
          </a:p>
        </p:txBody>
      </p:sp>
      <p:sp>
        <p:nvSpPr>
          <p:cNvPr id="97" name="TextBox 96">
            <a:extLst>
              <a:ext uri="{FF2B5EF4-FFF2-40B4-BE49-F238E27FC236}">
                <a16:creationId xmlns:a16="http://schemas.microsoft.com/office/drawing/2014/main" id="{EDA08F98-229D-0848-AF4D-C67D5538F0C1}"/>
              </a:ext>
            </a:extLst>
          </p:cNvPr>
          <p:cNvSpPr txBox="1"/>
          <p:nvPr/>
        </p:nvSpPr>
        <p:spPr>
          <a:xfrm>
            <a:off x="2904085" y="1040644"/>
            <a:ext cx="1045158" cy="369332"/>
          </a:xfrm>
          <a:prstGeom prst="rect">
            <a:avLst/>
          </a:prstGeom>
          <a:noFill/>
        </p:spPr>
        <p:txBody>
          <a:bodyPr wrap="none" rtlCol="0">
            <a:spAutoFit/>
          </a:bodyPr>
          <a:lstStyle/>
          <a:p>
            <a:r>
              <a:rPr lang="en-US" dirty="0"/>
              <a:t>encoding</a:t>
            </a:r>
          </a:p>
        </p:txBody>
      </p:sp>
      <p:sp>
        <p:nvSpPr>
          <p:cNvPr id="98" name="TextBox 97">
            <a:extLst>
              <a:ext uri="{FF2B5EF4-FFF2-40B4-BE49-F238E27FC236}">
                <a16:creationId xmlns:a16="http://schemas.microsoft.com/office/drawing/2014/main" id="{0F925EC6-6F04-3644-B95A-84726B79699A}"/>
              </a:ext>
            </a:extLst>
          </p:cNvPr>
          <p:cNvSpPr txBox="1"/>
          <p:nvPr/>
        </p:nvSpPr>
        <p:spPr>
          <a:xfrm>
            <a:off x="6572667" y="1045378"/>
            <a:ext cx="1045158" cy="369332"/>
          </a:xfrm>
          <a:prstGeom prst="rect">
            <a:avLst/>
          </a:prstGeom>
          <a:noFill/>
        </p:spPr>
        <p:txBody>
          <a:bodyPr wrap="none" rtlCol="0">
            <a:spAutoFit/>
          </a:bodyPr>
          <a:lstStyle/>
          <a:p>
            <a:r>
              <a:rPr lang="en-US" dirty="0"/>
              <a:t>decoding</a:t>
            </a:r>
          </a:p>
        </p:txBody>
      </p:sp>
      <p:sp>
        <p:nvSpPr>
          <p:cNvPr id="99" name="TextBox 98">
            <a:extLst>
              <a:ext uri="{FF2B5EF4-FFF2-40B4-BE49-F238E27FC236}">
                <a16:creationId xmlns:a16="http://schemas.microsoft.com/office/drawing/2014/main" id="{A10717B9-9173-6E48-9DD0-7DA0FC9E5E25}"/>
              </a:ext>
            </a:extLst>
          </p:cNvPr>
          <p:cNvSpPr txBox="1"/>
          <p:nvPr/>
        </p:nvSpPr>
        <p:spPr>
          <a:xfrm>
            <a:off x="8007634" y="1052107"/>
            <a:ext cx="1146339" cy="369332"/>
          </a:xfrm>
          <a:prstGeom prst="rect">
            <a:avLst/>
          </a:prstGeom>
          <a:noFill/>
        </p:spPr>
        <p:txBody>
          <a:bodyPr wrap="none" rtlCol="0">
            <a:spAutoFit/>
          </a:bodyPr>
          <a:lstStyle/>
          <a:p>
            <a:r>
              <a:rPr lang="en-US" dirty="0"/>
              <a:t>correction</a:t>
            </a:r>
          </a:p>
        </p:txBody>
      </p:sp>
      <p:sp>
        <p:nvSpPr>
          <p:cNvPr id="100" name="Rectangle 99">
            <a:extLst>
              <a:ext uri="{FF2B5EF4-FFF2-40B4-BE49-F238E27FC236}">
                <a16:creationId xmlns:a16="http://schemas.microsoft.com/office/drawing/2014/main" id="{143A5690-0BDB-2440-BF61-DC4D8CBE3E44}"/>
              </a:ext>
            </a:extLst>
          </p:cNvPr>
          <p:cNvSpPr/>
          <p:nvPr/>
        </p:nvSpPr>
        <p:spPr>
          <a:xfrm>
            <a:off x="7887009" y="1571102"/>
            <a:ext cx="1190305" cy="1860808"/>
          </a:xfrm>
          <a:prstGeom prst="rect">
            <a:avLst/>
          </a:prstGeom>
          <a:noFill/>
          <a:ln>
            <a:solidFill>
              <a:schemeClr val="accent1">
                <a:shade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A24970DB-3001-7D4C-AD45-AF90CBF8A2DA}"/>
              </a:ext>
            </a:extLst>
          </p:cNvPr>
          <p:cNvGrpSpPr/>
          <p:nvPr/>
        </p:nvGrpSpPr>
        <p:grpSpPr>
          <a:xfrm>
            <a:off x="-3485" y="3855488"/>
            <a:ext cx="10487554" cy="2423859"/>
            <a:chOff x="-3485" y="3855488"/>
            <a:chExt cx="10487554" cy="2423859"/>
          </a:xfrm>
        </p:grpSpPr>
        <p:cxnSp>
          <p:nvCxnSpPr>
            <p:cNvPr id="181" name="Straight Connector 180">
              <a:extLst>
                <a:ext uri="{FF2B5EF4-FFF2-40B4-BE49-F238E27FC236}">
                  <a16:creationId xmlns:a16="http://schemas.microsoft.com/office/drawing/2014/main" id="{F03FB048-D768-F74E-A2F0-AE79364202C9}"/>
                </a:ext>
              </a:extLst>
            </p:cNvPr>
            <p:cNvCxnSpPr>
              <a:cxnSpLocks/>
            </p:cNvCxnSpPr>
            <p:nvPr/>
          </p:nvCxnSpPr>
          <p:spPr>
            <a:xfrm>
              <a:off x="1734207" y="4665514"/>
              <a:ext cx="8749862" cy="0"/>
            </a:xfrm>
            <a:prstGeom prst="line">
              <a:avLst/>
            </a:prstGeom>
            <a:ln w="12700">
              <a:solidFill>
                <a:schemeClr val="tx1"/>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1845DB4B-A326-6842-A4BA-F4991E0AF888}"/>
                </a:ext>
              </a:extLst>
            </p:cNvPr>
            <p:cNvCxnSpPr>
              <a:cxnSpLocks/>
            </p:cNvCxnSpPr>
            <p:nvPr/>
          </p:nvCxnSpPr>
          <p:spPr>
            <a:xfrm>
              <a:off x="2608800" y="5275997"/>
              <a:ext cx="72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DCF7A8EA-B001-144C-B217-28384C611763}"/>
                </a:ext>
              </a:extLst>
            </p:cNvPr>
            <p:cNvCxnSpPr>
              <a:cxnSpLocks/>
            </p:cNvCxnSpPr>
            <p:nvPr/>
          </p:nvCxnSpPr>
          <p:spPr>
            <a:xfrm flipV="1">
              <a:off x="2608799" y="5866549"/>
              <a:ext cx="7200000" cy="11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F85767FB-0AA2-B64D-9305-47A0737F8A51}"/>
                </a:ext>
              </a:extLst>
            </p:cNvPr>
            <p:cNvSpPr txBox="1"/>
            <p:nvPr/>
          </p:nvSpPr>
          <p:spPr>
            <a:xfrm>
              <a:off x="1969561" y="5071240"/>
              <a:ext cx="468219" cy="365241"/>
            </a:xfrm>
            <a:prstGeom prst="rect">
              <a:avLst/>
            </a:prstGeom>
            <a:noFill/>
          </p:spPr>
          <p:txBody>
            <a:bodyPr wrap="none" rtlCol="0">
              <a:spAutoFit/>
            </a:bodyPr>
            <a:lstStyle/>
            <a:p>
              <a:r>
                <a:rPr lang="en-US" sz="2400" dirty="0"/>
                <a:t>|0⟩</a:t>
              </a:r>
              <a:endParaRPr lang="en-US" sz="2400" baseline="-25000" dirty="0"/>
            </a:p>
          </p:txBody>
        </p:sp>
        <p:sp>
          <p:nvSpPr>
            <p:cNvPr id="139" name="TextBox 138">
              <a:extLst>
                <a:ext uri="{FF2B5EF4-FFF2-40B4-BE49-F238E27FC236}">
                  <a16:creationId xmlns:a16="http://schemas.microsoft.com/office/drawing/2014/main" id="{F269D179-9033-9245-99A9-CE0C78A27A2D}"/>
                </a:ext>
              </a:extLst>
            </p:cNvPr>
            <p:cNvSpPr txBox="1"/>
            <p:nvPr/>
          </p:nvSpPr>
          <p:spPr>
            <a:xfrm>
              <a:off x="1997832" y="5611521"/>
              <a:ext cx="468219" cy="365241"/>
            </a:xfrm>
            <a:prstGeom prst="rect">
              <a:avLst/>
            </a:prstGeom>
            <a:noFill/>
          </p:spPr>
          <p:txBody>
            <a:bodyPr wrap="none" rtlCol="0">
              <a:spAutoFit/>
            </a:bodyPr>
            <a:lstStyle/>
            <a:p>
              <a:r>
                <a:rPr lang="en-US" sz="2400" dirty="0"/>
                <a:t>|0⟩</a:t>
              </a:r>
              <a:endParaRPr lang="en-US" sz="2400" baseline="-25000" dirty="0"/>
            </a:p>
          </p:txBody>
        </p:sp>
        <p:sp>
          <p:nvSpPr>
            <p:cNvPr id="140" name="Rectangle 139">
              <a:extLst>
                <a:ext uri="{FF2B5EF4-FFF2-40B4-BE49-F238E27FC236}">
                  <a16:creationId xmlns:a16="http://schemas.microsoft.com/office/drawing/2014/main" id="{D928DD06-B228-7846-8B67-A3578CBAACE4}"/>
                </a:ext>
              </a:extLst>
            </p:cNvPr>
            <p:cNvSpPr/>
            <p:nvPr/>
          </p:nvSpPr>
          <p:spPr>
            <a:xfrm>
              <a:off x="2888882" y="4245663"/>
              <a:ext cx="2124292" cy="2018689"/>
            </a:xfrm>
            <a:prstGeom prst="rect">
              <a:avLst/>
            </a:prstGeom>
            <a:noFill/>
            <a:ln>
              <a:solidFill>
                <a:schemeClr val="accent1">
                  <a:shade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1" name="Group 140">
              <a:extLst>
                <a:ext uri="{FF2B5EF4-FFF2-40B4-BE49-F238E27FC236}">
                  <a16:creationId xmlns:a16="http://schemas.microsoft.com/office/drawing/2014/main" id="{24D9DE66-D5BC-EC4E-9D39-5D3A6F33D8F0}"/>
                </a:ext>
              </a:extLst>
            </p:cNvPr>
            <p:cNvGrpSpPr/>
            <p:nvPr/>
          </p:nvGrpSpPr>
          <p:grpSpPr>
            <a:xfrm>
              <a:off x="3063440" y="4612068"/>
              <a:ext cx="427215" cy="855401"/>
              <a:chOff x="1328178" y="1242270"/>
              <a:chExt cx="540000" cy="1081228"/>
            </a:xfrm>
          </p:grpSpPr>
          <p:cxnSp>
            <p:nvCxnSpPr>
              <p:cNvPr id="142" name="Straight Connector 141">
                <a:extLst>
                  <a:ext uri="{FF2B5EF4-FFF2-40B4-BE49-F238E27FC236}">
                    <a16:creationId xmlns:a16="http://schemas.microsoft.com/office/drawing/2014/main" id="{7544B03B-A70C-0D44-9B4E-998DA6CB678E}"/>
                  </a:ext>
                </a:extLst>
              </p:cNvPr>
              <p:cNvCxnSpPr>
                <a:cxnSpLocks/>
                <a:stCxn id="144" idx="0"/>
                <a:endCxn id="143" idx="4"/>
              </p:cNvCxnSpPr>
              <p:nvPr/>
            </p:nvCxnSpPr>
            <p:spPr>
              <a:xfrm flipV="1">
                <a:off x="1598178" y="1422270"/>
                <a:ext cx="5329" cy="36122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a16:creationId xmlns:a16="http://schemas.microsoft.com/office/drawing/2014/main" id="{73BB4837-895D-1D40-B877-C5831515E6F6}"/>
                  </a:ext>
                </a:extLst>
              </p:cNvPr>
              <p:cNvSpPr/>
              <p:nvPr/>
            </p:nvSpPr>
            <p:spPr>
              <a:xfrm>
                <a:off x="1513507" y="1242270"/>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144" name="Oval 143">
                <a:extLst>
                  <a:ext uri="{FF2B5EF4-FFF2-40B4-BE49-F238E27FC236}">
                    <a16:creationId xmlns:a16="http://schemas.microsoft.com/office/drawing/2014/main" id="{9C11AC48-C54F-4142-A27B-BA51F10F45D6}"/>
                  </a:ext>
                </a:extLst>
              </p:cNvPr>
              <p:cNvSpPr>
                <a:spLocks noChangeAspect="1"/>
              </p:cNvSpPr>
              <p:nvPr/>
            </p:nvSpPr>
            <p:spPr>
              <a:xfrm>
                <a:off x="1328178" y="1783498"/>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grpSp>
        <p:grpSp>
          <p:nvGrpSpPr>
            <p:cNvPr id="145" name="Group 144">
              <a:extLst>
                <a:ext uri="{FF2B5EF4-FFF2-40B4-BE49-F238E27FC236}">
                  <a16:creationId xmlns:a16="http://schemas.microsoft.com/office/drawing/2014/main" id="{9C165129-A43E-9A4E-9E67-0179D81DFDED}"/>
                </a:ext>
              </a:extLst>
            </p:cNvPr>
            <p:cNvGrpSpPr/>
            <p:nvPr/>
          </p:nvGrpSpPr>
          <p:grpSpPr>
            <a:xfrm>
              <a:off x="3532287" y="4611377"/>
              <a:ext cx="427215" cy="1442606"/>
              <a:chOff x="1328178" y="500043"/>
              <a:chExt cx="540000" cy="1823455"/>
            </a:xfrm>
          </p:grpSpPr>
          <p:cxnSp>
            <p:nvCxnSpPr>
              <p:cNvPr id="146" name="Straight Connector 145">
                <a:extLst>
                  <a:ext uri="{FF2B5EF4-FFF2-40B4-BE49-F238E27FC236}">
                    <a16:creationId xmlns:a16="http://schemas.microsoft.com/office/drawing/2014/main" id="{CC18EAB2-9577-1A4E-81DB-377A02CE2648}"/>
                  </a:ext>
                </a:extLst>
              </p:cNvPr>
              <p:cNvCxnSpPr>
                <a:cxnSpLocks/>
                <a:stCxn id="148" idx="0"/>
                <a:endCxn id="147" idx="4"/>
              </p:cNvCxnSpPr>
              <p:nvPr/>
            </p:nvCxnSpPr>
            <p:spPr>
              <a:xfrm flipV="1">
                <a:off x="1598179" y="680043"/>
                <a:ext cx="5329" cy="110345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7" name="Oval 146">
                <a:extLst>
                  <a:ext uri="{FF2B5EF4-FFF2-40B4-BE49-F238E27FC236}">
                    <a16:creationId xmlns:a16="http://schemas.microsoft.com/office/drawing/2014/main" id="{E7C2E2BD-7A94-E241-BA6A-B68B9C2D12B7}"/>
                  </a:ext>
                </a:extLst>
              </p:cNvPr>
              <p:cNvSpPr/>
              <p:nvPr/>
            </p:nvSpPr>
            <p:spPr>
              <a:xfrm>
                <a:off x="1513507" y="500043"/>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148" name="Oval 147">
                <a:extLst>
                  <a:ext uri="{FF2B5EF4-FFF2-40B4-BE49-F238E27FC236}">
                    <a16:creationId xmlns:a16="http://schemas.microsoft.com/office/drawing/2014/main" id="{8714F76A-F3FA-0D44-84DD-1A09C79547CA}"/>
                  </a:ext>
                </a:extLst>
              </p:cNvPr>
              <p:cNvSpPr>
                <a:spLocks noChangeAspect="1"/>
              </p:cNvSpPr>
              <p:nvPr/>
            </p:nvSpPr>
            <p:spPr>
              <a:xfrm>
                <a:off x="1328178" y="1783498"/>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grpSp>
        <p:grpSp>
          <p:nvGrpSpPr>
            <p:cNvPr id="150" name="Group 149">
              <a:extLst>
                <a:ext uri="{FF2B5EF4-FFF2-40B4-BE49-F238E27FC236}">
                  <a16:creationId xmlns:a16="http://schemas.microsoft.com/office/drawing/2014/main" id="{0D6871AC-0F58-164F-857A-446C7BC186A8}"/>
                </a:ext>
              </a:extLst>
            </p:cNvPr>
            <p:cNvGrpSpPr/>
            <p:nvPr/>
          </p:nvGrpSpPr>
          <p:grpSpPr>
            <a:xfrm>
              <a:off x="7376905" y="4596821"/>
              <a:ext cx="427215" cy="855401"/>
              <a:chOff x="1328178" y="1242270"/>
              <a:chExt cx="540000" cy="1081228"/>
            </a:xfrm>
          </p:grpSpPr>
          <p:cxnSp>
            <p:nvCxnSpPr>
              <p:cNvPr id="151" name="Straight Connector 150">
                <a:extLst>
                  <a:ext uri="{FF2B5EF4-FFF2-40B4-BE49-F238E27FC236}">
                    <a16:creationId xmlns:a16="http://schemas.microsoft.com/office/drawing/2014/main" id="{213080CA-5FEE-1F47-9406-C2095E9FECAF}"/>
                  </a:ext>
                </a:extLst>
              </p:cNvPr>
              <p:cNvCxnSpPr>
                <a:cxnSpLocks/>
                <a:stCxn id="153" idx="0"/>
                <a:endCxn id="152" idx="4"/>
              </p:cNvCxnSpPr>
              <p:nvPr/>
            </p:nvCxnSpPr>
            <p:spPr>
              <a:xfrm flipV="1">
                <a:off x="1598178" y="1422270"/>
                <a:ext cx="5329" cy="36122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2" name="Oval 151">
                <a:extLst>
                  <a:ext uri="{FF2B5EF4-FFF2-40B4-BE49-F238E27FC236}">
                    <a16:creationId xmlns:a16="http://schemas.microsoft.com/office/drawing/2014/main" id="{2F7DEEC6-4BE1-5D4A-929E-A819E3F691E8}"/>
                  </a:ext>
                </a:extLst>
              </p:cNvPr>
              <p:cNvSpPr/>
              <p:nvPr/>
            </p:nvSpPr>
            <p:spPr>
              <a:xfrm>
                <a:off x="1513507" y="1242270"/>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153" name="Oval 152">
                <a:extLst>
                  <a:ext uri="{FF2B5EF4-FFF2-40B4-BE49-F238E27FC236}">
                    <a16:creationId xmlns:a16="http://schemas.microsoft.com/office/drawing/2014/main" id="{B51BBD24-AFCD-6C4E-8319-3B91FE18924E}"/>
                  </a:ext>
                </a:extLst>
              </p:cNvPr>
              <p:cNvSpPr>
                <a:spLocks noChangeAspect="1"/>
              </p:cNvSpPr>
              <p:nvPr/>
            </p:nvSpPr>
            <p:spPr>
              <a:xfrm>
                <a:off x="1328178" y="1783498"/>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grpSp>
        <p:grpSp>
          <p:nvGrpSpPr>
            <p:cNvPr id="154" name="Group 153">
              <a:extLst>
                <a:ext uri="{FF2B5EF4-FFF2-40B4-BE49-F238E27FC236}">
                  <a16:creationId xmlns:a16="http://schemas.microsoft.com/office/drawing/2014/main" id="{FDB04D64-AEB0-A049-B2F5-019C200D9708}"/>
                </a:ext>
              </a:extLst>
            </p:cNvPr>
            <p:cNvGrpSpPr/>
            <p:nvPr/>
          </p:nvGrpSpPr>
          <p:grpSpPr>
            <a:xfrm>
              <a:off x="7845752" y="4596130"/>
              <a:ext cx="427215" cy="1442606"/>
              <a:chOff x="1328178" y="500043"/>
              <a:chExt cx="540000" cy="1823455"/>
            </a:xfrm>
          </p:grpSpPr>
          <p:cxnSp>
            <p:nvCxnSpPr>
              <p:cNvPr id="155" name="Straight Connector 154">
                <a:extLst>
                  <a:ext uri="{FF2B5EF4-FFF2-40B4-BE49-F238E27FC236}">
                    <a16:creationId xmlns:a16="http://schemas.microsoft.com/office/drawing/2014/main" id="{EEE5DF36-0A7C-0543-90B5-108A6763EA45}"/>
                  </a:ext>
                </a:extLst>
              </p:cNvPr>
              <p:cNvCxnSpPr>
                <a:cxnSpLocks/>
                <a:stCxn id="157" idx="0"/>
                <a:endCxn id="156" idx="4"/>
              </p:cNvCxnSpPr>
              <p:nvPr/>
            </p:nvCxnSpPr>
            <p:spPr>
              <a:xfrm flipV="1">
                <a:off x="1598179" y="680043"/>
                <a:ext cx="5329" cy="110345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6" name="Oval 155">
                <a:extLst>
                  <a:ext uri="{FF2B5EF4-FFF2-40B4-BE49-F238E27FC236}">
                    <a16:creationId xmlns:a16="http://schemas.microsoft.com/office/drawing/2014/main" id="{06200B8C-9C8C-2847-BDF6-B1975C1696BB}"/>
                  </a:ext>
                </a:extLst>
              </p:cNvPr>
              <p:cNvSpPr/>
              <p:nvPr/>
            </p:nvSpPr>
            <p:spPr>
              <a:xfrm>
                <a:off x="1513507" y="500043"/>
                <a:ext cx="180000" cy="180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157" name="Oval 156">
                <a:extLst>
                  <a:ext uri="{FF2B5EF4-FFF2-40B4-BE49-F238E27FC236}">
                    <a16:creationId xmlns:a16="http://schemas.microsoft.com/office/drawing/2014/main" id="{7D9864AD-E133-154A-A0C7-9A9D8118EFA5}"/>
                  </a:ext>
                </a:extLst>
              </p:cNvPr>
              <p:cNvSpPr>
                <a:spLocks noChangeAspect="1"/>
              </p:cNvSpPr>
              <p:nvPr/>
            </p:nvSpPr>
            <p:spPr>
              <a:xfrm>
                <a:off x="1328178" y="1783498"/>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grpSp>
        <p:cxnSp>
          <p:nvCxnSpPr>
            <p:cNvPr id="158" name="Straight Connector 157">
              <a:extLst>
                <a:ext uri="{FF2B5EF4-FFF2-40B4-BE49-F238E27FC236}">
                  <a16:creationId xmlns:a16="http://schemas.microsoft.com/office/drawing/2014/main" id="{ED32FC07-059D-4745-A36B-6680348F2C6E}"/>
                </a:ext>
              </a:extLst>
            </p:cNvPr>
            <p:cNvCxnSpPr>
              <a:cxnSpLocks/>
              <a:stCxn id="160" idx="4"/>
              <a:endCxn id="159" idx="4"/>
            </p:cNvCxnSpPr>
            <p:nvPr/>
          </p:nvCxnSpPr>
          <p:spPr>
            <a:xfrm flipH="1">
              <a:off x="9066617" y="4843821"/>
              <a:ext cx="1" cy="10889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9" name="Oval 158">
              <a:extLst>
                <a:ext uri="{FF2B5EF4-FFF2-40B4-BE49-F238E27FC236}">
                  <a16:creationId xmlns:a16="http://schemas.microsoft.com/office/drawing/2014/main" id="{DE869E1D-C8F2-5E4F-9965-4137E6715C57}"/>
                </a:ext>
              </a:extLst>
            </p:cNvPr>
            <p:cNvSpPr/>
            <p:nvPr/>
          </p:nvSpPr>
          <p:spPr>
            <a:xfrm>
              <a:off x="8995414" y="5790318"/>
              <a:ext cx="142405" cy="142405"/>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160" name="Oval 159">
              <a:extLst>
                <a:ext uri="{FF2B5EF4-FFF2-40B4-BE49-F238E27FC236}">
                  <a16:creationId xmlns:a16="http://schemas.microsoft.com/office/drawing/2014/main" id="{C877E9D7-A0D8-B44F-9A3E-DA03B5E97BDF}"/>
                </a:ext>
              </a:extLst>
            </p:cNvPr>
            <p:cNvSpPr>
              <a:spLocks noChangeAspect="1"/>
            </p:cNvSpPr>
            <p:nvPr/>
          </p:nvSpPr>
          <p:spPr>
            <a:xfrm>
              <a:off x="8853010" y="4416606"/>
              <a:ext cx="427215" cy="4272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sp>
          <p:nvSpPr>
            <p:cNvPr id="161" name="Oval 160">
              <a:extLst>
                <a:ext uri="{FF2B5EF4-FFF2-40B4-BE49-F238E27FC236}">
                  <a16:creationId xmlns:a16="http://schemas.microsoft.com/office/drawing/2014/main" id="{16459B31-61D2-C442-9475-DF313B7612F6}"/>
                </a:ext>
              </a:extLst>
            </p:cNvPr>
            <p:cNvSpPr/>
            <p:nvPr/>
          </p:nvSpPr>
          <p:spPr>
            <a:xfrm>
              <a:off x="8995414" y="5199766"/>
              <a:ext cx="142405" cy="142405"/>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165" name="TextBox 164">
              <a:extLst>
                <a:ext uri="{FF2B5EF4-FFF2-40B4-BE49-F238E27FC236}">
                  <a16:creationId xmlns:a16="http://schemas.microsoft.com/office/drawing/2014/main" id="{BD014249-5695-2846-9E1D-6230BE4175F1}"/>
                </a:ext>
              </a:extLst>
            </p:cNvPr>
            <p:cNvSpPr txBox="1"/>
            <p:nvPr/>
          </p:nvSpPr>
          <p:spPr>
            <a:xfrm>
              <a:off x="5228196" y="3861787"/>
              <a:ext cx="658642" cy="369332"/>
            </a:xfrm>
            <a:prstGeom prst="rect">
              <a:avLst/>
            </a:prstGeom>
            <a:noFill/>
          </p:spPr>
          <p:txBody>
            <a:bodyPr wrap="none" rtlCol="0">
              <a:spAutoFit/>
            </a:bodyPr>
            <a:lstStyle/>
            <a:p>
              <a:r>
                <a:rPr lang="en-US" dirty="0"/>
                <a:t>error</a:t>
              </a:r>
            </a:p>
          </p:txBody>
        </p:sp>
        <p:sp>
          <p:nvSpPr>
            <p:cNvPr id="166" name="TextBox 165">
              <a:extLst>
                <a:ext uri="{FF2B5EF4-FFF2-40B4-BE49-F238E27FC236}">
                  <a16:creationId xmlns:a16="http://schemas.microsoft.com/office/drawing/2014/main" id="{A7249AB3-8C5B-754C-B047-FAB1F350B6B7}"/>
                </a:ext>
              </a:extLst>
            </p:cNvPr>
            <p:cNvSpPr txBox="1"/>
            <p:nvPr/>
          </p:nvSpPr>
          <p:spPr>
            <a:xfrm>
              <a:off x="-3485" y="4424543"/>
              <a:ext cx="1843165" cy="461665"/>
            </a:xfrm>
            <a:prstGeom prst="rect">
              <a:avLst/>
            </a:prstGeom>
            <a:noFill/>
          </p:spPr>
          <p:txBody>
            <a:bodyPr wrap="square" rtlCol="0">
              <a:spAutoFit/>
            </a:bodyPr>
            <a:lstStyle/>
            <a:p>
              <a:r>
                <a:rPr lang="en-US" sz="2400" dirty="0"/>
                <a:t>|0⟩/|1⟩/|S⟩</a:t>
              </a:r>
              <a:endParaRPr lang="en-US" sz="2400" baseline="-25000" dirty="0"/>
            </a:p>
          </p:txBody>
        </p:sp>
        <p:sp>
          <p:nvSpPr>
            <p:cNvPr id="167" name="TextBox 166">
              <a:extLst>
                <a:ext uri="{FF2B5EF4-FFF2-40B4-BE49-F238E27FC236}">
                  <a16:creationId xmlns:a16="http://schemas.microsoft.com/office/drawing/2014/main" id="{437993BE-E6D9-D641-91C6-1D3A2F729330}"/>
                </a:ext>
              </a:extLst>
            </p:cNvPr>
            <p:cNvSpPr txBox="1"/>
            <p:nvPr/>
          </p:nvSpPr>
          <p:spPr>
            <a:xfrm>
              <a:off x="2904085" y="3857839"/>
              <a:ext cx="1055417" cy="369332"/>
            </a:xfrm>
            <a:prstGeom prst="rect">
              <a:avLst/>
            </a:prstGeom>
            <a:noFill/>
          </p:spPr>
          <p:txBody>
            <a:bodyPr wrap="none" rtlCol="0">
              <a:spAutoFit/>
            </a:bodyPr>
            <a:lstStyle/>
            <a:p>
              <a:r>
                <a:rPr lang="en-US" dirty="0"/>
                <a:t>encoding</a:t>
              </a:r>
            </a:p>
          </p:txBody>
        </p:sp>
        <p:sp>
          <p:nvSpPr>
            <p:cNvPr id="168" name="TextBox 167">
              <a:extLst>
                <a:ext uri="{FF2B5EF4-FFF2-40B4-BE49-F238E27FC236}">
                  <a16:creationId xmlns:a16="http://schemas.microsoft.com/office/drawing/2014/main" id="{2B03DF1A-117A-1F4E-B62F-205008339E57}"/>
                </a:ext>
              </a:extLst>
            </p:cNvPr>
            <p:cNvSpPr txBox="1"/>
            <p:nvPr/>
          </p:nvSpPr>
          <p:spPr>
            <a:xfrm>
              <a:off x="7095246" y="3863779"/>
              <a:ext cx="1045158" cy="369332"/>
            </a:xfrm>
            <a:prstGeom prst="rect">
              <a:avLst/>
            </a:prstGeom>
            <a:noFill/>
          </p:spPr>
          <p:txBody>
            <a:bodyPr wrap="none" rtlCol="0">
              <a:spAutoFit/>
            </a:bodyPr>
            <a:lstStyle/>
            <a:p>
              <a:r>
                <a:rPr lang="en-US" dirty="0"/>
                <a:t>decoding</a:t>
              </a:r>
            </a:p>
          </p:txBody>
        </p:sp>
        <p:sp>
          <p:nvSpPr>
            <p:cNvPr id="169" name="TextBox 168">
              <a:extLst>
                <a:ext uri="{FF2B5EF4-FFF2-40B4-BE49-F238E27FC236}">
                  <a16:creationId xmlns:a16="http://schemas.microsoft.com/office/drawing/2014/main" id="{77D3AA23-BD48-DE49-B2CB-061B5A649BC0}"/>
                </a:ext>
              </a:extLst>
            </p:cNvPr>
            <p:cNvSpPr txBox="1"/>
            <p:nvPr/>
          </p:nvSpPr>
          <p:spPr>
            <a:xfrm>
              <a:off x="8422244" y="3855488"/>
              <a:ext cx="1146339" cy="369332"/>
            </a:xfrm>
            <a:prstGeom prst="rect">
              <a:avLst/>
            </a:prstGeom>
            <a:noFill/>
          </p:spPr>
          <p:txBody>
            <a:bodyPr wrap="none" rtlCol="0">
              <a:spAutoFit/>
            </a:bodyPr>
            <a:lstStyle/>
            <a:p>
              <a:r>
                <a:rPr lang="en-US" dirty="0"/>
                <a:t>correction</a:t>
              </a:r>
            </a:p>
          </p:txBody>
        </p:sp>
        <p:sp>
          <p:nvSpPr>
            <p:cNvPr id="170" name="Rectangle 169">
              <a:extLst>
                <a:ext uri="{FF2B5EF4-FFF2-40B4-BE49-F238E27FC236}">
                  <a16:creationId xmlns:a16="http://schemas.microsoft.com/office/drawing/2014/main" id="{EFCD6A14-768F-A646-A878-3D2F747B65BB}"/>
                </a:ext>
              </a:extLst>
            </p:cNvPr>
            <p:cNvSpPr/>
            <p:nvPr/>
          </p:nvSpPr>
          <p:spPr>
            <a:xfrm>
              <a:off x="8472816" y="4238634"/>
              <a:ext cx="1190305" cy="2025718"/>
            </a:xfrm>
            <a:prstGeom prst="rect">
              <a:avLst/>
            </a:prstGeom>
            <a:noFill/>
            <a:ln>
              <a:solidFill>
                <a:schemeClr val="accent1">
                  <a:shade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A0A4B569-F44F-4D44-AD88-AABB09A20E50}"/>
                </a:ext>
              </a:extLst>
            </p:cNvPr>
            <p:cNvSpPr>
              <a:spLocks/>
            </p:cNvSpPr>
            <p:nvPr/>
          </p:nvSpPr>
          <p:spPr>
            <a:xfrm>
              <a:off x="4370124" y="5604938"/>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sp>
          <p:nvSpPr>
            <p:cNvPr id="172" name="Rectangle 171">
              <a:extLst>
                <a:ext uri="{FF2B5EF4-FFF2-40B4-BE49-F238E27FC236}">
                  <a16:creationId xmlns:a16="http://schemas.microsoft.com/office/drawing/2014/main" id="{70CDB986-4758-524E-B79F-A53BD85581F0}"/>
                </a:ext>
              </a:extLst>
            </p:cNvPr>
            <p:cNvSpPr>
              <a:spLocks/>
            </p:cNvSpPr>
            <p:nvPr/>
          </p:nvSpPr>
          <p:spPr>
            <a:xfrm>
              <a:off x="4366783" y="5007025"/>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sp>
          <p:nvSpPr>
            <p:cNvPr id="173" name="Rectangle 172">
              <a:extLst>
                <a:ext uri="{FF2B5EF4-FFF2-40B4-BE49-F238E27FC236}">
                  <a16:creationId xmlns:a16="http://schemas.microsoft.com/office/drawing/2014/main" id="{CACCD532-D29B-734D-852D-89CE45AD7FC4}"/>
                </a:ext>
              </a:extLst>
            </p:cNvPr>
            <p:cNvSpPr>
              <a:spLocks/>
            </p:cNvSpPr>
            <p:nvPr/>
          </p:nvSpPr>
          <p:spPr>
            <a:xfrm>
              <a:off x="4363442" y="4396838"/>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sp>
          <p:nvSpPr>
            <p:cNvPr id="174" name="Rectangle 173">
              <a:extLst>
                <a:ext uri="{FF2B5EF4-FFF2-40B4-BE49-F238E27FC236}">
                  <a16:creationId xmlns:a16="http://schemas.microsoft.com/office/drawing/2014/main" id="{ACF0F20B-A54D-0D49-A888-1ED2BAE00167}"/>
                </a:ext>
              </a:extLst>
            </p:cNvPr>
            <p:cNvSpPr>
              <a:spLocks/>
            </p:cNvSpPr>
            <p:nvPr/>
          </p:nvSpPr>
          <p:spPr>
            <a:xfrm>
              <a:off x="6491869" y="5601333"/>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sp>
          <p:nvSpPr>
            <p:cNvPr id="175" name="Rectangle 174">
              <a:extLst>
                <a:ext uri="{FF2B5EF4-FFF2-40B4-BE49-F238E27FC236}">
                  <a16:creationId xmlns:a16="http://schemas.microsoft.com/office/drawing/2014/main" id="{D5E48455-FCA7-A54A-AE79-027B9FCB32CC}"/>
                </a:ext>
              </a:extLst>
            </p:cNvPr>
            <p:cNvSpPr>
              <a:spLocks/>
            </p:cNvSpPr>
            <p:nvPr/>
          </p:nvSpPr>
          <p:spPr>
            <a:xfrm>
              <a:off x="6488528" y="5003420"/>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sp>
          <p:nvSpPr>
            <p:cNvPr id="176" name="Rectangle 175">
              <a:extLst>
                <a:ext uri="{FF2B5EF4-FFF2-40B4-BE49-F238E27FC236}">
                  <a16:creationId xmlns:a16="http://schemas.microsoft.com/office/drawing/2014/main" id="{12285797-3387-E84F-A794-7F70D11181CB}"/>
                </a:ext>
              </a:extLst>
            </p:cNvPr>
            <p:cNvSpPr>
              <a:spLocks/>
            </p:cNvSpPr>
            <p:nvPr/>
          </p:nvSpPr>
          <p:spPr>
            <a:xfrm>
              <a:off x="6485187" y="4393233"/>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sp>
          <p:nvSpPr>
            <p:cNvPr id="178" name="Rectangle 177">
              <a:extLst>
                <a:ext uri="{FF2B5EF4-FFF2-40B4-BE49-F238E27FC236}">
                  <a16:creationId xmlns:a16="http://schemas.microsoft.com/office/drawing/2014/main" id="{F2E7C028-C78D-174B-A4B4-2D49AA43E7B2}"/>
                </a:ext>
              </a:extLst>
            </p:cNvPr>
            <p:cNvSpPr/>
            <p:nvPr/>
          </p:nvSpPr>
          <p:spPr>
            <a:xfrm>
              <a:off x="6367514" y="4245663"/>
              <a:ext cx="1950530" cy="2018689"/>
            </a:xfrm>
            <a:prstGeom prst="rect">
              <a:avLst/>
            </a:prstGeom>
            <a:noFill/>
            <a:ln>
              <a:solidFill>
                <a:schemeClr val="accent1">
                  <a:shade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41D01C80-2DCB-4E46-9CC0-7C81AE06DDF7}"/>
                </a:ext>
              </a:extLst>
            </p:cNvPr>
            <p:cNvSpPr/>
            <p:nvPr/>
          </p:nvSpPr>
          <p:spPr>
            <a:xfrm>
              <a:off x="5155922" y="4253629"/>
              <a:ext cx="969855" cy="2025718"/>
            </a:xfrm>
            <a:prstGeom prst="rect">
              <a:avLst/>
            </a:prstGeom>
            <a:noFill/>
            <a:ln>
              <a:solidFill>
                <a:schemeClr val="accent1">
                  <a:shade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8E71E793-7D21-A44E-9345-6C17971A0009}"/>
              </a:ext>
            </a:extLst>
          </p:cNvPr>
          <p:cNvGrpSpPr/>
          <p:nvPr/>
        </p:nvGrpSpPr>
        <p:grpSpPr>
          <a:xfrm>
            <a:off x="4206103" y="1463488"/>
            <a:ext cx="2154617" cy="1563998"/>
            <a:chOff x="4206103" y="1463488"/>
            <a:chExt cx="2154617" cy="1563998"/>
          </a:xfrm>
        </p:grpSpPr>
        <p:sp>
          <p:nvSpPr>
            <p:cNvPr id="186" name="Oval 185">
              <a:extLst>
                <a:ext uri="{FF2B5EF4-FFF2-40B4-BE49-F238E27FC236}">
                  <a16:creationId xmlns:a16="http://schemas.microsoft.com/office/drawing/2014/main" id="{95A9FF78-7776-1C44-B13C-22ADB12D9623}"/>
                </a:ext>
              </a:extLst>
            </p:cNvPr>
            <p:cNvSpPr>
              <a:spLocks noChangeAspect="1"/>
            </p:cNvSpPr>
            <p:nvPr/>
          </p:nvSpPr>
          <p:spPr>
            <a:xfrm>
              <a:off x="5112034" y="2254620"/>
              <a:ext cx="427215" cy="427215"/>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sp>
          <p:nvSpPr>
            <p:cNvPr id="84" name="TextBox 83">
              <a:extLst>
                <a:ext uri="{FF2B5EF4-FFF2-40B4-BE49-F238E27FC236}">
                  <a16:creationId xmlns:a16="http://schemas.microsoft.com/office/drawing/2014/main" id="{EFAF0C42-19B9-F746-A80C-CCFCE6879AED}"/>
                </a:ext>
              </a:extLst>
            </p:cNvPr>
            <p:cNvSpPr txBox="1"/>
            <p:nvPr/>
          </p:nvSpPr>
          <p:spPr>
            <a:xfrm>
              <a:off x="4206103" y="1463488"/>
              <a:ext cx="526106" cy="400110"/>
            </a:xfrm>
            <a:prstGeom prst="rect">
              <a:avLst/>
            </a:prstGeom>
            <a:noFill/>
          </p:spPr>
          <p:txBody>
            <a:bodyPr wrap="none" rtlCol="0">
              <a:spAutoFit/>
            </a:bodyPr>
            <a:lstStyle/>
            <a:p>
              <a:r>
                <a:rPr lang="en-US" sz="2000" dirty="0"/>
                <a:t>|0⟩</a:t>
              </a:r>
              <a:endParaRPr lang="en-US" sz="2000" baseline="-25000" dirty="0"/>
            </a:p>
          </p:txBody>
        </p:sp>
        <p:sp>
          <p:nvSpPr>
            <p:cNvPr id="88" name="TextBox 87">
              <a:extLst>
                <a:ext uri="{FF2B5EF4-FFF2-40B4-BE49-F238E27FC236}">
                  <a16:creationId xmlns:a16="http://schemas.microsoft.com/office/drawing/2014/main" id="{7A29184B-D908-D247-87D3-83CC8BCB34F6}"/>
                </a:ext>
              </a:extLst>
            </p:cNvPr>
            <p:cNvSpPr txBox="1"/>
            <p:nvPr/>
          </p:nvSpPr>
          <p:spPr>
            <a:xfrm>
              <a:off x="4206103" y="2008499"/>
              <a:ext cx="526106" cy="400110"/>
            </a:xfrm>
            <a:prstGeom prst="rect">
              <a:avLst/>
            </a:prstGeom>
            <a:noFill/>
          </p:spPr>
          <p:txBody>
            <a:bodyPr wrap="none" rtlCol="0">
              <a:spAutoFit/>
            </a:bodyPr>
            <a:lstStyle/>
            <a:p>
              <a:r>
                <a:rPr lang="en-US" sz="2000" dirty="0"/>
                <a:t>|0⟩</a:t>
              </a:r>
              <a:endParaRPr lang="en-US" sz="2000" baseline="-25000" dirty="0"/>
            </a:p>
          </p:txBody>
        </p:sp>
        <p:sp>
          <p:nvSpPr>
            <p:cNvPr id="89" name="TextBox 88">
              <a:extLst>
                <a:ext uri="{FF2B5EF4-FFF2-40B4-BE49-F238E27FC236}">
                  <a16:creationId xmlns:a16="http://schemas.microsoft.com/office/drawing/2014/main" id="{1C90B7E5-0AD3-304A-8305-5E86DA7DF57F}"/>
                </a:ext>
              </a:extLst>
            </p:cNvPr>
            <p:cNvSpPr txBox="1"/>
            <p:nvPr/>
          </p:nvSpPr>
          <p:spPr>
            <a:xfrm>
              <a:off x="4206103" y="2627376"/>
              <a:ext cx="526106" cy="400110"/>
            </a:xfrm>
            <a:prstGeom prst="rect">
              <a:avLst/>
            </a:prstGeom>
            <a:noFill/>
          </p:spPr>
          <p:txBody>
            <a:bodyPr wrap="none" rtlCol="0">
              <a:spAutoFit/>
            </a:bodyPr>
            <a:lstStyle/>
            <a:p>
              <a:r>
                <a:rPr lang="en-US" sz="2000" dirty="0"/>
                <a:t>|0⟩</a:t>
              </a:r>
              <a:endParaRPr lang="en-US" sz="2000" baseline="-25000" dirty="0"/>
            </a:p>
          </p:txBody>
        </p:sp>
        <p:sp>
          <p:nvSpPr>
            <p:cNvPr id="90" name="TextBox 89">
              <a:extLst>
                <a:ext uri="{FF2B5EF4-FFF2-40B4-BE49-F238E27FC236}">
                  <a16:creationId xmlns:a16="http://schemas.microsoft.com/office/drawing/2014/main" id="{C678BC74-F23E-4646-83C8-7EB5E1EEDCE2}"/>
                </a:ext>
              </a:extLst>
            </p:cNvPr>
            <p:cNvSpPr txBox="1"/>
            <p:nvPr/>
          </p:nvSpPr>
          <p:spPr>
            <a:xfrm>
              <a:off x="5834614" y="1480431"/>
              <a:ext cx="526106" cy="400110"/>
            </a:xfrm>
            <a:prstGeom prst="rect">
              <a:avLst/>
            </a:prstGeom>
            <a:noFill/>
          </p:spPr>
          <p:txBody>
            <a:bodyPr wrap="none" rtlCol="0">
              <a:spAutoFit/>
            </a:bodyPr>
            <a:lstStyle/>
            <a:p>
              <a:r>
                <a:rPr lang="en-US" sz="2000" dirty="0"/>
                <a:t>|0⟩</a:t>
              </a:r>
              <a:endParaRPr lang="en-US" sz="2000" baseline="-25000" dirty="0"/>
            </a:p>
          </p:txBody>
        </p:sp>
        <p:sp>
          <p:nvSpPr>
            <p:cNvPr id="91" name="TextBox 90">
              <a:extLst>
                <a:ext uri="{FF2B5EF4-FFF2-40B4-BE49-F238E27FC236}">
                  <a16:creationId xmlns:a16="http://schemas.microsoft.com/office/drawing/2014/main" id="{A035E820-BC0C-984B-9032-209631F72A41}"/>
                </a:ext>
              </a:extLst>
            </p:cNvPr>
            <p:cNvSpPr txBox="1"/>
            <p:nvPr/>
          </p:nvSpPr>
          <p:spPr>
            <a:xfrm>
              <a:off x="5823083" y="2047847"/>
              <a:ext cx="526106" cy="400110"/>
            </a:xfrm>
            <a:prstGeom prst="rect">
              <a:avLst/>
            </a:prstGeom>
            <a:noFill/>
          </p:spPr>
          <p:txBody>
            <a:bodyPr wrap="none" rtlCol="0">
              <a:spAutoFit/>
            </a:bodyPr>
            <a:lstStyle/>
            <a:p>
              <a:r>
                <a:rPr lang="en-US" sz="2000" dirty="0"/>
                <a:t>|1⟩</a:t>
              </a:r>
              <a:endParaRPr lang="en-US" sz="2000" baseline="-25000" dirty="0"/>
            </a:p>
          </p:txBody>
        </p:sp>
        <p:sp>
          <p:nvSpPr>
            <p:cNvPr id="93" name="TextBox 92">
              <a:extLst>
                <a:ext uri="{FF2B5EF4-FFF2-40B4-BE49-F238E27FC236}">
                  <a16:creationId xmlns:a16="http://schemas.microsoft.com/office/drawing/2014/main" id="{104B8AF2-8692-5449-B9B2-BFC76B0CA097}"/>
                </a:ext>
              </a:extLst>
            </p:cNvPr>
            <p:cNvSpPr txBox="1"/>
            <p:nvPr/>
          </p:nvSpPr>
          <p:spPr>
            <a:xfrm>
              <a:off x="5811552" y="2615263"/>
              <a:ext cx="526106" cy="400110"/>
            </a:xfrm>
            <a:prstGeom prst="rect">
              <a:avLst/>
            </a:prstGeom>
            <a:noFill/>
          </p:spPr>
          <p:txBody>
            <a:bodyPr wrap="none" rtlCol="0">
              <a:spAutoFit/>
            </a:bodyPr>
            <a:lstStyle/>
            <a:p>
              <a:r>
                <a:rPr lang="en-US" sz="2000" dirty="0"/>
                <a:t>|0⟩</a:t>
              </a:r>
              <a:endParaRPr lang="en-US" sz="2000" baseline="-25000" dirty="0"/>
            </a:p>
          </p:txBody>
        </p:sp>
      </p:grpSp>
      <p:grpSp>
        <p:nvGrpSpPr>
          <p:cNvPr id="12" name="Group 11">
            <a:extLst>
              <a:ext uri="{FF2B5EF4-FFF2-40B4-BE49-F238E27FC236}">
                <a16:creationId xmlns:a16="http://schemas.microsoft.com/office/drawing/2014/main" id="{5015F3A1-5E14-DC44-BEA5-8748A90584CA}"/>
              </a:ext>
            </a:extLst>
          </p:cNvPr>
          <p:cNvGrpSpPr/>
          <p:nvPr/>
        </p:nvGrpSpPr>
        <p:grpSpPr>
          <a:xfrm>
            <a:off x="7788100" y="1478689"/>
            <a:ext cx="528906" cy="1547918"/>
            <a:chOff x="7788100" y="1815564"/>
            <a:chExt cx="528906" cy="1547918"/>
          </a:xfrm>
        </p:grpSpPr>
        <p:sp>
          <p:nvSpPr>
            <p:cNvPr id="94" name="TextBox 93">
              <a:extLst>
                <a:ext uri="{FF2B5EF4-FFF2-40B4-BE49-F238E27FC236}">
                  <a16:creationId xmlns:a16="http://schemas.microsoft.com/office/drawing/2014/main" id="{BF15BED2-9B86-2340-AABA-2E06401CEC6A}"/>
                </a:ext>
              </a:extLst>
            </p:cNvPr>
            <p:cNvSpPr txBox="1"/>
            <p:nvPr/>
          </p:nvSpPr>
          <p:spPr>
            <a:xfrm>
              <a:off x="7790900" y="1815564"/>
              <a:ext cx="526106" cy="400110"/>
            </a:xfrm>
            <a:prstGeom prst="rect">
              <a:avLst/>
            </a:prstGeom>
            <a:noFill/>
          </p:spPr>
          <p:txBody>
            <a:bodyPr wrap="none" rtlCol="0">
              <a:spAutoFit/>
            </a:bodyPr>
            <a:lstStyle/>
            <a:p>
              <a:r>
                <a:rPr lang="en-US" sz="2000" dirty="0"/>
                <a:t>|0⟩</a:t>
              </a:r>
              <a:endParaRPr lang="en-US" sz="2000" baseline="-25000" dirty="0"/>
            </a:p>
          </p:txBody>
        </p:sp>
        <p:sp>
          <p:nvSpPr>
            <p:cNvPr id="101" name="TextBox 100">
              <a:extLst>
                <a:ext uri="{FF2B5EF4-FFF2-40B4-BE49-F238E27FC236}">
                  <a16:creationId xmlns:a16="http://schemas.microsoft.com/office/drawing/2014/main" id="{4C961104-FBFA-4849-8A20-805628B98495}"/>
                </a:ext>
              </a:extLst>
            </p:cNvPr>
            <p:cNvSpPr txBox="1"/>
            <p:nvPr/>
          </p:nvSpPr>
          <p:spPr>
            <a:xfrm>
              <a:off x="7789500" y="2389468"/>
              <a:ext cx="526106" cy="400110"/>
            </a:xfrm>
            <a:prstGeom prst="rect">
              <a:avLst/>
            </a:prstGeom>
            <a:noFill/>
          </p:spPr>
          <p:txBody>
            <a:bodyPr wrap="none" rtlCol="0">
              <a:spAutoFit/>
            </a:bodyPr>
            <a:lstStyle/>
            <a:p>
              <a:r>
                <a:rPr lang="en-US" sz="2000" dirty="0"/>
                <a:t>|1⟩</a:t>
              </a:r>
              <a:endParaRPr lang="en-US" sz="2000" baseline="-25000" dirty="0"/>
            </a:p>
          </p:txBody>
        </p:sp>
        <p:sp>
          <p:nvSpPr>
            <p:cNvPr id="102" name="TextBox 101">
              <a:extLst>
                <a:ext uri="{FF2B5EF4-FFF2-40B4-BE49-F238E27FC236}">
                  <a16:creationId xmlns:a16="http://schemas.microsoft.com/office/drawing/2014/main" id="{AACF3BE2-BF9F-C44B-9B36-0F4859B3464C}"/>
                </a:ext>
              </a:extLst>
            </p:cNvPr>
            <p:cNvSpPr txBox="1"/>
            <p:nvPr/>
          </p:nvSpPr>
          <p:spPr>
            <a:xfrm>
              <a:off x="7788100" y="2963372"/>
              <a:ext cx="526106" cy="400110"/>
            </a:xfrm>
            <a:prstGeom prst="rect">
              <a:avLst/>
            </a:prstGeom>
            <a:noFill/>
          </p:spPr>
          <p:txBody>
            <a:bodyPr wrap="none" rtlCol="0">
              <a:spAutoFit/>
            </a:bodyPr>
            <a:lstStyle/>
            <a:p>
              <a:r>
                <a:rPr lang="en-US" sz="2000" dirty="0"/>
                <a:t>|0⟩</a:t>
              </a:r>
              <a:endParaRPr lang="en-US" sz="2000" baseline="-25000" dirty="0"/>
            </a:p>
          </p:txBody>
        </p:sp>
      </p:grpSp>
      <p:grpSp>
        <p:nvGrpSpPr>
          <p:cNvPr id="13" name="Group 12">
            <a:extLst>
              <a:ext uri="{FF2B5EF4-FFF2-40B4-BE49-F238E27FC236}">
                <a16:creationId xmlns:a16="http://schemas.microsoft.com/office/drawing/2014/main" id="{D0A4DB79-EABE-074B-9947-39F2BFCD94EB}"/>
              </a:ext>
            </a:extLst>
          </p:cNvPr>
          <p:cNvGrpSpPr/>
          <p:nvPr/>
        </p:nvGrpSpPr>
        <p:grpSpPr>
          <a:xfrm>
            <a:off x="3859082" y="4215320"/>
            <a:ext cx="5971936" cy="1656010"/>
            <a:chOff x="3794683" y="4229225"/>
            <a:chExt cx="5971936" cy="1656010"/>
          </a:xfrm>
        </p:grpSpPr>
        <p:sp>
          <p:nvSpPr>
            <p:cNvPr id="187" name="Rectangle 186">
              <a:extLst>
                <a:ext uri="{FF2B5EF4-FFF2-40B4-BE49-F238E27FC236}">
                  <a16:creationId xmlns:a16="http://schemas.microsoft.com/office/drawing/2014/main" id="{B014B06C-9AF0-DC43-8D8C-8B8700638634}"/>
                </a:ext>
              </a:extLst>
            </p:cNvPr>
            <p:cNvSpPr/>
            <p:nvPr/>
          </p:nvSpPr>
          <p:spPr>
            <a:xfrm>
              <a:off x="5324440" y="4418540"/>
              <a:ext cx="540000" cy="54000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Z</a:t>
              </a:r>
            </a:p>
          </p:txBody>
        </p:sp>
        <p:sp>
          <p:nvSpPr>
            <p:cNvPr id="103" name="TextBox 102">
              <a:extLst>
                <a:ext uri="{FF2B5EF4-FFF2-40B4-BE49-F238E27FC236}">
                  <a16:creationId xmlns:a16="http://schemas.microsoft.com/office/drawing/2014/main" id="{22D787AA-AEBE-934A-A5E3-2B6117314911}"/>
                </a:ext>
              </a:extLst>
            </p:cNvPr>
            <p:cNvSpPr txBox="1"/>
            <p:nvPr/>
          </p:nvSpPr>
          <p:spPr>
            <a:xfrm>
              <a:off x="6896746" y="4284046"/>
              <a:ext cx="526106" cy="400110"/>
            </a:xfrm>
            <a:prstGeom prst="rect">
              <a:avLst/>
            </a:prstGeom>
            <a:noFill/>
          </p:spPr>
          <p:txBody>
            <a:bodyPr wrap="none" rtlCol="0">
              <a:spAutoFit/>
            </a:bodyPr>
            <a:lstStyle/>
            <a:p>
              <a:r>
                <a:rPr lang="en-US" sz="2000" dirty="0"/>
                <a:t>|1⟩</a:t>
              </a:r>
              <a:endParaRPr lang="en-US" sz="2000" baseline="-25000" dirty="0"/>
            </a:p>
          </p:txBody>
        </p:sp>
        <p:sp>
          <p:nvSpPr>
            <p:cNvPr id="108" name="TextBox 107">
              <a:extLst>
                <a:ext uri="{FF2B5EF4-FFF2-40B4-BE49-F238E27FC236}">
                  <a16:creationId xmlns:a16="http://schemas.microsoft.com/office/drawing/2014/main" id="{B49C75DD-73AD-7444-98D9-CDE2266BFFDE}"/>
                </a:ext>
              </a:extLst>
            </p:cNvPr>
            <p:cNvSpPr txBox="1"/>
            <p:nvPr/>
          </p:nvSpPr>
          <p:spPr>
            <a:xfrm>
              <a:off x="6894254" y="4910981"/>
              <a:ext cx="526106" cy="400110"/>
            </a:xfrm>
            <a:prstGeom prst="rect">
              <a:avLst/>
            </a:prstGeom>
            <a:noFill/>
          </p:spPr>
          <p:txBody>
            <a:bodyPr wrap="none" rtlCol="0">
              <a:spAutoFit/>
            </a:bodyPr>
            <a:lstStyle/>
            <a:p>
              <a:r>
                <a:rPr lang="en-US" sz="2000" dirty="0"/>
                <a:t>|0⟩</a:t>
              </a:r>
              <a:endParaRPr lang="en-US" sz="2000" baseline="-25000" dirty="0"/>
            </a:p>
          </p:txBody>
        </p:sp>
        <p:sp>
          <p:nvSpPr>
            <p:cNvPr id="109" name="TextBox 108">
              <a:extLst>
                <a:ext uri="{FF2B5EF4-FFF2-40B4-BE49-F238E27FC236}">
                  <a16:creationId xmlns:a16="http://schemas.microsoft.com/office/drawing/2014/main" id="{1BE9A25E-EB4B-734C-A42E-E2E79AE496F2}"/>
                </a:ext>
              </a:extLst>
            </p:cNvPr>
            <p:cNvSpPr txBox="1"/>
            <p:nvPr/>
          </p:nvSpPr>
          <p:spPr>
            <a:xfrm>
              <a:off x="6911067" y="5485125"/>
              <a:ext cx="526106" cy="400110"/>
            </a:xfrm>
            <a:prstGeom prst="rect">
              <a:avLst/>
            </a:prstGeom>
            <a:noFill/>
          </p:spPr>
          <p:txBody>
            <a:bodyPr wrap="none" rtlCol="0">
              <a:spAutoFit/>
            </a:bodyPr>
            <a:lstStyle/>
            <a:p>
              <a:r>
                <a:rPr lang="en-US" sz="2000" dirty="0"/>
                <a:t>|0⟩</a:t>
              </a:r>
              <a:endParaRPr lang="en-US" sz="2000" baseline="-25000" dirty="0"/>
            </a:p>
          </p:txBody>
        </p:sp>
        <p:sp>
          <p:nvSpPr>
            <p:cNvPr id="110" name="TextBox 109">
              <a:extLst>
                <a:ext uri="{FF2B5EF4-FFF2-40B4-BE49-F238E27FC236}">
                  <a16:creationId xmlns:a16="http://schemas.microsoft.com/office/drawing/2014/main" id="{2BEA5915-5A0B-344A-8619-7101E1F01D15}"/>
                </a:ext>
              </a:extLst>
            </p:cNvPr>
            <p:cNvSpPr txBox="1"/>
            <p:nvPr/>
          </p:nvSpPr>
          <p:spPr>
            <a:xfrm>
              <a:off x="8354997" y="4284046"/>
              <a:ext cx="526106" cy="400110"/>
            </a:xfrm>
            <a:prstGeom prst="rect">
              <a:avLst/>
            </a:prstGeom>
            <a:noFill/>
          </p:spPr>
          <p:txBody>
            <a:bodyPr wrap="none" rtlCol="0">
              <a:spAutoFit/>
            </a:bodyPr>
            <a:lstStyle/>
            <a:p>
              <a:r>
                <a:rPr lang="en-US" sz="2000" dirty="0"/>
                <a:t>|1⟩</a:t>
              </a:r>
              <a:endParaRPr lang="en-US" sz="2000" baseline="-25000" dirty="0"/>
            </a:p>
          </p:txBody>
        </p:sp>
        <p:sp>
          <p:nvSpPr>
            <p:cNvPr id="111" name="TextBox 110">
              <a:extLst>
                <a:ext uri="{FF2B5EF4-FFF2-40B4-BE49-F238E27FC236}">
                  <a16:creationId xmlns:a16="http://schemas.microsoft.com/office/drawing/2014/main" id="{2AF80BF3-E8B2-8546-AB86-89F52A42E4E5}"/>
                </a:ext>
              </a:extLst>
            </p:cNvPr>
            <p:cNvSpPr txBox="1"/>
            <p:nvPr/>
          </p:nvSpPr>
          <p:spPr>
            <a:xfrm>
              <a:off x="8352505" y="4910981"/>
              <a:ext cx="526106" cy="400110"/>
            </a:xfrm>
            <a:prstGeom prst="rect">
              <a:avLst/>
            </a:prstGeom>
            <a:noFill/>
          </p:spPr>
          <p:txBody>
            <a:bodyPr wrap="none" rtlCol="0">
              <a:spAutoFit/>
            </a:bodyPr>
            <a:lstStyle/>
            <a:p>
              <a:r>
                <a:rPr lang="en-US" sz="2000" dirty="0"/>
                <a:t>|1⟩</a:t>
              </a:r>
              <a:endParaRPr lang="en-US" sz="2000" baseline="-25000" dirty="0"/>
            </a:p>
          </p:txBody>
        </p:sp>
        <p:sp>
          <p:nvSpPr>
            <p:cNvPr id="112" name="TextBox 111">
              <a:extLst>
                <a:ext uri="{FF2B5EF4-FFF2-40B4-BE49-F238E27FC236}">
                  <a16:creationId xmlns:a16="http://schemas.microsoft.com/office/drawing/2014/main" id="{EA01CB9B-8DF4-2D4C-A3C2-DC7A815AADD3}"/>
                </a:ext>
              </a:extLst>
            </p:cNvPr>
            <p:cNvSpPr txBox="1"/>
            <p:nvPr/>
          </p:nvSpPr>
          <p:spPr>
            <a:xfrm>
              <a:off x="8369318" y="5485125"/>
              <a:ext cx="526106" cy="400110"/>
            </a:xfrm>
            <a:prstGeom prst="rect">
              <a:avLst/>
            </a:prstGeom>
            <a:noFill/>
          </p:spPr>
          <p:txBody>
            <a:bodyPr wrap="none" rtlCol="0">
              <a:spAutoFit/>
            </a:bodyPr>
            <a:lstStyle/>
            <a:p>
              <a:r>
                <a:rPr lang="en-US" sz="2000" dirty="0"/>
                <a:t>|1⟩</a:t>
              </a:r>
              <a:endParaRPr lang="en-US" sz="2000" baseline="-25000" dirty="0"/>
            </a:p>
          </p:txBody>
        </p:sp>
        <p:sp>
          <p:nvSpPr>
            <p:cNvPr id="113" name="TextBox 112">
              <a:extLst>
                <a:ext uri="{FF2B5EF4-FFF2-40B4-BE49-F238E27FC236}">
                  <a16:creationId xmlns:a16="http://schemas.microsoft.com/office/drawing/2014/main" id="{B0D50142-DD6D-A44A-A8E9-148114CD6C6B}"/>
                </a:ext>
              </a:extLst>
            </p:cNvPr>
            <p:cNvSpPr txBox="1"/>
            <p:nvPr/>
          </p:nvSpPr>
          <p:spPr>
            <a:xfrm>
              <a:off x="9240513" y="4292814"/>
              <a:ext cx="526106" cy="400110"/>
            </a:xfrm>
            <a:prstGeom prst="rect">
              <a:avLst/>
            </a:prstGeom>
            <a:noFill/>
          </p:spPr>
          <p:txBody>
            <a:bodyPr wrap="none" rtlCol="0">
              <a:spAutoFit/>
            </a:bodyPr>
            <a:lstStyle/>
            <a:p>
              <a:r>
                <a:rPr lang="en-US" sz="2000" dirty="0"/>
                <a:t>|0⟩</a:t>
              </a:r>
              <a:endParaRPr lang="en-US" sz="2000" baseline="-25000" dirty="0"/>
            </a:p>
          </p:txBody>
        </p:sp>
        <p:sp>
          <p:nvSpPr>
            <p:cNvPr id="114" name="TextBox 113">
              <a:extLst>
                <a:ext uri="{FF2B5EF4-FFF2-40B4-BE49-F238E27FC236}">
                  <a16:creationId xmlns:a16="http://schemas.microsoft.com/office/drawing/2014/main" id="{AF145DC0-4750-B84C-9399-413C697E75B1}"/>
                </a:ext>
              </a:extLst>
            </p:cNvPr>
            <p:cNvSpPr txBox="1"/>
            <p:nvPr/>
          </p:nvSpPr>
          <p:spPr>
            <a:xfrm>
              <a:off x="3797175" y="4229225"/>
              <a:ext cx="526106" cy="400110"/>
            </a:xfrm>
            <a:prstGeom prst="rect">
              <a:avLst/>
            </a:prstGeom>
            <a:noFill/>
          </p:spPr>
          <p:txBody>
            <a:bodyPr wrap="none" rtlCol="0">
              <a:spAutoFit/>
            </a:bodyPr>
            <a:lstStyle/>
            <a:p>
              <a:r>
                <a:rPr lang="en-US" sz="2000" dirty="0"/>
                <a:t>|0⟩</a:t>
              </a:r>
              <a:endParaRPr lang="en-US" sz="2000" baseline="-25000" dirty="0"/>
            </a:p>
          </p:txBody>
        </p:sp>
        <p:sp>
          <p:nvSpPr>
            <p:cNvPr id="115" name="TextBox 114">
              <a:extLst>
                <a:ext uri="{FF2B5EF4-FFF2-40B4-BE49-F238E27FC236}">
                  <a16:creationId xmlns:a16="http://schemas.microsoft.com/office/drawing/2014/main" id="{D9BEA142-1B6A-3542-973C-1C557E7315A9}"/>
                </a:ext>
              </a:extLst>
            </p:cNvPr>
            <p:cNvSpPr txBox="1"/>
            <p:nvPr/>
          </p:nvSpPr>
          <p:spPr>
            <a:xfrm>
              <a:off x="3794683" y="4856160"/>
              <a:ext cx="526106" cy="400110"/>
            </a:xfrm>
            <a:prstGeom prst="rect">
              <a:avLst/>
            </a:prstGeom>
            <a:noFill/>
          </p:spPr>
          <p:txBody>
            <a:bodyPr wrap="none" rtlCol="0">
              <a:spAutoFit/>
            </a:bodyPr>
            <a:lstStyle/>
            <a:p>
              <a:r>
                <a:rPr lang="en-US" sz="2000" dirty="0"/>
                <a:t>|0⟩</a:t>
              </a:r>
              <a:endParaRPr lang="en-US" sz="2000" baseline="-25000" dirty="0"/>
            </a:p>
          </p:txBody>
        </p:sp>
        <p:sp>
          <p:nvSpPr>
            <p:cNvPr id="116" name="TextBox 115">
              <a:extLst>
                <a:ext uri="{FF2B5EF4-FFF2-40B4-BE49-F238E27FC236}">
                  <a16:creationId xmlns:a16="http://schemas.microsoft.com/office/drawing/2014/main" id="{5A682A92-FAE6-5A4F-9D70-4D2D1B3E7135}"/>
                </a:ext>
              </a:extLst>
            </p:cNvPr>
            <p:cNvSpPr txBox="1"/>
            <p:nvPr/>
          </p:nvSpPr>
          <p:spPr>
            <a:xfrm>
              <a:off x="3798148" y="5430304"/>
              <a:ext cx="526106" cy="400110"/>
            </a:xfrm>
            <a:prstGeom prst="rect">
              <a:avLst/>
            </a:prstGeom>
            <a:noFill/>
          </p:spPr>
          <p:txBody>
            <a:bodyPr wrap="none" rtlCol="0">
              <a:spAutoFit/>
            </a:bodyPr>
            <a:lstStyle/>
            <a:p>
              <a:r>
                <a:rPr lang="en-US" sz="2000" dirty="0"/>
                <a:t>|0⟩</a:t>
              </a:r>
              <a:endParaRPr lang="en-US" sz="2000" baseline="-25000" dirty="0"/>
            </a:p>
          </p:txBody>
        </p:sp>
      </p:grpSp>
    </p:spTree>
    <p:extLst>
      <p:ext uri="{BB962C8B-B14F-4D97-AF65-F5344CB8AC3E}">
        <p14:creationId xmlns:p14="http://schemas.microsoft.com/office/powerpoint/2010/main" val="4016745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B85C1-4E1B-834D-9CA0-761CBCE6FDCD}"/>
              </a:ext>
            </a:extLst>
          </p:cNvPr>
          <p:cNvSpPr>
            <a:spLocks noGrp="1"/>
          </p:cNvSpPr>
          <p:nvPr>
            <p:ph type="title"/>
          </p:nvPr>
        </p:nvSpPr>
        <p:spPr/>
        <p:txBody>
          <a:bodyPr/>
          <a:lstStyle/>
          <a:p>
            <a:r>
              <a:rPr lang="en-ZA" dirty="0"/>
              <a:t>Complete Qubit Protection: The Shor Code (1995)</a:t>
            </a:r>
            <a:endParaRPr lang="en-US" dirty="0"/>
          </a:p>
        </p:txBody>
      </p:sp>
      <p:sp>
        <p:nvSpPr>
          <p:cNvPr id="3" name="Slide Number Placeholder 2">
            <a:extLst>
              <a:ext uri="{FF2B5EF4-FFF2-40B4-BE49-F238E27FC236}">
                <a16:creationId xmlns:a16="http://schemas.microsoft.com/office/drawing/2014/main" id="{3358F424-6DF2-E44A-A2F9-C3E248CED053}"/>
              </a:ext>
            </a:extLst>
          </p:cNvPr>
          <p:cNvSpPr>
            <a:spLocks noGrp="1"/>
          </p:cNvSpPr>
          <p:nvPr>
            <p:ph type="sldNum" sz="quarter" idx="12"/>
          </p:nvPr>
        </p:nvSpPr>
        <p:spPr/>
        <p:txBody>
          <a:bodyPr/>
          <a:lstStyle/>
          <a:p>
            <a:fld id="{591A223C-FA10-BC46-A853-03BA373D023C}" type="slidenum">
              <a:rPr lang="en-US" smtClean="0"/>
              <a:t>48</a:t>
            </a:fld>
            <a:endParaRPr lang="en-US"/>
          </a:p>
        </p:txBody>
      </p:sp>
      <p:sp>
        <p:nvSpPr>
          <p:cNvPr id="9" name="Rectangle 8">
            <a:extLst>
              <a:ext uri="{FF2B5EF4-FFF2-40B4-BE49-F238E27FC236}">
                <a16:creationId xmlns:a16="http://schemas.microsoft.com/office/drawing/2014/main" id="{523BD6E3-CC8D-F247-B505-7A6752341877}"/>
              </a:ext>
            </a:extLst>
          </p:cNvPr>
          <p:cNvSpPr>
            <a:spLocks noChangeAspect="1"/>
          </p:cNvSpPr>
          <p:nvPr/>
        </p:nvSpPr>
        <p:spPr>
          <a:xfrm>
            <a:off x="3443820" y="2054606"/>
            <a:ext cx="612000" cy="612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pitchFamily="2" charset="0"/>
              </a:rPr>
              <a:t>H</a:t>
            </a:r>
          </a:p>
        </p:txBody>
      </p:sp>
      <p:sp>
        <p:nvSpPr>
          <p:cNvPr id="12" name="Rectangle 11">
            <a:extLst>
              <a:ext uri="{FF2B5EF4-FFF2-40B4-BE49-F238E27FC236}">
                <a16:creationId xmlns:a16="http://schemas.microsoft.com/office/drawing/2014/main" id="{2DFC42A2-50F5-FD4A-81EB-673B84D4E2F5}"/>
              </a:ext>
            </a:extLst>
          </p:cNvPr>
          <p:cNvSpPr/>
          <p:nvPr/>
        </p:nvSpPr>
        <p:spPr>
          <a:xfrm>
            <a:off x="4550672" y="2026188"/>
            <a:ext cx="495945" cy="95884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13" name="Rectangle 12">
            <a:extLst>
              <a:ext uri="{FF2B5EF4-FFF2-40B4-BE49-F238E27FC236}">
                <a16:creationId xmlns:a16="http://schemas.microsoft.com/office/drawing/2014/main" id="{98444B81-E322-4741-A9EC-97948FE5E8FF}"/>
              </a:ext>
            </a:extLst>
          </p:cNvPr>
          <p:cNvSpPr/>
          <p:nvPr/>
        </p:nvSpPr>
        <p:spPr>
          <a:xfrm>
            <a:off x="7028208" y="2026187"/>
            <a:ext cx="495945" cy="95884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endParaRPr lang="en-US" sz="2800" baseline="-25000" dirty="0">
              <a:solidFill>
                <a:schemeClr val="tx1"/>
              </a:solidFill>
            </a:endParaRPr>
          </a:p>
        </p:txBody>
      </p:sp>
      <p:cxnSp>
        <p:nvCxnSpPr>
          <p:cNvPr id="17" name="Straight Connector 16">
            <a:extLst>
              <a:ext uri="{FF2B5EF4-FFF2-40B4-BE49-F238E27FC236}">
                <a16:creationId xmlns:a16="http://schemas.microsoft.com/office/drawing/2014/main" id="{AF64E4DD-B3B2-5B4E-94C7-3E4B7DEB1473}"/>
              </a:ext>
            </a:extLst>
          </p:cNvPr>
          <p:cNvCxnSpPr>
            <a:cxnSpLocks/>
          </p:cNvCxnSpPr>
          <p:nvPr/>
        </p:nvCxnSpPr>
        <p:spPr>
          <a:xfrm>
            <a:off x="5046617" y="2231899"/>
            <a:ext cx="19815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736D652-6931-0D49-B09A-43CBEC0B3185}"/>
              </a:ext>
            </a:extLst>
          </p:cNvPr>
          <p:cNvCxnSpPr>
            <a:cxnSpLocks/>
          </p:cNvCxnSpPr>
          <p:nvPr/>
        </p:nvCxnSpPr>
        <p:spPr>
          <a:xfrm>
            <a:off x="5046616" y="2805899"/>
            <a:ext cx="19815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F73965B-1877-4B4A-A18E-1D010FE14743}"/>
              </a:ext>
            </a:extLst>
          </p:cNvPr>
          <p:cNvCxnSpPr>
            <a:cxnSpLocks/>
          </p:cNvCxnSpPr>
          <p:nvPr/>
        </p:nvCxnSpPr>
        <p:spPr>
          <a:xfrm>
            <a:off x="5046615" y="2518899"/>
            <a:ext cx="19815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ED17BB92-A17A-4247-8E72-C3D4C72D4D6A}"/>
              </a:ext>
            </a:extLst>
          </p:cNvPr>
          <p:cNvSpPr/>
          <p:nvPr/>
        </p:nvSpPr>
        <p:spPr>
          <a:xfrm>
            <a:off x="4550672" y="3272027"/>
            <a:ext cx="495945" cy="95884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22" name="Rectangle 21">
            <a:extLst>
              <a:ext uri="{FF2B5EF4-FFF2-40B4-BE49-F238E27FC236}">
                <a16:creationId xmlns:a16="http://schemas.microsoft.com/office/drawing/2014/main" id="{88A758D8-83B6-B144-9837-8B057DFF6225}"/>
              </a:ext>
            </a:extLst>
          </p:cNvPr>
          <p:cNvSpPr/>
          <p:nvPr/>
        </p:nvSpPr>
        <p:spPr>
          <a:xfrm>
            <a:off x="7028208" y="3272026"/>
            <a:ext cx="495945" cy="95884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endParaRPr lang="en-US" sz="2800" baseline="-25000" dirty="0">
              <a:solidFill>
                <a:schemeClr val="tx1"/>
              </a:solidFill>
            </a:endParaRPr>
          </a:p>
        </p:txBody>
      </p:sp>
      <p:cxnSp>
        <p:nvCxnSpPr>
          <p:cNvPr id="25" name="Straight Connector 24">
            <a:extLst>
              <a:ext uri="{FF2B5EF4-FFF2-40B4-BE49-F238E27FC236}">
                <a16:creationId xmlns:a16="http://schemas.microsoft.com/office/drawing/2014/main" id="{80B54DE7-3CA4-DC42-B310-C77708E9496A}"/>
              </a:ext>
            </a:extLst>
          </p:cNvPr>
          <p:cNvCxnSpPr>
            <a:cxnSpLocks/>
          </p:cNvCxnSpPr>
          <p:nvPr/>
        </p:nvCxnSpPr>
        <p:spPr>
          <a:xfrm>
            <a:off x="5046617" y="3477738"/>
            <a:ext cx="19815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8503C0B-3D72-064B-BFB4-64CD4F6F12FC}"/>
              </a:ext>
            </a:extLst>
          </p:cNvPr>
          <p:cNvCxnSpPr>
            <a:cxnSpLocks/>
          </p:cNvCxnSpPr>
          <p:nvPr/>
        </p:nvCxnSpPr>
        <p:spPr>
          <a:xfrm>
            <a:off x="5046616" y="4051738"/>
            <a:ext cx="19815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EBAC1D5-4BAD-0749-8F65-87BEEBA09ECE}"/>
              </a:ext>
            </a:extLst>
          </p:cNvPr>
          <p:cNvCxnSpPr>
            <a:cxnSpLocks/>
          </p:cNvCxnSpPr>
          <p:nvPr/>
        </p:nvCxnSpPr>
        <p:spPr>
          <a:xfrm>
            <a:off x="5046615" y="3764738"/>
            <a:ext cx="19815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983A5E12-3F83-3345-9EA1-5635CFFDB643}"/>
              </a:ext>
            </a:extLst>
          </p:cNvPr>
          <p:cNvSpPr/>
          <p:nvPr/>
        </p:nvSpPr>
        <p:spPr>
          <a:xfrm>
            <a:off x="4550672" y="4517866"/>
            <a:ext cx="495945" cy="95884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29" name="Rectangle 28">
            <a:extLst>
              <a:ext uri="{FF2B5EF4-FFF2-40B4-BE49-F238E27FC236}">
                <a16:creationId xmlns:a16="http://schemas.microsoft.com/office/drawing/2014/main" id="{C9082452-2399-4747-940F-AE5E1BA40D3F}"/>
              </a:ext>
            </a:extLst>
          </p:cNvPr>
          <p:cNvSpPr/>
          <p:nvPr/>
        </p:nvSpPr>
        <p:spPr>
          <a:xfrm>
            <a:off x="7028208" y="4517865"/>
            <a:ext cx="495945" cy="95884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endParaRPr lang="en-US" sz="2800" baseline="-25000" dirty="0">
              <a:solidFill>
                <a:schemeClr val="tx1"/>
              </a:solidFill>
            </a:endParaRPr>
          </a:p>
        </p:txBody>
      </p:sp>
      <p:cxnSp>
        <p:nvCxnSpPr>
          <p:cNvPr id="32" name="Straight Connector 31">
            <a:extLst>
              <a:ext uri="{FF2B5EF4-FFF2-40B4-BE49-F238E27FC236}">
                <a16:creationId xmlns:a16="http://schemas.microsoft.com/office/drawing/2014/main" id="{CE7F60E0-BBB2-1940-B91F-A85066C833B1}"/>
              </a:ext>
            </a:extLst>
          </p:cNvPr>
          <p:cNvCxnSpPr>
            <a:cxnSpLocks/>
          </p:cNvCxnSpPr>
          <p:nvPr/>
        </p:nvCxnSpPr>
        <p:spPr>
          <a:xfrm>
            <a:off x="5046617" y="4723577"/>
            <a:ext cx="19815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5DD35CE-2FC2-8641-9F22-3B1DF3BF9BDA}"/>
              </a:ext>
            </a:extLst>
          </p:cNvPr>
          <p:cNvCxnSpPr>
            <a:cxnSpLocks/>
          </p:cNvCxnSpPr>
          <p:nvPr/>
        </p:nvCxnSpPr>
        <p:spPr>
          <a:xfrm>
            <a:off x="5046616" y="5297577"/>
            <a:ext cx="19815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C08E90B-3450-444F-B2C7-55EDC0113CCF}"/>
              </a:ext>
            </a:extLst>
          </p:cNvPr>
          <p:cNvCxnSpPr>
            <a:cxnSpLocks/>
          </p:cNvCxnSpPr>
          <p:nvPr/>
        </p:nvCxnSpPr>
        <p:spPr>
          <a:xfrm>
            <a:off x="5046615" y="5010577"/>
            <a:ext cx="19815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1B19AF2-4D7B-3341-A0A8-6FE6AF969DA6}"/>
              </a:ext>
            </a:extLst>
          </p:cNvPr>
          <p:cNvCxnSpPr>
            <a:cxnSpLocks/>
          </p:cNvCxnSpPr>
          <p:nvPr/>
        </p:nvCxnSpPr>
        <p:spPr>
          <a:xfrm flipH="1">
            <a:off x="4055820" y="2238036"/>
            <a:ext cx="4948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900B1A77-DE95-8643-9E3C-3AE802822D48}"/>
              </a:ext>
            </a:extLst>
          </p:cNvPr>
          <p:cNvSpPr>
            <a:spLocks noChangeAspect="1"/>
          </p:cNvSpPr>
          <p:nvPr/>
        </p:nvSpPr>
        <p:spPr>
          <a:xfrm>
            <a:off x="3434213" y="3293865"/>
            <a:ext cx="612000" cy="612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pitchFamily="2" charset="0"/>
              </a:rPr>
              <a:t>H</a:t>
            </a:r>
          </a:p>
        </p:txBody>
      </p:sp>
      <p:cxnSp>
        <p:nvCxnSpPr>
          <p:cNvPr id="39" name="Straight Connector 38">
            <a:extLst>
              <a:ext uri="{FF2B5EF4-FFF2-40B4-BE49-F238E27FC236}">
                <a16:creationId xmlns:a16="http://schemas.microsoft.com/office/drawing/2014/main" id="{59FB739F-BE58-BD42-87B0-0BFDBEC3CF59}"/>
              </a:ext>
            </a:extLst>
          </p:cNvPr>
          <p:cNvCxnSpPr>
            <a:cxnSpLocks/>
          </p:cNvCxnSpPr>
          <p:nvPr/>
        </p:nvCxnSpPr>
        <p:spPr>
          <a:xfrm flipH="1">
            <a:off x="4046213" y="3495706"/>
            <a:ext cx="4948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4B91D838-D8E0-A642-990B-97EC7679A260}"/>
              </a:ext>
            </a:extLst>
          </p:cNvPr>
          <p:cNvSpPr>
            <a:spLocks noChangeAspect="1"/>
          </p:cNvSpPr>
          <p:nvPr/>
        </p:nvSpPr>
        <p:spPr>
          <a:xfrm>
            <a:off x="3424606" y="4533124"/>
            <a:ext cx="612000" cy="612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pitchFamily="2" charset="0"/>
              </a:rPr>
              <a:t>H</a:t>
            </a:r>
          </a:p>
        </p:txBody>
      </p:sp>
      <p:cxnSp>
        <p:nvCxnSpPr>
          <p:cNvPr id="41" name="Straight Connector 40">
            <a:extLst>
              <a:ext uri="{FF2B5EF4-FFF2-40B4-BE49-F238E27FC236}">
                <a16:creationId xmlns:a16="http://schemas.microsoft.com/office/drawing/2014/main" id="{3BED25FF-A4F3-4F44-A383-7DCB161747AB}"/>
              </a:ext>
            </a:extLst>
          </p:cNvPr>
          <p:cNvCxnSpPr>
            <a:cxnSpLocks/>
          </p:cNvCxnSpPr>
          <p:nvPr/>
        </p:nvCxnSpPr>
        <p:spPr>
          <a:xfrm flipH="1">
            <a:off x="4036606" y="4747239"/>
            <a:ext cx="4948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66CF8975-E567-C842-B1B8-A9BB8F6EDB8B}"/>
              </a:ext>
            </a:extLst>
          </p:cNvPr>
          <p:cNvSpPr/>
          <p:nvPr/>
        </p:nvSpPr>
        <p:spPr>
          <a:xfrm>
            <a:off x="2451930" y="2054606"/>
            <a:ext cx="495945" cy="342210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cxnSp>
        <p:nvCxnSpPr>
          <p:cNvPr id="43" name="Straight Connector 42">
            <a:extLst>
              <a:ext uri="{FF2B5EF4-FFF2-40B4-BE49-F238E27FC236}">
                <a16:creationId xmlns:a16="http://schemas.microsoft.com/office/drawing/2014/main" id="{B2013604-87B9-2442-8D10-AFC8851DBF06}"/>
              </a:ext>
            </a:extLst>
          </p:cNvPr>
          <p:cNvCxnSpPr>
            <a:cxnSpLocks/>
          </p:cNvCxnSpPr>
          <p:nvPr/>
        </p:nvCxnSpPr>
        <p:spPr>
          <a:xfrm flipH="1">
            <a:off x="2929756" y="2231899"/>
            <a:ext cx="4948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9828A237-FE3F-B445-8438-17F17AA87619}"/>
              </a:ext>
            </a:extLst>
          </p:cNvPr>
          <p:cNvCxnSpPr>
            <a:cxnSpLocks/>
          </p:cNvCxnSpPr>
          <p:nvPr/>
        </p:nvCxnSpPr>
        <p:spPr>
          <a:xfrm flipH="1">
            <a:off x="2948970" y="3471158"/>
            <a:ext cx="4948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BBFD3AF-3C34-C548-BAEB-DB2DA5A245E1}"/>
              </a:ext>
            </a:extLst>
          </p:cNvPr>
          <p:cNvCxnSpPr>
            <a:cxnSpLocks/>
          </p:cNvCxnSpPr>
          <p:nvPr/>
        </p:nvCxnSpPr>
        <p:spPr>
          <a:xfrm flipH="1">
            <a:off x="2948970" y="4710417"/>
            <a:ext cx="4948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30CBCA5-9D5C-2147-A5E2-B230DCDE639F}"/>
              </a:ext>
            </a:extLst>
          </p:cNvPr>
          <p:cNvCxnSpPr>
            <a:cxnSpLocks/>
          </p:cNvCxnSpPr>
          <p:nvPr/>
        </p:nvCxnSpPr>
        <p:spPr>
          <a:xfrm flipH="1">
            <a:off x="7524153" y="4723577"/>
            <a:ext cx="4948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3243470-ACD2-A049-B6AC-A4774299AAD9}"/>
              </a:ext>
            </a:extLst>
          </p:cNvPr>
          <p:cNvCxnSpPr>
            <a:cxnSpLocks/>
          </p:cNvCxnSpPr>
          <p:nvPr/>
        </p:nvCxnSpPr>
        <p:spPr>
          <a:xfrm flipH="1">
            <a:off x="7524153" y="3471158"/>
            <a:ext cx="4948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A7CDEFA-15E0-9F4D-9049-16EC26A952A4}"/>
              </a:ext>
            </a:extLst>
          </p:cNvPr>
          <p:cNvCxnSpPr>
            <a:cxnSpLocks/>
          </p:cNvCxnSpPr>
          <p:nvPr/>
        </p:nvCxnSpPr>
        <p:spPr>
          <a:xfrm flipH="1">
            <a:off x="7524153" y="2218739"/>
            <a:ext cx="4948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4793B817-3FA3-744D-AA7B-80361AB78613}"/>
              </a:ext>
            </a:extLst>
          </p:cNvPr>
          <p:cNvSpPr>
            <a:spLocks noChangeAspect="1"/>
          </p:cNvSpPr>
          <p:nvPr/>
        </p:nvSpPr>
        <p:spPr>
          <a:xfrm>
            <a:off x="8019003" y="2051582"/>
            <a:ext cx="612000" cy="612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pitchFamily="2" charset="0"/>
              </a:rPr>
              <a:t>H</a:t>
            </a:r>
          </a:p>
        </p:txBody>
      </p:sp>
      <p:sp>
        <p:nvSpPr>
          <p:cNvPr id="50" name="Rectangle 49">
            <a:extLst>
              <a:ext uri="{FF2B5EF4-FFF2-40B4-BE49-F238E27FC236}">
                <a16:creationId xmlns:a16="http://schemas.microsoft.com/office/drawing/2014/main" id="{5FDD4D39-A315-CA4D-BB15-15B2F402F0B7}"/>
              </a:ext>
            </a:extLst>
          </p:cNvPr>
          <p:cNvSpPr>
            <a:spLocks noChangeAspect="1"/>
          </p:cNvSpPr>
          <p:nvPr/>
        </p:nvSpPr>
        <p:spPr>
          <a:xfrm>
            <a:off x="8019003" y="3293865"/>
            <a:ext cx="612000" cy="612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pitchFamily="2" charset="0"/>
              </a:rPr>
              <a:t>H</a:t>
            </a:r>
          </a:p>
        </p:txBody>
      </p:sp>
      <p:sp>
        <p:nvSpPr>
          <p:cNvPr id="51" name="Rectangle 50">
            <a:extLst>
              <a:ext uri="{FF2B5EF4-FFF2-40B4-BE49-F238E27FC236}">
                <a16:creationId xmlns:a16="http://schemas.microsoft.com/office/drawing/2014/main" id="{0978F7B1-A962-3641-A73A-8D1E64E4CEEA}"/>
              </a:ext>
            </a:extLst>
          </p:cNvPr>
          <p:cNvSpPr>
            <a:spLocks noChangeAspect="1"/>
          </p:cNvSpPr>
          <p:nvPr/>
        </p:nvSpPr>
        <p:spPr>
          <a:xfrm>
            <a:off x="8025309" y="4502183"/>
            <a:ext cx="612000" cy="612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pitchFamily="2" charset="0"/>
              </a:rPr>
              <a:t>H</a:t>
            </a:r>
          </a:p>
        </p:txBody>
      </p:sp>
      <p:cxnSp>
        <p:nvCxnSpPr>
          <p:cNvPr id="52" name="Straight Connector 51">
            <a:extLst>
              <a:ext uri="{FF2B5EF4-FFF2-40B4-BE49-F238E27FC236}">
                <a16:creationId xmlns:a16="http://schemas.microsoft.com/office/drawing/2014/main" id="{5F0A39FB-3E8E-F348-B905-F3DDFD10CA9D}"/>
              </a:ext>
            </a:extLst>
          </p:cNvPr>
          <p:cNvCxnSpPr>
            <a:cxnSpLocks/>
          </p:cNvCxnSpPr>
          <p:nvPr/>
        </p:nvCxnSpPr>
        <p:spPr>
          <a:xfrm flipH="1">
            <a:off x="8631003" y="2218739"/>
            <a:ext cx="4948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08D64FA-B507-6E4C-B082-F6DB554B2FF1}"/>
              </a:ext>
            </a:extLst>
          </p:cNvPr>
          <p:cNvCxnSpPr>
            <a:cxnSpLocks/>
          </p:cNvCxnSpPr>
          <p:nvPr/>
        </p:nvCxnSpPr>
        <p:spPr>
          <a:xfrm flipH="1">
            <a:off x="8631003" y="3471158"/>
            <a:ext cx="4948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0C2A57F-C60C-0F42-8DFD-1B4F279CE53F}"/>
              </a:ext>
            </a:extLst>
          </p:cNvPr>
          <p:cNvCxnSpPr>
            <a:cxnSpLocks/>
          </p:cNvCxnSpPr>
          <p:nvPr/>
        </p:nvCxnSpPr>
        <p:spPr>
          <a:xfrm flipH="1">
            <a:off x="8631003" y="4695062"/>
            <a:ext cx="4948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55ECA1EE-BF91-A64C-9FFC-1328F77D05FE}"/>
              </a:ext>
            </a:extLst>
          </p:cNvPr>
          <p:cNvSpPr/>
          <p:nvPr/>
        </p:nvSpPr>
        <p:spPr>
          <a:xfrm>
            <a:off x="9122552" y="2054606"/>
            <a:ext cx="495945" cy="34221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57" name="Straight Connector 56">
            <a:extLst>
              <a:ext uri="{FF2B5EF4-FFF2-40B4-BE49-F238E27FC236}">
                <a16:creationId xmlns:a16="http://schemas.microsoft.com/office/drawing/2014/main" id="{3A782DC0-33B5-0A45-A50B-EE6AD1907619}"/>
              </a:ext>
            </a:extLst>
          </p:cNvPr>
          <p:cNvCxnSpPr>
            <a:cxnSpLocks/>
          </p:cNvCxnSpPr>
          <p:nvPr/>
        </p:nvCxnSpPr>
        <p:spPr>
          <a:xfrm flipH="1">
            <a:off x="1957080" y="2231899"/>
            <a:ext cx="4948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F98BCF8-8D89-6C45-8F32-C4241CA3CA1C}"/>
              </a:ext>
            </a:extLst>
          </p:cNvPr>
          <p:cNvCxnSpPr>
            <a:cxnSpLocks/>
          </p:cNvCxnSpPr>
          <p:nvPr/>
        </p:nvCxnSpPr>
        <p:spPr>
          <a:xfrm flipH="1">
            <a:off x="9618497" y="2231899"/>
            <a:ext cx="4948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5B794D7D-7399-F545-9EAF-5BB791B1CFF6}"/>
                  </a:ext>
                </a:extLst>
              </p:cNvPr>
              <p:cNvSpPr/>
              <p:nvPr/>
            </p:nvSpPr>
            <p:spPr>
              <a:xfrm>
                <a:off x="1152438" y="1981459"/>
                <a:ext cx="70705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a:rPr lang="sr-Latn-RS" sz="2800" i="1">
                              <a:latin typeface="Cambria Math" panose="02040503050406030204" pitchFamily="18" charset="0"/>
                              <a:ea typeface="Cambria Math" panose="02040503050406030204" pitchFamily="18" charset="0"/>
                            </a:rPr>
                            <m:t>𝑆</m:t>
                          </m:r>
                        </m:e>
                      </m:d>
                    </m:oMath>
                  </m:oMathPara>
                </a14:m>
                <a:endParaRPr lang="en-US" sz="2800" dirty="0"/>
              </a:p>
            </p:txBody>
          </p:sp>
        </mc:Choice>
        <mc:Fallback xmlns="">
          <p:sp>
            <p:nvSpPr>
              <p:cNvPr id="59" name="Rectangle 58">
                <a:extLst>
                  <a:ext uri="{FF2B5EF4-FFF2-40B4-BE49-F238E27FC236}">
                    <a16:creationId xmlns:a16="http://schemas.microsoft.com/office/drawing/2014/main" id="{5B794D7D-7399-F545-9EAF-5BB791B1CFF6}"/>
                  </a:ext>
                </a:extLst>
              </p:cNvPr>
              <p:cNvSpPr>
                <a:spLocks noRot="1" noChangeAspect="1" noMove="1" noResize="1" noEditPoints="1" noAdjustHandles="1" noChangeArrowheads="1" noChangeShapeType="1" noTextEdit="1"/>
              </p:cNvSpPr>
              <p:nvPr/>
            </p:nvSpPr>
            <p:spPr>
              <a:xfrm>
                <a:off x="1152438" y="1981459"/>
                <a:ext cx="707053" cy="523220"/>
              </a:xfrm>
              <a:prstGeom prst="rect">
                <a:avLst/>
              </a:prstGeom>
              <a:blipFill>
                <a:blip r:embed="rId3"/>
                <a:stretch>
                  <a:fillRect l="-30357" t="-139024" r="-57143" b="-20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94286D66-0853-3D48-B19D-FFE4F3B2473A}"/>
                  </a:ext>
                </a:extLst>
              </p:cNvPr>
              <p:cNvSpPr/>
              <p:nvPr/>
            </p:nvSpPr>
            <p:spPr>
              <a:xfrm>
                <a:off x="10113347" y="1957129"/>
                <a:ext cx="70705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a:rPr lang="sr-Latn-RS" sz="2800" i="1">
                              <a:latin typeface="Cambria Math" panose="02040503050406030204" pitchFamily="18" charset="0"/>
                              <a:ea typeface="Cambria Math" panose="02040503050406030204" pitchFamily="18" charset="0"/>
                            </a:rPr>
                            <m:t>𝑆</m:t>
                          </m:r>
                        </m:e>
                      </m:d>
                    </m:oMath>
                  </m:oMathPara>
                </a14:m>
                <a:endParaRPr lang="en-US" sz="2800" dirty="0"/>
              </a:p>
            </p:txBody>
          </p:sp>
        </mc:Choice>
        <mc:Fallback xmlns="">
          <p:sp>
            <p:nvSpPr>
              <p:cNvPr id="60" name="Rectangle 59">
                <a:extLst>
                  <a:ext uri="{FF2B5EF4-FFF2-40B4-BE49-F238E27FC236}">
                    <a16:creationId xmlns:a16="http://schemas.microsoft.com/office/drawing/2014/main" id="{94286D66-0853-3D48-B19D-FFE4F3B2473A}"/>
                  </a:ext>
                </a:extLst>
              </p:cNvPr>
              <p:cNvSpPr>
                <a:spLocks noRot="1" noChangeAspect="1" noMove="1" noResize="1" noEditPoints="1" noAdjustHandles="1" noChangeArrowheads="1" noChangeShapeType="1" noTextEdit="1"/>
              </p:cNvSpPr>
              <p:nvPr/>
            </p:nvSpPr>
            <p:spPr>
              <a:xfrm>
                <a:off x="10113347" y="1957129"/>
                <a:ext cx="707053" cy="523220"/>
              </a:xfrm>
              <a:prstGeom prst="rect">
                <a:avLst/>
              </a:prstGeom>
              <a:blipFill>
                <a:blip r:embed="rId4"/>
                <a:stretch>
                  <a:fillRect l="-28070" t="-133333" r="-54386" b="-200000"/>
                </a:stretch>
              </a:blipFill>
            </p:spPr>
            <p:txBody>
              <a:bodyPr/>
              <a:lstStyle/>
              <a:p>
                <a:r>
                  <a:rPr lang="en-US">
                    <a:noFill/>
                  </a:rPr>
                  <a:t> </a:t>
                </a:r>
              </a:p>
            </p:txBody>
          </p:sp>
        </mc:Fallback>
      </mc:AlternateContent>
      <p:sp>
        <p:nvSpPr>
          <p:cNvPr id="56" name="TextBox 55">
            <a:extLst>
              <a:ext uri="{FF2B5EF4-FFF2-40B4-BE49-F238E27FC236}">
                <a16:creationId xmlns:a16="http://schemas.microsoft.com/office/drawing/2014/main" id="{32099A9A-F083-594C-9FDA-912FD140AC53}"/>
              </a:ext>
            </a:extLst>
          </p:cNvPr>
          <p:cNvSpPr txBox="1"/>
          <p:nvPr/>
        </p:nvSpPr>
        <p:spPr>
          <a:xfrm>
            <a:off x="9122552" y="6186568"/>
            <a:ext cx="3030060" cy="461665"/>
          </a:xfrm>
          <a:prstGeom prst="rect">
            <a:avLst/>
          </a:prstGeom>
          <a:noFill/>
        </p:spPr>
        <p:txBody>
          <a:bodyPr wrap="none" rtlCol="0">
            <a:spAutoFit/>
          </a:bodyPr>
          <a:lstStyle/>
          <a:p>
            <a:r>
              <a:rPr lang="en-ZA" sz="2400" dirty="0"/>
              <a:t>Peter Shor</a:t>
            </a:r>
            <a:r>
              <a:rPr lang="en-US" sz="2400" dirty="0"/>
              <a:t> (born 1959)</a:t>
            </a:r>
          </a:p>
        </p:txBody>
      </p:sp>
      <p:pic>
        <p:nvPicPr>
          <p:cNvPr id="62" name="Picture 61">
            <a:extLst>
              <a:ext uri="{FF2B5EF4-FFF2-40B4-BE49-F238E27FC236}">
                <a16:creationId xmlns:a16="http://schemas.microsoft.com/office/drawing/2014/main" id="{E7A9090F-2131-DE49-A2CE-08C824EAA14C}"/>
              </a:ext>
            </a:extLst>
          </p:cNvPr>
          <p:cNvPicPr>
            <a:picLocks noChangeAspect="1"/>
          </p:cNvPicPr>
          <p:nvPr/>
        </p:nvPicPr>
        <p:blipFill>
          <a:blip r:embed="rId5"/>
          <a:stretch>
            <a:fillRect/>
          </a:stretch>
        </p:blipFill>
        <p:spPr>
          <a:xfrm>
            <a:off x="9879268" y="4008252"/>
            <a:ext cx="1653729" cy="2199588"/>
          </a:xfrm>
          <a:prstGeom prst="rect">
            <a:avLst/>
          </a:prstGeom>
        </p:spPr>
      </p:pic>
      <p:sp>
        <p:nvSpPr>
          <p:cNvPr id="10" name="TextBox 9">
            <a:extLst>
              <a:ext uri="{FF2B5EF4-FFF2-40B4-BE49-F238E27FC236}">
                <a16:creationId xmlns:a16="http://schemas.microsoft.com/office/drawing/2014/main" id="{E8CE7AB3-7ED4-9443-BFE1-2B6963ACAE15}"/>
              </a:ext>
            </a:extLst>
          </p:cNvPr>
          <p:cNvSpPr txBox="1"/>
          <p:nvPr/>
        </p:nvSpPr>
        <p:spPr>
          <a:xfrm>
            <a:off x="5160898" y="5966904"/>
            <a:ext cx="1862048" cy="461665"/>
          </a:xfrm>
          <a:prstGeom prst="rect">
            <a:avLst/>
          </a:prstGeom>
          <a:noFill/>
        </p:spPr>
        <p:txBody>
          <a:bodyPr wrap="none" rtlCol="0">
            <a:spAutoFit/>
          </a:bodyPr>
          <a:lstStyle/>
          <a:p>
            <a:r>
              <a:rPr lang="en-US" sz="2400" dirty="0"/>
              <a:t>9 qubits code</a:t>
            </a:r>
          </a:p>
        </p:txBody>
      </p:sp>
    </p:spTree>
    <p:extLst>
      <p:ext uri="{BB962C8B-B14F-4D97-AF65-F5344CB8AC3E}">
        <p14:creationId xmlns:p14="http://schemas.microsoft.com/office/powerpoint/2010/main" val="16865778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B9052C6-17A5-DC4F-8C70-E5463F1A2767}"/>
              </a:ext>
            </a:extLst>
          </p:cNvPr>
          <p:cNvSpPr/>
          <p:nvPr/>
        </p:nvSpPr>
        <p:spPr>
          <a:xfrm>
            <a:off x="3586578" y="4733834"/>
            <a:ext cx="1319361" cy="161453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36215D5-583F-A94A-8E48-CC07E84BF1DD}"/>
              </a:ext>
            </a:extLst>
          </p:cNvPr>
          <p:cNvSpPr/>
          <p:nvPr/>
        </p:nvSpPr>
        <p:spPr>
          <a:xfrm>
            <a:off x="5567855" y="1381034"/>
            <a:ext cx="1925146" cy="161453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773F70E-8740-5D41-AA3E-1500D402F597}"/>
              </a:ext>
            </a:extLst>
          </p:cNvPr>
          <p:cNvSpPr/>
          <p:nvPr/>
        </p:nvSpPr>
        <p:spPr>
          <a:xfrm>
            <a:off x="5580555" y="3053948"/>
            <a:ext cx="1925146" cy="161453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E03162E-31CF-1D4C-99BA-93ABB3D145BB}"/>
              </a:ext>
            </a:extLst>
          </p:cNvPr>
          <p:cNvSpPr/>
          <p:nvPr/>
        </p:nvSpPr>
        <p:spPr>
          <a:xfrm>
            <a:off x="5580555" y="4729331"/>
            <a:ext cx="1925146" cy="161453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3F12537-2B57-7D48-8C4A-511E9016AAC6}"/>
              </a:ext>
            </a:extLst>
          </p:cNvPr>
          <p:cNvSpPr/>
          <p:nvPr/>
        </p:nvSpPr>
        <p:spPr>
          <a:xfrm>
            <a:off x="3586577" y="3102505"/>
            <a:ext cx="1319361" cy="161453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101F42-C5D6-B044-8315-2482FB36959D}"/>
              </a:ext>
            </a:extLst>
          </p:cNvPr>
          <p:cNvSpPr/>
          <p:nvPr/>
        </p:nvSpPr>
        <p:spPr>
          <a:xfrm>
            <a:off x="3581842" y="1454380"/>
            <a:ext cx="1319361" cy="161453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3F58C0-82F1-DC4E-ACB5-962FEEDA4A96}"/>
              </a:ext>
            </a:extLst>
          </p:cNvPr>
          <p:cNvSpPr/>
          <p:nvPr/>
        </p:nvSpPr>
        <p:spPr>
          <a:xfrm>
            <a:off x="8208579" y="1357267"/>
            <a:ext cx="1770994" cy="500789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F25C464-A31F-A044-A22B-3C1D867548AC}"/>
              </a:ext>
            </a:extLst>
          </p:cNvPr>
          <p:cNvSpPr/>
          <p:nvPr/>
        </p:nvSpPr>
        <p:spPr>
          <a:xfrm>
            <a:off x="1702675" y="1357267"/>
            <a:ext cx="1087821" cy="500789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A619F98-788B-9242-82BC-CCD67F2D2242}"/>
              </a:ext>
            </a:extLst>
          </p:cNvPr>
          <p:cNvPicPr>
            <a:picLocks noChangeAspect="1"/>
          </p:cNvPicPr>
          <p:nvPr/>
        </p:nvPicPr>
        <p:blipFill>
          <a:blip r:embed="rId3"/>
          <a:stretch>
            <a:fillRect/>
          </a:stretch>
        </p:blipFill>
        <p:spPr>
          <a:xfrm>
            <a:off x="851338" y="1357267"/>
            <a:ext cx="9969062" cy="5007896"/>
          </a:xfrm>
          <a:prstGeom prst="rect">
            <a:avLst/>
          </a:prstGeom>
        </p:spPr>
      </p:pic>
      <p:sp>
        <p:nvSpPr>
          <p:cNvPr id="2" name="Title 1">
            <a:extLst>
              <a:ext uri="{FF2B5EF4-FFF2-40B4-BE49-F238E27FC236}">
                <a16:creationId xmlns:a16="http://schemas.microsoft.com/office/drawing/2014/main" id="{C8C42A7C-AD96-8D42-88EA-B89671973354}"/>
              </a:ext>
            </a:extLst>
          </p:cNvPr>
          <p:cNvSpPr>
            <a:spLocks noGrp="1"/>
          </p:cNvSpPr>
          <p:nvPr>
            <p:ph type="title"/>
          </p:nvPr>
        </p:nvSpPr>
        <p:spPr/>
        <p:txBody>
          <a:bodyPr/>
          <a:lstStyle/>
          <a:p>
            <a:r>
              <a:rPr lang="en-ZA" dirty="0"/>
              <a:t>Practical Implementation of the Shor Code</a:t>
            </a:r>
            <a:endParaRPr lang="en-US" dirty="0"/>
          </a:p>
        </p:txBody>
      </p:sp>
      <p:sp>
        <p:nvSpPr>
          <p:cNvPr id="3" name="Slide Number Placeholder 2">
            <a:extLst>
              <a:ext uri="{FF2B5EF4-FFF2-40B4-BE49-F238E27FC236}">
                <a16:creationId xmlns:a16="http://schemas.microsoft.com/office/drawing/2014/main" id="{89467B84-CC27-094C-BCD3-C3E4579CD9ED}"/>
              </a:ext>
            </a:extLst>
          </p:cNvPr>
          <p:cNvSpPr>
            <a:spLocks noGrp="1"/>
          </p:cNvSpPr>
          <p:nvPr>
            <p:ph type="sldNum" sz="quarter" idx="12"/>
          </p:nvPr>
        </p:nvSpPr>
        <p:spPr/>
        <p:txBody>
          <a:bodyPr/>
          <a:lstStyle/>
          <a:p>
            <a:fld id="{591A223C-FA10-BC46-A853-03BA373D023C}" type="slidenum">
              <a:rPr lang="en-US" smtClean="0"/>
              <a:t>49</a:t>
            </a:fld>
            <a:endParaRPr lang="en-US"/>
          </a:p>
        </p:txBody>
      </p:sp>
      <p:sp>
        <p:nvSpPr>
          <p:cNvPr id="20" name="Rectangle 19">
            <a:extLst>
              <a:ext uri="{FF2B5EF4-FFF2-40B4-BE49-F238E27FC236}">
                <a16:creationId xmlns:a16="http://schemas.microsoft.com/office/drawing/2014/main" id="{8E08A611-B615-0249-A14A-1DBAE1789B04}"/>
              </a:ext>
            </a:extLst>
          </p:cNvPr>
          <p:cNvSpPr/>
          <p:nvPr/>
        </p:nvSpPr>
        <p:spPr>
          <a:xfrm>
            <a:off x="4972358" y="1517410"/>
            <a:ext cx="558527" cy="473511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E</a:t>
            </a:r>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B72EEF15-E47F-BF46-AB13-B18933DB8CFE}"/>
                  </a:ext>
                </a:extLst>
              </p:cNvPr>
              <p:cNvSpPr/>
              <p:nvPr/>
            </p:nvSpPr>
            <p:spPr>
              <a:xfrm>
                <a:off x="644183" y="1382845"/>
                <a:ext cx="707053" cy="523220"/>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a:rPr lang="sr-Latn-RS" sz="2800" i="1">
                              <a:latin typeface="Cambria Math" panose="02040503050406030204" pitchFamily="18" charset="0"/>
                              <a:ea typeface="Cambria Math" panose="02040503050406030204" pitchFamily="18" charset="0"/>
                            </a:rPr>
                            <m:t>𝑆</m:t>
                          </m:r>
                        </m:e>
                      </m:d>
                    </m:oMath>
                  </m:oMathPara>
                </a14:m>
                <a:endParaRPr lang="en-US" sz="2800" dirty="0"/>
              </a:p>
            </p:txBody>
          </p:sp>
        </mc:Choice>
        <mc:Fallback xmlns="">
          <p:sp>
            <p:nvSpPr>
              <p:cNvPr id="21" name="Rectangle 20">
                <a:extLst>
                  <a:ext uri="{FF2B5EF4-FFF2-40B4-BE49-F238E27FC236}">
                    <a16:creationId xmlns:a16="http://schemas.microsoft.com/office/drawing/2014/main" id="{B72EEF15-E47F-BF46-AB13-B18933DB8CFE}"/>
                  </a:ext>
                </a:extLst>
              </p:cNvPr>
              <p:cNvSpPr>
                <a:spLocks noRot="1" noChangeAspect="1" noMove="1" noResize="1" noEditPoints="1" noAdjustHandles="1" noChangeArrowheads="1" noChangeShapeType="1" noTextEdit="1"/>
              </p:cNvSpPr>
              <p:nvPr/>
            </p:nvSpPr>
            <p:spPr>
              <a:xfrm>
                <a:off x="644183" y="1382845"/>
                <a:ext cx="707053" cy="523220"/>
              </a:xfrm>
              <a:prstGeom prst="rect">
                <a:avLst/>
              </a:prstGeom>
              <a:blipFill>
                <a:blip r:embed="rId4"/>
                <a:stretch>
                  <a:fillRect l="-30357" t="-133333" r="-57143" b="-20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CA406F0D-9EF1-DF40-A795-2795F12518A7}"/>
                  </a:ext>
                </a:extLst>
              </p:cNvPr>
              <p:cNvSpPr/>
              <p:nvPr/>
            </p:nvSpPr>
            <p:spPr>
              <a:xfrm>
                <a:off x="10179766" y="1357267"/>
                <a:ext cx="707053" cy="523220"/>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a:rPr lang="sr-Latn-RS" sz="2800" i="1">
                              <a:latin typeface="Cambria Math" panose="02040503050406030204" pitchFamily="18" charset="0"/>
                              <a:ea typeface="Cambria Math" panose="02040503050406030204" pitchFamily="18" charset="0"/>
                            </a:rPr>
                            <m:t>𝑆</m:t>
                          </m:r>
                        </m:e>
                      </m:d>
                    </m:oMath>
                  </m:oMathPara>
                </a14:m>
                <a:endParaRPr lang="en-US" sz="2800" dirty="0"/>
              </a:p>
            </p:txBody>
          </p:sp>
        </mc:Choice>
        <mc:Fallback xmlns="">
          <p:sp>
            <p:nvSpPr>
              <p:cNvPr id="22" name="Rectangle 21">
                <a:extLst>
                  <a:ext uri="{FF2B5EF4-FFF2-40B4-BE49-F238E27FC236}">
                    <a16:creationId xmlns:a16="http://schemas.microsoft.com/office/drawing/2014/main" id="{CA406F0D-9EF1-DF40-A795-2795F12518A7}"/>
                  </a:ext>
                </a:extLst>
              </p:cNvPr>
              <p:cNvSpPr>
                <a:spLocks noRot="1" noChangeAspect="1" noMove="1" noResize="1" noEditPoints="1" noAdjustHandles="1" noChangeArrowheads="1" noChangeShapeType="1" noTextEdit="1"/>
              </p:cNvSpPr>
              <p:nvPr/>
            </p:nvSpPr>
            <p:spPr>
              <a:xfrm>
                <a:off x="10179766" y="1357267"/>
                <a:ext cx="707053" cy="523220"/>
              </a:xfrm>
              <a:prstGeom prst="rect">
                <a:avLst/>
              </a:prstGeom>
              <a:blipFill>
                <a:blip r:embed="rId5"/>
                <a:stretch>
                  <a:fillRect l="-30357" t="-135714" r="-55357" b="-200000"/>
                </a:stretch>
              </a:blipFill>
            </p:spPr>
            <p:txBody>
              <a:bodyPr/>
              <a:lstStyle/>
              <a:p>
                <a:r>
                  <a:rPr lang="en-US">
                    <a:noFill/>
                  </a:rPr>
                  <a:t> </a:t>
                </a:r>
              </a:p>
            </p:txBody>
          </p:sp>
        </mc:Fallback>
      </mc:AlternateContent>
    </p:spTree>
    <p:extLst>
      <p:ext uri="{BB962C8B-B14F-4D97-AF65-F5344CB8AC3E}">
        <p14:creationId xmlns:p14="http://schemas.microsoft.com/office/powerpoint/2010/main" val="32219523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A87D5FB-1D6F-844B-81BE-1BD1B8B18827}"/>
              </a:ext>
            </a:extLst>
          </p:cNvPr>
          <p:cNvSpPr>
            <a:spLocks noGrp="1"/>
          </p:cNvSpPr>
          <p:nvPr>
            <p:ph type="sldNum" sz="quarter" idx="12"/>
          </p:nvPr>
        </p:nvSpPr>
        <p:spPr/>
        <p:txBody>
          <a:bodyPr/>
          <a:lstStyle/>
          <a:p>
            <a:fld id="{591A223C-FA10-BC46-A853-03BA373D023C}" type="slidenum">
              <a:rPr lang="en-US" smtClean="0"/>
              <a:t>50</a:t>
            </a:fld>
            <a:endParaRPr lang="en-US"/>
          </a:p>
        </p:txBody>
      </p:sp>
      <p:sp>
        <p:nvSpPr>
          <p:cNvPr id="4" name="Title 3">
            <a:extLst>
              <a:ext uri="{FF2B5EF4-FFF2-40B4-BE49-F238E27FC236}">
                <a16:creationId xmlns:a16="http://schemas.microsoft.com/office/drawing/2014/main" id="{4F59090D-5F99-6E4E-BE4C-D661ACB20756}"/>
              </a:ext>
            </a:extLst>
          </p:cNvPr>
          <p:cNvSpPr>
            <a:spLocks noGrp="1"/>
          </p:cNvSpPr>
          <p:nvPr>
            <p:ph type="title"/>
          </p:nvPr>
        </p:nvSpPr>
        <p:spPr/>
        <p:txBody>
          <a:bodyPr/>
          <a:lstStyle/>
          <a:p>
            <a:r>
              <a:rPr lang="en-US" dirty="0"/>
              <a:t>Quantum Programming Languages and Frameworks</a:t>
            </a:r>
          </a:p>
        </p:txBody>
      </p:sp>
      <p:graphicFrame>
        <p:nvGraphicFramePr>
          <p:cNvPr id="2" name="Diagram 1">
            <a:extLst>
              <a:ext uri="{FF2B5EF4-FFF2-40B4-BE49-F238E27FC236}">
                <a16:creationId xmlns:a16="http://schemas.microsoft.com/office/drawing/2014/main" id="{5A2BA579-03D1-CA43-85F1-E3B29CA0AC65}"/>
              </a:ext>
            </a:extLst>
          </p:cNvPr>
          <p:cNvGraphicFramePr/>
          <p:nvPr>
            <p:extLst>
              <p:ext uri="{D42A27DB-BD31-4B8C-83A1-F6EECF244321}">
                <p14:modId xmlns:p14="http://schemas.microsoft.com/office/powerpoint/2010/main" val="132184322"/>
              </p:ext>
            </p:extLst>
          </p:nvPr>
        </p:nvGraphicFramePr>
        <p:xfrm>
          <a:off x="310551" y="1074208"/>
          <a:ext cx="11507638"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93431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EB320A-FB7A-6E45-A557-8B292216037B}"/>
              </a:ext>
            </a:extLst>
          </p:cNvPr>
          <p:cNvSpPr>
            <a:spLocks noGrp="1"/>
          </p:cNvSpPr>
          <p:nvPr>
            <p:ph type="sldNum" sz="quarter" idx="12"/>
          </p:nvPr>
        </p:nvSpPr>
        <p:spPr/>
        <p:txBody>
          <a:bodyPr/>
          <a:lstStyle/>
          <a:p>
            <a:fld id="{591A223C-FA10-BC46-A853-03BA373D023C}" type="slidenum">
              <a:rPr lang="en-US" smtClean="0"/>
              <a:t>51</a:t>
            </a:fld>
            <a:endParaRPr lang="en-US"/>
          </a:p>
        </p:txBody>
      </p:sp>
      <p:sp>
        <p:nvSpPr>
          <p:cNvPr id="3" name="Title 2">
            <a:extLst>
              <a:ext uri="{FF2B5EF4-FFF2-40B4-BE49-F238E27FC236}">
                <a16:creationId xmlns:a16="http://schemas.microsoft.com/office/drawing/2014/main" id="{25D54960-9164-FC4F-9812-18B7A98CC17F}"/>
              </a:ext>
            </a:extLst>
          </p:cNvPr>
          <p:cNvSpPr>
            <a:spLocks noGrp="1"/>
          </p:cNvSpPr>
          <p:nvPr>
            <p:ph type="title"/>
          </p:nvPr>
        </p:nvSpPr>
        <p:spPr/>
        <p:txBody>
          <a:bodyPr/>
          <a:lstStyle/>
          <a:p>
            <a:r>
              <a:rPr lang="en-US" dirty="0"/>
              <a:t>From Source Code to Results</a:t>
            </a:r>
          </a:p>
        </p:txBody>
      </p:sp>
      <p:pic>
        <p:nvPicPr>
          <p:cNvPr id="6" name="Picture 5">
            <a:extLst>
              <a:ext uri="{FF2B5EF4-FFF2-40B4-BE49-F238E27FC236}">
                <a16:creationId xmlns:a16="http://schemas.microsoft.com/office/drawing/2014/main" id="{3506928E-1D87-E04B-9703-F4C29CC2DE98}"/>
              </a:ext>
            </a:extLst>
          </p:cNvPr>
          <p:cNvPicPr>
            <a:picLocks noChangeAspect="1"/>
          </p:cNvPicPr>
          <p:nvPr/>
        </p:nvPicPr>
        <p:blipFill>
          <a:blip r:embed="rId3"/>
          <a:stretch>
            <a:fillRect/>
          </a:stretch>
        </p:blipFill>
        <p:spPr>
          <a:xfrm>
            <a:off x="452803" y="911682"/>
            <a:ext cx="10985823" cy="5946318"/>
          </a:xfrm>
          <a:prstGeom prst="rect">
            <a:avLst/>
          </a:prstGeom>
        </p:spPr>
      </p:pic>
    </p:spTree>
    <p:extLst>
      <p:ext uri="{BB962C8B-B14F-4D97-AF65-F5344CB8AC3E}">
        <p14:creationId xmlns:p14="http://schemas.microsoft.com/office/powerpoint/2010/main" val="31624800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9">
            <a:extLst>
              <a:ext uri="{FF2B5EF4-FFF2-40B4-BE49-F238E27FC236}">
                <a16:creationId xmlns:a16="http://schemas.microsoft.com/office/drawing/2014/main" id="{276F6968-AFDF-9A4D-826D-4B3FEBF02E56}"/>
              </a:ext>
            </a:extLst>
          </p:cNvPr>
          <p:cNvSpPr/>
          <p:nvPr/>
        </p:nvSpPr>
        <p:spPr>
          <a:xfrm>
            <a:off x="466165" y="5299653"/>
            <a:ext cx="11385176" cy="921258"/>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43E6165A-5D6B-3642-91CF-0EEC2A967FB3}"/>
              </a:ext>
            </a:extLst>
          </p:cNvPr>
          <p:cNvSpPr/>
          <p:nvPr/>
        </p:nvSpPr>
        <p:spPr>
          <a:xfrm>
            <a:off x="466165" y="4345527"/>
            <a:ext cx="11385176" cy="842168"/>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735BF3F1-76B1-EC43-9B0B-9BF41A208F70}"/>
              </a:ext>
            </a:extLst>
          </p:cNvPr>
          <p:cNvSpPr/>
          <p:nvPr/>
        </p:nvSpPr>
        <p:spPr>
          <a:xfrm>
            <a:off x="466165" y="3371707"/>
            <a:ext cx="11385176" cy="908933"/>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14956A12-CD80-CE4A-A64F-C3E84D2919A1}"/>
              </a:ext>
            </a:extLst>
          </p:cNvPr>
          <p:cNvSpPr/>
          <p:nvPr/>
        </p:nvSpPr>
        <p:spPr>
          <a:xfrm>
            <a:off x="466165" y="2520578"/>
            <a:ext cx="11385176" cy="742226"/>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248FC441-3336-214C-A646-18B77E4C504A}"/>
              </a:ext>
            </a:extLst>
          </p:cNvPr>
          <p:cNvSpPr/>
          <p:nvPr/>
        </p:nvSpPr>
        <p:spPr>
          <a:xfrm>
            <a:off x="466165" y="1915105"/>
            <a:ext cx="11385176" cy="462637"/>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C7E39501-A6A3-E64D-89B3-0EDEA2F21333}"/>
              </a:ext>
            </a:extLst>
          </p:cNvPr>
          <p:cNvSpPr/>
          <p:nvPr/>
        </p:nvSpPr>
        <p:spPr>
          <a:xfrm>
            <a:off x="466165" y="1327264"/>
            <a:ext cx="11385176" cy="462637"/>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81FFE0AE-843E-4A48-B1C3-B80FC0DAA9D8}"/>
              </a:ext>
            </a:extLst>
          </p:cNvPr>
          <p:cNvSpPr>
            <a:spLocks noGrp="1"/>
          </p:cNvSpPr>
          <p:nvPr>
            <p:ph type="sldNum" sz="quarter" idx="12"/>
          </p:nvPr>
        </p:nvSpPr>
        <p:spPr/>
        <p:txBody>
          <a:bodyPr/>
          <a:lstStyle/>
          <a:p>
            <a:fld id="{591A223C-FA10-BC46-A853-03BA373D023C}" type="slidenum">
              <a:rPr lang="en-US" smtClean="0"/>
              <a:t>52</a:t>
            </a:fld>
            <a:endParaRPr lang="en-US"/>
          </a:p>
        </p:txBody>
      </p:sp>
      <p:sp>
        <p:nvSpPr>
          <p:cNvPr id="3" name="Title 2">
            <a:extLst>
              <a:ext uri="{FF2B5EF4-FFF2-40B4-BE49-F238E27FC236}">
                <a16:creationId xmlns:a16="http://schemas.microsoft.com/office/drawing/2014/main" id="{9112EF16-6807-2648-A5DC-529983F132FF}"/>
              </a:ext>
            </a:extLst>
          </p:cNvPr>
          <p:cNvSpPr>
            <a:spLocks noGrp="1"/>
          </p:cNvSpPr>
          <p:nvPr>
            <p:ph type="title"/>
          </p:nvPr>
        </p:nvSpPr>
        <p:spPr/>
        <p:txBody>
          <a:bodyPr/>
          <a:lstStyle/>
          <a:p>
            <a:r>
              <a:rPr lang="en-US" dirty="0"/>
              <a:t>Open Quantum Assembly Language (</a:t>
            </a:r>
            <a:r>
              <a:rPr lang="en-US" dirty="0" err="1"/>
              <a:t>OpenQASM</a:t>
            </a:r>
            <a:r>
              <a:rPr lang="en-US" dirty="0"/>
              <a:t>)</a:t>
            </a:r>
          </a:p>
        </p:txBody>
      </p:sp>
      <p:sp>
        <p:nvSpPr>
          <p:cNvPr id="4" name="Rectangle 3">
            <a:extLst>
              <a:ext uri="{FF2B5EF4-FFF2-40B4-BE49-F238E27FC236}">
                <a16:creationId xmlns:a16="http://schemas.microsoft.com/office/drawing/2014/main" id="{348C2CB0-2E85-824E-9533-271941D0EA04}"/>
              </a:ext>
            </a:extLst>
          </p:cNvPr>
          <p:cNvSpPr/>
          <p:nvPr/>
        </p:nvSpPr>
        <p:spPr>
          <a:xfrm>
            <a:off x="466166" y="1327264"/>
            <a:ext cx="11385175" cy="4893647"/>
          </a:xfrm>
          <a:prstGeom prst="rect">
            <a:avLst/>
          </a:prstGeom>
        </p:spPr>
        <p:txBody>
          <a:bodyPr wrap="square">
            <a:spAutoFit/>
          </a:bodyPr>
          <a:lstStyle/>
          <a:p>
            <a:pPr lvl="0"/>
            <a:r>
              <a:rPr lang="en-ZA" sz="2400" dirty="0" err="1">
                <a:latin typeface="+mj-lt"/>
              </a:rPr>
              <a:t>OpenQASM</a:t>
            </a:r>
            <a:r>
              <a:rPr lang="en-ZA" sz="2400" dirty="0">
                <a:latin typeface="+mj-lt"/>
              </a:rPr>
              <a:t> is case-sensitive</a:t>
            </a:r>
            <a:br>
              <a:rPr lang="en-ZA" sz="2400" dirty="0">
                <a:latin typeface="+mj-lt"/>
              </a:rPr>
            </a:br>
            <a:endParaRPr lang="en-ZA" sz="1400" dirty="0">
              <a:latin typeface="+mj-lt"/>
            </a:endParaRPr>
          </a:p>
          <a:p>
            <a:pPr lvl="0"/>
            <a:r>
              <a:rPr lang="en-ZA" sz="2400" dirty="0">
                <a:latin typeface="+mj-lt"/>
              </a:rPr>
              <a:t>A program consists of a series of statements. Most statements end with a semicolon (;)</a:t>
            </a:r>
            <a:br>
              <a:rPr lang="en-ZA" sz="2400" dirty="0">
                <a:latin typeface="+mj-lt"/>
              </a:rPr>
            </a:br>
            <a:endParaRPr lang="en-ZA" sz="1400" dirty="0">
              <a:latin typeface="+mj-lt"/>
            </a:endParaRPr>
          </a:p>
          <a:p>
            <a:r>
              <a:rPr lang="en-ZA" sz="2400" dirty="0">
                <a:latin typeface="+mj-lt"/>
              </a:rPr>
              <a:t>An </a:t>
            </a:r>
            <a:r>
              <a:rPr lang="en-ZA" sz="2400" dirty="0" err="1">
                <a:latin typeface="+mj-lt"/>
              </a:rPr>
              <a:t>OpenQASM</a:t>
            </a:r>
            <a:r>
              <a:rPr lang="en-ZA" sz="2400" dirty="0">
                <a:latin typeface="+mj-lt"/>
              </a:rPr>
              <a:t> program begins with a version declaration: OPENQASM </a:t>
            </a:r>
            <a:r>
              <a:rPr lang="en-ZA" sz="2400" dirty="0" err="1">
                <a:latin typeface="+mj-lt"/>
              </a:rPr>
              <a:t>M.n</a:t>
            </a:r>
            <a:r>
              <a:rPr lang="en-ZA" sz="2400" dirty="0">
                <a:latin typeface="+mj-lt"/>
              </a:rPr>
              <a:t>; M represents the major version number  and n the minor version number.</a:t>
            </a:r>
            <a:br>
              <a:rPr lang="en-ZA" sz="2400" dirty="0">
                <a:latin typeface="+mj-lt"/>
              </a:rPr>
            </a:br>
            <a:endParaRPr lang="sr-Latn-RS" sz="1400" dirty="0">
              <a:latin typeface="+mj-lt"/>
            </a:endParaRPr>
          </a:p>
          <a:p>
            <a:r>
              <a:rPr lang="en-ZA" sz="2400" dirty="0">
                <a:latin typeface="+mj-lt"/>
              </a:rPr>
              <a:t>The include directive can be used to include predefined gates. The standard gate library is commonly included as: include "</a:t>
            </a:r>
            <a:r>
              <a:rPr lang="en-ZA" sz="2400" dirty="0" err="1">
                <a:latin typeface="+mj-lt"/>
              </a:rPr>
              <a:t>stdgates.inc</a:t>
            </a:r>
            <a:r>
              <a:rPr lang="en-ZA" sz="2400" dirty="0">
                <a:latin typeface="+mj-lt"/>
              </a:rPr>
              <a:t>";</a:t>
            </a:r>
            <a:br>
              <a:rPr lang="en-ZA" sz="2400" dirty="0">
                <a:latin typeface="+mj-lt"/>
              </a:rPr>
            </a:br>
            <a:endParaRPr lang="en-ZA" sz="1400" dirty="0">
              <a:latin typeface="+mj-lt"/>
            </a:endParaRPr>
          </a:p>
          <a:p>
            <a:pPr lvl="0"/>
            <a:r>
              <a:rPr lang="en-ZA" sz="2400" dirty="0">
                <a:latin typeface="+mj-lt"/>
              </a:rPr>
              <a:t>Text following // up to the end of the line is treated as a comment. Spaces and new lines can generally be used freely to make the program easier to read.</a:t>
            </a:r>
            <a:br>
              <a:rPr lang="en-ZA" sz="2400" dirty="0">
                <a:latin typeface="+mj-lt"/>
              </a:rPr>
            </a:br>
            <a:endParaRPr lang="sr-Latn-RS" sz="1600" dirty="0">
              <a:latin typeface="+mj-lt"/>
            </a:endParaRPr>
          </a:p>
          <a:p>
            <a:pPr lvl="0" algn="just">
              <a:defRPr/>
            </a:pPr>
            <a:r>
              <a:rPr lang="en-ZA" sz="2400" dirty="0">
                <a:latin typeface="+mj-lt"/>
              </a:rPr>
              <a:t>Identifiers can contain letters, numbers, and underscores, but must begin with a letter or an underscore.</a:t>
            </a:r>
          </a:p>
        </p:txBody>
      </p:sp>
    </p:spTree>
    <p:extLst>
      <p:ext uri="{BB962C8B-B14F-4D97-AF65-F5344CB8AC3E}">
        <p14:creationId xmlns:p14="http://schemas.microsoft.com/office/powerpoint/2010/main" val="12229955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ounded Rectangle 41">
            <a:extLst>
              <a:ext uri="{FF2B5EF4-FFF2-40B4-BE49-F238E27FC236}">
                <a16:creationId xmlns:a16="http://schemas.microsoft.com/office/drawing/2014/main" id="{6746D3E4-7EB2-8B4A-AC14-FC2275A8D9DD}"/>
              </a:ext>
            </a:extLst>
          </p:cNvPr>
          <p:cNvSpPr/>
          <p:nvPr/>
        </p:nvSpPr>
        <p:spPr>
          <a:xfrm>
            <a:off x="7336739" y="777855"/>
            <a:ext cx="4483226" cy="4367212"/>
          </a:xfrm>
          <a:prstGeom prst="roundRect">
            <a:avLst>
              <a:gd name="adj" fmla="val 560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4E253B82-2644-584B-89B3-188AB5AEDE55}"/>
              </a:ext>
            </a:extLst>
          </p:cNvPr>
          <p:cNvSpPr>
            <a:spLocks noGrp="1"/>
          </p:cNvSpPr>
          <p:nvPr>
            <p:ph type="sldNum" sz="quarter" idx="12"/>
          </p:nvPr>
        </p:nvSpPr>
        <p:spPr/>
        <p:txBody>
          <a:bodyPr/>
          <a:lstStyle/>
          <a:p>
            <a:fld id="{591A223C-FA10-BC46-A853-03BA373D023C}" type="slidenum">
              <a:rPr lang="en-US" smtClean="0"/>
              <a:t>53</a:t>
            </a:fld>
            <a:endParaRPr lang="en-US"/>
          </a:p>
        </p:txBody>
      </p:sp>
      <p:sp>
        <p:nvSpPr>
          <p:cNvPr id="3" name="Title 2">
            <a:extLst>
              <a:ext uri="{FF2B5EF4-FFF2-40B4-BE49-F238E27FC236}">
                <a16:creationId xmlns:a16="http://schemas.microsoft.com/office/drawing/2014/main" id="{2642B404-C352-B84C-8251-66AB051AC805}"/>
              </a:ext>
            </a:extLst>
          </p:cNvPr>
          <p:cNvSpPr>
            <a:spLocks noGrp="1"/>
          </p:cNvSpPr>
          <p:nvPr>
            <p:ph type="title"/>
          </p:nvPr>
        </p:nvSpPr>
        <p:spPr/>
        <p:txBody>
          <a:bodyPr/>
          <a:lstStyle/>
          <a:p>
            <a:r>
              <a:rPr lang="en-US" dirty="0"/>
              <a:t>Quantum Random Number Generator</a:t>
            </a:r>
          </a:p>
        </p:txBody>
      </p:sp>
      <p:cxnSp>
        <p:nvCxnSpPr>
          <p:cNvPr id="4" name="Straight Connector 3">
            <a:extLst>
              <a:ext uri="{FF2B5EF4-FFF2-40B4-BE49-F238E27FC236}">
                <a16:creationId xmlns:a16="http://schemas.microsoft.com/office/drawing/2014/main" id="{B334A3F1-471C-9B4F-81E4-11BB091EA345}"/>
              </a:ext>
            </a:extLst>
          </p:cNvPr>
          <p:cNvCxnSpPr>
            <a:cxnSpLocks/>
            <a:endCxn id="7" idx="1"/>
          </p:cNvCxnSpPr>
          <p:nvPr/>
        </p:nvCxnSpPr>
        <p:spPr>
          <a:xfrm>
            <a:off x="1803567" y="1693976"/>
            <a:ext cx="281026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0AD8F8F0-4E5F-2D4C-B6D7-26740499E8F4}"/>
              </a:ext>
            </a:extLst>
          </p:cNvPr>
          <p:cNvSpPr/>
          <p:nvPr/>
        </p:nvSpPr>
        <p:spPr>
          <a:xfrm>
            <a:off x="2447491" y="1310623"/>
            <a:ext cx="786446" cy="786446"/>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H</a:t>
            </a:r>
          </a:p>
        </p:txBody>
      </p:sp>
      <p:grpSp>
        <p:nvGrpSpPr>
          <p:cNvPr id="6" name="Group 5">
            <a:extLst>
              <a:ext uri="{FF2B5EF4-FFF2-40B4-BE49-F238E27FC236}">
                <a16:creationId xmlns:a16="http://schemas.microsoft.com/office/drawing/2014/main" id="{CAB9E7FD-375D-6F4B-9822-95DED849DFB6}"/>
              </a:ext>
            </a:extLst>
          </p:cNvPr>
          <p:cNvGrpSpPr/>
          <p:nvPr/>
        </p:nvGrpSpPr>
        <p:grpSpPr>
          <a:xfrm>
            <a:off x="4613828" y="1310623"/>
            <a:ext cx="786446" cy="896299"/>
            <a:chOff x="8902649" y="1353231"/>
            <a:chExt cx="720000" cy="807700"/>
          </a:xfrm>
        </p:grpSpPr>
        <p:sp>
          <p:nvSpPr>
            <p:cNvPr id="7" name="Rectangle 6">
              <a:extLst>
                <a:ext uri="{FF2B5EF4-FFF2-40B4-BE49-F238E27FC236}">
                  <a16:creationId xmlns:a16="http://schemas.microsoft.com/office/drawing/2014/main" id="{CB1CB8D8-F6B4-E748-89DC-DF3FFE54CB1E}"/>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8" name="Arc 7">
              <a:extLst>
                <a:ext uri="{FF2B5EF4-FFF2-40B4-BE49-F238E27FC236}">
                  <a16:creationId xmlns:a16="http://schemas.microsoft.com/office/drawing/2014/main" id="{DA5D9CB1-0FE5-944B-A65E-AEB57F99B48F}"/>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DE800AFD-415F-154F-BC1A-D44F08E4D6A5}"/>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cxnSp>
        <p:nvCxnSpPr>
          <p:cNvPr id="10" name="Straight Connector 9">
            <a:extLst>
              <a:ext uri="{FF2B5EF4-FFF2-40B4-BE49-F238E27FC236}">
                <a16:creationId xmlns:a16="http://schemas.microsoft.com/office/drawing/2014/main" id="{12B27723-D7C2-2842-BA04-E1B9A0D0A670}"/>
              </a:ext>
            </a:extLst>
          </p:cNvPr>
          <p:cNvCxnSpPr>
            <a:cxnSpLocks/>
            <a:endCxn id="13" idx="1"/>
          </p:cNvCxnSpPr>
          <p:nvPr/>
        </p:nvCxnSpPr>
        <p:spPr>
          <a:xfrm>
            <a:off x="1694985" y="2794430"/>
            <a:ext cx="3916261" cy="161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1D9D06EF-C69D-D94F-859D-D3C0290C2EB1}"/>
              </a:ext>
            </a:extLst>
          </p:cNvPr>
          <p:cNvSpPr/>
          <p:nvPr/>
        </p:nvSpPr>
        <p:spPr>
          <a:xfrm>
            <a:off x="2447491" y="2411076"/>
            <a:ext cx="786446" cy="786446"/>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H</a:t>
            </a:r>
          </a:p>
        </p:txBody>
      </p:sp>
      <p:grpSp>
        <p:nvGrpSpPr>
          <p:cNvPr id="12" name="Group 11">
            <a:extLst>
              <a:ext uri="{FF2B5EF4-FFF2-40B4-BE49-F238E27FC236}">
                <a16:creationId xmlns:a16="http://schemas.microsoft.com/office/drawing/2014/main" id="{77AE0531-6EA3-4A4B-989B-399F4AD3332D}"/>
              </a:ext>
            </a:extLst>
          </p:cNvPr>
          <p:cNvGrpSpPr/>
          <p:nvPr/>
        </p:nvGrpSpPr>
        <p:grpSpPr>
          <a:xfrm>
            <a:off x="5611246" y="2411076"/>
            <a:ext cx="786446" cy="896299"/>
            <a:chOff x="8902649" y="1353231"/>
            <a:chExt cx="720000" cy="807700"/>
          </a:xfrm>
        </p:grpSpPr>
        <p:sp>
          <p:nvSpPr>
            <p:cNvPr id="13" name="Rectangle 12">
              <a:extLst>
                <a:ext uri="{FF2B5EF4-FFF2-40B4-BE49-F238E27FC236}">
                  <a16:creationId xmlns:a16="http://schemas.microsoft.com/office/drawing/2014/main" id="{80978875-D25B-4F43-BC70-2E7B49BF798F}"/>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4" name="Arc 13">
              <a:extLst>
                <a:ext uri="{FF2B5EF4-FFF2-40B4-BE49-F238E27FC236}">
                  <a16:creationId xmlns:a16="http://schemas.microsoft.com/office/drawing/2014/main" id="{BEB210D0-BC20-F947-A066-605C99B9CF71}"/>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117C373C-8CB4-6343-BE95-DC692F267624}"/>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16" name="Rectangle 15">
            <a:extLst>
              <a:ext uri="{FF2B5EF4-FFF2-40B4-BE49-F238E27FC236}">
                <a16:creationId xmlns:a16="http://schemas.microsoft.com/office/drawing/2014/main" id="{26F94A23-F130-B549-8D29-69098F98AB8B}"/>
              </a:ext>
            </a:extLst>
          </p:cNvPr>
          <p:cNvSpPr/>
          <p:nvPr/>
        </p:nvSpPr>
        <p:spPr>
          <a:xfrm>
            <a:off x="1081449" y="1402613"/>
            <a:ext cx="691215" cy="461665"/>
          </a:xfrm>
          <a:prstGeom prst="rect">
            <a:avLst/>
          </a:prstGeom>
        </p:spPr>
        <p:txBody>
          <a:bodyPr wrap="none">
            <a:spAutoFit/>
          </a:bodyPr>
          <a:lstStyle/>
          <a:p>
            <a:r>
              <a:rPr lang="en-US" sz="2400" dirty="0"/>
              <a:t>q[0]</a:t>
            </a:r>
          </a:p>
        </p:txBody>
      </p:sp>
      <p:sp>
        <p:nvSpPr>
          <p:cNvPr id="17" name="Rectangle 16">
            <a:extLst>
              <a:ext uri="{FF2B5EF4-FFF2-40B4-BE49-F238E27FC236}">
                <a16:creationId xmlns:a16="http://schemas.microsoft.com/office/drawing/2014/main" id="{76D5349B-29FD-9645-B90E-D7E0263AE9AC}"/>
              </a:ext>
            </a:extLst>
          </p:cNvPr>
          <p:cNvSpPr/>
          <p:nvPr/>
        </p:nvSpPr>
        <p:spPr>
          <a:xfrm>
            <a:off x="1081448" y="2405838"/>
            <a:ext cx="691215" cy="461665"/>
          </a:xfrm>
          <a:prstGeom prst="rect">
            <a:avLst/>
          </a:prstGeom>
        </p:spPr>
        <p:txBody>
          <a:bodyPr wrap="none">
            <a:spAutoFit/>
          </a:bodyPr>
          <a:lstStyle/>
          <a:p>
            <a:r>
              <a:rPr lang="en-US" sz="2400" dirty="0"/>
              <a:t>q[1]</a:t>
            </a:r>
          </a:p>
        </p:txBody>
      </p:sp>
      <p:cxnSp>
        <p:nvCxnSpPr>
          <p:cNvPr id="18" name="Straight Connector 17">
            <a:extLst>
              <a:ext uri="{FF2B5EF4-FFF2-40B4-BE49-F238E27FC236}">
                <a16:creationId xmlns:a16="http://schemas.microsoft.com/office/drawing/2014/main" id="{90C8DF27-B126-9245-AA51-F38689710AC9}"/>
              </a:ext>
            </a:extLst>
          </p:cNvPr>
          <p:cNvCxnSpPr>
            <a:cxnSpLocks/>
          </p:cNvCxnSpPr>
          <p:nvPr/>
        </p:nvCxnSpPr>
        <p:spPr>
          <a:xfrm>
            <a:off x="1803566" y="3593408"/>
            <a:ext cx="334439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ADD8922-A719-4142-9A94-DB9D6164A00A}"/>
              </a:ext>
            </a:extLst>
          </p:cNvPr>
          <p:cNvCxnSpPr>
            <a:cxnSpLocks/>
          </p:cNvCxnSpPr>
          <p:nvPr/>
        </p:nvCxnSpPr>
        <p:spPr>
          <a:xfrm flipV="1">
            <a:off x="1798685" y="4057651"/>
            <a:ext cx="4346690" cy="1"/>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97AB7E0-6B94-E246-A074-AB8F0AE7103D}"/>
              </a:ext>
            </a:extLst>
          </p:cNvPr>
          <p:cNvSpPr/>
          <p:nvPr/>
        </p:nvSpPr>
        <p:spPr>
          <a:xfrm>
            <a:off x="1081448" y="3294373"/>
            <a:ext cx="659155" cy="461665"/>
          </a:xfrm>
          <a:prstGeom prst="rect">
            <a:avLst/>
          </a:prstGeom>
        </p:spPr>
        <p:txBody>
          <a:bodyPr wrap="none">
            <a:spAutoFit/>
          </a:bodyPr>
          <a:lstStyle/>
          <a:p>
            <a:r>
              <a:rPr lang="en-US" sz="2400" dirty="0"/>
              <a:t>c[0]</a:t>
            </a:r>
          </a:p>
        </p:txBody>
      </p:sp>
      <p:sp>
        <p:nvSpPr>
          <p:cNvPr id="21" name="Rectangle 20">
            <a:extLst>
              <a:ext uri="{FF2B5EF4-FFF2-40B4-BE49-F238E27FC236}">
                <a16:creationId xmlns:a16="http://schemas.microsoft.com/office/drawing/2014/main" id="{47758B0C-C658-D54A-B1DF-11410BFC5122}"/>
              </a:ext>
            </a:extLst>
          </p:cNvPr>
          <p:cNvSpPr/>
          <p:nvPr/>
        </p:nvSpPr>
        <p:spPr>
          <a:xfrm>
            <a:off x="1081448" y="3744376"/>
            <a:ext cx="659155" cy="461665"/>
          </a:xfrm>
          <a:prstGeom prst="rect">
            <a:avLst/>
          </a:prstGeom>
        </p:spPr>
        <p:txBody>
          <a:bodyPr wrap="none">
            <a:spAutoFit/>
          </a:bodyPr>
          <a:lstStyle/>
          <a:p>
            <a:r>
              <a:rPr lang="en-US" sz="2400" dirty="0"/>
              <a:t>c[1]</a:t>
            </a:r>
          </a:p>
        </p:txBody>
      </p:sp>
      <p:cxnSp>
        <p:nvCxnSpPr>
          <p:cNvPr id="29" name="Straight Arrow Connector 28">
            <a:extLst>
              <a:ext uri="{FF2B5EF4-FFF2-40B4-BE49-F238E27FC236}">
                <a16:creationId xmlns:a16="http://schemas.microsoft.com/office/drawing/2014/main" id="{81A19D94-54ED-8E47-9E9D-BD952956612D}"/>
              </a:ext>
            </a:extLst>
          </p:cNvPr>
          <p:cNvCxnSpPr>
            <a:cxnSpLocks/>
            <a:stCxn id="7" idx="2"/>
          </p:cNvCxnSpPr>
          <p:nvPr/>
        </p:nvCxnSpPr>
        <p:spPr>
          <a:xfrm>
            <a:off x="5007051" y="2109601"/>
            <a:ext cx="0" cy="1490926"/>
          </a:xfrm>
          <a:prstGeom prst="straightConnector1">
            <a:avLst/>
          </a:prstGeom>
          <a:ln w="2540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54C5764-FA5A-D540-B080-965247448B9A}"/>
              </a:ext>
            </a:extLst>
          </p:cNvPr>
          <p:cNvCxnSpPr>
            <a:cxnSpLocks/>
          </p:cNvCxnSpPr>
          <p:nvPr/>
        </p:nvCxnSpPr>
        <p:spPr>
          <a:xfrm>
            <a:off x="5994980" y="3197522"/>
            <a:ext cx="0" cy="853010"/>
          </a:xfrm>
          <a:prstGeom prst="straightConnector1">
            <a:avLst/>
          </a:prstGeom>
          <a:ln w="2540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D41D753F-BCDB-224B-A027-96A8A78D297F}"/>
              </a:ext>
            </a:extLst>
          </p:cNvPr>
          <p:cNvSpPr/>
          <p:nvPr/>
        </p:nvSpPr>
        <p:spPr>
          <a:xfrm>
            <a:off x="7487133" y="883969"/>
            <a:ext cx="4332832" cy="3816429"/>
          </a:xfrm>
          <a:prstGeom prst="rect">
            <a:avLst/>
          </a:prstGeom>
        </p:spPr>
        <p:txBody>
          <a:bodyPr wrap="square">
            <a:spAutoFit/>
          </a:bodyPr>
          <a:lstStyle/>
          <a:p>
            <a:r>
              <a:rPr lang="en-ZA" sz="2200" dirty="0">
                <a:solidFill>
                  <a:schemeClr val="tx1">
                    <a:lumMod val="50000"/>
                    <a:lumOff val="50000"/>
                  </a:schemeClr>
                </a:solidFill>
                <a:latin typeface="Andale Mono" panose="020B0509000000000004" pitchFamily="49" charset="0"/>
                <a:ea typeface="Menlo" panose="020B0609030804020204" pitchFamily="49" charset="0"/>
                <a:cs typeface="Menlo" panose="020B0609030804020204" pitchFamily="49" charset="0"/>
              </a:rPr>
              <a:t>OPENQASM</a:t>
            </a:r>
            <a:r>
              <a:rPr lang="en-ZA" sz="2200" dirty="0">
                <a:latin typeface="Andale Mono" panose="020B0509000000000004" pitchFamily="49" charset="0"/>
                <a:ea typeface="Menlo" panose="020B0609030804020204" pitchFamily="49" charset="0"/>
                <a:cs typeface="Menlo" panose="020B0609030804020204" pitchFamily="49" charset="0"/>
              </a:rPr>
              <a:t> </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3.1</a:t>
            </a:r>
            <a:r>
              <a:rPr lang="en-ZA" sz="2200" dirty="0">
                <a:latin typeface="Andale Mono" panose="020B0509000000000004" pitchFamily="49" charset="0"/>
                <a:ea typeface="Menlo" panose="020B0609030804020204" pitchFamily="49" charset="0"/>
                <a:cs typeface="Menlo" panose="020B0609030804020204" pitchFamily="49" charset="0"/>
              </a:rPr>
              <a:t>; </a:t>
            </a:r>
          </a:p>
          <a:p>
            <a:r>
              <a:rPr lang="en-ZA" sz="2200" dirty="0">
                <a:solidFill>
                  <a:srgbClr val="00B050"/>
                </a:solidFill>
                <a:latin typeface="Andale Mono" panose="020B0509000000000004" pitchFamily="49" charset="0"/>
                <a:ea typeface="Menlo" panose="020B0609030804020204" pitchFamily="49" charset="0"/>
                <a:cs typeface="Menlo" panose="020B0609030804020204" pitchFamily="49" charset="0"/>
              </a:rPr>
              <a:t>include</a:t>
            </a:r>
            <a:r>
              <a:rPr lang="en-ZA" sz="2200" dirty="0">
                <a:latin typeface="Andale Mono" panose="020B0509000000000004" pitchFamily="49" charset="0"/>
                <a:ea typeface="Menlo" panose="020B0609030804020204" pitchFamily="49" charset="0"/>
                <a:cs typeface="Menlo" panose="020B0609030804020204" pitchFamily="49" charset="0"/>
              </a:rPr>
              <a:t> </a:t>
            </a:r>
            <a:r>
              <a:rPr lang="en-ZA" sz="2200" dirty="0">
                <a:solidFill>
                  <a:srgbClr val="C00000"/>
                </a:solidFill>
                <a:latin typeface="Andale Mono" panose="020B0509000000000004" pitchFamily="49" charset="0"/>
                <a:ea typeface="Menlo" panose="020B0609030804020204" pitchFamily="49" charset="0"/>
                <a:cs typeface="Menlo" panose="020B0609030804020204" pitchFamily="49" charset="0"/>
              </a:rPr>
              <a:t>"</a:t>
            </a:r>
            <a:r>
              <a:rPr lang="en-ZA" sz="2200" dirty="0" err="1">
                <a:solidFill>
                  <a:srgbClr val="C00000"/>
                </a:solidFill>
                <a:latin typeface="Andale Mono" panose="020B0509000000000004" pitchFamily="49" charset="0"/>
                <a:ea typeface="Menlo" panose="020B0609030804020204" pitchFamily="49" charset="0"/>
                <a:cs typeface="Menlo" panose="020B0609030804020204" pitchFamily="49" charset="0"/>
              </a:rPr>
              <a:t>stdgates.inc</a:t>
            </a:r>
            <a:r>
              <a:rPr lang="en-ZA" sz="2200" dirty="0">
                <a:solidFill>
                  <a:srgbClr val="C00000"/>
                </a:solidFill>
                <a:latin typeface="Andale Mono" panose="020B0509000000000004" pitchFamily="49" charset="0"/>
                <a:ea typeface="Menlo" panose="020B0609030804020204" pitchFamily="49" charset="0"/>
                <a:cs typeface="Menlo" panose="020B0609030804020204" pitchFamily="49" charset="0"/>
              </a:rPr>
              <a:t>";</a:t>
            </a:r>
            <a:r>
              <a:rPr lang="en-ZA" sz="2200" dirty="0">
                <a:latin typeface="Andale Mono" panose="020B0509000000000004" pitchFamily="49" charset="0"/>
                <a:ea typeface="Menlo" panose="020B0609030804020204" pitchFamily="49" charset="0"/>
                <a:cs typeface="Menlo" panose="020B0609030804020204" pitchFamily="49" charset="0"/>
              </a:rPr>
              <a:t> </a:t>
            </a:r>
          </a:p>
          <a:p>
            <a:endParaRPr lang="en-ZA" sz="2200" dirty="0">
              <a:latin typeface="Andale Mono" panose="020B0509000000000004" pitchFamily="49" charset="0"/>
              <a:ea typeface="Menlo" panose="020B0609030804020204" pitchFamily="49" charset="0"/>
              <a:cs typeface="Menlo" panose="020B0609030804020204" pitchFamily="49" charset="0"/>
            </a:endParaRPr>
          </a:p>
          <a:p>
            <a:r>
              <a:rPr lang="en-ZA" sz="2200" dirty="0">
                <a:solidFill>
                  <a:srgbClr val="00B050"/>
                </a:solidFill>
                <a:latin typeface="Andale Mono" panose="020B0509000000000004" pitchFamily="49" charset="0"/>
                <a:ea typeface="Menlo" panose="020B0609030804020204" pitchFamily="49" charset="0"/>
                <a:cs typeface="Menlo" panose="020B0609030804020204" pitchFamily="49" charset="0"/>
              </a:rPr>
              <a:t>qubit</a:t>
            </a:r>
            <a:r>
              <a:rPr lang="en-ZA" sz="2200" dirty="0">
                <a:latin typeface="Andale Mono" panose="020B0509000000000004" pitchFamily="49" charset="0"/>
                <a:ea typeface="Menlo" panose="020B0609030804020204" pitchFamily="49" charset="0"/>
                <a:cs typeface="Menlo" panose="020B0609030804020204" pitchFamily="49" charset="0"/>
              </a:rPr>
              <a:t>[</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2</a:t>
            </a:r>
            <a:r>
              <a:rPr lang="en-ZA" sz="2200" dirty="0">
                <a:latin typeface="Andale Mono" panose="020B0509000000000004" pitchFamily="49" charset="0"/>
                <a:ea typeface="Menlo" panose="020B0609030804020204" pitchFamily="49" charset="0"/>
                <a:cs typeface="Menlo" panose="020B0609030804020204" pitchFamily="49" charset="0"/>
              </a:rPr>
              <a:t>] q; </a:t>
            </a:r>
          </a:p>
          <a:p>
            <a:r>
              <a:rPr lang="en-ZA" sz="2200" dirty="0">
                <a:solidFill>
                  <a:srgbClr val="00B050"/>
                </a:solidFill>
                <a:latin typeface="Andale Mono" panose="020B0509000000000004" pitchFamily="49" charset="0"/>
                <a:ea typeface="Menlo" panose="020B0609030804020204" pitchFamily="49" charset="0"/>
                <a:cs typeface="Menlo" panose="020B0609030804020204" pitchFamily="49" charset="0"/>
              </a:rPr>
              <a:t>bit</a:t>
            </a:r>
            <a:r>
              <a:rPr lang="en-ZA" sz="2200" dirty="0">
                <a:latin typeface="Andale Mono" panose="020B0509000000000004" pitchFamily="49" charset="0"/>
                <a:ea typeface="Menlo" panose="020B0609030804020204" pitchFamily="49" charset="0"/>
                <a:cs typeface="Menlo" panose="020B0609030804020204" pitchFamily="49" charset="0"/>
              </a:rPr>
              <a:t>[</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2</a:t>
            </a:r>
            <a:r>
              <a:rPr lang="en-ZA" sz="2200" dirty="0">
                <a:latin typeface="Andale Mono" panose="020B0509000000000004" pitchFamily="49" charset="0"/>
                <a:ea typeface="Menlo" panose="020B0609030804020204" pitchFamily="49" charset="0"/>
                <a:cs typeface="Menlo" panose="020B0609030804020204" pitchFamily="49" charset="0"/>
              </a:rPr>
              <a:t>] c; </a:t>
            </a:r>
          </a:p>
          <a:p>
            <a:endParaRPr lang="en-ZA" sz="2200" dirty="0">
              <a:latin typeface="Andale Mono" panose="020B0509000000000004" pitchFamily="49" charset="0"/>
              <a:ea typeface="Menlo" panose="020B0609030804020204" pitchFamily="49" charset="0"/>
              <a:cs typeface="Menlo" panose="020B0609030804020204" pitchFamily="49" charset="0"/>
            </a:endParaRPr>
          </a:p>
          <a:p>
            <a:r>
              <a:rPr lang="en-ZA" sz="2200" dirty="0">
                <a:latin typeface="Andale Mono" panose="020B0509000000000004" pitchFamily="49" charset="0"/>
                <a:ea typeface="Menlo" panose="020B0609030804020204" pitchFamily="49" charset="0"/>
                <a:cs typeface="Menlo" panose="020B0609030804020204" pitchFamily="49" charset="0"/>
              </a:rPr>
              <a:t>h q[</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0</a:t>
            </a:r>
            <a:r>
              <a:rPr lang="en-ZA" sz="2200" dirty="0">
                <a:latin typeface="Andale Mono" panose="020B0509000000000004" pitchFamily="49" charset="0"/>
                <a:ea typeface="Menlo" panose="020B0609030804020204" pitchFamily="49" charset="0"/>
                <a:cs typeface="Menlo" panose="020B0609030804020204" pitchFamily="49" charset="0"/>
              </a:rPr>
              <a:t>]; </a:t>
            </a:r>
          </a:p>
          <a:p>
            <a:r>
              <a:rPr lang="en-ZA" sz="2200" dirty="0">
                <a:latin typeface="Andale Mono" panose="020B0509000000000004" pitchFamily="49" charset="0"/>
                <a:ea typeface="Menlo" panose="020B0609030804020204" pitchFamily="49" charset="0"/>
                <a:cs typeface="Menlo" panose="020B0609030804020204" pitchFamily="49" charset="0"/>
              </a:rPr>
              <a:t>h q[</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1</a:t>
            </a:r>
            <a:r>
              <a:rPr lang="en-ZA" sz="2200" dirty="0">
                <a:latin typeface="Andale Mono" panose="020B0509000000000004" pitchFamily="49" charset="0"/>
                <a:ea typeface="Menlo" panose="020B0609030804020204" pitchFamily="49" charset="0"/>
                <a:cs typeface="Menlo" panose="020B0609030804020204" pitchFamily="49" charset="0"/>
              </a:rPr>
              <a:t>];</a:t>
            </a:r>
          </a:p>
          <a:p>
            <a:endParaRPr lang="en-ZA" sz="2200" dirty="0">
              <a:latin typeface="Andale Mono" panose="020B0509000000000004" pitchFamily="49" charset="0"/>
              <a:ea typeface="Menlo" panose="020B0609030804020204" pitchFamily="49" charset="0"/>
              <a:cs typeface="Menlo" panose="020B0609030804020204" pitchFamily="49" charset="0"/>
            </a:endParaRPr>
          </a:p>
          <a:p>
            <a:r>
              <a:rPr lang="en-ZA" sz="2200" dirty="0">
                <a:latin typeface="Andale Mono" panose="020B0509000000000004" pitchFamily="49" charset="0"/>
                <a:ea typeface="Menlo" panose="020B0609030804020204" pitchFamily="49" charset="0"/>
                <a:cs typeface="Menlo" panose="020B0609030804020204" pitchFamily="49" charset="0"/>
              </a:rPr>
              <a:t>c[</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0</a:t>
            </a:r>
            <a:r>
              <a:rPr lang="en-ZA" sz="2200" dirty="0">
                <a:latin typeface="Andale Mono" panose="020B0509000000000004" pitchFamily="49" charset="0"/>
                <a:ea typeface="Menlo" panose="020B0609030804020204" pitchFamily="49" charset="0"/>
                <a:cs typeface="Menlo" panose="020B0609030804020204" pitchFamily="49" charset="0"/>
              </a:rPr>
              <a:t>]=</a:t>
            </a:r>
            <a:r>
              <a:rPr lang="en-ZA" sz="2200" dirty="0">
                <a:solidFill>
                  <a:srgbClr val="00B050"/>
                </a:solidFill>
                <a:latin typeface="Andale Mono" panose="020B0509000000000004" pitchFamily="49" charset="0"/>
                <a:ea typeface="Menlo" panose="020B0609030804020204" pitchFamily="49" charset="0"/>
                <a:cs typeface="Menlo" panose="020B0609030804020204" pitchFamily="49" charset="0"/>
              </a:rPr>
              <a:t>measure</a:t>
            </a:r>
            <a:r>
              <a:rPr lang="en-ZA" sz="2200" dirty="0">
                <a:latin typeface="Andale Mono" panose="020B0509000000000004" pitchFamily="49" charset="0"/>
                <a:ea typeface="Menlo" panose="020B0609030804020204" pitchFamily="49" charset="0"/>
                <a:cs typeface="Menlo" panose="020B0609030804020204" pitchFamily="49" charset="0"/>
              </a:rPr>
              <a:t> q[</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0</a:t>
            </a:r>
            <a:r>
              <a:rPr lang="en-ZA" sz="2200" dirty="0">
                <a:latin typeface="Andale Mono" panose="020B0509000000000004" pitchFamily="49" charset="0"/>
                <a:ea typeface="Menlo" panose="020B0609030804020204" pitchFamily="49" charset="0"/>
                <a:cs typeface="Menlo" panose="020B0609030804020204" pitchFamily="49" charset="0"/>
              </a:rPr>
              <a:t>]; c[</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1</a:t>
            </a:r>
            <a:r>
              <a:rPr lang="en-ZA" sz="2200" dirty="0">
                <a:latin typeface="Andale Mono" panose="020B0509000000000004" pitchFamily="49" charset="0"/>
                <a:ea typeface="Menlo" panose="020B0609030804020204" pitchFamily="49" charset="0"/>
                <a:cs typeface="Menlo" panose="020B0609030804020204" pitchFamily="49" charset="0"/>
              </a:rPr>
              <a:t>]=</a:t>
            </a:r>
            <a:r>
              <a:rPr lang="en-ZA" sz="2200" dirty="0">
                <a:solidFill>
                  <a:srgbClr val="00B050"/>
                </a:solidFill>
                <a:latin typeface="Andale Mono" panose="020B0509000000000004" pitchFamily="49" charset="0"/>
                <a:ea typeface="Menlo" panose="020B0609030804020204" pitchFamily="49" charset="0"/>
                <a:cs typeface="Menlo" panose="020B0609030804020204" pitchFamily="49" charset="0"/>
              </a:rPr>
              <a:t>measure</a:t>
            </a:r>
            <a:r>
              <a:rPr lang="en-ZA" sz="2200" dirty="0">
                <a:latin typeface="Andale Mono" panose="020B0509000000000004" pitchFamily="49" charset="0"/>
                <a:ea typeface="Menlo" panose="020B0609030804020204" pitchFamily="49" charset="0"/>
                <a:cs typeface="Menlo" panose="020B0609030804020204" pitchFamily="49" charset="0"/>
              </a:rPr>
              <a:t> q[</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1</a:t>
            </a:r>
            <a:r>
              <a:rPr lang="en-ZA" sz="2200" dirty="0">
                <a:latin typeface="Andale Mono" panose="020B0509000000000004" pitchFamily="49" charset="0"/>
                <a:ea typeface="Menlo" panose="020B0609030804020204" pitchFamily="49" charset="0"/>
                <a:cs typeface="Menlo" panose="020B0609030804020204" pitchFamily="49" charset="0"/>
              </a:rPr>
              <a:t>];</a:t>
            </a:r>
            <a:endParaRPr lang="en-ZA" sz="2200" b="0" dirty="0">
              <a:solidFill>
                <a:srgbClr val="000000"/>
              </a:solidFill>
              <a:effectLst/>
              <a:latin typeface="Andale Mono" panose="020B0509000000000004" pitchFamily="49" charset="0"/>
              <a:ea typeface="Menlo" panose="020B0609030804020204" pitchFamily="49" charset="0"/>
              <a:cs typeface="Menlo" panose="020B0609030804020204" pitchFamily="49" charset="0"/>
            </a:endParaRPr>
          </a:p>
        </p:txBody>
      </p:sp>
      <p:pic>
        <p:nvPicPr>
          <p:cNvPr id="22" name="Picture 21">
            <a:extLst>
              <a:ext uri="{FF2B5EF4-FFF2-40B4-BE49-F238E27FC236}">
                <a16:creationId xmlns:a16="http://schemas.microsoft.com/office/drawing/2014/main" id="{261F6B64-EDF9-6443-81F2-551A259FB48D}"/>
              </a:ext>
            </a:extLst>
          </p:cNvPr>
          <p:cNvPicPr>
            <a:picLocks noChangeAspect="1"/>
          </p:cNvPicPr>
          <p:nvPr/>
        </p:nvPicPr>
        <p:blipFill>
          <a:blip r:embed="rId3"/>
          <a:stretch>
            <a:fillRect/>
          </a:stretch>
        </p:blipFill>
        <p:spPr>
          <a:xfrm>
            <a:off x="272411" y="4206041"/>
            <a:ext cx="6807200" cy="2387600"/>
          </a:xfrm>
          <a:prstGeom prst="rect">
            <a:avLst/>
          </a:prstGeom>
        </p:spPr>
      </p:pic>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D382DBA-D6EE-C24E-B2C0-CCCFC9FA2669}"/>
                  </a:ext>
                </a:extLst>
              </p:cNvPr>
              <p:cNvSpPr txBox="1"/>
              <p:nvPr/>
            </p:nvSpPr>
            <p:spPr>
              <a:xfrm>
                <a:off x="3408206" y="1145311"/>
                <a:ext cx="880561" cy="5495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400" i="1">
                              <a:latin typeface="Cambria Math" panose="02040503050406030204" pitchFamily="18" charset="0"/>
                            </a:rPr>
                          </m:ctrlPr>
                        </m:fPr>
                        <m:num>
                          <m:d>
                            <m:dPr>
                              <m:begChr m:val="|"/>
                              <m:endChr m:val="⟩"/>
                              <m:ctrlPr>
                                <a:rPr lang="en-ZA" sz="1400" i="1">
                                  <a:latin typeface="Cambria Math" panose="02040503050406030204" pitchFamily="18" charset="0"/>
                                </a:rPr>
                              </m:ctrlPr>
                            </m:dPr>
                            <m:e>
                              <m:r>
                                <a:rPr lang="en-US" sz="1400" i="1">
                                  <a:latin typeface="Cambria Math" panose="02040503050406030204" pitchFamily="18" charset="0"/>
                                </a:rPr>
                                <m:t>0</m:t>
                              </m:r>
                            </m:e>
                          </m:d>
                          <m:r>
                            <a:rPr lang="en-US" sz="1400" i="1">
                              <a:latin typeface="Cambria Math" panose="02040503050406030204" pitchFamily="18" charset="0"/>
                            </a:rPr>
                            <m:t>+</m:t>
                          </m:r>
                          <m:d>
                            <m:dPr>
                              <m:begChr m:val="|"/>
                              <m:endChr m:val="⟩"/>
                              <m:ctrlPr>
                                <a:rPr lang="en-ZA" sz="1400" i="1">
                                  <a:latin typeface="Cambria Math" panose="02040503050406030204" pitchFamily="18" charset="0"/>
                                </a:rPr>
                              </m:ctrlPr>
                            </m:dPr>
                            <m:e>
                              <m:r>
                                <a:rPr lang="en-US" sz="1400" i="1">
                                  <a:latin typeface="Cambria Math" panose="02040503050406030204" pitchFamily="18" charset="0"/>
                                </a:rPr>
                                <m:t>1</m:t>
                              </m:r>
                            </m:e>
                          </m:d>
                        </m:num>
                        <m:den>
                          <m:rad>
                            <m:radPr>
                              <m:degHide m:val="on"/>
                              <m:ctrlPr>
                                <a:rPr lang="en-US" sz="1400" i="1">
                                  <a:latin typeface="Cambria Math" panose="02040503050406030204" pitchFamily="18" charset="0"/>
                                </a:rPr>
                              </m:ctrlPr>
                            </m:radPr>
                            <m:deg/>
                            <m:e>
                              <m:r>
                                <a:rPr lang="en-US" sz="1400" i="1">
                                  <a:latin typeface="Cambria Math" panose="02040503050406030204" pitchFamily="18" charset="0"/>
                                </a:rPr>
                                <m:t>2</m:t>
                              </m:r>
                            </m:e>
                          </m:rad>
                        </m:den>
                      </m:f>
                    </m:oMath>
                  </m:oMathPara>
                </a14:m>
                <a:endParaRPr lang="en-US" sz="1400" dirty="0"/>
              </a:p>
            </p:txBody>
          </p:sp>
        </mc:Choice>
        <mc:Fallback xmlns="">
          <p:sp>
            <p:nvSpPr>
              <p:cNvPr id="28" name="TextBox 27">
                <a:extLst>
                  <a:ext uri="{FF2B5EF4-FFF2-40B4-BE49-F238E27FC236}">
                    <a16:creationId xmlns:a16="http://schemas.microsoft.com/office/drawing/2014/main" id="{ED382DBA-D6EE-C24E-B2C0-CCCFC9FA2669}"/>
                  </a:ext>
                </a:extLst>
              </p:cNvPr>
              <p:cNvSpPr txBox="1">
                <a:spLocks noRot="1" noChangeAspect="1" noMove="1" noResize="1" noEditPoints="1" noAdjustHandles="1" noChangeArrowheads="1" noChangeShapeType="1" noTextEdit="1"/>
              </p:cNvSpPr>
              <p:nvPr/>
            </p:nvSpPr>
            <p:spPr>
              <a:xfrm>
                <a:off x="3408206" y="1145311"/>
                <a:ext cx="880561" cy="54957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F294147-1063-7B47-B8C1-1F5D503F5B97}"/>
                  </a:ext>
                </a:extLst>
              </p:cNvPr>
              <p:cNvSpPr txBox="1"/>
              <p:nvPr/>
            </p:nvSpPr>
            <p:spPr>
              <a:xfrm>
                <a:off x="3410561" y="2183687"/>
                <a:ext cx="880561" cy="5495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400" i="1">
                              <a:latin typeface="Cambria Math" panose="02040503050406030204" pitchFamily="18" charset="0"/>
                            </a:rPr>
                          </m:ctrlPr>
                        </m:fPr>
                        <m:num>
                          <m:d>
                            <m:dPr>
                              <m:begChr m:val="|"/>
                              <m:endChr m:val="⟩"/>
                              <m:ctrlPr>
                                <a:rPr lang="en-ZA" sz="1400" i="1">
                                  <a:latin typeface="Cambria Math" panose="02040503050406030204" pitchFamily="18" charset="0"/>
                                </a:rPr>
                              </m:ctrlPr>
                            </m:dPr>
                            <m:e>
                              <m:r>
                                <a:rPr lang="en-US" sz="1400" i="1">
                                  <a:latin typeface="Cambria Math" panose="02040503050406030204" pitchFamily="18" charset="0"/>
                                </a:rPr>
                                <m:t>0</m:t>
                              </m:r>
                            </m:e>
                          </m:d>
                          <m:r>
                            <a:rPr lang="en-US" sz="1400" i="1">
                              <a:latin typeface="Cambria Math" panose="02040503050406030204" pitchFamily="18" charset="0"/>
                            </a:rPr>
                            <m:t>+</m:t>
                          </m:r>
                          <m:d>
                            <m:dPr>
                              <m:begChr m:val="|"/>
                              <m:endChr m:val="⟩"/>
                              <m:ctrlPr>
                                <a:rPr lang="en-ZA" sz="1400" i="1">
                                  <a:latin typeface="Cambria Math" panose="02040503050406030204" pitchFamily="18" charset="0"/>
                                </a:rPr>
                              </m:ctrlPr>
                            </m:dPr>
                            <m:e>
                              <m:r>
                                <a:rPr lang="en-US" sz="1400" i="1">
                                  <a:latin typeface="Cambria Math" panose="02040503050406030204" pitchFamily="18" charset="0"/>
                                </a:rPr>
                                <m:t>1</m:t>
                              </m:r>
                            </m:e>
                          </m:d>
                        </m:num>
                        <m:den>
                          <m:rad>
                            <m:radPr>
                              <m:degHide m:val="on"/>
                              <m:ctrlPr>
                                <a:rPr lang="en-US" sz="1400" i="1">
                                  <a:latin typeface="Cambria Math" panose="02040503050406030204" pitchFamily="18" charset="0"/>
                                </a:rPr>
                              </m:ctrlPr>
                            </m:radPr>
                            <m:deg/>
                            <m:e>
                              <m:r>
                                <a:rPr lang="en-US" sz="1400" i="1">
                                  <a:latin typeface="Cambria Math" panose="02040503050406030204" pitchFamily="18" charset="0"/>
                                </a:rPr>
                                <m:t>2</m:t>
                              </m:r>
                            </m:e>
                          </m:rad>
                        </m:den>
                      </m:f>
                    </m:oMath>
                  </m:oMathPara>
                </a14:m>
                <a:endParaRPr lang="en-US" sz="1400" dirty="0"/>
              </a:p>
            </p:txBody>
          </p:sp>
        </mc:Choice>
        <mc:Fallback xmlns="">
          <p:sp>
            <p:nvSpPr>
              <p:cNvPr id="37" name="TextBox 36">
                <a:extLst>
                  <a:ext uri="{FF2B5EF4-FFF2-40B4-BE49-F238E27FC236}">
                    <a16:creationId xmlns:a16="http://schemas.microsoft.com/office/drawing/2014/main" id="{4F294147-1063-7B47-B8C1-1F5D503F5B97}"/>
                  </a:ext>
                </a:extLst>
              </p:cNvPr>
              <p:cNvSpPr txBox="1">
                <a:spLocks noRot="1" noChangeAspect="1" noMove="1" noResize="1" noEditPoints="1" noAdjustHandles="1" noChangeArrowheads="1" noChangeShapeType="1" noTextEdit="1"/>
              </p:cNvSpPr>
              <p:nvPr/>
            </p:nvSpPr>
            <p:spPr>
              <a:xfrm>
                <a:off x="3410561" y="2183687"/>
                <a:ext cx="880561" cy="549574"/>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68121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39A7E9-AD36-654E-B5BA-999244EF3005}"/>
              </a:ext>
            </a:extLst>
          </p:cNvPr>
          <p:cNvSpPr>
            <a:spLocks noGrp="1"/>
          </p:cNvSpPr>
          <p:nvPr>
            <p:ph type="title"/>
          </p:nvPr>
        </p:nvSpPr>
        <p:spPr/>
        <p:txBody>
          <a:bodyPr/>
          <a:lstStyle/>
          <a:p>
            <a:r>
              <a:rPr lang="en-US" dirty="0"/>
              <a:t>Quantum Information software kit / </a:t>
            </a:r>
            <a:r>
              <a:rPr lang="en-US" dirty="0" err="1"/>
              <a:t>Qiskit</a:t>
            </a:r>
            <a:r>
              <a:rPr lang="en-US" dirty="0"/>
              <a:t> SDK</a:t>
            </a:r>
          </a:p>
        </p:txBody>
      </p:sp>
      <p:sp>
        <p:nvSpPr>
          <p:cNvPr id="3" name="Slide Number Placeholder 2">
            <a:extLst>
              <a:ext uri="{FF2B5EF4-FFF2-40B4-BE49-F238E27FC236}">
                <a16:creationId xmlns:a16="http://schemas.microsoft.com/office/drawing/2014/main" id="{92872C82-AA6D-794B-AF86-24F104F397BC}"/>
              </a:ext>
            </a:extLst>
          </p:cNvPr>
          <p:cNvSpPr>
            <a:spLocks noGrp="1"/>
          </p:cNvSpPr>
          <p:nvPr>
            <p:ph type="sldNum" sz="quarter" idx="12"/>
          </p:nvPr>
        </p:nvSpPr>
        <p:spPr/>
        <p:txBody>
          <a:bodyPr/>
          <a:lstStyle/>
          <a:p>
            <a:fld id="{591A223C-FA10-BC46-A853-03BA373D023C}" type="slidenum">
              <a:rPr lang="en-US" smtClean="0"/>
              <a:t>54</a:t>
            </a:fld>
            <a:endParaRPr lang="en-US"/>
          </a:p>
        </p:txBody>
      </p:sp>
      <p:pic>
        <p:nvPicPr>
          <p:cNvPr id="5" name="Picture 4">
            <a:extLst>
              <a:ext uri="{FF2B5EF4-FFF2-40B4-BE49-F238E27FC236}">
                <a16:creationId xmlns:a16="http://schemas.microsoft.com/office/drawing/2014/main" id="{759D8BAD-0D13-0C41-B4ED-EF931648D546}"/>
              </a:ext>
            </a:extLst>
          </p:cNvPr>
          <p:cNvPicPr>
            <a:picLocks noChangeAspect="1"/>
          </p:cNvPicPr>
          <p:nvPr/>
        </p:nvPicPr>
        <p:blipFill>
          <a:blip r:embed="rId3"/>
          <a:stretch>
            <a:fillRect/>
          </a:stretch>
        </p:blipFill>
        <p:spPr>
          <a:xfrm>
            <a:off x="5934635" y="1201270"/>
            <a:ext cx="4885765" cy="4916301"/>
          </a:xfrm>
          <a:prstGeom prst="rect">
            <a:avLst/>
          </a:prstGeom>
        </p:spPr>
      </p:pic>
      <p:pic>
        <p:nvPicPr>
          <p:cNvPr id="2" name="Picture 1">
            <a:extLst>
              <a:ext uri="{FF2B5EF4-FFF2-40B4-BE49-F238E27FC236}">
                <a16:creationId xmlns:a16="http://schemas.microsoft.com/office/drawing/2014/main" id="{E7F5CF5D-362F-9347-AC4D-11D9D6520278}"/>
              </a:ext>
            </a:extLst>
          </p:cNvPr>
          <p:cNvPicPr>
            <a:picLocks noChangeAspect="1"/>
          </p:cNvPicPr>
          <p:nvPr/>
        </p:nvPicPr>
        <p:blipFill>
          <a:blip r:embed="rId4"/>
          <a:stretch>
            <a:fillRect/>
          </a:stretch>
        </p:blipFill>
        <p:spPr>
          <a:xfrm>
            <a:off x="720912" y="2410759"/>
            <a:ext cx="4546600" cy="1498600"/>
          </a:xfrm>
          <a:prstGeom prst="rect">
            <a:avLst/>
          </a:prstGeom>
        </p:spPr>
      </p:pic>
    </p:spTree>
    <p:extLst>
      <p:ext uri="{BB962C8B-B14F-4D97-AF65-F5344CB8AC3E}">
        <p14:creationId xmlns:p14="http://schemas.microsoft.com/office/powerpoint/2010/main" val="19571848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D68F5E11-759F-B043-816D-77AACEC95394}"/>
              </a:ext>
            </a:extLst>
          </p:cNvPr>
          <p:cNvSpPr/>
          <p:nvPr/>
        </p:nvSpPr>
        <p:spPr>
          <a:xfrm>
            <a:off x="5672213" y="915024"/>
            <a:ext cx="6320929" cy="5012432"/>
          </a:xfrm>
          <a:prstGeom prst="roundRect">
            <a:avLst>
              <a:gd name="adj" fmla="val 607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0ED6225-9E67-5E44-838A-9A3DD6EE7E63}"/>
              </a:ext>
            </a:extLst>
          </p:cNvPr>
          <p:cNvSpPr/>
          <p:nvPr/>
        </p:nvSpPr>
        <p:spPr>
          <a:xfrm>
            <a:off x="186120" y="933708"/>
            <a:ext cx="5250759" cy="5012432"/>
          </a:xfrm>
          <a:prstGeom prst="roundRect">
            <a:avLst>
              <a:gd name="adj" fmla="val 607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96ED9235-4CA2-7943-AD67-850BB847842E}"/>
              </a:ext>
            </a:extLst>
          </p:cNvPr>
          <p:cNvSpPr>
            <a:spLocks noGrp="1"/>
          </p:cNvSpPr>
          <p:nvPr>
            <p:ph type="sldNum" sz="quarter" idx="12"/>
          </p:nvPr>
        </p:nvSpPr>
        <p:spPr/>
        <p:txBody>
          <a:bodyPr/>
          <a:lstStyle/>
          <a:p>
            <a:fld id="{591A223C-FA10-BC46-A853-03BA373D023C}" type="slidenum">
              <a:rPr lang="en-US" smtClean="0"/>
              <a:t>55</a:t>
            </a:fld>
            <a:endParaRPr lang="en-US"/>
          </a:p>
        </p:txBody>
      </p:sp>
      <p:sp>
        <p:nvSpPr>
          <p:cNvPr id="3" name="Title 2">
            <a:extLst>
              <a:ext uri="{FF2B5EF4-FFF2-40B4-BE49-F238E27FC236}">
                <a16:creationId xmlns:a16="http://schemas.microsoft.com/office/drawing/2014/main" id="{C891C7B5-176E-0A45-8479-74E5B64872AB}"/>
              </a:ext>
            </a:extLst>
          </p:cNvPr>
          <p:cNvSpPr>
            <a:spLocks noGrp="1"/>
          </p:cNvSpPr>
          <p:nvPr>
            <p:ph type="title"/>
          </p:nvPr>
        </p:nvSpPr>
        <p:spPr/>
        <p:txBody>
          <a:bodyPr/>
          <a:lstStyle/>
          <a:p>
            <a:r>
              <a:rPr lang="en-US" dirty="0"/>
              <a:t>Quantum Information Science Kit</a:t>
            </a:r>
          </a:p>
        </p:txBody>
      </p:sp>
      <p:pic>
        <p:nvPicPr>
          <p:cNvPr id="4" name="Picture 3">
            <a:extLst>
              <a:ext uri="{FF2B5EF4-FFF2-40B4-BE49-F238E27FC236}">
                <a16:creationId xmlns:a16="http://schemas.microsoft.com/office/drawing/2014/main" id="{F02C07E9-EA82-8C48-A4FE-AD77B1C88954}"/>
              </a:ext>
            </a:extLst>
          </p:cNvPr>
          <p:cNvPicPr>
            <a:picLocks noChangeAspect="1"/>
          </p:cNvPicPr>
          <p:nvPr/>
        </p:nvPicPr>
        <p:blipFill>
          <a:blip r:embed="rId3"/>
          <a:stretch>
            <a:fillRect/>
          </a:stretch>
        </p:blipFill>
        <p:spPr>
          <a:xfrm>
            <a:off x="9586822" y="308220"/>
            <a:ext cx="1949128" cy="606804"/>
          </a:xfrm>
          <a:prstGeom prst="rect">
            <a:avLst/>
          </a:prstGeom>
        </p:spPr>
      </p:pic>
      <p:sp>
        <p:nvSpPr>
          <p:cNvPr id="5" name="Rectangle 4">
            <a:extLst>
              <a:ext uri="{FF2B5EF4-FFF2-40B4-BE49-F238E27FC236}">
                <a16:creationId xmlns:a16="http://schemas.microsoft.com/office/drawing/2014/main" id="{16A9F97D-7230-244A-B7B8-D66CAD31E922}"/>
              </a:ext>
            </a:extLst>
          </p:cNvPr>
          <p:cNvSpPr/>
          <p:nvPr/>
        </p:nvSpPr>
        <p:spPr>
          <a:xfrm>
            <a:off x="5826585" y="1597664"/>
            <a:ext cx="6166555" cy="4062651"/>
          </a:xfrm>
          <a:prstGeom prst="rect">
            <a:avLst/>
          </a:prstGeom>
          <a:noFill/>
        </p:spPr>
        <p:txBody>
          <a:bodyPr wrap="square">
            <a:spAutoFit/>
          </a:bodyPr>
          <a:lstStyle/>
          <a:p>
            <a:r>
              <a:rPr lang="en-ZA" sz="2100" dirty="0">
                <a:solidFill>
                  <a:srgbClr val="00B050"/>
                </a:solidFill>
                <a:latin typeface="Andale Mono" panose="020B0509000000000004" pitchFamily="49" charset="0"/>
              </a:rPr>
              <a:t>from</a:t>
            </a:r>
            <a:r>
              <a:rPr lang="en-ZA" sz="2100" dirty="0">
                <a:latin typeface="Andale Mono" panose="020B0509000000000004" pitchFamily="49" charset="0"/>
              </a:rPr>
              <a:t> </a:t>
            </a:r>
            <a:r>
              <a:rPr lang="en-ZA" sz="2100" dirty="0" err="1">
                <a:latin typeface="Andale Mono" panose="020B0509000000000004" pitchFamily="49" charset="0"/>
              </a:rPr>
              <a:t>qiskit</a:t>
            </a:r>
            <a:r>
              <a:rPr lang="en-ZA" sz="2100" dirty="0">
                <a:latin typeface="Andale Mono" panose="020B0509000000000004" pitchFamily="49" charset="0"/>
              </a:rPr>
              <a:t> </a:t>
            </a:r>
            <a:r>
              <a:rPr lang="en-ZA" sz="2100" dirty="0">
                <a:solidFill>
                  <a:srgbClr val="00B050"/>
                </a:solidFill>
                <a:latin typeface="Andale Mono" panose="020B0509000000000004" pitchFamily="49" charset="0"/>
              </a:rPr>
              <a:t>import</a:t>
            </a:r>
            <a:r>
              <a:rPr lang="en-ZA" sz="2100" dirty="0">
                <a:latin typeface="Andale Mono" panose="020B0509000000000004" pitchFamily="49" charset="0"/>
              </a:rPr>
              <a:t> </a:t>
            </a:r>
            <a:r>
              <a:rPr lang="en-ZA" sz="2100" dirty="0" err="1">
                <a:latin typeface="Andale Mono" panose="020B0509000000000004" pitchFamily="49" charset="0"/>
              </a:rPr>
              <a:t>QuantumRegister</a:t>
            </a:r>
            <a:r>
              <a:rPr lang="en-ZA" sz="2100" dirty="0">
                <a:latin typeface="Andale Mono" panose="020B0509000000000004" pitchFamily="49" charset="0"/>
              </a:rPr>
              <a:t>, </a:t>
            </a:r>
            <a:r>
              <a:rPr lang="en-ZA" sz="2100" dirty="0" err="1">
                <a:latin typeface="Andale Mono" panose="020B0509000000000004" pitchFamily="49" charset="0"/>
              </a:rPr>
              <a:t>ClassicalRegister</a:t>
            </a:r>
            <a:r>
              <a:rPr lang="en-ZA" sz="2100" dirty="0">
                <a:latin typeface="Andale Mono" panose="020B0509000000000004" pitchFamily="49" charset="0"/>
              </a:rPr>
              <a:t>, </a:t>
            </a:r>
            <a:r>
              <a:rPr lang="en-ZA" sz="2100" dirty="0" err="1">
                <a:latin typeface="Andale Mono" panose="020B0509000000000004" pitchFamily="49" charset="0"/>
              </a:rPr>
              <a:t>QuantumCircuit</a:t>
            </a:r>
            <a:endParaRPr lang="en-ZA" sz="2100" dirty="0">
              <a:latin typeface="Andale Mono" panose="020B0509000000000004" pitchFamily="49" charset="0"/>
            </a:endParaRPr>
          </a:p>
          <a:p>
            <a:br>
              <a:rPr lang="en-ZA" sz="2100" dirty="0">
                <a:latin typeface="Andale Mono" panose="020B0509000000000004" pitchFamily="49" charset="0"/>
              </a:rPr>
            </a:br>
            <a:r>
              <a:rPr lang="en-ZA" sz="2100" dirty="0" err="1">
                <a:latin typeface="Andale Mono" panose="020B0509000000000004" pitchFamily="49" charset="0"/>
              </a:rPr>
              <a:t>qreg</a:t>
            </a:r>
            <a:r>
              <a:rPr lang="en-ZA" sz="2100" dirty="0">
                <a:latin typeface="Andale Mono" panose="020B0509000000000004" pitchFamily="49" charset="0"/>
              </a:rPr>
              <a:t> = </a:t>
            </a:r>
            <a:r>
              <a:rPr lang="en-ZA" sz="2100" dirty="0" err="1">
                <a:latin typeface="Andale Mono" panose="020B0509000000000004" pitchFamily="49" charset="0"/>
              </a:rPr>
              <a:t>QuantumRegister</a:t>
            </a:r>
            <a:r>
              <a:rPr lang="en-ZA" sz="2100" dirty="0">
                <a:latin typeface="Andale Mono" panose="020B0509000000000004" pitchFamily="49" charset="0"/>
              </a:rPr>
              <a:t>(2)</a:t>
            </a:r>
          </a:p>
          <a:p>
            <a:r>
              <a:rPr lang="en-ZA" sz="2100" dirty="0" err="1">
                <a:latin typeface="Andale Mono" panose="020B0509000000000004" pitchFamily="49" charset="0"/>
              </a:rPr>
              <a:t>creg</a:t>
            </a:r>
            <a:r>
              <a:rPr lang="en-ZA" sz="2100" dirty="0">
                <a:latin typeface="Andale Mono" panose="020B0509000000000004" pitchFamily="49" charset="0"/>
              </a:rPr>
              <a:t> = </a:t>
            </a:r>
            <a:r>
              <a:rPr lang="en-ZA" sz="2100" dirty="0" err="1">
                <a:latin typeface="Andale Mono" panose="020B0509000000000004" pitchFamily="49" charset="0"/>
              </a:rPr>
              <a:t>ClassicalRegister</a:t>
            </a:r>
            <a:r>
              <a:rPr lang="en-ZA" sz="2100" dirty="0">
                <a:latin typeface="Andale Mono" panose="020B0509000000000004" pitchFamily="49" charset="0"/>
              </a:rPr>
              <a:t>(2)</a:t>
            </a:r>
          </a:p>
          <a:p>
            <a:r>
              <a:rPr lang="en-ZA" sz="2100" dirty="0">
                <a:latin typeface="Andale Mono" panose="020B0509000000000004" pitchFamily="49" charset="0"/>
              </a:rPr>
              <a:t>qc = </a:t>
            </a:r>
            <a:r>
              <a:rPr lang="en-ZA" sz="2100" dirty="0" err="1">
                <a:latin typeface="Andale Mono" panose="020B0509000000000004" pitchFamily="49" charset="0"/>
              </a:rPr>
              <a:t>QuantumCircuit</a:t>
            </a:r>
            <a:r>
              <a:rPr lang="en-ZA" sz="2100" dirty="0">
                <a:latin typeface="Andale Mono" panose="020B0509000000000004" pitchFamily="49" charset="0"/>
              </a:rPr>
              <a:t>(</a:t>
            </a:r>
            <a:r>
              <a:rPr lang="en-ZA" sz="2100" dirty="0" err="1">
                <a:latin typeface="Andale Mono" panose="020B0509000000000004" pitchFamily="49" charset="0"/>
              </a:rPr>
              <a:t>qreg</a:t>
            </a:r>
            <a:r>
              <a:rPr lang="en-ZA" sz="2100" dirty="0">
                <a:latin typeface="Andale Mono" panose="020B0509000000000004" pitchFamily="49" charset="0"/>
              </a:rPr>
              <a:t>, </a:t>
            </a:r>
            <a:r>
              <a:rPr lang="en-ZA" sz="2100" dirty="0" err="1">
                <a:latin typeface="Andale Mono" panose="020B0509000000000004" pitchFamily="49" charset="0"/>
              </a:rPr>
              <a:t>creg</a:t>
            </a:r>
            <a:r>
              <a:rPr lang="en-ZA" sz="2100" dirty="0">
                <a:latin typeface="Andale Mono" panose="020B0509000000000004" pitchFamily="49" charset="0"/>
              </a:rPr>
              <a:t>)</a:t>
            </a:r>
          </a:p>
          <a:p>
            <a:br>
              <a:rPr lang="en-ZA" sz="2100" dirty="0">
                <a:latin typeface="Andale Mono" panose="020B0509000000000004" pitchFamily="49" charset="0"/>
              </a:rPr>
            </a:br>
            <a:r>
              <a:rPr lang="en-ZA" sz="2100" dirty="0" err="1">
                <a:latin typeface="Andale Mono" panose="020B0509000000000004" pitchFamily="49" charset="0"/>
              </a:rPr>
              <a:t>qc.h</a:t>
            </a:r>
            <a:r>
              <a:rPr lang="en-ZA" sz="2100" dirty="0">
                <a:latin typeface="Andale Mono" panose="020B0509000000000004" pitchFamily="49" charset="0"/>
              </a:rPr>
              <a:t>(</a:t>
            </a:r>
            <a:r>
              <a:rPr lang="en-ZA" sz="2100" dirty="0" err="1">
                <a:latin typeface="Andale Mono" panose="020B0509000000000004" pitchFamily="49" charset="0"/>
              </a:rPr>
              <a:t>qreg</a:t>
            </a:r>
            <a:r>
              <a:rPr lang="en-ZA" sz="2100" dirty="0">
                <a:latin typeface="Andale Mono" panose="020B0509000000000004" pitchFamily="49" charset="0"/>
              </a:rPr>
              <a:t>[</a:t>
            </a:r>
            <a:r>
              <a:rPr lang="en-ZA" sz="2100" dirty="0">
                <a:solidFill>
                  <a:srgbClr val="0000FF"/>
                </a:solidFill>
                <a:latin typeface="Andale Mono" panose="020B0509000000000004" pitchFamily="49" charset="0"/>
              </a:rPr>
              <a:t>0</a:t>
            </a:r>
            <a:r>
              <a:rPr lang="en-ZA" sz="2100" dirty="0">
                <a:latin typeface="Andale Mono" panose="020B0509000000000004" pitchFamily="49" charset="0"/>
              </a:rPr>
              <a:t>])</a:t>
            </a:r>
          </a:p>
          <a:p>
            <a:r>
              <a:rPr lang="en-ZA" sz="2100" dirty="0" err="1">
                <a:latin typeface="Andale Mono" panose="020B0509000000000004" pitchFamily="49" charset="0"/>
              </a:rPr>
              <a:t>qc.h</a:t>
            </a:r>
            <a:r>
              <a:rPr lang="en-ZA" sz="2100" dirty="0">
                <a:latin typeface="Andale Mono" panose="020B0509000000000004" pitchFamily="49" charset="0"/>
              </a:rPr>
              <a:t>(</a:t>
            </a:r>
            <a:r>
              <a:rPr lang="en-ZA" sz="2100" dirty="0" err="1">
                <a:latin typeface="Andale Mono" panose="020B0509000000000004" pitchFamily="49" charset="0"/>
              </a:rPr>
              <a:t>qreg</a:t>
            </a:r>
            <a:r>
              <a:rPr lang="en-ZA" sz="2100" dirty="0">
                <a:latin typeface="Andale Mono" panose="020B0509000000000004" pitchFamily="49" charset="0"/>
              </a:rPr>
              <a:t>[</a:t>
            </a:r>
            <a:r>
              <a:rPr lang="en-ZA" sz="2100" dirty="0">
                <a:solidFill>
                  <a:srgbClr val="0000FF"/>
                </a:solidFill>
                <a:latin typeface="Andale Mono" panose="020B0509000000000004" pitchFamily="49" charset="0"/>
              </a:rPr>
              <a:t>1</a:t>
            </a:r>
            <a:r>
              <a:rPr lang="en-ZA" sz="2100" dirty="0">
                <a:latin typeface="Andale Mono" panose="020B0509000000000004" pitchFamily="49" charset="0"/>
              </a:rPr>
              <a:t>])</a:t>
            </a:r>
          </a:p>
          <a:p>
            <a:endParaRPr lang="en-ZA" sz="2100" dirty="0">
              <a:latin typeface="Andale Mono" panose="020B0509000000000004" pitchFamily="49" charset="0"/>
            </a:endParaRPr>
          </a:p>
          <a:p>
            <a:r>
              <a:rPr lang="en-ZA" sz="2100" dirty="0" err="1">
                <a:latin typeface="Andale Mono" panose="020B0509000000000004" pitchFamily="49" charset="0"/>
              </a:rPr>
              <a:t>qc.measure</a:t>
            </a:r>
            <a:r>
              <a:rPr lang="en-ZA" sz="2100" dirty="0">
                <a:latin typeface="Andale Mono" panose="020B0509000000000004" pitchFamily="49" charset="0"/>
              </a:rPr>
              <a:t>(</a:t>
            </a:r>
            <a:r>
              <a:rPr lang="en-ZA" sz="2100" dirty="0" err="1">
                <a:latin typeface="Andale Mono" panose="020B0509000000000004" pitchFamily="49" charset="0"/>
              </a:rPr>
              <a:t>qreg</a:t>
            </a:r>
            <a:r>
              <a:rPr lang="en-ZA" sz="2100" dirty="0">
                <a:latin typeface="Andale Mono" panose="020B0509000000000004" pitchFamily="49" charset="0"/>
              </a:rPr>
              <a:t>[</a:t>
            </a:r>
            <a:r>
              <a:rPr lang="en-ZA" sz="2100" dirty="0">
                <a:solidFill>
                  <a:srgbClr val="0000FF"/>
                </a:solidFill>
                <a:latin typeface="Andale Mono" panose="020B0509000000000004" pitchFamily="49" charset="0"/>
              </a:rPr>
              <a:t>0</a:t>
            </a:r>
            <a:r>
              <a:rPr lang="en-ZA" sz="2100" dirty="0">
                <a:latin typeface="Andale Mono" panose="020B0509000000000004" pitchFamily="49" charset="0"/>
              </a:rPr>
              <a:t>], </a:t>
            </a:r>
            <a:r>
              <a:rPr lang="en-ZA" sz="2100" dirty="0" err="1">
                <a:latin typeface="Andale Mono" panose="020B0509000000000004" pitchFamily="49" charset="0"/>
              </a:rPr>
              <a:t>creg</a:t>
            </a:r>
            <a:r>
              <a:rPr lang="en-ZA" sz="2100" dirty="0">
                <a:latin typeface="Andale Mono" panose="020B0509000000000004" pitchFamily="49" charset="0"/>
              </a:rPr>
              <a:t>[</a:t>
            </a:r>
            <a:r>
              <a:rPr lang="en-ZA" sz="2100" dirty="0">
                <a:solidFill>
                  <a:srgbClr val="0000FF"/>
                </a:solidFill>
                <a:latin typeface="Andale Mono" panose="020B0509000000000004" pitchFamily="49" charset="0"/>
              </a:rPr>
              <a:t>0</a:t>
            </a:r>
            <a:r>
              <a:rPr lang="en-ZA" sz="2100" dirty="0">
                <a:latin typeface="Andale Mono" panose="020B0509000000000004" pitchFamily="49" charset="0"/>
              </a:rPr>
              <a:t>])</a:t>
            </a:r>
          </a:p>
          <a:p>
            <a:r>
              <a:rPr lang="en-ZA" sz="2100" dirty="0" err="1">
                <a:latin typeface="Andale Mono" panose="020B0509000000000004" pitchFamily="49" charset="0"/>
              </a:rPr>
              <a:t>qc.measure</a:t>
            </a:r>
            <a:r>
              <a:rPr lang="en-ZA" sz="2100" dirty="0">
                <a:latin typeface="Andale Mono" panose="020B0509000000000004" pitchFamily="49" charset="0"/>
              </a:rPr>
              <a:t>(</a:t>
            </a:r>
            <a:r>
              <a:rPr lang="en-ZA" sz="2100" dirty="0" err="1">
                <a:latin typeface="Andale Mono" panose="020B0509000000000004" pitchFamily="49" charset="0"/>
              </a:rPr>
              <a:t>qreg</a:t>
            </a:r>
            <a:r>
              <a:rPr lang="en-ZA" sz="2100" dirty="0">
                <a:latin typeface="Andale Mono" panose="020B0509000000000004" pitchFamily="49" charset="0"/>
              </a:rPr>
              <a:t>[</a:t>
            </a:r>
            <a:r>
              <a:rPr lang="en-ZA" sz="2100" dirty="0">
                <a:solidFill>
                  <a:srgbClr val="0000FF"/>
                </a:solidFill>
                <a:latin typeface="Andale Mono" panose="020B0509000000000004" pitchFamily="49" charset="0"/>
              </a:rPr>
              <a:t>1</a:t>
            </a:r>
            <a:r>
              <a:rPr lang="en-ZA" sz="2100" dirty="0">
                <a:latin typeface="Andale Mono" panose="020B0509000000000004" pitchFamily="49" charset="0"/>
              </a:rPr>
              <a:t>], </a:t>
            </a:r>
            <a:r>
              <a:rPr lang="en-ZA" sz="2100" dirty="0" err="1">
                <a:latin typeface="Andale Mono" panose="020B0509000000000004" pitchFamily="49" charset="0"/>
              </a:rPr>
              <a:t>creg</a:t>
            </a:r>
            <a:r>
              <a:rPr lang="en-ZA" sz="2100" dirty="0">
                <a:latin typeface="Andale Mono" panose="020B0509000000000004" pitchFamily="49" charset="0"/>
              </a:rPr>
              <a:t>[</a:t>
            </a:r>
            <a:r>
              <a:rPr lang="en-ZA" sz="2100" dirty="0">
                <a:solidFill>
                  <a:srgbClr val="0000FF"/>
                </a:solidFill>
                <a:latin typeface="Andale Mono" panose="020B0509000000000004" pitchFamily="49" charset="0"/>
              </a:rPr>
              <a:t>1</a:t>
            </a:r>
            <a:r>
              <a:rPr lang="en-ZA" sz="2100" dirty="0">
                <a:latin typeface="Andale Mono" panose="020B0509000000000004" pitchFamily="49" charset="0"/>
              </a:rPr>
              <a:t>])</a:t>
            </a:r>
          </a:p>
        </p:txBody>
      </p:sp>
      <p:sp>
        <p:nvSpPr>
          <p:cNvPr id="6" name="Rectangle 5">
            <a:extLst>
              <a:ext uri="{FF2B5EF4-FFF2-40B4-BE49-F238E27FC236}">
                <a16:creationId xmlns:a16="http://schemas.microsoft.com/office/drawing/2014/main" id="{D75B75EE-B35B-8D48-AAB7-DD0E2831B269}"/>
              </a:ext>
            </a:extLst>
          </p:cNvPr>
          <p:cNvSpPr/>
          <p:nvPr/>
        </p:nvSpPr>
        <p:spPr>
          <a:xfrm>
            <a:off x="407344" y="1597664"/>
            <a:ext cx="5419241" cy="3816429"/>
          </a:xfrm>
          <a:prstGeom prst="rect">
            <a:avLst/>
          </a:prstGeom>
          <a:noFill/>
        </p:spPr>
        <p:txBody>
          <a:bodyPr wrap="square">
            <a:spAutoFit/>
          </a:bodyPr>
          <a:lstStyle/>
          <a:p>
            <a:r>
              <a:rPr lang="en-ZA" sz="2200" dirty="0">
                <a:solidFill>
                  <a:schemeClr val="tx1">
                    <a:lumMod val="50000"/>
                    <a:lumOff val="50000"/>
                  </a:schemeClr>
                </a:solidFill>
                <a:latin typeface="Andale Mono" panose="020B0509000000000004" pitchFamily="49" charset="0"/>
                <a:ea typeface="Menlo" panose="020B0609030804020204" pitchFamily="49" charset="0"/>
                <a:cs typeface="Menlo" panose="020B0609030804020204" pitchFamily="49" charset="0"/>
              </a:rPr>
              <a:t>OPENQASM</a:t>
            </a:r>
            <a:r>
              <a:rPr lang="en-ZA" sz="2200" dirty="0">
                <a:latin typeface="Andale Mono" panose="020B0509000000000004" pitchFamily="49" charset="0"/>
                <a:ea typeface="Menlo" panose="020B0609030804020204" pitchFamily="49" charset="0"/>
                <a:cs typeface="Menlo" panose="020B0609030804020204" pitchFamily="49" charset="0"/>
              </a:rPr>
              <a:t> </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3.0</a:t>
            </a:r>
            <a:r>
              <a:rPr lang="en-ZA" sz="2200" dirty="0">
                <a:latin typeface="Andale Mono" panose="020B0509000000000004" pitchFamily="49" charset="0"/>
                <a:ea typeface="Menlo" panose="020B0609030804020204" pitchFamily="49" charset="0"/>
                <a:cs typeface="Menlo" panose="020B0609030804020204" pitchFamily="49" charset="0"/>
              </a:rPr>
              <a:t>; </a:t>
            </a:r>
          </a:p>
          <a:p>
            <a:r>
              <a:rPr lang="en-ZA" sz="2200" dirty="0">
                <a:solidFill>
                  <a:srgbClr val="00B050"/>
                </a:solidFill>
                <a:latin typeface="Andale Mono" panose="020B0509000000000004" pitchFamily="49" charset="0"/>
                <a:ea typeface="Menlo" panose="020B0609030804020204" pitchFamily="49" charset="0"/>
                <a:cs typeface="Menlo" panose="020B0609030804020204" pitchFamily="49" charset="0"/>
              </a:rPr>
              <a:t>include</a:t>
            </a:r>
            <a:r>
              <a:rPr lang="en-ZA" sz="2200" dirty="0">
                <a:latin typeface="Andale Mono" panose="020B0509000000000004" pitchFamily="49" charset="0"/>
                <a:ea typeface="Menlo" panose="020B0609030804020204" pitchFamily="49" charset="0"/>
                <a:cs typeface="Menlo" panose="020B0609030804020204" pitchFamily="49" charset="0"/>
              </a:rPr>
              <a:t> </a:t>
            </a:r>
            <a:r>
              <a:rPr lang="en-ZA" sz="2200" dirty="0">
                <a:solidFill>
                  <a:srgbClr val="C00000"/>
                </a:solidFill>
                <a:latin typeface="Andale Mono" panose="020B0509000000000004" pitchFamily="49" charset="0"/>
                <a:ea typeface="Menlo" panose="020B0609030804020204" pitchFamily="49" charset="0"/>
                <a:cs typeface="Menlo" panose="020B0609030804020204" pitchFamily="49" charset="0"/>
              </a:rPr>
              <a:t>"</a:t>
            </a:r>
            <a:r>
              <a:rPr lang="en-ZA" sz="2200" dirty="0" err="1">
                <a:solidFill>
                  <a:srgbClr val="C00000"/>
                </a:solidFill>
                <a:latin typeface="Andale Mono" panose="020B0509000000000004" pitchFamily="49" charset="0"/>
                <a:ea typeface="Menlo" panose="020B0609030804020204" pitchFamily="49" charset="0"/>
                <a:cs typeface="Menlo" panose="020B0609030804020204" pitchFamily="49" charset="0"/>
              </a:rPr>
              <a:t>stdgates.inc</a:t>
            </a:r>
            <a:r>
              <a:rPr lang="en-ZA" sz="2200" dirty="0">
                <a:solidFill>
                  <a:srgbClr val="C00000"/>
                </a:solidFill>
                <a:latin typeface="Andale Mono" panose="020B0509000000000004" pitchFamily="49" charset="0"/>
                <a:ea typeface="Menlo" panose="020B0609030804020204" pitchFamily="49" charset="0"/>
                <a:cs typeface="Menlo" panose="020B0609030804020204" pitchFamily="49" charset="0"/>
              </a:rPr>
              <a:t>";</a:t>
            </a:r>
            <a:r>
              <a:rPr lang="en-ZA" sz="2200" dirty="0">
                <a:latin typeface="Andale Mono" panose="020B0509000000000004" pitchFamily="49" charset="0"/>
                <a:ea typeface="Menlo" panose="020B0609030804020204" pitchFamily="49" charset="0"/>
                <a:cs typeface="Menlo" panose="020B0609030804020204" pitchFamily="49" charset="0"/>
              </a:rPr>
              <a:t> </a:t>
            </a:r>
          </a:p>
          <a:p>
            <a:endParaRPr lang="en-ZA" sz="2200" dirty="0">
              <a:latin typeface="Andale Mono" panose="020B0509000000000004" pitchFamily="49" charset="0"/>
              <a:ea typeface="Menlo" panose="020B0609030804020204" pitchFamily="49" charset="0"/>
              <a:cs typeface="Menlo" panose="020B0609030804020204" pitchFamily="49" charset="0"/>
            </a:endParaRPr>
          </a:p>
          <a:p>
            <a:r>
              <a:rPr lang="en-ZA" sz="2200" dirty="0">
                <a:solidFill>
                  <a:srgbClr val="00B050"/>
                </a:solidFill>
                <a:latin typeface="Andale Mono" panose="020B0509000000000004" pitchFamily="49" charset="0"/>
                <a:ea typeface="Menlo" panose="020B0609030804020204" pitchFamily="49" charset="0"/>
                <a:cs typeface="Menlo" panose="020B0609030804020204" pitchFamily="49" charset="0"/>
              </a:rPr>
              <a:t>qubit</a:t>
            </a:r>
            <a:r>
              <a:rPr lang="en-ZA" sz="2200" dirty="0">
                <a:latin typeface="Andale Mono" panose="020B0509000000000004" pitchFamily="49" charset="0"/>
                <a:ea typeface="Menlo" panose="020B0609030804020204" pitchFamily="49" charset="0"/>
                <a:cs typeface="Menlo" panose="020B0609030804020204" pitchFamily="49" charset="0"/>
              </a:rPr>
              <a:t>[</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2</a:t>
            </a:r>
            <a:r>
              <a:rPr lang="en-ZA" sz="2200" dirty="0">
                <a:latin typeface="Andale Mono" panose="020B0509000000000004" pitchFamily="49" charset="0"/>
                <a:ea typeface="Menlo" panose="020B0609030804020204" pitchFamily="49" charset="0"/>
                <a:cs typeface="Menlo" panose="020B0609030804020204" pitchFamily="49" charset="0"/>
              </a:rPr>
              <a:t>] q; </a:t>
            </a:r>
          </a:p>
          <a:p>
            <a:r>
              <a:rPr lang="en-ZA" sz="2200" dirty="0">
                <a:solidFill>
                  <a:srgbClr val="00B050"/>
                </a:solidFill>
                <a:latin typeface="Andale Mono" panose="020B0509000000000004" pitchFamily="49" charset="0"/>
                <a:ea typeface="Menlo" panose="020B0609030804020204" pitchFamily="49" charset="0"/>
                <a:cs typeface="Menlo" panose="020B0609030804020204" pitchFamily="49" charset="0"/>
              </a:rPr>
              <a:t>bit</a:t>
            </a:r>
            <a:r>
              <a:rPr lang="en-ZA" sz="2200" dirty="0">
                <a:latin typeface="Andale Mono" panose="020B0509000000000004" pitchFamily="49" charset="0"/>
                <a:ea typeface="Menlo" panose="020B0609030804020204" pitchFamily="49" charset="0"/>
                <a:cs typeface="Menlo" panose="020B0609030804020204" pitchFamily="49" charset="0"/>
              </a:rPr>
              <a:t>[</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2</a:t>
            </a:r>
            <a:r>
              <a:rPr lang="en-ZA" sz="2200" dirty="0">
                <a:latin typeface="Andale Mono" panose="020B0509000000000004" pitchFamily="49" charset="0"/>
                <a:ea typeface="Menlo" panose="020B0609030804020204" pitchFamily="49" charset="0"/>
                <a:cs typeface="Menlo" panose="020B0609030804020204" pitchFamily="49" charset="0"/>
              </a:rPr>
              <a:t>] c; </a:t>
            </a:r>
          </a:p>
          <a:p>
            <a:endParaRPr lang="en-ZA" sz="2200" dirty="0">
              <a:latin typeface="Andale Mono" panose="020B0509000000000004" pitchFamily="49" charset="0"/>
              <a:ea typeface="Menlo" panose="020B0609030804020204" pitchFamily="49" charset="0"/>
              <a:cs typeface="Menlo" panose="020B0609030804020204" pitchFamily="49" charset="0"/>
            </a:endParaRPr>
          </a:p>
          <a:p>
            <a:r>
              <a:rPr lang="en-ZA" sz="2200" dirty="0">
                <a:latin typeface="Andale Mono" panose="020B0509000000000004" pitchFamily="49" charset="0"/>
                <a:ea typeface="Menlo" panose="020B0609030804020204" pitchFamily="49" charset="0"/>
                <a:cs typeface="Menlo" panose="020B0609030804020204" pitchFamily="49" charset="0"/>
              </a:rPr>
              <a:t>h q[</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0</a:t>
            </a:r>
            <a:r>
              <a:rPr lang="en-ZA" sz="2200" dirty="0">
                <a:latin typeface="Andale Mono" panose="020B0509000000000004" pitchFamily="49" charset="0"/>
                <a:ea typeface="Menlo" panose="020B0609030804020204" pitchFamily="49" charset="0"/>
                <a:cs typeface="Menlo" panose="020B0609030804020204" pitchFamily="49" charset="0"/>
              </a:rPr>
              <a:t>]; </a:t>
            </a:r>
          </a:p>
          <a:p>
            <a:r>
              <a:rPr lang="en-ZA" sz="2200" dirty="0">
                <a:latin typeface="Andale Mono" panose="020B0509000000000004" pitchFamily="49" charset="0"/>
                <a:ea typeface="Menlo" panose="020B0609030804020204" pitchFamily="49" charset="0"/>
                <a:cs typeface="Menlo" panose="020B0609030804020204" pitchFamily="49" charset="0"/>
              </a:rPr>
              <a:t>h q[</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1</a:t>
            </a:r>
            <a:r>
              <a:rPr lang="en-ZA" sz="2200" dirty="0">
                <a:latin typeface="Andale Mono" panose="020B0509000000000004" pitchFamily="49" charset="0"/>
                <a:ea typeface="Menlo" panose="020B0609030804020204" pitchFamily="49" charset="0"/>
                <a:cs typeface="Menlo" panose="020B0609030804020204" pitchFamily="49" charset="0"/>
              </a:rPr>
              <a:t>];</a:t>
            </a:r>
          </a:p>
          <a:p>
            <a:endParaRPr lang="en-ZA" sz="2200" dirty="0">
              <a:latin typeface="Andale Mono" panose="020B0509000000000004" pitchFamily="49" charset="0"/>
              <a:ea typeface="Menlo" panose="020B0609030804020204" pitchFamily="49" charset="0"/>
              <a:cs typeface="Menlo" panose="020B0609030804020204" pitchFamily="49" charset="0"/>
            </a:endParaRPr>
          </a:p>
          <a:p>
            <a:r>
              <a:rPr lang="en-ZA" sz="2200" dirty="0">
                <a:latin typeface="Andale Mono" panose="020B0509000000000004" pitchFamily="49" charset="0"/>
                <a:ea typeface="Menlo" panose="020B0609030804020204" pitchFamily="49" charset="0"/>
                <a:cs typeface="Menlo" panose="020B0609030804020204" pitchFamily="49" charset="0"/>
              </a:rPr>
              <a:t>c[</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0</a:t>
            </a:r>
            <a:r>
              <a:rPr lang="en-ZA" sz="2200" dirty="0">
                <a:latin typeface="Andale Mono" panose="020B0509000000000004" pitchFamily="49" charset="0"/>
                <a:ea typeface="Menlo" panose="020B0609030804020204" pitchFamily="49" charset="0"/>
                <a:cs typeface="Menlo" panose="020B0609030804020204" pitchFamily="49" charset="0"/>
              </a:rPr>
              <a:t>]=</a:t>
            </a:r>
            <a:r>
              <a:rPr lang="en-ZA" sz="2200" dirty="0">
                <a:solidFill>
                  <a:srgbClr val="00B050"/>
                </a:solidFill>
                <a:latin typeface="Andale Mono" panose="020B0509000000000004" pitchFamily="49" charset="0"/>
                <a:ea typeface="Menlo" panose="020B0609030804020204" pitchFamily="49" charset="0"/>
                <a:cs typeface="Menlo" panose="020B0609030804020204" pitchFamily="49" charset="0"/>
              </a:rPr>
              <a:t>measure</a:t>
            </a:r>
            <a:r>
              <a:rPr lang="en-ZA" sz="2200" dirty="0">
                <a:latin typeface="Andale Mono" panose="020B0509000000000004" pitchFamily="49" charset="0"/>
                <a:ea typeface="Menlo" panose="020B0609030804020204" pitchFamily="49" charset="0"/>
                <a:cs typeface="Menlo" panose="020B0609030804020204" pitchFamily="49" charset="0"/>
              </a:rPr>
              <a:t> q[</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0</a:t>
            </a:r>
            <a:r>
              <a:rPr lang="en-ZA" sz="2200" dirty="0">
                <a:latin typeface="Andale Mono" panose="020B0509000000000004" pitchFamily="49" charset="0"/>
                <a:ea typeface="Menlo" panose="020B0609030804020204" pitchFamily="49" charset="0"/>
                <a:cs typeface="Menlo" panose="020B0609030804020204" pitchFamily="49" charset="0"/>
              </a:rPr>
              <a:t>];</a:t>
            </a:r>
          </a:p>
          <a:p>
            <a:r>
              <a:rPr lang="en-ZA" sz="2200" dirty="0">
                <a:latin typeface="Andale Mono" panose="020B0509000000000004" pitchFamily="49" charset="0"/>
                <a:ea typeface="Menlo" panose="020B0609030804020204" pitchFamily="49" charset="0"/>
                <a:cs typeface="Menlo" panose="020B0609030804020204" pitchFamily="49" charset="0"/>
              </a:rPr>
              <a:t>c[</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1</a:t>
            </a:r>
            <a:r>
              <a:rPr lang="en-ZA" sz="2200" dirty="0">
                <a:latin typeface="Andale Mono" panose="020B0509000000000004" pitchFamily="49" charset="0"/>
                <a:ea typeface="Menlo" panose="020B0609030804020204" pitchFamily="49" charset="0"/>
                <a:cs typeface="Menlo" panose="020B0609030804020204" pitchFamily="49" charset="0"/>
              </a:rPr>
              <a:t>]=</a:t>
            </a:r>
            <a:r>
              <a:rPr lang="en-ZA" sz="2200" dirty="0">
                <a:solidFill>
                  <a:srgbClr val="00B050"/>
                </a:solidFill>
                <a:latin typeface="Andale Mono" panose="020B0509000000000004" pitchFamily="49" charset="0"/>
                <a:ea typeface="Menlo" panose="020B0609030804020204" pitchFamily="49" charset="0"/>
                <a:cs typeface="Menlo" panose="020B0609030804020204" pitchFamily="49" charset="0"/>
              </a:rPr>
              <a:t>measure</a:t>
            </a:r>
            <a:r>
              <a:rPr lang="en-ZA" sz="2200" dirty="0">
                <a:latin typeface="Andale Mono" panose="020B0509000000000004" pitchFamily="49" charset="0"/>
                <a:ea typeface="Menlo" panose="020B0609030804020204" pitchFamily="49" charset="0"/>
                <a:cs typeface="Menlo" panose="020B0609030804020204" pitchFamily="49" charset="0"/>
              </a:rPr>
              <a:t> q[</a:t>
            </a:r>
            <a:r>
              <a:rPr lang="en-ZA" sz="2200" dirty="0">
                <a:solidFill>
                  <a:srgbClr val="0000FF"/>
                </a:solidFill>
                <a:latin typeface="Andale Mono" panose="020B0509000000000004" pitchFamily="49" charset="0"/>
                <a:ea typeface="Menlo" panose="020B0609030804020204" pitchFamily="49" charset="0"/>
                <a:cs typeface="Menlo" panose="020B0609030804020204" pitchFamily="49" charset="0"/>
              </a:rPr>
              <a:t>1</a:t>
            </a:r>
            <a:r>
              <a:rPr lang="en-ZA" sz="2200" dirty="0">
                <a:latin typeface="Andale Mono" panose="020B0509000000000004" pitchFamily="49" charset="0"/>
                <a:ea typeface="Menlo" panose="020B0609030804020204" pitchFamily="49" charset="0"/>
                <a:cs typeface="Menlo" panose="020B0609030804020204" pitchFamily="49" charset="0"/>
              </a:rPr>
              <a:t>];</a:t>
            </a:r>
            <a:endParaRPr lang="en-ZA" sz="2200" dirty="0">
              <a:solidFill>
                <a:srgbClr val="000000"/>
              </a:solidFill>
              <a:latin typeface="IBM Plex Mono"/>
            </a:endParaRPr>
          </a:p>
        </p:txBody>
      </p:sp>
    </p:spTree>
    <p:extLst>
      <p:ext uri="{BB962C8B-B14F-4D97-AF65-F5344CB8AC3E}">
        <p14:creationId xmlns:p14="http://schemas.microsoft.com/office/powerpoint/2010/main" val="21903992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0DFF5-4A4F-DF42-9481-2148F597198F}"/>
              </a:ext>
            </a:extLst>
          </p:cNvPr>
          <p:cNvSpPr>
            <a:spLocks noGrp="1"/>
          </p:cNvSpPr>
          <p:nvPr>
            <p:ph type="title"/>
          </p:nvPr>
        </p:nvSpPr>
        <p:spPr/>
        <p:txBody>
          <a:bodyPr/>
          <a:lstStyle/>
          <a:p>
            <a:r>
              <a:rPr lang="en-US" dirty="0" err="1"/>
              <a:t>Qiskit</a:t>
            </a:r>
            <a:r>
              <a:rPr lang="en-US" dirty="0"/>
              <a:t> SDK </a:t>
            </a:r>
            <a:r>
              <a:rPr lang="en-US" dirty="0" err="1"/>
              <a:t>AerSimulator</a:t>
            </a:r>
            <a:endParaRPr lang="en-US" dirty="0"/>
          </a:p>
        </p:txBody>
      </p:sp>
      <p:sp>
        <p:nvSpPr>
          <p:cNvPr id="3" name="Slide Number Placeholder 2">
            <a:extLst>
              <a:ext uri="{FF2B5EF4-FFF2-40B4-BE49-F238E27FC236}">
                <a16:creationId xmlns:a16="http://schemas.microsoft.com/office/drawing/2014/main" id="{947AFC6D-9054-5C4F-BC6F-F71355750398}"/>
              </a:ext>
            </a:extLst>
          </p:cNvPr>
          <p:cNvSpPr>
            <a:spLocks noGrp="1"/>
          </p:cNvSpPr>
          <p:nvPr>
            <p:ph type="sldNum" sz="quarter" idx="12"/>
          </p:nvPr>
        </p:nvSpPr>
        <p:spPr/>
        <p:txBody>
          <a:bodyPr/>
          <a:lstStyle/>
          <a:p>
            <a:fld id="{591A223C-FA10-BC46-A853-03BA373D023C}" type="slidenum">
              <a:rPr lang="en-US" smtClean="0"/>
              <a:t>56</a:t>
            </a:fld>
            <a:endParaRPr lang="en-US"/>
          </a:p>
        </p:txBody>
      </p:sp>
      <p:sp>
        <p:nvSpPr>
          <p:cNvPr id="30" name="TextBox 29">
            <a:extLst>
              <a:ext uri="{FF2B5EF4-FFF2-40B4-BE49-F238E27FC236}">
                <a16:creationId xmlns:a16="http://schemas.microsoft.com/office/drawing/2014/main" id="{933D47BC-7712-B049-8948-2063105FC535}"/>
              </a:ext>
            </a:extLst>
          </p:cNvPr>
          <p:cNvSpPr txBox="1"/>
          <p:nvPr/>
        </p:nvSpPr>
        <p:spPr>
          <a:xfrm>
            <a:off x="170884" y="1130058"/>
            <a:ext cx="7129580" cy="1200329"/>
          </a:xfrm>
          <a:prstGeom prst="rect">
            <a:avLst/>
          </a:prstGeom>
          <a:solidFill>
            <a:schemeClr val="bg1">
              <a:lumMod val="95000"/>
            </a:schemeClr>
          </a:solidFill>
        </p:spPr>
        <p:txBody>
          <a:bodyPr wrap="square" rtlCol="0">
            <a:spAutoFit/>
          </a:bodyPr>
          <a:lstStyle/>
          <a:p>
            <a:r>
              <a:rPr lang="en-US" b="1" dirty="0">
                <a:solidFill>
                  <a:schemeClr val="accent6">
                    <a:lumMod val="75000"/>
                  </a:schemeClr>
                </a:solidFill>
                <a:latin typeface="Andale Mono" panose="020B0509000000000004" pitchFamily="49" charset="0"/>
              </a:rPr>
              <a:t>from</a:t>
            </a:r>
            <a:r>
              <a:rPr lang="en-US" dirty="0">
                <a:latin typeface="Andale Mono" panose="020B0509000000000004" pitchFamily="49" charset="0"/>
              </a:rPr>
              <a:t> </a:t>
            </a:r>
            <a:r>
              <a:rPr lang="en-US" dirty="0" err="1">
                <a:latin typeface="Andale Mono" panose="020B0509000000000004" pitchFamily="49" charset="0"/>
              </a:rPr>
              <a:t>qiskit</a:t>
            </a:r>
            <a:r>
              <a:rPr lang="en-US" dirty="0">
                <a:latin typeface="Andale Mono" panose="020B0509000000000004" pitchFamily="49" charset="0"/>
              </a:rPr>
              <a:t> </a:t>
            </a:r>
            <a:r>
              <a:rPr lang="en-US" b="1" dirty="0">
                <a:solidFill>
                  <a:schemeClr val="accent6">
                    <a:lumMod val="75000"/>
                  </a:schemeClr>
                </a:solidFill>
                <a:latin typeface="Andale Mono" panose="020B0509000000000004" pitchFamily="49" charset="0"/>
              </a:rPr>
              <a:t>import</a:t>
            </a:r>
            <a:r>
              <a:rPr lang="en-US" dirty="0">
                <a:latin typeface="Andale Mono" panose="020B0509000000000004" pitchFamily="49" charset="0"/>
              </a:rPr>
              <a:t> *</a:t>
            </a:r>
          </a:p>
          <a:p>
            <a:r>
              <a:rPr lang="en-US" b="1" dirty="0">
                <a:solidFill>
                  <a:schemeClr val="accent6">
                    <a:lumMod val="75000"/>
                  </a:schemeClr>
                </a:solidFill>
                <a:latin typeface="Andale Mono" panose="020B0509000000000004" pitchFamily="49" charset="0"/>
              </a:rPr>
              <a:t>from</a:t>
            </a:r>
            <a:r>
              <a:rPr lang="en-US" dirty="0">
                <a:latin typeface="Andale Mono" panose="020B0509000000000004" pitchFamily="49" charset="0"/>
              </a:rPr>
              <a:t> </a:t>
            </a:r>
            <a:r>
              <a:rPr lang="en-US" dirty="0" err="1">
                <a:latin typeface="Andale Mono" panose="020B0509000000000004" pitchFamily="49" charset="0"/>
              </a:rPr>
              <a:t>qiskit_aer</a:t>
            </a:r>
            <a:r>
              <a:rPr lang="en-US" dirty="0">
                <a:latin typeface="Andale Mono" panose="020B0509000000000004" pitchFamily="49" charset="0"/>
              </a:rPr>
              <a:t> </a:t>
            </a:r>
            <a:r>
              <a:rPr lang="en-US" b="1" dirty="0">
                <a:solidFill>
                  <a:schemeClr val="accent6">
                    <a:lumMod val="75000"/>
                  </a:schemeClr>
                </a:solidFill>
                <a:latin typeface="Andale Mono" panose="020B0509000000000004" pitchFamily="49" charset="0"/>
              </a:rPr>
              <a:t>import</a:t>
            </a:r>
            <a:r>
              <a:rPr lang="en-US" dirty="0">
                <a:latin typeface="Andale Mono" panose="020B0509000000000004" pitchFamily="49" charset="0"/>
              </a:rPr>
              <a:t> </a:t>
            </a:r>
            <a:r>
              <a:rPr lang="en-US" dirty="0" err="1">
                <a:latin typeface="Andale Mono" panose="020B0509000000000004" pitchFamily="49" charset="0"/>
              </a:rPr>
              <a:t>AerSimulator</a:t>
            </a:r>
            <a:endParaRPr lang="en-US" dirty="0">
              <a:latin typeface="Andale Mono" panose="020B0509000000000004" pitchFamily="49" charset="0"/>
            </a:endParaRPr>
          </a:p>
          <a:p>
            <a:r>
              <a:rPr lang="en-US" b="1" dirty="0">
                <a:solidFill>
                  <a:schemeClr val="accent6">
                    <a:lumMod val="75000"/>
                  </a:schemeClr>
                </a:solidFill>
                <a:latin typeface="Andale Mono" panose="020B0509000000000004" pitchFamily="49" charset="0"/>
              </a:rPr>
              <a:t>from</a:t>
            </a:r>
            <a:r>
              <a:rPr lang="en-US" dirty="0">
                <a:latin typeface="Andale Mono" panose="020B0509000000000004" pitchFamily="49" charset="0"/>
              </a:rPr>
              <a:t> </a:t>
            </a:r>
            <a:r>
              <a:rPr lang="en-US" dirty="0" err="1">
                <a:latin typeface="Andale Mono" panose="020B0509000000000004" pitchFamily="49" charset="0"/>
              </a:rPr>
              <a:t>qiskit.visualization</a:t>
            </a:r>
            <a:r>
              <a:rPr lang="en-US" dirty="0">
                <a:latin typeface="Andale Mono" panose="020B0509000000000004" pitchFamily="49" charset="0"/>
              </a:rPr>
              <a:t> </a:t>
            </a:r>
            <a:r>
              <a:rPr lang="en-US" b="1" dirty="0">
                <a:solidFill>
                  <a:schemeClr val="accent6">
                    <a:lumMod val="75000"/>
                  </a:schemeClr>
                </a:solidFill>
                <a:latin typeface="Andale Mono" panose="020B0509000000000004" pitchFamily="49" charset="0"/>
              </a:rPr>
              <a:t>import</a:t>
            </a:r>
            <a:r>
              <a:rPr lang="en-US" dirty="0">
                <a:latin typeface="Andale Mono" panose="020B0509000000000004" pitchFamily="49" charset="0"/>
              </a:rPr>
              <a:t> </a:t>
            </a:r>
            <a:r>
              <a:rPr lang="en-US" dirty="0" err="1">
                <a:latin typeface="Andale Mono" panose="020B0509000000000004" pitchFamily="49" charset="0"/>
              </a:rPr>
              <a:t>plot_histogram</a:t>
            </a:r>
            <a:endParaRPr lang="en-US" dirty="0">
              <a:latin typeface="Andale Mono" panose="020B0509000000000004" pitchFamily="49" charset="0"/>
            </a:endParaRPr>
          </a:p>
          <a:p>
            <a:r>
              <a:rPr lang="en-US" b="1" dirty="0">
                <a:solidFill>
                  <a:schemeClr val="accent6">
                    <a:lumMod val="75000"/>
                  </a:schemeClr>
                </a:solidFill>
                <a:latin typeface="Andale Mono" panose="020B0509000000000004" pitchFamily="49" charset="0"/>
              </a:rPr>
              <a:t>from</a:t>
            </a:r>
            <a:r>
              <a:rPr lang="en-US" dirty="0">
                <a:latin typeface="Andale Mono" panose="020B0509000000000004" pitchFamily="49" charset="0"/>
              </a:rPr>
              <a:t> </a:t>
            </a:r>
            <a:r>
              <a:rPr lang="en-US" dirty="0" err="1">
                <a:latin typeface="Andale Mono" panose="020B0509000000000004" pitchFamily="49" charset="0"/>
              </a:rPr>
              <a:t>qiskit.visualization</a:t>
            </a:r>
            <a:r>
              <a:rPr lang="en-US" dirty="0">
                <a:latin typeface="Andale Mono" panose="020B0509000000000004" pitchFamily="49" charset="0"/>
              </a:rPr>
              <a:t> </a:t>
            </a:r>
            <a:r>
              <a:rPr lang="en-US" b="1" dirty="0">
                <a:solidFill>
                  <a:schemeClr val="accent6">
                    <a:lumMod val="75000"/>
                  </a:schemeClr>
                </a:solidFill>
                <a:latin typeface="Andale Mono" panose="020B0509000000000004" pitchFamily="49" charset="0"/>
              </a:rPr>
              <a:t>import</a:t>
            </a:r>
            <a:r>
              <a:rPr lang="en-US" dirty="0">
                <a:latin typeface="Andale Mono" panose="020B0509000000000004" pitchFamily="49" charset="0"/>
              </a:rPr>
              <a:t> </a:t>
            </a:r>
            <a:r>
              <a:rPr lang="en-US" dirty="0" err="1">
                <a:latin typeface="Andale Mono" panose="020B0509000000000004" pitchFamily="49" charset="0"/>
              </a:rPr>
              <a:t>plot_distribution</a:t>
            </a:r>
            <a:endParaRPr lang="en-US" dirty="0">
              <a:latin typeface="Andale Mono" panose="020B0509000000000004" pitchFamily="49" charset="0"/>
            </a:endParaRPr>
          </a:p>
        </p:txBody>
      </p:sp>
      <p:sp>
        <p:nvSpPr>
          <p:cNvPr id="23" name="TextBox 22">
            <a:extLst>
              <a:ext uri="{FF2B5EF4-FFF2-40B4-BE49-F238E27FC236}">
                <a16:creationId xmlns:a16="http://schemas.microsoft.com/office/drawing/2014/main" id="{E6ED6435-C53C-FA40-A162-18B79C57DD23}"/>
              </a:ext>
            </a:extLst>
          </p:cNvPr>
          <p:cNvSpPr txBox="1"/>
          <p:nvPr/>
        </p:nvSpPr>
        <p:spPr>
          <a:xfrm>
            <a:off x="153337" y="4738513"/>
            <a:ext cx="6745780" cy="923330"/>
          </a:xfrm>
          <a:prstGeom prst="rect">
            <a:avLst/>
          </a:prstGeom>
          <a:solidFill>
            <a:schemeClr val="accent5">
              <a:lumMod val="20000"/>
              <a:lumOff val="80000"/>
            </a:schemeClr>
          </a:solidFill>
        </p:spPr>
        <p:txBody>
          <a:bodyPr wrap="square" rtlCol="0">
            <a:spAutoFit/>
          </a:bodyPr>
          <a:lstStyle/>
          <a:p>
            <a:r>
              <a:rPr lang="en-US" dirty="0">
                <a:latin typeface="Andale Mono" panose="020B0509000000000004" pitchFamily="49" charset="0"/>
              </a:rPr>
              <a:t>simulator = </a:t>
            </a:r>
            <a:r>
              <a:rPr lang="en-US" dirty="0" err="1">
                <a:latin typeface="Andale Mono" panose="020B0509000000000004" pitchFamily="49" charset="0"/>
              </a:rPr>
              <a:t>AerSimulator</a:t>
            </a:r>
            <a:r>
              <a:rPr lang="en-US" dirty="0">
                <a:latin typeface="Andale Mono" panose="020B0509000000000004" pitchFamily="49" charset="0"/>
              </a:rPr>
              <a:t>()</a:t>
            </a:r>
          </a:p>
          <a:p>
            <a:r>
              <a:rPr lang="en-US" dirty="0">
                <a:latin typeface="Andale Mono" panose="020B0509000000000004" pitchFamily="49" charset="0"/>
              </a:rPr>
              <a:t>result = </a:t>
            </a:r>
            <a:r>
              <a:rPr lang="en-US" dirty="0" err="1">
                <a:latin typeface="Andale Mono" panose="020B0509000000000004" pitchFamily="49" charset="0"/>
              </a:rPr>
              <a:t>simulator.run</a:t>
            </a:r>
            <a:r>
              <a:rPr lang="en-US" dirty="0">
                <a:latin typeface="Andale Mono" panose="020B0509000000000004" pitchFamily="49" charset="0"/>
              </a:rPr>
              <a:t>(</a:t>
            </a:r>
            <a:r>
              <a:rPr lang="en-US" dirty="0" err="1">
                <a:latin typeface="Andale Mono" panose="020B0509000000000004" pitchFamily="49" charset="0"/>
              </a:rPr>
              <a:t>qc,shots</a:t>
            </a:r>
            <a:r>
              <a:rPr lang="en-US" dirty="0">
                <a:latin typeface="Andale Mono" panose="020B0509000000000004" pitchFamily="49" charset="0"/>
              </a:rPr>
              <a:t>=1024).result()</a:t>
            </a:r>
          </a:p>
          <a:p>
            <a:r>
              <a:rPr lang="en-US" dirty="0">
                <a:latin typeface="Andale Mono" panose="020B0509000000000004" pitchFamily="49" charset="0"/>
              </a:rPr>
              <a:t>counts = </a:t>
            </a:r>
            <a:r>
              <a:rPr lang="en-US" dirty="0" err="1">
                <a:latin typeface="Andale Mono" panose="020B0509000000000004" pitchFamily="49" charset="0"/>
              </a:rPr>
              <a:t>result.get_counts</a:t>
            </a:r>
            <a:r>
              <a:rPr lang="en-US" dirty="0">
                <a:latin typeface="Andale Mono" panose="020B0509000000000004" pitchFamily="49" charset="0"/>
              </a:rPr>
              <a:t>(qc)</a:t>
            </a:r>
          </a:p>
        </p:txBody>
      </p:sp>
      <p:sp>
        <p:nvSpPr>
          <p:cNvPr id="24" name="TextBox 23">
            <a:extLst>
              <a:ext uri="{FF2B5EF4-FFF2-40B4-BE49-F238E27FC236}">
                <a16:creationId xmlns:a16="http://schemas.microsoft.com/office/drawing/2014/main" id="{DB69C532-2A26-564C-B5AC-0EB845485873}"/>
              </a:ext>
            </a:extLst>
          </p:cNvPr>
          <p:cNvSpPr txBox="1"/>
          <p:nvPr/>
        </p:nvSpPr>
        <p:spPr>
          <a:xfrm>
            <a:off x="178230" y="2661119"/>
            <a:ext cx="6745780" cy="923330"/>
          </a:xfrm>
          <a:prstGeom prst="rect">
            <a:avLst/>
          </a:prstGeom>
          <a:solidFill>
            <a:schemeClr val="accent6">
              <a:lumMod val="20000"/>
              <a:lumOff val="80000"/>
            </a:schemeClr>
          </a:solidFill>
        </p:spPr>
        <p:txBody>
          <a:bodyPr wrap="square" rtlCol="0">
            <a:spAutoFit/>
          </a:bodyPr>
          <a:lstStyle/>
          <a:p>
            <a:r>
              <a:rPr lang="en-US" dirty="0">
                <a:latin typeface="Andale Mono" panose="020B0509000000000004" pitchFamily="49" charset="0"/>
              </a:rPr>
              <a:t>q = </a:t>
            </a:r>
            <a:r>
              <a:rPr lang="en-US" dirty="0" err="1">
                <a:solidFill>
                  <a:srgbClr val="0000FF"/>
                </a:solidFill>
                <a:latin typeface="Andale Mono" panose="020B0509000000000004" pitchFamily="49" charset="0"/>
              </a:rPr>
              <a:t>QuantumRegister</a:t>
            </a:r>
            <a:r>
              <a:rPr lang="en-US" dirty="0">
                <a:latin typeface="Andale Mono" panose="020B0509000000000004" pitchFamily="49" charset="0"/>
              </a:rPr>
              <a:t>(1)</a:t>
            </a:r>
          </a:p>
          <a:p>
            <a:r>
              <a:rPr lang="en-US" dirty="0">
                <a:latin typeface="Andale Mono" panose="020B0509000000000004" pitchFamily="49" charset="0"/>
              </a:rPr>
              <a:t>c = </a:t>
            </a:r>
            <a:r>
              <a:rPr lang="en-US" dirty="0" err="1">
                <a:solidFill>
                  <a:srgbClr val="0000FF"/>
                </a:solidFill>
                <a:latin typeface="Andale Mono" panose="020B0509000000000004" pitchFamily="49" charset="0"/>
              </a:rPr>
              <a:t>ClassicalRegister</a:t>
            </a:r>
            <a:r>
              <a:rPr lang="en-US" dirty="0">
                <a:latin typeface="Andale Mono" panose="020B0509000000000004" pitchFamily="49" charset="0"/>
              </a:rPr>
              <a:t>(1)</a:t>
            </a:r>
          </a:p>
          <a:p>
            <a:r>
              <a:rPr lang="en-US" dirty="0">
                <a:latin typeface="Andale Mono" panose="020B0509000000000004" pitchFamily="49" charset="0"/>
              </a:rPr>
              <a:t>qc = </a:t>
            </a:r>
            <a:r>
              <a:rPr lang="en-US" dirty="0" err="1">
                <a:solidFill>
                  <a:srgbClr val="0000FF"/>
                </a:solidFill>
                <a:latin typeface="Andale Mono" panose="020B0509000000000004" pitchFamily="49" charset="0"/>
              </a:rPr>
              <a:t>QuantumCircuit</a:t>
            </a:r>
            <a:r>
              <a:rPr lang="en-US" dirty="0">
                <a:latin typeface="Andale Mono" panose="020B0509000000000004" pitchFamily="49" charset="0"/>
              </a:rPr>
              <a:t>(q, c)</a:t>
            </a:r>
          </a:p>
        </p:txBody>
      </p:sp>
      <p:sp>
        <p:nvSpPr>
          <p:cNvPr id="22" name="TextBox 21">
            <a:extLst>
              <a:ext uri="{FF2B5EF4-FFF2-40B4-BE49-F238E27FC236}">
                <a16:creationId xmlns:a16="http://schemas.microsoft.com/office/drawing/2014/main" id="{A71C863F-C518-0948-87D2-AB2FDAF95C39}"/>
              </a:ext>
            </a:extLst>
          </p:cNvPr>
          <p:cNvSpPr txBox="1"/>
          <p:nvPr/>
        </p:nvSpPr>
        <p:spPr>
          <a:xfrm>
            <a:off x="8013469" y="2743623"/>
            <a:ext cx="3262432" cy="400110"/>
          </a:xfrm>
          <a:prstGeom prst="rect">
            <a:avLst/>
          </a:prstGeom>
          <a:solidFill>
            <a:schemeClr val="accent4">
              <a:lumMod val="20000"/>
              <a:lumOff val="80000"/>
            </a:schemeClr>
          </a:solidFill>
        </p:spPr>
        <p:txBody>
          <a:bodyPr wrap="none" rtlCol="0">
            <a:spAutoFit/>
          </a:bodyPr>
          <a:lstStyle/>
          <a:p>
            <a:r>
              <a:rPr lang="en-US" sz="2000" dirty="0">
                <a:solidFill>
                  <a:srgbClr val="0000FF"/>
                </a:solidFill>
                <a:latin typeface="Andale Mono" panose="020B0509000000000004" pitchFamily="49" charset="0"/>
              </a:rPr>
              <a:t>{'1': 524, '0': 500}</a:t>
            </a:r>
          </a:p>
        </p:txBody>
      </p:sp>
      <p:grpSp>
        <p:nvGrpSpPr>
          <p:cNvPr id="10" name="Group 9">
            <a:extLst>
              <a:ext uri="{FF2B5EF4-FFF2-40B4-BE49-F238E27FC236}">
                <a16:creationId xmlns:a16="http://schemas.microsoft.com/office/drawing/2014/main" id="{BF2DF8D7-DA9F-E94F-8EE1-6CE9940685B5}"/>
              </a:ext>
            </a:extLst>
          </p:cNvPr>
          <p:cNvGrpSpPr/>
          <p:nvPr/>
        </p:nvGrpSpPr>
        <p:grpSpPr>
          <a:xfrm>
            <a:off x="178230" y="3305347"/>
            <a:ext cx="11811929" cy="3370090"/>
            <a:chOff x="178230" y="3305347"/>
            <a:chExt cx="11811929" cy="3370090"/>
          </a:xfrm>
        </p:grpSpPr>
        <p:pic>
          <p:nvPicPr>
            <p:cNvPr id="25" name="Picture 24">
              <a:extLst>
                <a:ext uri="{FF2B5EF4-FFF2-40B4-BE49-F238E27FC236}">
                  <a16:creationId xmlns:a16="http://schemas.microsoft.com/office/drawing/2014/main" id="{0866BA61-3F9B-294B-BB57-A2A1A37C3DDE}"/>
                </a:ext>
              </a:extLst>
            </p:cNvPr>
            <p:cNvPicPr>
              <a:picLocks noChangeAspect="1"/>
            </p:cNvPicPr>
            <p:nvPr/>
          </p:nvPicPr>
          <p:blipFill>
            <a:blip r:embed="rId3"/>
            <a:stretch>
              <a:fillRect/>
            </a:stretch>
          </p:blipFill>
          <p:spPr>
            <a:xfrm>
              <a:off x="6924010" y="3305347"/>
              <a:ext cx="5066149" cy="3370090"/>
            </a:xfrm>
            <a:prstGeom prst="rect">
              <a:avLst/>
            </a:prstGeom>
          </p:spPr>
        </p:pic>
        <p:sp>
          <p:nvSpPr>
            <p:cNvPr id="31" name="TextBox 30">
              <a:extLst>
                <a:ext uri="{FF2B5EF4-FFF2-40B4-BE49-F238E27FC236}">
                  <a16:creationId xmlns:a16="http://schemas.microsoft.com/office/drawing/2014/main" id="{8DCA81C9-E12D-124E-81A6-0D983F505286}"/>
                </a:ext>
              </a:extLst>
            </p:cNvPr>
            <p:cNvSpPr txBox="1"/>
            <p:nvPr/>
          </p:nvSpPr>
          <p:spPr>
            <a:xfrm>
              <a:off x="178230" y="5927236"/>
              <a:ext cx="6745780" cy="646331"/>
            </a:xfrm>
            <a:prstGeom prst="rect">
              <a:avLst/>
            </a:prstGeom>
            <a:solidFill>
              <a:schemeClr val="accent4">
                <a:lumMod val="20000"/>
                <a:lumOff val="80000"/>
              </a:schemeClr>
            </a:solidFill>
          </p:spPr>
          <p:txBody>
            <a:bodyPr wrap="square" rtlCol="0">
              <a:spAutoFit/>
            </a:bodyPr>
            <a:lstStyle/>
            <a:p>
              <a:r>
                <a:rPr lang="en-US" dirty="0">
                  <a:solidFill>
                    <a:srgbClr val="0000FF"/>
                  </a:solidFill>
                  <a:latin typeface="Andale Mono" panose="020B0509000000000004" pitchFamily="49" charset="0"/>
                </a:rPr>
                <a:t># </a:t>
              </a:r>
              <a:r>
                <a:rPr lang="en-US" dirty="0" err="1">
                  <a:solidFill>
                    <a:srgbClr val="0000FF"/>
                  </a:solidFill>
                  <a:latin typeface="Andale Mono" panose="020B0509000000000004" pitchFamily="49" charset="0"/>
                </a:rPr>
                <a:t>plot_histogram</a:t>
              </a:r>
              <a:r>
                <a:rPr lang="en-US" dirty="0">
                  <a:solidFill>
                    <a:srgbClr val="0000FF"/>
                  </a:solidFill>
                  <a:latin typeface="Andale Mono" panose="020B0509000000000004" pitchFamily="49" charset="0"/>
                </a:rPr>
                <a:t>(counts)</a:t>
              </a:r>
            </a:p>
            <a:p>
              <a:r>
                <a:rPr lang="en-US" dirty="0" err="1">
                  <a:solidFill>
                    <a:srgbClr val="0000FF"/>
                  </a:solidFill>
                  <a:latin typeface="Andale Mono" panose="020B0509000000000004" pitchFamily="49" charset="0"/>
                </a:rPr>
                <a:t>plot_distribution</a:t>
              </a:r>
              <a:r>
                <a:rPr lang="en-US" dirty="0">
                  <a:solidFill>
                    <a:srgbClr val="0000FF"/>
                  </a:solidFill>
                  <a:latin typeface="Andale Mono" panose="020B0509000000000004" pitchFamily="49" charset="0"/>
                </a:rPr>
                <a:t>(counts)</a:t>
              </a:r>
              <a:endParaRPr lang="en-US" dirty="0">
                <a:latin typeface="Andale Mono" panose="020B0509000000000004" pitchFamily="49" charset="0"/>
              </a:endParaRPr>
            </a:p>
          </p:txBody>
        </p:sp>
      </p:grpSp>
      <p:sp>
        <p:nvSpPr>
          <p:cNvPr id="32" name="TextBox 31">
            <a:extLst>
              <a:ext uri="{FF2B5EF4-FFF2-40B4-BE49-F238E27FC236}">
                <a16:creationId xmlns:a16="http://schemas.microsoft.com/office/drawing/2014/main" id="{DBFDB7EF-5E1A-A048-9C54-C9DF4B83D85F}"/>
              </a:ext>
            </a:extLst>
          </p:cNvPr>
          <p:cNvSpPr txBox="1"/>
          <p:nvPr/>
        </p:nvSpPr>
        <p:spPr>
          <a:xfrm>
            <a:off x="178230" y="3805646"/>
            <a:ext cx="6745780" cy="646331"/>
          </a:xfrm>
          <a:prstGeom prst="rect">
            <a:avLst/>
          </a:prstGeom>
          <a:solidFill>
            <a:schemeClr val="bg1">
              <a:lumMod val="95000"/>
            </a:schemeClr>
          </a:solidFill>
        </p:spPr>
        <p:txBody>
          <a:bodyPr wrap="square" rtlCol="0">
            <a:spAutoFit/>
          </a:bodyPr>
          <a:lstStyle/>
          <a:p>
            <a:r>
              <a:rPr lang="en-US" dirty="0" err="1">
                <a:latin typeface="Andale Mono" panose="020B0509000000000004" pitchFamily="49" charset="0"/>
              </a:rPr>
              <a:t>qc.h</a:t>
            </a:r>
            <a:r>
              <a:rPr lang="en-US" dirty="0">
                <a:latin typeface="Andale Mono" panose="020B0509000000000004" pitchFamily="49" charset="0"/>
              </a:rPr>
              <a:t>(q[0])</a:t>
            </a:r>
          </a:p>
          <a:p>
            <a:r>
              <a:rPr lang="en-US" dirty="0" err="1">
                <a:latin typeface="Andale Mono" panose="020B0509000000000004" pitchFamily="49" charset="0"/>
              </a:rPr>
              <a:t>qc.</a:t>
            </a:r>
            <a:r>
              <a:rPr lang="en-US" dirty="0" err="1">
                <a:solidFill>
                  <a:srgbClr val="0000FF"/>
                </a:solidFill>
                <a:latin typeface="Andale Mono" panose="020B0509000000000004" pitchFamily="49" charset="0"/>
              </a:rPr>
              <a:t>measure</a:t>
            </a:r>
            <a:r>
              <a:rPr lang="en-US" dirty="0">
                <a:latin typeface="Andale Mono" panose="020B0509000000000004" pitchFamily="49" charset="0"/>
              </a:rPr>
              <a:t>(q[0], c[0])</a:t>
            </a:r>
          </a:p>
        </p:txBody>
      </p:sp>
      <p:sp>
        <p:nvSpPr>
          <p:cNvPr id="8" name="Rectangle 7">
            <a:extLst>
              <a:ext uri="{FF2B5EF4-FFF2-40B4-BE49-F238E27FC236}">
                <a16:creationId xmlns:a16="http://schemas.microsoft.com/office/drawing/2014/main" id="{1EA8B7B4-51CF-9A4D-98CB-37B3AE8B2303}"/>
              </a:ext>
            </a:extLst>
          </p:cNvPr>
          <p:cNvSpPr/>
          <p:nvPr/>
        </p:nvSpPr>
        <p:spPr>
          <a:xfrm>
            <a:off x="3113484" y="3244334"/>
            <a:ext cx="5965031" cy="369332"/>
          </a:xfrm>
          <a:prstGeom prst="rect">
            <a:avLst/>
          </a:prstGeom>
        </p:spPr>
        <p:txBody>
          <a:bodyPr wrap="none">
            <a:spAutoFit/>
          </a:bodyPr>
          <a:lstStyle/>
          <a:p>
            <a:r>
              <a:rPr lang="en-ZA" dirty="0"/>
              <a:t>Executing a Quantum Program on an IBM Quantum Processor</a:t>
            </a:r>
            <a:endParaRPr lang="en-US" dirty="0"/>
          </a:p>
        </p:txBody>
      </p:sp>
      <p:cxnSp>
        <p:nvCxnSpPr>
          <p:cNvPr id="26" name="Straight Connector 25">
            <a:extLst>
              <a:ext uri="{FF2B5EF4-FFF2-40B4-BE49-F238E27FC236}">
                <a16:creationId xmlns:a16="http://schemas.microsoft.com/office/drawing/2014/main" id="{A25679E3-4E82-7E45-AF4B-0AE4A8BC0AC8}"/>
              </a:ext>
            </a:extLst>
          </p:cNvPr>
          <p:cNvCxnSpPr>
            <a:cxnSpLocks/>
          </p:cNvCxnSpPr>
          <p:nvPr/>
        </p:nvCxnSpPr>
        <p:spPr>
          <a:xfrm>
            <a:off x="8364761" y="1295042"/>
            <a:ext cx="1841639" cy="0"/>
          </a:xfrm>
          <a:prstGeom prst="line">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3E1DA114-2352-7940-89AA-35F0ABE54D66}"/>
              </a:ext>
            </a:extLst>
          </p:cNvPr>
          <p:cNvSpPr>
            <a:spLocks noChangeAspect="1"/>
          </p:cNvSpPr>
          <p:nvPr/>
        </p:nvSpPr>
        <p:spPr>
          <a:xfrm>
            <a:off x="8728800" y="935314"/>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nvGrpSpPr>
          <p:cNvPr id="33" name="Group 32">
            <a:extLst>
              <a:ext uri="{FF2B5EF4-FFF2-40B4-BE49-F238E27FC236}">
                <a16:creationId xmlns:a16="http://schemas.microsoft.com/office/drawing/2014/main" id="{2BF20FD8-5176-4B40-B764-F3E81ACFF21C}"/>
              </a:ext>
            </a:extLst>
          </p:cNvPr>
          <p:cNvGrpSpPr/>
          <p:nvPr/>
        </p:nvGrpSpPr>
        <p:grpSpPr>
          <a:xfrm>
            <a:off x="10100400" y="942667"/>
            <a:ext cx="720000" cy="807700"/>
            <a:chOff x="8902649" y="1353231"/>
            <a:chExt cx="720000" cy="807700"/>
          </a:xfrm>
        </p:grpSpPr>
        <p:sp>
          <p:nvSpPr>
            <p:cNvPr id="34" name="Rectangle 33">
              <a:extLst>
                <a:ext uri="{FF2B5EF4-FFF2-40B4-BE49-F238E27FC236}">
                  <a16:creationId xmlns:a16="http://schemas.microsoft.com/office/drawing/2014/main" id="{BEFB3480-9382-6E4C-9670-17D0385BBDC8}"/>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35" name="Arc 34">
              <a:extLst>
                <a:ext uri="{FF2B5EF4-FFF2-40B4-BE49-F238E27FC236}">
                  <a16:creationId xmlns:a16="http://schemas.microsoft.com/office/drawing/2014/main" id="{4F312142-6610-4746-89AE-1D4BC00E2A9A}"/>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01F2319D-FFEE-F74A-9B25-E7ACF1CCCCFA}"/>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cxnSp>
        <p:nvCxnSpPr>
          <p:cNvPr id="39" name="Straight Connector 38">
            <a:extLst>
              <a:ext uri="{FF2B5EF4-FFF2-40B4-BE49-F238E27FC236}">
                <a16:creationId xmlns:a16="http://schemas.microsoft.com/office/drawing/2014/main" id="{A28EC8D8-CBC0-9D4A-86D9-A50BF9F08821}"/>
              </a:ext>
            </a:extLst>
          </p:cNvPr>
          <p:cNvCxnSpPr>
            <a:cxnSpLocks/>
          </p:cNvCxnSpPr>
          <p:nvPr/>
        </p:nvCxnSpPr>
        <p:spPr>
          <a:xfrm>
            <a:off x="8364760" y="2043790"/>
            <a:ext cx="2515275" cy="0"/>
          </a:xfrm>
          <a:prstGeom prst="line">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13125568-7517-BE4F-8B2B-1A4002B66804}"/>
              </a:ext>
            </a:extLst>
          </p:cNvPr>
          <p:cNvCxnSpPr>
            <a:cxnSpLocks/>
            <a:stCxn id="34" idx="2"/>
          </p:cNvCxnSpPr>
          <p:nvPr/>
        </p:nvCxnSpPr>
        <p:spPr>
          <a:xfrm>
            <a:off x="10460400" y="1662667"/>
            <a:ext cx="0" cy="381123"/>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CB01CEE-EC36-C64F-AC09-F637BE6E6499}"/>
              </a:ext>
            </a:extLst>
          </p:cNvPr>
          <p:cNvSpPr txBox="1"/>
          <p:nvPr/>
        </p:nvSpPr>
        <p:spPr>
          <a:xfrm>
            <a:off x="7726557" y="1147567"/>
            <a:ext cx="614271" cy="307777"/>
          </a:xfrm>
          <a:prstGeom prst="rect">
            <a:avLst/>
          </a:prstGeom>
          <a:noFill/>
        </p:spPr>
        <p:txBody>
          <a:bodyPr wrap="none" rtlCol="0">
            <a:spAutoFit/>
          </a:bodyPr>
          <a:lstStyle/>
          <a:p>
            <a:r>
              <a:rPr lang="en-US" sz="1400" dirty="0">
                <a:latin typeface="Andale Mono" panose="020B0509000000000004" pitchFamily="49" charset="0"/>
              </a:rPr>
              <a:t>q[0]</a:t>
            </a:r>
            <a:endParaRPr lang="en-US" sz="1400" dirty="0"/>
          </a:p>
        </p:txBody>
      </p:sp>
      <p:sp>
        <p:nvSpPr>
          <p:cNvPr id="42" name="TextBox 41">
            <a:extLst>
              <a:ext uri="{FF2B5EF4-FFF2-40B4-BE49-F238E27FC236}">
                <a16:creationId xmlns:a16="http://schemas.microsoft.com/office/drawing/2014/main" id="{A94962A7-F9FD-8B48-BE0A-5BA83FDC40A0}"/>
              </a:ext>
            </a:extLst>
          </p:cNvPr>
          <p:cNvSpPr txBox="1"/>
          <p:nvPr/>
        </p:nvSpPr>
        <p:spPr>
          <a:xfrm>
            <a:off x="7750489" y="1865638"/>
            <a:ext cx="614271" cy="307777"/>
          </a:xfrm>
          <a:prstGeom prst="rect">
            <a:avLst/>
          </a:prstGeom>
          <a:noFill/>
        </p:spPr>
        <p:txBody>
          <a:bodyPr wrap="none" rtlCol="0">
            <a:spAutoFit/>
          </a:bodyPr>
          <a:lstStyle/>
          <a:p>
            <a:r>
              <a:rPr lang="en-US" sz="1400" dirty="0">
                <a:latin typeface="Andale Mono" panose="020B0509000000000004" pitchFamily="49" charset="0"/>
              </a:rPr>
              <a:t>c[0]</a:t>
            </a:r>
            <a:endParaRPr lang="en-US" sz="1400" dirty="0"/>
          </a:p>
        </p:txBody>
      </p:sp>
    </p:spTree>
    <p:extLst>
      <p:ext uri="{BB962C8B-B14F-4D97-AF65-F5344CB8AC3E}">
        <p14:creationId xmlns:p14="http://schemas.microsoft.com/office/powerpoint/2010/main" val="1588443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dissolve">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dissolv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3" grpId="0" animBg="1"/>
      <p:bldP spid="24" grpId="0" animBg="1"/>
      <p:bldP spid="22" grpId="0" animBg="1"/>
      <p:bldP spid="3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59CB9-8868-3844-9C81-667222AD840D}"/>
              </a:ext>
            </a:extLst>
          </p:cNvPr>
          <p:cNvSpPr>
            <a:spLocks noGrp="1"/>
          </p:cNvSpPr>
          <p:nvPr>
            <p:ph type="title"/>
          </p:nvPr>
        </p:nvSpPr>
        <p:spPr/>
        <p:txBody>
          <a:bodyPr/>
          <a:lstStyle/>
          <a:p>
            <a:r>
              <a:rPr lang="en-ZA" dirty="0"/>
              <a:t>Executing a Quantum Program on an IBM Quantum Processor</a:t>
            </a:r>
            <a:endParaRPr lang="en-US" dirty="0"/>
          </a:p>
        </p:txBody>
      </p:sp>
      <p:sp>
        <p:nvSpPr>
          <p:cNvPr id="3" name="Slide Number Placeholder 2">
            <a:extLst>
              <a:ext uri="{FF2B5EF4-FFF2-40B4-BE49-F238E27FC236}">
                <a16:creationId xmlns:a16="http://schemas.microsoft.com/office/drawing/2014/main" id="{6ECECE88-4B95-4B45-BC86-4F7C886F293F}"/>
              </a:ext>
            </a:extLst>
          </p:cNvPr>
          <p:cNvSpPr>
            <a:spLocks noGrp="1"/>
          </p:cNvSpPr>
          <p:nvPr>
            <p:ph type="sldNum" sz="quarter" idx="12"/>
          </p:nvPr>
        </p:nvSpPr>
        <p:spPr/>
        <p:txBody>
          <a:bodyPr/>
          <a:lstStyle/>
          <a:p>
            <a:fld id="{591A223C-FA10-BC46-A853-03BA373D023C}" type="slidenum">
              <a:rPr lang="en-US" smtClean="0"/>
              <a:t>57</a:t>
            </a:fld>
            <a:endParaRPr lang="en-US"/>
          </a:p>
        </p:txBody>
      </p:sp>
      <p:pic>
        <p:nvPicPr>
          <p:cNvPr id="5" name="Picture 4">
            <a:extLst>
              <a:ext uri="{FF2B5EF4-FFF2-40B4-BE49-F238E27FC236}">
                <a16:creationId xmlns:a16="http://schemas.microsoft.com/office/drawing/2014/main" id="{17524C1C-F191-EB4D-9AF7-C4BAE8C8E77E}"/>
              </a:ext>
            </a:extLst>
          </p:cNvPr>
          <p:cNvPicPr>
            <a:picLocks noChangeAspect="1"/>
          </p:cNvPicPr>
          <p:nvPr/>
        </p:nvPicPr>
        <p:blipFill>
          <a:blip r:embed="rId3"/>
          <a:stretch>
            <a:fillRect/>
          </a:stretch>
        </p:blipFill>
        <p:spPr>
          <a:xfrm>
            <a:off x="0" y="1211206"/>
            <a:ext cx="12192000" cy="4435588"/>
          </a:xfrm>
          <a:prstGeom prst="rect">
            <a:avLst/>
          </a:prstGeom>
        </p:spPr>
      </p:pic>
    </p:spTree>
    <p:extLst>
      <p:ext uri="{BB962C8B-B14F-4D97-AF65-F5344CB8AC3E}">
        <p14:creationId xmlns:p14="http://schemas.microsoft.com/office/powerpoint/2010/main" val="38020508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135B7E97-F465-B944-BF03-F871DA66B265}"/>
              </a:ext>
            </a:extLst>
          </p:cNvPr>
          <p:cNvSpPr/>
          <p:nvPr/>
        </p:nvSpPr>
        <p:spPr>
          <a:xfrm>
            <a:off x="1341416" y="2129237"/>
            <a:ext cx="8241174" cy="79865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4A551DDA-7D2A-164C-A459-C74CADF8C9EF}"/>
              </a:ext>
            </a:extLst>
          </p:cNvPr>
          <p:cNvSpPr/>
          <p:nvPr/>
        </p:nvSpPr>
        <p:spPr>
          <a:xfrm>
            <a:off x="1341416" y="3050712"/>
            <a:ext cx="8241174" cy="798653"/>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6C79182B-DC5C-9745-BD21-422B44154EFE}"/>
              </a:ext>
            </a:extLst>
          </p:cNvPr>
          <p:cNvSpPr/>
          <p:nvPr/>
        </p:nvSpPr>
        <p:spPr>
          <a:xfrm>
            <a:off x="1341416" y="3891162"/>
            <a:ext cx="8241174" cy="1490765"/>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1EA6AF8E-04C3-8448-B03F-F548E26F81FE}"/>
              </a:ext>
            </a:extLst>
          </p:cNvPr>
          <p:cNvSpPr/>
          <p:nvPr/>
        </p:nvSpPr>
        <p:spPr>
          <a:xfrm>
            <a:off x="1341416" y="1300362"/>
            <a:ext cx="8241174" cy="798653"/>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947C36-6DBD-A64B-9CEC-2BC003BA2ED4}"/>
              </a:ext>
            </a:extLst>
          </p:cNvPr>
          <p:cNvSpPr>
            <a:spLocks noGrp="1"/>
          </p:cNvSpPr>
          <p:nvPr>
            <p:ph type="title"/>
          </p:nvPr>
        </p:nvSpPr>
        <p:spPr/>
        <p:txBody>
          <a:bodyPr/>
          <a:lstStyle/>
          <a:p>
            <a:r>
              <a:rPr lang="en-ZA" b="1" dirty="0"/>
              <a:t>Connecting to an IBM Quantum Processor</a:t>
            </a:r>
            <a:endParaRPr lang="en-US" dirty="0"/>
          </a:p>
        </p:txBody>
      </p:sp>
      <p:sp>
        <p:nvSpPr>
          <p:cNvPr id="3" name="Slide Number Placeholder 2">
            <a:extLst>
              <a:ext uri="{FF2B5EF4-FFF2-40B4-BE49-F238E27FC236}">
                <a16:creationId xmlns:a16="http://schemas.microsoft.com/office/drawing/2014/main" id="{41AB7D6A-6A21-BF4C-90A1-FFE28B657BA6}"/>
              </a:ext>
            </a:extLst>
          </p:cNvPr>
          <p:cNvSpPr>
            <a:spLocks noGrp="1"/>
          </p:cNvSpPr>
          <p:nvPr>
            <p:ph type="sldNum" sz="quarter" idx="12"/>
          </p:nvPr>
        </p:nvSpPr>
        <p:spPr/>
        <p:txBody>
          <a:bodyPr/>
          <a:lstStyle/>
          <a:p>
            <a:fld id="{591A223C-FA10-BC46-A853-03BA373D023C}" type="slidenum">
              <a:rPr lang="en-US" smtClean="0"/>
              <a:t>58</a:t>
            </a:fld>
            <a:endParaRPr lang="en-US"/>
          </a:p>
        </p:txBody>
      </p:sp>
      <p:sp>
        <p:nvSpPr>
          <p:cNvPr id="4" name="TextBox 3">
            <a:extLst>
              <a:ext uri="{FF2B5EF4-FFF2-40B4-BE49-F238E27FC236}">
                <a16:creationId xmlns:a16="http://schemas.microsoft.com/office/drawing/2014/main" id="{E32829B4-0773-5D40-99D9-B2BD7BD02596}"/>
              </a:ext>
            </a:extLst>
          </p:cNvPr>
          <p:cNvSpPr txBox="1"/>
          <p:nvPr/>
        </p:nvSpPr>
        <p:spPr>
          <a:xfrm>
            <a:off x="1475207" y="1369812"/>
            <a:ext cx="7973593" cy="4047262"/>
          </a:xfrm>
          <a:prstGeom prst="rect">
            <a:avLst/>
          </a:prstGeom>
          <a:noFill/>
        </p:spPr>
        <p:txBody>
          <a:bodyPr wrap="none" rtlCol="0">
            <a:spAutoFit/>
          </a:bodyPr>
          <a:lstStyle/>
          <a:p>
            <a:r>
              <a:rPr lang="en-US" dirty="0"/>
              <a:t>from </a:t>
            </a:r>
            <a:r>
              <a:rPr lang="en-US" dirty="0" err="1"/>
              <a:t>qiskit</a:t>
            </a:r>
            <a:r>
              <a:rPr lang="en-US" dirty="0"/>
              <a:t> import </a:t>
            </a:r>
            <a:r>
              <a:rPr lang="en-US" dirty="0" err="1"/>
              <a:t>QuantumCircuit</a:t>
            </a:r>
            <a:endParaRPr lang="en-US" dirty="0"/>
          </a:p>
          <a:p>
            <a:r>
              <a:rPr lang="en-US" dirty="0"/>
              <a:t>from </a:t>
            </a:r>
            <a:r>
              <a:rPr lang="en-US" dirty="0" err="1"/>
              <a:t>qiskit.transpiler.preset_passmanagers</a:t>
            </a:r>
            <a:r>
              <a:rPr lang="en-US" dirty="0"/>
              <a:t> import </a:t>
            </a:r>
            <a:r>
              <a:rPr lang="en-US" dirty="0" err="1"/>
              <a:t>generate_preset_pass_manager</a:t>
            </a:r>
            <a:endParaRPr lang="en-US" dirty="0"/>
          </a:p>
          <a:p>
            <a:endParaRPr lang="en-US" dirty="0"/>
          </a:p>
          <a:p>
            <a:r>
              <a:rPr lang="en-US" dirty="0"/>
              <a:t>from </a:t>
            </a:r>
            <a:r>
              <a:rPr lang="en-US" dirty="0" err="1"/>
              <a:t>qiskit_ibm_runtime</a:t>
            </a:r>
            <a:r>
              <a:rPr lang="en-US" dirty="0"/>
              <a:t> import </a:t>
            </a:r>
            <a:r>
              <a:rPr lang="en-US" dirty="0" err="1"/>
              <a:t>QiskitRuntimeService</a:t>
            </a:r>
            <a:endParaRPr lang="en-US" dirty="0"/>
          </a:p>
          <a:p>
            <a:r>
              <a:rPr lang="en-US" dirty="0"/>
              <a:t>from </a:t>
            </a:r>
            <a:r>
              <a:rPr lang="en-US" dirty="0" err="1"/>
              <a:t>qiskit_ibm_runtime.executor_sampler</a:t>
            </a:r>
            <a:r>
              <a:rPr lang="en-US" dirty="0"/>
              <a:t> import Sampler</a:t>
            </a:r>
          </a:p>
          <a:p>
            <a:endParaRPr lang="en-US" dirty="0"/>
          </a:p>
          <a:p>
            <a:endParaRPr lang="en-US" sz="500" dirty="0"/>
          </a:p>
          <a:p>
            <a:r>
              <a:rPr lang="en-US" dirty="0"/>
              <a:t># </a:t>
            </a:r>
            <a:r>
              <a:rPr lang="en-US" dirty="0" err="1"/>
              <a:t>Povezivanje</a:t>
            </a:r>
            <a:r>
              <a:rPr lang="en-US" dirty="0"/>
              <a:t> </a:t>
            </a:r>
            <a:r>
              <a:rPr lang="en-US" dirty="0" err="1"/>
              <a:t>sa</a:t>
            </a:r>
            <a:r>
              <a:rPr lang="en-US" dirty="0"/>
              <a:t> IBM Quantum </a:t>
            </a:r>
            <a:r>
              <a:rPr lang="en-US" dirty="0" err="1"/>
              <a:t>servisom</a:t>
            </a:r>
            <a:endParaRPr lang="en-US" dirty="0"/>
          </a:p>
          <a:p>
            <a:r>
              <a:rPr lang="en-US" dirty="0"/>
              <a:t>service = </a:t>
            </a:r>
            <a:r>
              <a:rPr lang="en-US" dirty="0" err="1"/>
              <a:t>QiskitRuntimeService</a:t>
            </a:r>
            <a:r>
              <a:rPr lang="en-US" dirty="0"/>
              <a:t>()</a:t>
            </a:r>
          </a:p>
          <a:p>
            <a:endParaRPr lang="en-US" dirty="0"/>
          </a:p>
          <a:p>
            <a:r>
              <a:rPr lang="en-US" dirty="0"/>
              <a:t># </a:t>
            </a:r>
            <a:r>
              <a:rPr lang="en-US" dirty="0" err="1"/>
              <a:t>Izbor</a:t>
            </a:r>
            <a:r>
              <a:rPr lang="en-US" dirty="0"/>
              <a:t> </a:t>
            </a:r>
            <a:r>
              <a:rPr lang="en-US" dirty="0" err="1"/>
              <a:t>najmanje</a:t>
            </a:r>
            <a:r>
              <a:rPr lang="en-US" dirty="0"/>
              <a:t> </a:t>
            </a:r>
            <a:r>
              <a:rPr lang="en-US" dirty="0" err="1"/>
              <a:t>opterećenog</a:t>
            </a:r>
            <a:r>
              <a:rPr lang="en-US" dirty="0"/>
              <a:t> </a:t>
            </a:r>
            <a:r>
              <a:rPr lang="en-US" dirty="0" err="1"/>
              <a:t>procesora</a:t>
            </a:r>
            <a:endParaRPr lang="en-US" dirty="0"/>
          </a:p>
          <a:p>
            <a:r>
              <a:rPr lang="en-US" dirty="0"/>
              <a:t>backend = </a:t>
            </a:r>
            <a:r>
              <a:rPr lang="en-US" dirty="0" err="1"/>
              <a:t>service.least_busy</a:t>
            </a:r>
            <a:r>
              <a:rPr lang="en-US" dirty="0"/>
              <a:t>(</a:t>
            </a:r>
          </a:p>
          <a:p>
            <a:r>
              <a:rPr lang="en-US" dirty="0"/>
              <a:t>    operational=True,</a:t>
            </a:r>
          </a:p>
          <a:p>
            <a:r>
              <a:rPr lang="en-US" dirty="0"/>
              <a:t>    simulator=False</a:t>
            </a:r>
          </a:p>
          <a:p>
            <a:r>
              <a:rPr lang="en-US" dirty="0"/>
              <a:t>)</a:t>
            </a:r>
          </a:p>
        </p:txBody>
      </p:sp>
      <p:pic>
        <p:nvPicPr>
          <p:cNvPr id="10" name="Picture 9">
            <a:extLst>
              <a:ext uri="{FF2B5EF4-FFF2-40B4-BE49-F238E27FC236}">
                <a16:creationId xmlns:a16="http://schemas.microsoft.com/office/drawing/2014/main" id="{FEF7B65E-3947-5948-93D5-62CAAFF8EF83}"/>
              </a:ext>
            </a:extLst>
          </p:cNvPr>
          <p:cNvPicPr>
            <a:picLocks noChangeAspect="1"/>
          </p:cNvPicPr>
          <p:nvPr/>
        </p:nvPicPr>
        <p:blipFill>
          <a:blip r:embed="rId3"/>
          <a:stretch>
            <a:fillRect/>
          </a:stretch>
        </p:blipFill>
        <p:spPr>
          <a:xfrm>
            <a:off x="7546108" y="3891162"/>
            <a:ext cx="4206754" cy="2275081"/>
          </a:xfrm>
          <a:prstGeom prst="rect">
            <a:avLst/>
          </a:prstGeom>
        </p:spPr>
      </p:pic>
      <p:sp>
        <p:nvSpPr>
          <p:cNvPr id="12" name="TextBox 11">
            <a:extLst>
              <a:ext uri="{FF2B5EF4-FFF2-40B4-BE49-F238E27FC236}">
                <a16:creationId xmlns:a16="http://schemas.microsoft.com/office/drawing/2014/main" id="{8EB70DD7-11F9-9F4F-9C55-C08C5A755A02}"/>
              </a:ext>
            </a:extLst>
          </p:cNvPr>
          <p:cNvSpPr txBox="1"/>
          <p:nvPr/>
        </p:nvSpPr>
        <p:spPr>
          <a:xfrm>
            <a:off x="8002597" y="6345199"/>
            <a:ext cx="3533916" cy="369332"/>
          </a:xfrm>
          <a:prstGeom prst="rect">
            <a:avLst/>
          </a:prstGeom>
          <a:noFill/>
        </p:spPr>
        <p:txBody>
          <a:bodyPr wrap="none" rtlCol="0">
            <a:spAutoFit/>
          </a:bodyPr>
          <a:lstStyle/>
          <a:p>
            <a:r>
              <a:rPr lang="en-US" dirty="0"/>
              <a:t>IBM Quantum Nighthawk r2  (2026)</a:t>
            </a:r>
          </a:p>
        </p:txBody>
      </p:sp>
    </p:spTree>
    <p:extLst>
      <p:ext uri="{BB962C8B-B14F-4D97-AF65-F5344CB8AC3E}">
        <p14:creationId xmlns:p14="http://schemas.microsoft.com/office/powerpoint/2010/main" val="30204718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E224C6F9-74D1-344F-B6A0-703BB3A04B87}"/>
              </a:ext>
            </a:extLst>
          </p:cNvPr>
          <p:cNvSpPr/>
          <p:nvPr/>
        </p:nvSpPr>
        <p:spPr>
          <a:xfrm>
            <a:off x="716383" y="2129237"/>
            <a:ext cx="8241174" cy="1921902"/>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9C52887A-B53D-C548-AE6A-C1725E81154B}"/>
              </a:ext>
            </a:extLst>
          </p:cNvPr>
          <p:cNvSpPr/>
          <p:nvPr/>
        </p:nvSpPr>
        <p:spPr>
          <a:xfrm>
            <a:off x="716383" y="4229600"/>
            <a:ext cx="8241174" cy="874835"/>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8447F930-FBFD-DE4F-B26A-6C5DB5510FDE}"/>
              </a:ext>
            </a:extLst>
          </p:cNvPr>
          <p:cNvSpPr/>
          <p:nvPr/>
        </p:nvSpPr>
        <p:spPr>
          <a:xfrm>
            <a:off x="716383" y="5208845"/>
            <a:ext cx="8241174" cy="1504471"/>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97C98C1E-256F-454E-A0BC-4C6C6CBB7331}"/>
              </a:ext>
            </a:extLst>
          </p:cNvPr>
          <p:cNvSpPr/>
          <p:nvPr/>
        </p:nvSpPr>
        <p:spPr>
          <a:xfrm>
            <a:off x="716383" y="934075"/>
            <a:ext cx="8241174" cy="1072340"/>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4E9E90-CCB5-EE43-B047-C22DC86151B9}"/>
              </a:ext>
            </a:extLst>
          </p:cNvPr>
          <p:cNvSpPr>
            <a:spLocks noGrp="1"/>
          </p:cNvSpPr>
          <p:nvPr>
            <p:ph type="title"/>
          </p:nvPr>
        </p:nvSpPr>
        <p:spPr/>
        <p:txBody>
          <a:bodyPr/>
          <a:lstStyle/>
          <a:p>
            <a:r>
              <a:rPr lang="en-ZA" dirty="0"/>
              <a:t>Executing the Circuit on an IBM Quantum Processor</a:t>
            </a:r>
            <a:endParaRPr lang="en-US" dirty="0"/>
          </a:p>
        </p:txBody>
      </p:sp>
      <p:sp>
        <p:nvSpPr>
          <p:cNvPr id="3" name="Slide Number Placeholder 2">
            <a:extLst>
              <a:ext uri="{FF2B5EF4-FFF2-40B4-BE49-F238E27FC236}">
                <a16:creationId xmlns:a16="http://schemas.microsoft.com/office/drawing/2014/main" id="{7903A0B9-26C8-1E48-9A20-E801B5FF18A6}"/>
              </a:ext>
            </a:extLst>
          </p:cNvPr>
          <p:cNvSpPr>
            <a:spLocks noGrp="1"/>
          </p:cNvSpPr>
          <p:nvPr>
            <p:ph type="sldNum" sz="quarter" idx="12"/>
          </p:nvPr>
        </p:nvSpPr>
        <p:spPr/>
        <p:txBody>
          <a:bodyPr/>
          <a:lstStyle/>
          <a:p>
            <a:fld id="{591A223C-FA10-BC46-A853-03BA373D023C}" type="slidenum">
              <a:rPr lang="en-US" smtClean="0"/>
              <a:t>59</a:t>
            </a:fld>
            <a:endParaRPr lang="en-US"/>
          </a:p>
        </p:txBody>
      </p:sp>
      <p:sp>
        <p:nvSpPr>
          <p:cNvPr id="4" name="TextBox 3">
            <a:extLst>
              <a:ext uri="{FF2B5EF4-FFF2-40B4-BE49-F238E27FC236}">
                <a16:creationId xmlns:a16="http://schemas.microsoft.com/office/drawing/2014/main" id="{21A10D19-8B7C-9747-8637-67D35E152ED4}"/>
              </a:ext>
            </a:extLst>
          </p:cNvPr>
          <p:cNvSpPr txBox="1"/>
          <p:nvPr/>
        </p:nvSpPr>
        <p:spPr>
          <a:xfrm>
            <a:off x="821593" y="894710"/>
            <a:ext cx="4239302" cy="5909310"/>
          </a:xfrm>
          <a:prstGeom prst="rect">
            <a:avLst/>
          </a:prstGeom>
          <a:noFill/>
        </p:spPr>
        <p:txBody>
          <a:bodyPr wrap="none" rtlCol="0">
            <a:spAutoFit/>
          </a:bodyPr>
          <a:lstStyle/>
          <a:p>
            <a:r>
              <a:rPr lang="en-US" dirty="0"/>
              <a:t># </a:t>
            </a:r>
            <a:r>
              <a:rPr lang="en-US" dirty="0" err="1"/>
              <a:t>Kvantno</a:t>
            </a:r>
            <a:r>
              <a:rPr lang="en-US" dirty="0"/>
              <a:t> </a:t>
            </a:r>
            <a:r>
              <a:rPr lang="en-US" dirty="0" err="1"/>
              <a:t>kolo</a:t>
            </a:r>
            <a:endParaRPr lang="en-US" dirty="0"/>
          </a:p>
          <a:p>
            <a:r>
              <a:rPr lang="en-US" dirty="0"/>
              <a:t>qc = </a:t>
            </a:r>
            <a:r>
              <a:rPr lang="en-US" dirty="0" err="1"/>
              <a:t>QuantumCircuit</a:t>
            </a:r>
            <a:r>
              <a:rPr lang="en-US" dirty="0"/>
              <a:t>(1)</a:t>
            </a:r>
          </a:p>
          <a:p>
            <a:r>
              <a:rPr lang="en-US" dirty="0" err="1"/>
              <a:t>qc.h</a:t>
            </a:r>
            <a:r>
              <a:rPr lang="en-US" dirty="0"/>
              <a:t>(0)</a:t>
            </a:r>
          </a:p>
          <a:p>
            <a:r>
              <a:rPr lang="en-US" dirty="0" err="1"/>
              <a:t>qc.measure_all</a:t>
            </a:r>
            <a:r>
              <a:rPr lang="en-US" dirty="0"/>
              <a:t>()</a:t>
            </a:r>
          </a:p>
          <a:p>
            <a:endParaRPr lang="en-US" dirty="0"/>
          </a:p>
          <a:p>
            <a:r>
              <a:rPr lang="en-US" dirty="0"/>
              <a:t># </a:t>
            </a:r>
            <a:r>
              <a:rPr lang="en-US" dirty="0" err="1"/>
              <a:t>Transpajliranje</a:t>
            </a:r>
            <a:r>
              <a:rPr lang="en-US" dirty="0"/>
              <a:t> </a:t>
            </a:r>
            <a:r>
              <a:rPr lang="en-US" dirty="0" err="1"/>
              <a:t>za</a:t>
            </a:r>
            <a:r>
              <a:rPr lang="en-US" dirty="0"/>
              <a:t> </a:t>
            </a:r>
            <a:r>
              <a:rPr lang="en-US" dirty="0" err="1"/>
              <a:t>izabrani</a:t>
            </a:r>
            <a:r>
              <a:rPr lang="en-US" dirty="0"/>
              <a:t> </a:t>
            </a:r>
            <a:r>
              <a:rPr lang="en-US" dirty="0" err="1"/>
              <a:t>procesor</a:t>
            </a:r>
            <a:endParaRPr lang="en-US" dirty="0"/>
          </a:p>
          <a:p>
            <a:r>
              <a:rPr lang="en-US" dirty="0"/>
              <a:t>pm = </a:t>
            </a:r>
            <a:r>
              <a:rPr lang="en-US" dirty="0" err="1"/>
              <a:t>generate_preset_pass_manager</a:t>
            </a:r>
            <a:r>
              <a:rPr lang="en-US" dirty="0"/>
              <a:t>(</a:t>
            </a:r>
          </a:p>
          <a:p>
            <a:r>
              <a:rPr lang="en-US" dirty="0"/>
              <a:t>    backend=backend,</a:t>
            </a:r>
          </a:p>
          <a:p>
            <a:r>
              <a:rPr lang="en-US" dirty="0"/>
              <a:t>    </a:t>
            </a:r>
            <a:r>
              <a:rPr lang="en-US" dirty="0" err="1"/>
              <a:t>optimization_level</a:t>
            </a:r>
            <a:r>
              <a:rPr lang="en-US" dirty="0"/>
              <a:t>=1</a:t>
            </a:r>
          </a:p>
          <a:p>
            <a:r>
              <a:rPr lang="en-US" dirty="0"/>
              <a:t>)</a:t>
            </a:r>
          </a:p>
          <a:p>
            <a:r>
              <a:rPr lang="en-US" dirty="0" err="1"/>
              <a:t>isa_circuit</a:t>
            </a:r>
            <a:r>
              <a:rPr lang="en-US" dirty="0"/>
              <a:t> = </a:t>
            </a:r>
            <a:r>
              <a:rPr lang="en-US" dirty="0" err="1"/>
              <a:t>pm.run</a:t>
            </a:r>
            <a:r>
              <a:rPr lang="en-US" dirty="0"/>
              <a:t>(qc)</a:t>
            </a:r>
          </a:p>
          <a:p>
            <a:endParaRPr lang="en-US" dirty="0"/>
          </a:p>
          <a:p>
            <a:r>
              <a:rPr lang="en-US" dirty="0"/>
              <a:t># </a:t>
            </a:r>
            <a:r>
              <a:rPr lang="en-US" dirty="0" err="1"/>
              <a:t>Izvršavanje</a:t>
            </a:r>
            <a:r>
              <a:rPr lang="en-US" dirty="0"/>
              <a:t> </a:t>
            </a:r>
            <a:r>
              <a:rPr lang="en-US" dirty="0" err="1"/>
              <a:t>na</a:t>
            </a:r>
            <a:r>
              <a:rPr lang="en-US" dirty="0"/>
              <a:t> </a:t>
            </a:r>
            <a:r>
              <a:rPr lang="en-US" dirty="0" err="1"/>
              <a:t>kvantnom</a:t>
            </a:r>
            <a:r>
              <a:rPr lang="en-US" dirty="0"/>
              <a:t> </a:t>
            </a:r>
            <a:r>
              <a:rPr lang="en-US" dirty="0" err="1"/>
              <a:t>procesoru</a:t>
            </a:r>
            <a:endParaRPr lang="en-US" dirty="0"/>
          </a:p>
          <a:p>
            <a:r>
              <a:rPr lang="en-US" dirty="0"/>
              <a:t>sampler = Sampler(mode=backend)</a:t>
            </a:r>
          </a:p>
          <a:p>
            <a:r>
              <a:rPr lang="en-US" dirty="0"/>
              <a:t>job = </a:t>
            </a:r>
            <a:r>
              <a:rPr lang="en-US" dirty="0" err="1"/>
              <a:t>sampler.run</a:t>
            </a:r>
            <a:r>
              <a:rPr lang="en-US" dirty="0"/>
              <a:t>([</a:t>
            </a:r>
            <a:r>
              <a:rPr lang="en-US" dirty="0" err="1"/>
              <a:t>isa_circuit</a:t>
            </a:r>
            <a:r>
              <a:rPr lang="en-US" dirty="0"/>
              <a:t>], shots=1024)</a:t>
            </a:r>
          </a:p>
          <a:p>
            <a:endParaRPr lang="en-US" dirty="0"/>
          </a:p>
          <a:p>
            <a:r>
              <a:rPr lang="en-US" dirty="0"/>
              <a:t># </a:t>
            </a:r>
            <a:r>
              <a:rPr lang="en-US" dirty="0" err="1"/>
              <a:t>Rezultat</a:t>
            </a:r>
            <a:endParaRPr lang="en-US" dirty="0"/>
          </a:p>
          <a:p>
            <a:r>
              <a:rPr lang="en-US" dirty="0"/>
              <a:t>result = </a:t>
            </a:r>
            <a:r>
              <a:rPr lang="en-US" dirty="0" err="1"/>
              <a:t>job.result</a:t>
            </a:r>
            <a:r>
              <a:rPr lang="en-US" dirty="0"/>
              <a:t>()</a:t>
            </a:r>
          </a:p>
          <a:p>
            <a:r>
              <a:rPr lang="en-US" dirty="0"/>
              <a:t>counts = result[0].</a:t>
            </a:r>
            <a:r>
              <a:rPr lang="en-US" dirty="0" err="1"/>
              <a:t>data.meas.get_counts</a:t>
            </a:r>
            <a:r>
              <a:rPr lang="en-US" dirty="0"/>
              <a:t>()</a:t>
            </a:r>
          </a:p>
          <a:p>
            <a:endParaRPr lang="en-US" sz="1000" dirty="0"/>
          </a:p>
          <a:p>
            <a:r>
              <a:rPr lang="en-US" dirty="0"/>
              <a:t>print(counts)</a:t>
            </a:r>
          </a:p>
        </p:txBody>
      </p:sp>
    </p:spTree>
    <p:extLst>
      <p:ext uri="{BB962C8B-B14F-4D97-AF65-F5344CB8AC3E}">
        <p14:creationId xmlns:p14="http://schemas.microsoft.com/office/powerpoint/2010/main" val="14628875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a:xfrm>
            <a:off x="9448799" y="6378335"/>
            <a:ext cx="2743200" cy="365125"/>
          </a:xfrm>
        </p:spPr>
        <p:txBody>
          <a:bodyPr/>
          <a:lstStyle/>
          <a:p>
            <a:fld id="{591A223C-FA10-BC46-A853-03BA373D023C}" type="slidenum">
              <a:rPr lang="en-US" smtClean="0"/>
              <a:t>60</a:t>
            </a:fld>
            <a:endParaRPr lang="en-US"/>
          </a:p>
        </p:txBody>
      </p:sp>
      <p:sp>
        <p:nvSpPr>
          <p:cNvPr id="9" name="TextBox 8">
            <a:extLst>
              <a:ext uri="{FF2B5EF4-FFF2-40B4-BE49-F238E27FC236}">
                <a16:creationId xmlns:a16="http://schemas.microsoft.com/office/drawing/2014/main" id="{719C0D81-1920-C34F-B234-53C430C4B1BB}"/>
              </a:ext>
            </a:extLst>
          </p:cNvPr>
          <p:cNvSpPr txBox="1"/>
          <p:nvPr/>
        </p:nvSpPr>
        <p:spPr>
          <a:xfrm>
            <a:off x="7113537" y="2254845"/>
            <a:ext cx="3815468" cy="923330"/>
          </a:xfrm>
          <a:prstGeom prst="rect">
            <a:avLst/>
          </a:prstGeom>
          <a:noFill/>
        </p:spPr>
        <p:txBody>
          <a:bodyPr wrap="none" rtlCol="0">
            <a:spAutoFit/>
          </a:bodyPr>
          <a:lstStyle/>
          <a:p>
            <a:r>
              <a:rPr lang="en-US" sz="5400" dirty="0">
                <a:solidFill>
                  <a:schemeClr val="bg1"/>
                </a:solidFill>
                <a:latin typeface="Comic Sans MS" panose="030F0902030302020204" pitchFamily="66" charset="0"/>
              </a:rPr>
              <a:t>Questions?</a:t>
            </a:r>
          </a:p>
        </p:txBody>
      </p:sp>
      <p:pic>
        <p:nvPicPr>
          <p:cNvPr id="6" name="Picture 5">
            <a:extLst>
              <a:ext uri="{FF2B5EF4-FFF2-40B4-BE49-F238E27FC236}">
                <a16:creationId xmlns:a16="http://schemas.microsoft.com/office/drawing/2014/main" id="{25CAF79D-906F-8845-86FA-72185BFDBBFD}"/>
              </a:ext>
            </a:extLst>
          </p:cNvPr>
          <p:cNvPicPr>
            <a:picLocks noChangeAspect="1"/>
          </p:cNvPicPr>
          <p:nvPr/>
        </p:nvPicPr>
        <p:blipFill>
          <a:blip r:embed="rId4"/>
          <a:stretch>
            <a:fillRect/>
          </a:stretch>
        </p:blipFill>
        <p:spPr>
          <a:xfrm>
            <a:off x="3391418" y="3157998"/>
            <a:ext cx="3314700" cy="3365500"/>
          </a:xfrm>
          <a:prstGeom prst="rect">
            <a:avLst/>
          </a:prstGeom>
        </p:spPr>
      </p:pic>
      <p:pic>
        <p:nvPicPr>
          <p:cNvPr id="4" name="Picture 3">
            <a:extLst>
              <a:ext uri="{FF2B5EF4-FFF2-40B4-BE49-F238E27FC236}">
                <a16:creationId xmlns:a16="http://schemas.microsoft.com/office/drawing/2014/main" id="{9EA7A2B2-C115-AC43-8CB6-8B25213DCC32}"/>
              </a:ext>
            </a:extLst>
          </p:cNvPr>
          <p:cNvPicPr>
            <a:picLocks noChangeAspect="1"/>
          </p:cNvPicPr>
          <p:nvPr/>
        </p:nvPicPr>
        <p:blipFill>
          <a:blip r:embed="rId5"/>
          <a:stretch>
            <a:fillRect/>
          </a:stretch>
        </p:blipFill>
        <p:spPr>
          <a:xfrm>
            <a:off x="505065" y="1097779"/>
            <a:ext cx="3744255" cy="5113836"/>
          </a:xfrm>
          <a:prstGeom prst="rect">
            <a:avLst/>
          </a:prstGeom>
        </p:spPr>
      </p:pic>
    </p:spTree>
    <p:extLst>
      <p:ext uri="{BB962C8B-B14F-4D97-AF65-F5344CB8AC3E}">
        <p14:creationId xmlns:p14="http://schemas.microsoft.com/office/powerpoint/2010/main" val="5833550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211423</TotalTime>
  <Words>11809</Words>
  <Application>Microsoft Macintosh PowerPoint</Application>
  <PresentationFormat>Widescreen</PresentationFormat>
  <Paragraphs>1452</Paragraphs>
  <Slides>60</Slides>
  <Notes>60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60</vt:i4>
      </vt:variant>
    </vt:vector>
  </HeadingPairs>
  <TitlesOfParts>
    <vt:vector size="72" baseType="lpstr">
      <vt:lpstr>Andale Mono</vt:lpstr>
      <vt:lpstr>Arial</vt:lpstr>
      <vt:lpstr>Calibri</vt:lpstr>
      <vt:lpstr>Calibri Light</vt:lpstr>
      <vt:lpstr>Cambria</vt:lpstr>
      <vt:lpstr>Cambria Math</vt:lpstr>
      <vt:lpstr>Comic Sans MS</vt:lpstr>
      <vt:lpstr>IBM Plex Mono</vt:lpstr>
      <vt:lpstr>Menlo</vt:lpstr>
      <vt:lpstr>Times</vt:lpstr>
      <vt:lpstr>Times New Roman</vt:lpstr>
      <vt:lpstr>Office Theme</vt:lpstr>
      <vt:lpstr>PowerPoint Presentation</vt:lpstr>
      <vt:lpstr>PowerPoint Presentation</vt:lpstr>
      <vt:lpstr>Reducing Circuits to NOP / Hermitian gates</vt:lpstr>
      <vt:lpstr>Reducing Circuits to NOP / non-Hermitian Gates</vt:lpstr>
      <vt:lpstr>Simplifying Gate Sequences</vt:lpstr>
      <vt:lpstr>Combining Simplification and Cancellation</vt:lpstr>
      <vt:lpstr>Phase and Rotation Gates: Angle Addition Rule (1)</vt:lpstr>
      <vt:lpstr>Phase and Rotation Gates: Angle Addition Rule (2)</vt:lpstr>
      <vt:lpstr>Simplifying Controlled Operations (1)</vt:lpstr>
      <vt:lpstr>Simplifying Controlled Operations (2)</vt:lpstr>
      <vt:lpstr>Commutativity of X and CNOT Gate</vt:lpstr>
      <vt:lpstr>Commutativity of Rx and CNOT Gates</vt:lpstr>
      <vt:lpstr>Decomposing CX Gate</vt:lpstr>
      <vt:lpstr>Mirrored-control: Swapping Control and Target</vt:lpstr>
      <vt:lpstr>CZ and CP Symmetry Property</vt:lpstr>
      <vt:lpstr>Commutation of Z and CNOT</vt:lpstr>
      <vt:lpstr>Commutation of P and CNOT</vt:lpstr>
      <vt:lpstr>X–CNOT Commutation Rule</vt:lpstr>
      <vt:lpstr>CNOT as a Copier</vt:lpstr>
      <vt:lpstr>Mirror Symmetry of CNOT with H Gates</vt:lpstr>
      <vt:lpstr>How a Compiler Routes a CNOT</vt:lpstr>
      <vt:lpstr>Mirror symmetry of CNOT gates</vt:lpstr>
      <vt:lpstr>Building the SWAP Gate </vt:lpstr>
      <vt:lpstr>Z-Y-Z Decomposition Theorem</vt:lpstr>
      <vt:lpstr>Lemma 1 of the Decomposition Theorem</vt:lpstr>
      <vt:lpstr>Lemma 2 of the Decomposition Theorem</vt:lpstr>
      <vt:lpstr>Lemma 3 of the Decomposition Theorem</vt:lpstr>
      <vt:lpstr>Decomposition of the Controlled Gate</vt:lpstr>
      <vt:lpstr>C2(U) Gate Construction</vt:lpstr>
      <vt:lpstr>Cn-1(U) Gate Construction</vt:lpstr>
      <vt:lpstr>Example: Doubly-Controlled Z Gate</vt:lpstr>
      <vt:lpstr>PowerPoint Presentation</vt:lpstr>
      <vt:lpstr>Quantum Circuit</vt:lpstr>
      <vt:lpstr>Sequential Quantum Gate Configuration</vt:lpstr>
      <vt:lpstr>Parallel Quantum Gate Configuration</vt:lpstr>
      <vt:lpstr>Quantum Gate Configuration with Identity</vt:lpstr>
      <vt:lpstr>Combined Quantum Gate Configuration</vt:lpstr>
      <vt:lpstr>Example: Sequential Gate Operations</vt:lpstr>
      <vt:lpstr>Example: Combined Gate Operations</vt:lpstr>
      <vt:lpstr>PowerPoint Presentation</vt:lpstr>
      <vt:lpstr>Noise in Quantum Circuits: a GHZ₄ Case Study</vt:lpstr>
      <vt:lpstr>Classical Error Correction: Repetition Codes</vt:lpstr>
      <vt:lpstr>Digitalization of Quantum Errors</vt:lpstr>
      <vt:lpstr>Quantum Error Detection and Correction Model</vt:lpstr>
      <vt:lpstr>Bit-Flip Error Detection and Correction</vt:lpstr>
      <vt:lpstr>Phase-Flip Error Detection and Correction</vt:lpstr>
      <vt:lpstr>Practical Implementation of the 3-qubit Repetition Code</vt:lpstr>
      <vt:lpstr>Complete Qubit Protection: The Shor Code (1995)</vt:lpstr>
      <vt:lpstr>Practical Implementation of the Shor Code</vt:lpstr>
      <vt:lpstr>Quantum Programming Languages and Frameworks</vt:lpstr>
      <vt:lpstr>From Source Code to Results</vt:lpstr>
      <vt:lpstr>Open Quantum Assembly Language (OpenQASM)</vt:lpstr>
      <vt:lpstr>Quantum Random Number Generator</vt:lpstr>
      <vt:lpstr>Quantum Information software kit / Qiskit SDK</vt:lpstr>
      <vt:lpstr>Quantum Information Science Kit</vt:lpstr>
      <vt:lpstr>Qiskit SDK AerSimulator</vt:lpstr>
      <vt:lpstr>Executing a Quantum Program on an IBM Quantum Processor</vt:lpstr>
      <vt:lpstr>Connecting to an IBM Quantum Processor</vt:lpstr>
      <vt:lpstr>Executing the Circuit on an IBM Quantum Processor</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Aleksandar Radovanovic</cp:lastModifiedBy>
  <cp:revision>3965</cp:revision>
  <cp:lastPrinted>2022-03-02T16:26:02Z</cp:lastPrinted>
  <dcterms:created xsi:type="dcterms:W3CDTF">2021-12-18T08:25:37Z</dcterms:created>
  <dcterms:modified xsi:type="dcterms:W3CDTF">2026-10-01T15:13:54Z</dcterms:modified>
</cp:coreProperties>
</file>